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82880"/>
            <a:ext cx="11731752" cy="6446520"/>
          </a:xfrm>
          <a:prstGeom prst="roundRect">
            <a:avLst>
              <a:gd name="adj" fmla="val 851"/>
            </a:avLst>
          </a:prstGeom>
          <a:solidFill>
            <a:srgbClr val="071827"/>
          </a:solidFill>
          <a:ln w="17780">
            <a:solidFill>
              <a:srgbClr val="D6A1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9184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GOALOS — THE OPTIMAL BUSINESS MODEL CANVAS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8001000" y="384048"/>
            <a:ext cx="3429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Proof Utility · services-led → software-scaled → capability-licensed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2121408" cy="1920240"/>
          </a:xfrm>
          <a:prstGeom prst="roundRect">
            <a:avLst>
              <a:gd name="adj" fmla="val 1905"/>
            </a:avLst>
          </a:prstGeom>
          <a:solidFill>
            <a:srgbClr val="102D3D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00584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PARTNERS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612648" y="1298448"/>
            <a:ext cx="1901952" cy="1444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Independent reviewers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 / cloud providers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 and legal specialists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Enterprise channels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Data and tool providers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Strategic / sovereign partners</a:t>
            </a:r>
            <a:endParaRPr lang="en-US" sz="760" dirty="0"/>
          </a:p>
        </p:txBody>
      </p:sp>
      <p:sp>
        <p:nvSpPr>
          <p:cNvPr id="8" name="Shape 6"/>
          <p:cNvSpPr/>
          <p:nvPr/>
        </p:nvSpPr>
        <p:spPr>
          <a:xfrm>
            <a:off x="2715768" y="914400"/>
            <a:ext cx="2121408" cy="1234440"/>
          </a:xfrm>
          <a:prstGeom prst="roundRect">
            <a:avLst>
              <a:gd name="adj" fmla="val 2963"/>
            </a:avLst>
          </a:prstGeom>
          <a:solidFill>
            <a:srgbClr val="102D3D"/>
          </a:solidFill>
          <a:ln w="12700">
            <a:solidFill>
              <a:srgbClr val="2CB6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25496" y="100584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ACTIVITIES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2825496" y="1298448"/>
            <a:ext cx="190195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Proof readiness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Mission formation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AGI Job execution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Evidence and review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Chronicle admission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Protected invocation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2715768" y="2240280"/>
            <a:ext cx="2121408" cy="1234440"/>
          </a:xfrm>
          <a:prstGeom prst="roundRect">
            <a:avLst>
              <a:gd name="adj" fmla="val 2963"/>
            </a:avLst>
          </a:prstGeom>
          <a:solidFill>
            <a:srgbClr val="102D3D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25496" y="233172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KEY RESOURCES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2825496" y="2624328"/>
            <a:ext cx="190195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GoalOS runtime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Evidence Dockets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Chronicle + VSG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Private capability reserve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Autonomous Money Machine Ω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MONTREAL.AI distribution</a:t>
            </a:r>
            <a:endParaRPr lang="en-US" sz="760" dirty="0"/>
          </a:p>
        </p:txBody>
      </p:sp>
      <p:sp>
        <p:nvSpPr>
          <p:cNvPr id="14" name="Shape 12"/>
          <p:cNvSpPr/>
          <p:nvPr/>
        </p:nvSpPr>
        <p:spPr>
          <a:xfrm>
            <a:off x="4928616" y="914400"/>
            <a:ext cx="2331720" cy="2560320"/>
          </a:xfrm>
          <a:prstGeom prst="roundRect">
            <a:avLst>
              <a:gd name="adj" fmla="val 1569"/>
            </a:avLst>
          </a:prstGeom>
          <a:solidFill>
            <a:srgbClr val="102D3D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38344" y="1005840"/>
            <a:ext cx="21122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VALUE PROPOSITION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5038344" y="1298448"/>
            <a:ext cx="2112264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Tell GoalOS the consequential objective. It exposes what must be proven, completes the bounded work, records the full denominator, shows what passed or failed, and keeps only validated capability current.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Faster decisions · lower risk · inspectable evidence · recurring control · protected reusable capability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7351776" y="914400"/>
            <a:ext cx="2121408" cy="1234440"/>
          </a:xfrm>
          <a:prstGeom prst="roundRect">
            <a:avLst>
              <a:gd name="adj" fmla="val 2963"/>
            </a:avLst>
          </a:prstGeom>
          <a:solidFill>
            <a:srgbClr val="102D3D"/>
          </a:solidFill>
          <a:ln w="12700">
            <a:solidFill>
              <a:srgbClr val="2CB6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61504" y="100584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CUSTOMER RELATIONSHIPS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7461504" y="1298448"/>
            <a:ext cx="190195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Autonomous standard lane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Proof Mission delivery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Recurring Proof Office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Private enterprise network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Evidence-based renewal</a:t>
            </a:r>
            <a:endParaRPr lang="en-US" sz="760" dirty="0"/>
          </a:p>
        </p:txBody>
      </p:sp>
      <p:sp>
        <p:nvSpPr>
          <p:cNvPr id="20" name="Shape 18"/>
          <p:cNvSpPr/>
          <p:nvPr/>
        </p:nvSpPr>
        <p:spPr>
          <a:xfrm>
            <a:off x="7351776" y="2240280"/>
            <a:ext cx="2121408" cy="1234440"/>
          </a:xfrm>
          <a:prstGeom prst="roundRect">
            <a:avLst>
              <a:gd name="adj" fmla="val 2963"/>
            </a:avLst>
          </a:prstGeom>
          <a:solidFill>
            <a:srgbClr val="102D3D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61504" y="233172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CHANNELS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7461504" y="2624328"/>
            <a:ext cx="1901952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Founder / MONTREAL.AI audience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Frontier MasterClass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Proof Readiness Scan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Referrals and partners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Permissioned enterprise campaigns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9564624" y="914400"/>
            <a:ext cx="2121408" cy="2560320"/>
          </a:xfrm>
          <a:prstGeom prst="roundRect">
            <a:avLst>
              <a:gd name="adj" fmla="val 1724"/>
            </a:avLst>
          </a:prstGeom>
          <a:solidFill>
            <a:srgbClr val="102D3D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74352" y="100584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CUSTOMER SEGMENTS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9674352" y="1298448"/>
            <a:ext cx="1901952" cy="2084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AI vendors and enterprise AI teams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Boards and executive sponsors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Procurement and risk leaders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Investors / strategic buyers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Regulated institutions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Public / sovereign programmes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502920" y="3611880"/>
            <a:ext cx="5623560" cy="2148840"/>
          </a:xfrm>
          <a:prstGeom prst="roundRect">
            <a:avLst>
              <a:gd name="adj" fmla="val 1702"/>
            </a:avLst>
          </a:prstGeom>
          <a:solidFill>
            <a:srgbClr val="102D3D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" y="3703320"/>
            <a:ext cx="5404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COST STRUCTURE</a:t>
            </a:r>
            <a:endParaRPr lang="en-US" sz="1020" dirty="0"/>
          </a:p>
        </p:txBody>
      </p:sp>
      <p:sp>
        <p:nvSpPr>
          <p:cNvPr id="28" name="Text 26"/>
          <p:cNvSpPr/>
          <p:nvPr/>
        </p:nvSpPr>
        <p:spPr>
          <a:xfrm>
            <a:off x="612648" y="3995928"/>
            <a:ext cx="5404104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Models, search and tools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Independent evaluators and specialists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Security, privacy and protected execution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Customer delivery and support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Product and capability engineering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Category creation and acquisition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Legal, finance and insurance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Margin floors: Activation ≥95% · Mission 70–80% · Office ≥80% · Invocation ≥90%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6217920" y="3611880"/>
            <a:ext cx="5468112" cy="2148840"/>
          </a:xfrm>
          <a:prstGeom prst="roundRect">
            <a:avLst>
              <a:gd name="adj" fmla="val 1702"/>
            </a:avLst>
          </a:prstGeom>
          <a:solidFill>
            <a:srgbClr val="102D3D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27648" y="3703320"/>
            <a:ext cx="52486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D6A13C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REVENUE STREAMS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6327648" y="3995928"/>
            <a:ext cx="5248656" cy="1673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Proof Mission Activation — $15K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Proof Mission — $50K–$150K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Proof Office — $15K–$50K/month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Private Enterprise Network — $250K–$1M+/year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Protected Capability Invocation — usage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AGI Jobs / Validator Network — 10–20% fee</a:t>
            </a: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Rights and exclusivity premiums</a:t>
            </a:r>
            <a:endParaRPr lang="en-US" sz="760" dirty="0"/>
          </a:p>
          <a:p>
            <a:pPr indent="0" marL="0">
              <a:buNone/>
            </a:pPr>
            <a:endParaRPr lang="en-US" sz="760" dirty="0"/>
          </a:p>
          <a:p>
            <a:pPr indent="0" marL="0">
              <a:buNone/>
            </a:pPr>
            <a:r>
              <a:rPr lang="en-US" sz="76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Complete-customer case: $331K revenue · 80.4% gross margin · 262.5% illustrative customer ROI</a:t>
            </a:r>
            <a:endParaRPr lang="en-US" sz="760" dirty="0"/>
          </a:p>
        </p:txBody>
      </p:sp>
      <p:sp>
        <p:nvSpPr>
          <p:cNvPr id="32" name="Shape 30"/>
          <p:cNvSpPr/>
          <p:nvPr/>
        </p:nvSpPr>
        <p:spPr>
          <a:xfrm>
            <a:off x="502920" y="5989320"/>
            <a:ext cx="11183112" cy="411480"/>
          </a:xfrm>
          <a:prstGeom prst="roundRect">
            <a:avLst>
              <a:gd name="adj" fmla="val 8889"/>
            </a:avLst>
          </a:prstGeom>
          <a:solidFill>
            <a:srgbClr val="F5EEDC"/>
          </a:solidFill>
          <a:ln w="12700">
            <a:solidFill>
              <a:srgbClr val="D6A1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6117336"/>
            <a:ext cx="10725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1827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DIAGNOSE ALMOST FOR FREE  →  PRICE BY VALUE  →  PROVE  →  RECUR  →  PROTECT  →  COMPOUND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MONTREAL.AI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GoalOS Optimal Business Model Canvas</dc:title>
  <dc:subject>GoalOS Business Model Canvas</dc:subject>
  <dc:creator>MONTREAL.AI</dc:creator>
  <cp:lastModifiedBy>MONTREAL.AI</cp:lastModifiedBy>
  <cp:revision>1</cp:revision>
  <dcterms:created xsi:type="dcterms:W3CDTF">2026-07-20T18:01:15Z</dcterms:created>
  <dcterms:modified xsi:type="dcterms:W3CDTF">2026-07-20T18:01:15Z</dcterms:modified>
</cp:coreProperties>
</file>