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28600"/>
            <a:ext cx="11567160" cy="6400800"/>
          </a:xfrm>
          <a:prstGeom prst="rect">
            <a:avLst/>
          </a:prstGeom>
          <a:noFill/>
          <a:ln w="15240">
            <a:solidFill>
              <a:srgbClr val="D6A1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MONTREAL.AI × GOALOS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66760" y="320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A7B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OPTIMAL BUSINESS MODEL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201400" cy="0"/>
          </a:xfrm>
          <a:prstGeom prst="line">
            <a:avLst/>
          </a:prstGeom>
          <a:noFill/>
          <a:ln w="12700">
            <a:solidFill>
              <a:srgbClr val="D6A1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2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MONTREAL.AI × GOALOS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56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D7A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OPTIMAL BUSINESS MODEL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3208" y="868680"/>
            <a:ext cx="1965960" cy="1965960"/>
          </a:xfrm>
          <a:prstGeom prst="ellipse">
            <a:avLst/>
          </a:prstGeom>
          <a:solidFill>
            <a:srgbClr val="0E2B3B">
              <a:alpha val="85000"/>
            </a:srgbClr>
          </a:solidFill>
          <a:ln w="38100">
            <a:solidFill>
              <a:srgbClr val="D6A1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04688" y="1170432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005840" y="27889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OPTIMAL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GOALOS BUSINESS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80160" y="41422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EE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services-led, software-scaled, capability-licensed Proof Utility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Diagnose almost for free. Price by value. Prove the outcome. Recurr. Protect. Compound.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624535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92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Investor &amp; Board Edition · 20 July 2026 · Management hypotheses, not forecasts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GoalOS as a Proof Utility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platform is created by paid proof, not built in advance of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025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Near-zero-cost front door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404872"/>
            <a:ext cx="3054096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Readiness and Activation diagnose a consequential objective, expose Proof Debt and form the economic case. Price: free–$495 and $15K.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20025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High-value proof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3712" y="2404872"/>
            <a:ext cx="3054096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bounded Proof Mission executes the work, captures the full denominator and returns a governed decision state. Price: $50K–$150K.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20025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Recurring capability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11312" y="2404872"/>
            <a:ext cx="3054096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Proof Office keeps evidence current. Protected invocation monetizes accepted capability without surrendering the implementation.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Sell decisions and continuing control—not commodity AI documents.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Capability–Price Lag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has repriced cognitive production faster than organizations have repriced cognitive 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02D3D"/>
          </a:solidFill>
          <a:ln w="16510">
            <a:solidFill>
              <a:srgbClr val="385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025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OLD MODE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404872"/>
            <a:ext cx="30540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Scarce experts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teams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Sequential 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Weeks or months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deliverable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Pricing by hours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87452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53D4F"/>
          </a:solidFill>
          <a:ln w="16510">
            <a:solidFill>
              <a:srgbClr val="2CB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0025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AI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404872"/>
            <a:ext cx="30540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Near-free candidate output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Persuasive plans and reports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generation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Little authority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Weak outcome evidence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commoditization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37576" y="187452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02D3D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20025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GOALOS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2168" y="2404872"/>
            <a:ext cx="30540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Bounded objective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 execution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Docket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challenge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decision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Recurring control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draft is becoming nearly free. Truth, authority, execution and accountability are not.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6291072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192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Sources: S1–S6. See package Source Register.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enterprise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Organizations can access powerful models. They still cannot reliably authorize, prove, remember and reuse consequential machine 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35640" cy="384048"/>
          </a:xfrm>
          <a:prstGeom prst="roundRect">
            <a:avLst>
              <a:gd name="adj" fmla="val 9524"/>
            </a:avLst>
          </a:prstGeom>
          <a:solidFill>
            <a:srgbClr val="0E2B3B"/>
          </a:solidFill>
          <a:ln w="1016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THE BUYER STILL CANNOT ANSWER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8463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was the agent actually authorized to do?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work occurred—and what failed?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evidence supports the result?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challenged the claim independently?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55080" y="2423160"/>
            <a:ext cx="47548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may enter institutional memory?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may be reused, revoked or superseded?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value was really created?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Did the next mission improve because of the capability?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GoalOS turns probabilistic output into an inspectable institutional decision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initial ICP: AI Trust &amp; Revenue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AI vendor or enterprise AI team with ≥$250K of contract, deployment, capital or risk value at stake.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95681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CONSEQUENCE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359152"/>
            <a:ext cx="3054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real deployment, claim, procurement path, contract or investment.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F5EEDC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5152" y="195681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45152" y="2359152"/>
            <a:ext cx="3054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Named sponsor with budget and acceptance rights.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82880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95681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DEADLINE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48472" y="2359152"/>
            <a:ext cx="3054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decision inside 90 days.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E8EEF2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" y="355701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" y="3959352"/>
            <a:ext cx="3054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inputs and a frozen acceptance rubric.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342900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355701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45152" y="3959352"/>
            <a:ext cx="3054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Conservative value pool normally ≥4× first-year fee.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342900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E8EEF2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48472" y="355701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RECURRENCE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48472" y="3959352"/>
            <a:ext cx="3054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Ongoing monitoring, claims, governance, RFP or audit need.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buyer is not purchasing a report. The buyer is purchasing a defensible decision and a path to continuing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optimal economic conversion chain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customer objective creates immediate value—and, if it passes, a reusable institutional asset.</a:t>
            </a:r>
            <a:endParaRPr lang="en-US" sz="1250" dirty="0"/>
          </a:p>
        </p:txBody>
      </p:sp>
      <p:pic>
        <p:nvPicPr>
          <p:cNvPr id="4" name="Image 0" descr="/mnt/data/GoalOS_Optimal_Business_Model_Package_2026-07-20/_assets/economic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129" y="1600200"/>
            <a:ext cx="10445262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6291072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8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GoalOS internal architecture.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commercial ladder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stage has a distinct job: acquire, prove, retain, protect, scale.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0D2838"/>
          </a:solidFill>
          <a:ln w="8890">
            <a:solidFill>
              <a:srgbClr val="385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28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READINESS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60520" y="1728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Free–$495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72821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Acquisition and qualification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123648"/>
          </a:solidFill>
          <a:ln w="8890">
            <a:solidFill>
              <a:srgbClr val="385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322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60520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$15K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232257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Near-zero-cost paid front door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0D2838"/>
          </a:solidFill>
          <a:ln w="2032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9169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MISSION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60520" y="2916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$50K–$150K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91693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Creates evidence and candidate capability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123648"/>
          </a:solidFill>
          <a:ln w="2032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5112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OFFICE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60520" y="3511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$15K–$50K / month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1129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Recurring institutional control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97764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0D2838"/>
          </a:solidFill>
          <a:ln w="8890">
            <a:solidFill>
              <a:srgbClr val="385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05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 NETWORK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4105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$250K–$1M+ / year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410565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Platform, integrations and switching costs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123648"/>
          </a:solidFill>
          <a:ln w="8890">
            <a:solidFill>
              <a:srgbClr val="385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700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PROTECTED INVOCATION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60520" y="4700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Usage based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470001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90%+ mature gross margin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" y="5166360"/>
            <a:ext cx="10332720" cy="521208"/>
          </a:xfrm>
          <a:prstGeom prst="roundRect">
            <a:avLst>
              <a:gd name="adj" fmla="val 7018"/>
            </a:avLst>
          </a:prstGeom>
          <a:solidFill>
            <a:srgbClr val="0D2838"/>
          </a:solidFill>
          <a:ln w="8890">
            <a:solidFill>
              <a:srgbClr val="385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294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 JOBS / VALIDATION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60520" y="5294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10–20% fee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529437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and settlement economics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first mission finances capability creation. The Office monetizes control. Invocation creates software-scale economics.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 1 — Proof Mission Activation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highest-margin initial product: turn one consequential objective into a funded, falsifiable mission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$15,000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prepaid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MARGINAL COST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9242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$250–$1,000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071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Management hypothesis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89788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GM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5274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93–98%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7103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 CAC and fixed R&amp;D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45820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1306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24–72 hr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3135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scope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77240" y="30632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" y="3191256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3593592"/>
            <a:ext cx="48828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 Contract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Claims and assumptions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Debt Register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 Job and evidence architecture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Acceptance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 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Proceed / narrow / repair / defer / stop path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30632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64224" y="3191256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IT COMMANDS VALUE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64224" y="3593592"/>
            <a:ext cx="48828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structures decisions involving enterprise contracts, AI deployments, procurement, investments or compliance obligations—where avoiding one mistake can be worth hundreds of thousands or millions.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Near-zero production cost does not imply near-zero customer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 2 — GoalOS Proof Mission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customer buys a decision that is faster, inspectable, reproducible and economically accountable.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PRICE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$75K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Range: $50K–$150K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COST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9242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$18.75K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071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Illustrative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89788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GM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5274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75%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7103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Range: 70–80%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458200" y="1783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13064" y="209397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10 days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31352" y="250545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frozen mission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58368" y="1783080"/>
            <a:ext cx="10835640" cy="384048"/>
          </a:xfrm>
          <a:prstGeom prst="roundRect">
            <a:avLst>
              <a:gd name="adj" fmla="val 9524"/>
            </a:avLst>
          </a:prstGeom>
          <a:solidFill>
            <a:srgbClr val="0E2B3B"/>
          </a:solidFill>
          <a:ln w="1016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188366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 SEQUENCE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F5EEDC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Freeze objective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3911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11226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Proof Debt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5643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F5EEDC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2958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Issue AGI Jobs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4690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9107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F5EEDC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422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review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70839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78154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decision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2571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F5EEDC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976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9886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Candidate skill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543032" y="2514600"/>
            <a:ext cx="1170432" cy="100584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27080" y="26151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616184" y="28895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Office plan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reject, repair or stop decision can be successful delivery when the mission correctly retires risk or Proof Debt.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 3 — GoalOS Proof Office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recurring control function that keeps the accepted decision true, current and inspectable.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373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ARR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" y="197510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$216K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" y="2386584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US$18K/month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91840" y="1664208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7373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GM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46704" y="197510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64992" y="2386584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75–90% range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806440" y="1664208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17373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61304" y="197510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40%+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79592" y="2386584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 missions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321040" y="1664208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MATURE NRR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75904" y="197510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120%+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94192" y="2386584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Target, not actual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77240" y="292608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102D3D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0540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 INTAKE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3456432"/>
            <a:ext cx="3072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objectives and Proof Debt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07992" y="292608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102D3D"/>
          </a:solidFill>
          <a:ln w="16510">
            <a:solidFill>
              <a:srgbClr val="2CB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30540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72584" y="3456432"/>
            <a:ext cx="3072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Claims, sources, tests and freshness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38744" y="292608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102D3D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03336" y="305409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CHRONICLE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03336" y="3456432"/>
            <a:ext cx="3072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Admit, repair, reject, supersede, retire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411480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123648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24281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1832" y="4645152"/>
            <a:ext cx="3072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Versions, rights, entitlements and rollback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07992" y="411480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123648"/>
          </a:solidFill>
          <a:ln w="16510">
            <a:solidFill>
              <a:srgbClr val="2CB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424281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EXECUTIVE CONTROL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72584" y="4645152"/>
            <a:ext cx="3072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ledger, risk and board reporting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38744" y="411480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123648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4242816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SUCCESSOR TESTS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03336" y="4645152"/>
            <a:ext cx="30723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 comparison before improvement claims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Renewal is earned by evidence—not because another twelve months elapsed.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Protected capability invocation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Sell governed use of proven capability—never the downloadable crown-jewel implementation.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600200" cy="1188720"/>
          </a:xfrm>
          <a:prstGeom prst="roundRect">
            <a:avLst>
              <a:gd name="adj" fmla="val 3846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2996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4323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direct agent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874520"/>
            <a:ext cx="1600200" cy="1188720"/>
          </a:xfrm>
          <a:prstGeom prst="roundRect">
            <a:avLst>
              <a:gd name="adj" fmla="val 3846"/>
            </a:avLst>
          </a:prstGeom>
          <a:solidFill>
            <a:srgbClr val="E8EEF2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202996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ENTITLEMENT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15768" y="24323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Valid, scoped, revocable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1600200" cy="1188720"/>
          </a:xfrm>
          <a:prstGeom prst="roundRect">
            <a:avLst>
              <a:gd name="adj" fmla="val 3846"/>
            </a:avLst>
          </a:prstGeom>
          <a:solidFill>
            <a:srgbClr val="F5EEDC"/>
          </a:solidFill>
          <a:ln w="15240">
            <a:solidFill>
              <a:srgbClr val="2CB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2996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CHRONICLE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0288" y="24323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admission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1874520"/>
            <a:ext cx="1600200" cy="1188720"/>
          </a:xfrm>
          <a:prstGeom prst="roundRect">
            <a:avLst>
              <a:gd name="adj" fmla="val 3846"/>
            </a:avLst>
          </a:prstGeom>
          <a:solidFill>
            <a:srgbClr val="E8EEF2"/>
          </a:solidFill>
          <a:ln w="15240">
            <a:solidFill>
              <a:srgbClr val="2CB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02996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64808" y="24323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authorized 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0" y="1874520"/>
            <a:ext cx="1600200" cy="1188720"/>
          </a:xfrm>
          <a:prstGeom prst="roundRect">
            <a:avLst>
              <a:gd name="adj" fmla="val 3846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02996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39328" y="24323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Mission-compatible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04120" y="1874520"/>
            <a:ext cx="1600200" cy="1188720"/>
          </a:xfrm>
          <a:prstGeom prst="roundRect">
            <a:avLst>
              <a:gd name="adj" fmla="val 3846"/>
            </a:avLst>
          </a:prstGeom>
          <a:solidFill>
            <a:srgbClr val="E8EEF2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77272" y="202996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13848" y="2432304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Approved protected environment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66360" y="3337560"/>
            <a:ext cx="1828800" cy="82296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3529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 CAPABILITY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2976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3272" y="4425696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RECEIVES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3272" y="4828032"/>
            <a:ext cx="3602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 · evidence · version · scope · Chronicle and execution receipts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60920" y="42976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25512" y="4425696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MONTREAL.AI RETAINS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25512" y="4828032"/>
            <a:ext cx="3602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Method · routing · evaluator logic · failure history · composition intelligence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protocol may be open. The canonical private capability history remains scarce.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" y="6291072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8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informed by S10–S11.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Illustrative complete-customer economics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full first-year relationship can finance product development while giving the customer a compelling value-to-fee ratio.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647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FIRST-YEAR REVENUE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" y="20025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$331K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" y="2414016"/>
            <a:ext cx="2322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Activation + Mission + Office + usage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456432" y="16916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7647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COST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11296" y="20025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$64.95K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2414016"/>
            <a:ext cx="2322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delivery denominator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135624" y="16916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7647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90488" y="20025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$266.05K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08776" y="2414016"/>
            <a:ext cx="2322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 CAC and fixed overhead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814816" y="169164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87968" y="17647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0" y="20025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80.4%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87968" y="2414016"/>
            <a:ext cx="2322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Illustrative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51560" y="3291840"/>
            <a:ext cx="4251960" cy="1600200"/>
          </a:xfrm>
          <a:prstGeom prst="roundRect">
            <a:avLst>
              <a:gd name="adj" fmla="val 3429"/>
            </a:avLst>
          </a:prstGeom>
          <a:solidFill>
            <a:srgbClr val="102D3D"/>
          </a:solidFill>
          <a:ln w="1778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5204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8221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$1.2M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325880" y="446227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Conservatively attributable management case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0" y="3291840"/>
            <a:ext cx="4251960" cy="1600200"/>
          </a:xfrm>
          <a:prstGeom prst="roundRect">
            <a:avLst>
              <a:gd name="adj" fmla="val 3429"/>
            </a:avLst>
          </a:prstGeom>
          <a:solidFill>
            <a:srgbClr val="102D3D"/>
          </a:solidFill>
          <a:ln w="17780">
            <a:solidFill>
              <a:srgbClr val="2CB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5204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ROI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86600" y="38221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262.5%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132320" y="446227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(Value − fee) ÷ fee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Management hypothesis—not a forecast, promise or realized result.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Price the value—not the token cost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GoalOS computes two floors and uses the higher 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02536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FLOOR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404872"/>
            <a:ext cx="465429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5–15% of conservative attributable customer value.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$1M decision at a 10% value rate supports a $100K price.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19088" y="18745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02536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MARGIN FLOOR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404872"/>
            <a:ext cx="465429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Expected variable cost ÷ (1 − required GM).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$18,750 cost at 75% GM requires a minimum $75K price.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783080"/>
            <a:ext cx="10835640" cy="384048"/>
          </a:xfrm>
          <a:prstGeom prst="roundRect">
            <a:avLst>
              <a:gd name="adj" fmla="val 9524"/>
            </a:avLst>
          </a:prstGeom>
          <a:solidFill>
            <a:srgbClr val="0E2B3B"/>
          </a:solidFill>
          <a:ln w="1016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8366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ADJUSTMENTS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542032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" y="26700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Customer-private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3072384"/>
            <a:ext cx="3072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+25–50%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07992" y="2542032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5EEDC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72584" y="26700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Sector-exclusive rights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72584" y="3072384"/>
            <a:ext cx="3072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+100–300%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38744" y="2542032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03336" y="267004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Expedited delivery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03336" y="3072384"/>
            <a:ext cx="3072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+25–50%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547872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E8EEF2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1832" y="36758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Specialist assurance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+ margin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07992" y="3547872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72584" y="36758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Nonstandard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72584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Separate module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38744" y="3547872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E8EEF2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03336" y="36758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Discount request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0333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scope—not margin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value pool, no offer. No margin floor, no quote.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zero-seller standard lane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GoalOS should be purchased through GoalOS—not through founder-dependent sales labor.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Permissioned demand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185416" y="211226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32888" y="182880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23648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05740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Readiness Scan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059936" y="211226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2880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5740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Qualification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934456" y="211226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82880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23648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05740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price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808976" y="211226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182880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05740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Deal room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683496" y="211226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30968" y="182880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23648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205740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Contract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8368" y="33832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118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Payment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185416" y="366674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2888" y="33832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23648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6118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059936" y="366674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33832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6118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Acceptance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934456" y="366674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1928" y="33832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23648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6118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Office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808976" y="3666744"/>
            <a:ext cx="246888" cy="274320"/>
          </a:xfrm>
          <a:prstGeom prst="chevron">
            <a:avLst/>
          </a:prstGeom>
          <a:solidFill>
            <a:srgbClr val="2CB6A6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338328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6118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Renewal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14400" y="47548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102D3D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488289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78992" y="5285232"/>
            <a:ext cx="28254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 routine seller-side minutes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98848" y="47548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102D3D"/>
          </a:solidFill>
          <a:ln w="16510">
            <a:solidFill>
              <a:srgbClr val="2CB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88289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CONSTITUTIONAL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63440" y="5285232"/>
            <a:ext cx="28254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Humans set policy and exception authority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83296" y="47548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102D3D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488289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FAIL-CLOSED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47888" y="5285232"/>
            <a:ext cx="28254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Outside scope, price, rights or claims path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customer supplies consent, objective, payment and acceptance. Reality supplies the verdict.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GoalOS is its own first customer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Commercialization, delivery, memory, intellectual capital, financing and succession obey the same proof law.</a:t>
            </a:r>
            <a:endParaRPr lang="en-US" sz="1250" dirty="0"/>
          </a:p>
        </p:txBody>
      </p:sp>
      <p:pic>
        <p:nvPicPr>
          <p:cNvPr id="4" name="Image 0" descr="/mnt/data/GoalOS_Optimal_Business_Model_Package_2026-07-20/_assets/meta_fly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0460" y="1417320"/>
            <a:ext cx="480060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GoalOS may build its successor. Only external payment, evidence, review and fresh outcomes may prove it is better.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moat is the earned institutional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 can be substituted. A history of proven capability, rights and customer outcomes cannot be recreated retroactively.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6420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02D3D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2880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CUSTOMER_PAID_FOR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4526280" y="166420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02D3D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008" y="182880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SPONSOR_AUTHORIZED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8229600" y="166420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02D3D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9328" y="182880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MISSION_DELIVERED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23648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0604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EVIDENCE_SUPPORTED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526280" y="244144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23648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60604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REVIEWER_ACCEPTED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229600" y="244144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23648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60604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CHRONICLE_ADMITTED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02D3D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8328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RIGHTS_PERMIT_REUSE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26280" y="321868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02D3D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338328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CUSTOMER_RENEWED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229600" y="321868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02D3D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338328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FRESH_MISSION_IMPROVED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22960" y="399592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23648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16052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CAPABILITY_REDUCED_COST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26280" y="399592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123648"/>
          </a:solidFill>
          <a:ln w="8890">
            <a:solidFill>
              <a:srgbClr val="3554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4160520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CAPITAL_CREATED_CAPACITY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nodes describe what might work. The earned edges prove what worked, for whom, under what rights and with what result.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Five-year base management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model deliberately migrates from mission revenue toward recurring control, protected invocation and network economics.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9047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FY1 REVENUE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40664" y="17282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$1.4M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49047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FY3 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26664" y="17282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$16.6M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149047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REVENUE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12664" y="17282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$94.2M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43800" y="141732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49047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EBITDA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98664" y="17282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$45.1M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829800" y="1417320"/>
            <a:ext cx="1645920" cy="960120"/>
          </a:xfrm>
          <a:prstGeom prst="roundRect">
            <a:avLst>
              <a:gd name="adj" fmla="val 5714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952" y="1490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MIX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884664" y="172821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02952" y="2139696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Recurring + usage</a:t>
            </a:r>
            <a:endParaRPr lang="en-US" sz="700" dirty="0"/>
          </a:p>
        </p:txBody>
      </p:sp>
      <p:pic>
        <p:nvPicPr>
          <p:cNvPr id="20" name="Image 0" descr="/mnt/data/GoalOS_Optimal_Business_Model_Package_2026-07-20/05_Financial_Model/GoalOS_Optimal_Business_Model_Financial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031" y="2514600"/>
            <a:ext cx="8180034" cy="34564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8368" y="6291072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8A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Editable financial model included. Figures are management hypotheses, not forecasts.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Scenario discipline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cases make the assumptions explicit. None is a promise.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429000" cy="3337560"/>
          </a:xfrm>
          <a:prstGeom prst="roundRect">
            <a:avLst>
              <a:gd name="adj" fmla="val 1644"/>
            </a:avLst>
          </a:prstGeom>
          <a:solidFill>
            <a:srgbClr val="102D3D"/>
          </a:solidFill>
          <a:ln w="10160">
            <a:solidFill>
              <a:srgbClr val="3554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CONSERVATIVE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$38M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005840" y="290779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revenue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33101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$11M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73075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EBITDA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8992" y="4160520"/>
            <a:ext cx="2916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grows slowly; services remain material.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90288" y="1691640"/>
            <a:ext cx="3429000" cy="3337560"/>
          </a:xfrm>
          <a:prstGeom prst="roundRect">
            <a:avLst>
              <a:gd name="adj" fmla="val 1644"/>
            </a:avLst>
          </a:prstGeom>
          <a:solidFill>
            <a:srgbClr val="153D4F"/>
          </a:solidFill>
          <a:ln w="25400">
            <a:solidFill>
              <a:srgbClr val="D6A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$94.2M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773168" y="290779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revenue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73168" y="33101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B6A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$45.1M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73168" y="373075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EBITDA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4160520"/>
            <a:ext cx="2916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Office conversion and capability economics.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57616" y="1691640"/>
            <a:ext cx="3429000" cy="3337560"/>
          </a:xfrm>
          <a:prstGeom prst="roundRect">
            <a:avLst>
              <a:gd name="adj" fmla="val 1644"/>
            </a:avLst>
          </a:prstGeom>
          <a:solidFill>
            <a:srgbClr val="102D3D"/>
          </a:solidFill>
          <a:ln w="10160">
            <a:solidFill>
              <a:srgbClr val="3554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UPSIDE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0496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$180M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8540496" y="290779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revenue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40496" y="33101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$100M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40496" y="373075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FY5 EBITDA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13648" y="4160520"/>
            <a:ext cx="2916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5DDE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category adoption and high protected usage.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Update the model from receipts: actual conversion, direct cost, review burden, retention and transfer advantage.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Commercial Proof Run 001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next 90 days should buy truth—not another layer of architecture.</a:t>
            </a:r>
            <a:endParaRPr lang="en-US" sz="1250" dirty="0"/>
          </a:p>
        </p:txBody>
      </p:sp>
      <p:pic>
        <p:nvPicPr>
          <p:cNvPr id="4" name="Image 0" descr="/mnt/data/GoalOS_Optimal_Business_Model_Package_2026-07-20/_assets/90_day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56" y="1444752"/>
            <a:ext cx="10787449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$250K envelope · 3 paying customers · 1 independent review · 1 repeat/Office · 1 transferable capability · 0 material trust breaches.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proof ladder to platform scale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stage retires a different class of Proof Debt.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4800600"/>
            <a:ext cx="1536192" cy="777240"/>
          </a:xfrm>
          <a:prstGeom prst="rect">
            <a:avLst/>
          </a:prstGeom>
          <a:solidFill>
            <a:srgbClr val="102D3D"/>
          </a:solidFill>
          <a:ln w="7620">
            <a:solidFill>
              <a:srgbClr val="3554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49103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COMMERCIAL PROOF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914400" y="53309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Payment, delivery, positive contribution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2633472" y="4297680"/>
            <a:ext cx="1536192" cy="1280160"/>
          </a:xfrm>
          <a:prstGeom prst="rect">
            <a:avLst/>
          </a:prstGeom>
          <a:solidFill>
            <a:srgbClr val="123648"/>
          </a:solidFill>
          <a:ln w="7620">
            <a:solidFill>
              <a:srgbClr val="3554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44074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PRODUCT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2724912" y="482803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 purchase and recurring Offices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4443984" y="3794760"/>
            <a:ext cx="1536192" cy="1783080"/>
          </a:xfrm>
          <a:prstGeom prst="rect">
            <a:avLst/>
          </a:prstGeom>
          <a:solidFill>
            <a:srgbClr val="102D3D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390448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CAPABILITY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535424" y="4325112"/>
            <a:ext cx="13533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 mission improves because of admitted skill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254496" y="3291840"/>
            <a:ext cx="1536192" cy="2286000"/>
          </a:xfrm>
          <a:prstGeom prst="rect">
            <a:avLst/>
          </a:prstGeom>
          <a:solidFill>
            <a:srgbClr val="123648"/>
          </a:solidFill>
          <a:ln w="7620">
            <a:solidFill>
              <a:srgbClr val="3554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4015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PLATFORM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345936" y="3822192"/>
            <a:ext cx="13533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 network, identity, entitlements and usage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8065008" y="2788920"/>
            <a:ext cx="1536192" cy="2788920"/>
          </a:xfrm>
          <a:prstGeom prst="rect">
            <a:avLst/>
          </a:prstGeom>
          <a:solidFill>
            <a:srgbClr val="102D3D"/>
          </a:solidFill>
          <a:ln w="7620">
            <a:solidFill>
              <a:srgbClr val="3554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8986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NETWORK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156448" y="3319272"/>
            <a:ext cx="13533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agents, validators and cross-customer modules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9875520" y="2286000"/>
            <a:ext cx="1536192" cy="3291840"/>
          </a:xfrm>
          <a:prstGeom prst="rect">
            <a:avLst/>
          </a:prstGeom>
          <a:solidFill>
            <a:srgbClr val="123648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23957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 CAPACITY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966960" y="2816352"/>
            <a:ext cx="135331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Verified free cash flow creates measured productive capacity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Architecture earns attention. Payment earns relevance. Outcomes earn credibility. Fresh transfer earns the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can destroy the business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8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primary risks are product sprawl, hidden human labor, weak evidence and premature platform claims.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75564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PAID DEMAND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157984"/>
            <a:ext cx="4837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of thirty highly qualified prospects do not purchase the Activation.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62763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75564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RECURRENCE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157984"/>
            <a:ext cx="4837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Fewer than 30% of successful missions convert to continuing control.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871216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E8EEF2"/>
          </a:solidFill>
          <a:ln w="16510">
            <a:solidFill>
              <a:srgbClr val="2CB6A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299923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TRANSFER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3401568"/>
            <a:ext cx="4837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Validated capabilities fail to reduce cost, time, risk or reviewer burden by 15–20%.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2871216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E8EEF2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99923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HIDDEN SERVICES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401568"/>
            <a:ext cx="4837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Founder and specialist hours remain the majority of direct cost.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114800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5EEDC"/>
          </a:solidFill>
          <a:ln w="16510">
            <a:solidFill>
              <a:srgbClr val="D6A13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" y="4242816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WEAK AUTHORITY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" y="4645152"/>
            <a:ext cx="4837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same actor performs, validates and admits material 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4114800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5EEDC"/>
          </a:solidFill>
          <a:ln w="16510">
            <a:solidFill>
              <a:srgbClr val="B4231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4242816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TRUST FAILURE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645152"/>
            <a:ext cx="4837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Privacy, security, evidence or authorization breach.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F5EEDC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Fail closed. Pause expansion. Convert the failure into explicit Proof Debt and a repair mission.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68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BOARD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AUTHORIZE COMMERCIAL PROOF RUN 001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51560" y="2423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5EE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$250K · 90 days · one ICP · one offer · one price · one Evidence Docket · one recurring path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20240" y="31546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Diagnose almost for free.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35387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Price according to value.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392277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 one consequential outcome.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430682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the outcome into recurring control.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46908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accepted experience into protected capability.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50749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Charge repeatedly for governed reuse.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5413248"/>
            <a:ext cx="10625328" cy="685800"/>
          </a:xfrm>
          <a:prstGeom prst="roundRect">
            <a:avLst>
              <a:gd name="adj" fmla="val 6667"/>
            </a:avLst>
          </a:prstGeom>
          <a:solidFill>
            <a:srgbClr val="102D3D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Proof Activations create demand. Proof Missions create evidence. Proof Offices create recurring revenue. Chronicle creates authority. The Validated Skill Graph creates the moat.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97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MONTREAL.AI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GoalOS Optimal Business Model - Investor and Board Deck</dc:title>
  <dc:subject>The Optimal GoalOS Business Model</dc:subject>
  <dc:creator>MONTREAL.AI</dc:creator>
  <cp:lastModifiedBy>MONTREAL.AI</cp:lastModifiedBy>
  <cp:revision>1</cp:revision>
  <dcterms:created xsi:type="dcterms:W3CDTF">2026-07-20T18:01:15Z</dcterms:created>
  <dcterms:modified xsi:type="dcterms:W3CDTF">2026-07-20T18:01:15Z</dcterms:modified>
</cp:coreProperties>
</file>