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61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MONTREAL.AI  /  GOALOS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12480" y="65653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PRODUCTIVE INTELLIGENCE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1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MONTREAL.AI  /  GOALOS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12480" y="656539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PRODUCTIVE INTELLIGENCE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ONTREAL_AI_GoalOS_Sovereign_Productive_Intelligence_Package_2026-07-20/00_Assets/Cover_Master_Prospect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executive decision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for strategic importance. Launch through proof.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06527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56232"/>
            <a:ext cx="10012680" cy="22311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 - at category-defining scale.</a:t>
            </a:r>
            <a:endParaRPr lang="en-US" sz="2400" dirty="0"/>
          </a:p>
          <a:p>
            <a:pPr algn="ctr" indent="0" marL="0">
              <a:buNone/>
            </a:pP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Architect for a future in which intelligence becomes abundant. Sell one consequential problem first. Let customer receipts, evidence, independent challenge and fresh successor performance authorize every larger claim.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AMBITION • MINIMUM UNSUPPORTED CLAIM • NO SKIPPED GATES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window is open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is becoming ordinary. Institutional authority is not.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429000" cy="4023360"/>
          </a:xfrm>
          <a:prstGeom prst="roundRect">
            <a:avLst>
              <a:gd name="adj" fmla="val 1600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1907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" y="2029968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Delegated work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2578608"/>
            <a:ext cx="302666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increasingly operate across files, tools and controlled environments. The scarce question moves from “can it generate?” to “what may act, persist and receive authority?”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554480"/>
            <a:ext cx="3429000" cy="4023360"/>
          </a:xfrm>
          <a:prstGeom prst="roundRect">
            <a:avLst>
              <a:gd name="adj" fmla="val 1600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71907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2029968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Evaluated evolution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578608"/>
            <a:ext cx="302666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systems can be generated, executed and selected against measurable evaluators. What remains scarce is an institution that decides what deserves to survive.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429000" cy="4023360"/>
          </a:xfrm>
          <a:prstGeom prst="roundRect">
            <a:avLst>
              <a:gd name="adj" fmla="val 1600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71907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39328" y="2029968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Capital at infrastructure scale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39328" y="2578608"/>
            <a:ext cx="302666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Compute, energy, data, laboratories and industrial systems are becoming part of the AI stack. Value shifts toward institutions that convert cognition into productive capacity.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NOT THE INSTITUTION.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transition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abundant candidate output to governed productive intelligence.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45920"/>
          <a:ext cx="10789920" cy="1920240"/>
        </p:xfrm>
        <a:graphic>
          <a:graphicData uri="http://schemas.openxmlformats.org/drawingml/2006/table">
            <a:tbl>
              <a:tblPr/>
              <a:tblGrid>
                <a:gridCol w="2697480"/>
                <a:gridCol w="2697480"/>
                <a:gridCol w="2697480"/>
                <a:gridCol w="2697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OLD MODE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 labour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Static report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Periodic review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EARLY AI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Near-free draft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 output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Weak authority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GOALOS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Bounded mission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Evidence + Chronicle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Protected capability + recurring control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554480" y="4160520"/>
            <a:ext cx="9098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74520" y="4416552"/>
            <a:ext cx="8458200" cy="7223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draft is becoming nearly free.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Truth, authority, rights, execution and accountability are not.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GOALOS SELLS VERIFIED, CONTINUOUSLY IMPROVING OUTCOMES.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complete conversion chain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few companies are attempting to own the full path.</a:t>
            </a:r>
            <a:endParaRPr lang="en-US" sz="1100" dirty="0"/>
          </a:p>
        </p:txBody>
      </p:sp>
      <p:pic>
        <p:nvPicPr>
          <p:cNvPr id="4" name="Image 0" descr="/mnt/data/MONTREAL_AI_GoalOS_Sovereign_Productive_Intelligence_Package_2026-07-20/00_Assets/Conversion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1097280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→ WORK → PROOF → AUTHORITY → CAPABILITY → CAPITAL → CAPACITY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One company. One institutional stack.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product surface reinforces the same compounding system.</a:t>
            </a:r>
            <a:endParaRPr lang="en-US" sz="1100" dirty="0"/>
          </a:p>
        </p:txBody>
      </p:sp>
      <p:pic>
        <p:nvPicPr>
          <p:cNvPr id="4" name="Image 0" descr="/mnt/data/MONTREAL_AI_GoalOS_Sovereign_Productive_Intelligence_Package_2026-07-20/00_Assets/Corporat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325880"/>
            <a:ext cx="992124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LAUNCH A PRODUCT SUITE. LAUNCH THE INSTITUTION.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profoundly meta institution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company is its own first customer. Reality is its final authority.</a:t>
            </a:r>
            <a:endParaRPr lang="en-US" sz="1100" dirty="0"/>
          </a:p>
        </p:txBody>
      </p:sp>
      <p:pic>
        <p:nvPicPr>
          <p:cNvPr id="4" name="Image 0" descr="/mnt/data/MONTREAL_AI_GoalOS_Sovereign_Productive_Intelligence_Package_2026-07-20/00_Assets/Meta_Flywhe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1234440"/>
            <a:ext cx="8092440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SELF-BUILDING. NEVER SELF-CERTIFYING.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institutional maxim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GoalOS may create the next GoalOS. It may not crown it.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GOALOS SELLS GOALOS.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914400" y="216712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2B3B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GOALOS TEACHES GOALOS.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914400" y="2825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GOALOS TESTS GOALOS.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914400" y="348386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2B3B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GOALOS GOVERNS WHAT GOALOS MAY LEARN.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414223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GOALOS PROTECTS WHAT GOALOS HAS EARNED.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4400" y="48006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E2B3B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GOALOS FINANCES THE NEXT GOALOS.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143000" y="5669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EXTERNAL WORLD MAY PROVE THAT THE NEXT GOALOS IS BETTER.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Six compounding engines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Attention, revenue, capability, network, authority and capital reinforce one another.</a:t>
            </a:r>
            <a:endParaRPr lang="en-US" sz="1100" dirty="0"/>
          </a:p>
        </p:txBody>
      </p:sp>
      <p:pic>
        <p:nvPicPr>
          <p:cNvPr id="4" name="Image 0" descr="/mnt/data/MONTREAL_AI_GoalOS_Sovereign_Productive_Intelligence_Package_2026-07-20/00_Assets/Six_Eng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11201400" cy="5257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premium commercial ascent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product finances the next strategic layer.</a:t>
            </a:r>
            <a:endParaRPr lang="en-US" sz="1100" dirty="0"/>
          </a:p>
        </p:txBody>
      </p:sp>
      <p:pic>
        <p:nvPicPr>
          <p:cNvPr id="4" name="Image 0" descr="/mnt/data/MONTREAL_AI_GoalOS_Sovereign_Productive_Intelligence_Package_2026-07-20/00_Assets/Commercial_As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20140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HYPOTHESES — VALIDATE THROUGH COMMERCIAL PROOF RUN 001.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first purchasable outcome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expensive decision. One bounded mission. One defensible state.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0E2B3B">
              <a:alpha val="92000"/>
            </a:srgbClr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810512"/>
            <a:ext cx="9875520" cy="8595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Should this institution deploy, acquire, scale, continue funding, narrow, repair - or stop - this consequential AI initiative?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3383280" cy="2194560"/>
          </a:xfrm>
          <a:prstGeom prst="roundRect">
            <a:avLst>
              <a:gd name="adj" fmla="val 2500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341071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78408" y="3721608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$250,000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78408" y="4270248"/>
            <a:ext cx="29809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business days. Frozen objective, scope, evidence burden, acceptance and rollback.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3246120"/>
            <a:ext cx="3383280" cy="2194560"/>
          </a:xfrm>
          <a:prstGeom prst="roundRect">
            <a:avLst>
              <a:gd name="adj" fmla="val 2500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341071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08576" y="3721608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Evidence Docket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08576" y="4270248"/>
            <a:ext cx="29809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Proof Debt, AGI Jobs, reviewer verdict, governed decision and action path.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3246120"/>
            <a:ext cx="3383280" cy="2194560"/>
          </a:xfrm>
          <a:prstGeom prst="roundRect">
            <a:avLst>
              <a:gd name="adj" fmla="val 2500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3410712"/>
            <a:ext cx="2980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47888" y="3721608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$1M / year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47888" y="4270248"/>
            <a:ext cx="29809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recurring Proof Office manages continuing objectives, evidence and capability lifecycle.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CUSTOMER BUYS A DEFENSIBLE DECISION STATE.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 transaction designed for dramatic shared surplus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Premium enterprise value with software-like gross margins.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0972800" cy="1143000"/>
        </p:xfrm>
        <a:graphic>
          <a:graphicData uri="http://schemas.openxmlformats.org/drawingml/2006/table">
            <a:tbl>
              <a:tblPr/>
              <a:tblGrid>
                <a:gridCol w="1567543"/>
                <a:gridCol w="1567543"/>
                <a:gridCol w="1567543"/>
                <a:gridCol w="1567543"/>
                <a:gridCol w="1567543"/>
                <a:gridCol w="1567543"/>
                <a:gridCol w="1567543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Complete first-year customer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 cost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Gross profit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value floor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Activation + Mission + Office + usage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$1.55M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$0.31M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$1.24M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$6.2M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300%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097280" y="3337560"/>
            <a:ext cx="9966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17320" y="3593592"/>
            <a:ext cx="9326880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customer receives four dollars of conservative value for each dollar paid. GoalOS retains the capital required to build the capability network.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97280" y="4983480"/>
            <a:ext cx="98755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is separated into forecast, verified and realized states.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is determined by value at stake, margin floor, evidence burden, risk and rights.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explicitly includes tools, evaluators, human exceptions, security, reserves and delivery cost.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Autonomous commerce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Money Machine must become the transaction, not a sales assistant.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0E2B3B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282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60020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0E2B3B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7282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88036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74920" y="160020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0E2B3B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7282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21208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0E2B3B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7282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4380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38360" y="160020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0E2B3B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17282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875520" y="2084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356616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132F40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941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50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0" y="356616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132F40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36941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80360" y="4050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74920" y="356616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132F40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6941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12080" y="4050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06640" y="356616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132F40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36941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43800" y="4050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RENEW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738360" y="356616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132F40"/>
          </a:solidFill>
          <a:ln w="15240">
            <a:solidFill>
              <a:srgbClr val="D6A1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0" y="36941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875520" y="40507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14400" y="5532120"/>
            <a:ext cx="10332720" cy="640080"/>
          </a:xfrm>
          <a:prstGeom prst="roundRect">
            <a:avLst>
              <a:gd name="adj" fmla="val 11429"/>
            </a:avLst>
          </a:prstGeom>
          <a:solidFill>
            <a:srgbClr val="0E2B3B">
              <a:alpha val="92000"/>
            </a:srgbClr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34440" y="5788152"/>
            <a:ext cx="969264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Zero seller-side minutes in the standard lane. Human-sovereign at the constitutional boundary. Fail closed outside the approved product envelope.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CUSTOMER SUPPLIES OBJECTIVE, CONSENT, PAYMENT AND ACCEPTANCE.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first economic atom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paid Proof Mission converts uncertain ambition into inspectable institutional reality.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6733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04088" y="19842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04088" y="25328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change?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6733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38728" y="19842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Mission Contract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38728" y="25328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Scope, budget, rights, test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16733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73368" y="19842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Proof Debt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73368" y="25328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remains unknown?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06840" y="15087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8008" y="16733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208008" y="19842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AGI Jobs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08008" y="25328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work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5661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7307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" y="40416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Evidence Docket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" y="45902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denominator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37560" y="35661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37307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38728" y="40416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Independent Review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538728" y="45902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Challenge + replay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35661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73368" y="37307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73368" y="40416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Chronicle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73368" y="45902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Authority decision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006840" y="35661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08008" y="3730752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208008" y="4041648"/>
            <a:ext cx="2020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Validated Skill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208008" y="4590288"/>
            <a:ext cx="2020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future influence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EARNS RELEVANCE. OUTCOMES EARN CREDIBILITY. VERIFICATION EARNS AUTHORITY.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Chronicle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memory firewall that prevents recursive contamination.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331720" cy="1280160"/>
          </a:xfrm>
          <a:prstGeom prst="roundRect">
            <a:avLst>
              <a:gd name="adj" fmla="val 3571"/>
            </a:avLst>
          </a:prstGeom>
          <a:solidFill>
            <a:srgbClr val="D6A13C"/>
          </a:solidFill>
          <a:ln w="15240">
            <a:solidFill>
              <a:srgbClr val="F5D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933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20440" y="1600200"/>
            <a:ext cx="2331720" cy="1280160"/>
          </a:xfrm>
          <a:prstGeom prst="roundRect">
            <a:avLst>
              <a:gd name="adj" fmla="val 3571"/>
            </a:avLst>
          </a:prstGeom>
          <a:solidFill>
            <a:srgbClr val="0E2B3B"/>
          </a:solidFill>
          <a:ln w="15240">
            <a:solidFill>
              <a:srgbClr val="F5D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9933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ADMIT WITH CONDITIONS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2331720" cy="1280160"/>
          </a:xfrm>
          <a:prstGeom prst="roundRect">
            <a:avLst>
              <a:gd name="adj" fmla="val 3571"/>
            </a:avLst>
          </a:prstGeom>
          <a:solidFill>
            <a:srgbClr val="0E2B3B"/>
          </a:solidFill>
          <a:ln w="15240">
            <a:solidFill>
              <a:srgbClr val="F5D5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19933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98280" y="1600200"/>
            <a:ext cx="2331720" cy="1280160"/>
          </a:xfrm>
          <a:prstGeom prst="roundRect">
            <a:avLst>
              <a:gd name="adj" fmla="val 3571"/>
            </a:avLst>
          </a:prstGeom>
          <a:solidFill>
            <a:srgbClr val="0E2B3B"/>
          </a:solidFill>
          <a:ln w="15240">
            <a:solidFill>
              <a:srgbClr val="F5D5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62872" y="19933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520440"/>
            <a:ext cx="2331720" cy="1280160"/>
          </a:xfrm>
          <a:prstGeom prst="roundRect">
            <a:avLst>
              <a:gd name="adj" fmla="val 3571"/>
            </a:avLst>
          </a:prstGeom>
          <a:solidFill>
            <a:srgbClr val="0E2B3B"/>
          </a:solidFill>
          <a:ln w="15240">
            <a:solidFill>
              <a:srgbClr val="F5D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QUARANTINE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520440" y="3520440"/>
            <a:ext cx="2331720" cy="1280160"/>
          </a:xfrm>
          <a:prstGeom prst="roundRect">
            <a:avLst>
              <a:gd name="adj" fmla="val 3571"/>
            </a:avLst>
          </a:prstGeom>
          <a:solidFill>
            <a:srgbClr val="0E2B3B"/>
          </a:solidFill>
          <a:ln w="15240">
            <a:solidFill>
              <a:srgbClr val="F5D5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SUPERSEDE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520440"/>
            <a:ext cx="2331720" cy="1280160"/>
          </a:xfrm>
          <a:prstGeom prst="roundRect">
            <a:avLst>
              <a:gd name="adj" fmla="val 3571"/>
            </a:avLst>
          </a:prstGeom>
          <a:solidFill>
            <a:srgbClr val="0E2B3B"/>
          </a:solidFill>
          <a:ln w="15240">
            <a:solidFill>
              <a:srgbClr val="F5D5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39136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RETIRE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51560" y="5532120"/>
            <a:ext cx="10058400" cy="658368"/>
          </a:xfrm>
          <a:prstGeom prst="roundRect">
            <a:avLst>
              <a:gd name="adj" fmla="val 11111"/>
            </a:avLst>
          </a:prstGeom>
          <a:solidFill>
            <a:srgbClr val="0E2B3B">
              <a:alpha val="92000"/>
            </a:srgbClr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5788152"/>
            <a:ext cx="941832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 Merkle root commits state. It does not create truth. Chronicle grants or removes institutional authority.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ADMITTED, SCOPED, RIGHTS-CLEARED, CURRENT AND ROLLBACKABLE CAPABILITY MAY COMPOUND.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Validated Skill Graph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moat is not the nodes. It is the earned institutional edges.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EAF0F3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087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CUSTOMER_PAID_FOR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5087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SPONSOR_AUTHORIZED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203704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EAF0F3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38658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MISSION_DELIVERED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203704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38658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EVIDENCE_SUPPORTED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081528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EAF0F3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264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REVIEWER_ACCEPTED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3081528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326440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CHRONICLE_ADMITTED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959352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EAF0F3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1422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RIGHTS_PERMIT_REUSE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959352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414223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REPEAT_PURCHASE_FOLLOWED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837176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EAF0F3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502005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SUCCESSOR_IMPROVED_BECAUSE_OF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837176"/>
            <a:ext cx="5257800" cy="62179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502005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CAPITAL_CREATED_CAPACITY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" y="5806440"/>
            <a:ext cx="103327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6062472"/>
            <a:ext cx="9692640" cy="182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Models can be substituted. A decade of trusted missions, negative evidence, rights, evaluators, accepted reuse and capital-allocation competence cannot be copied in a weekend.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strongest open-system moat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standards. Public verification. Private capability. Governed invocation.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4572000" cy="438912"/>
          </a:xfrm>
          <a:prstGeom prst="roundRect">
            <a:avLst>
              <a:gd name="adj" fmla="val 6250"/>
            </a:avLst>
          </a:prstGeom>
          <a:solidFill>
            <a:srgbClr val="0E2B3B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DIRECT IDENTITY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039112"/>
            <a:ext cx="4572000" cy="438912"/>
          </a:xfrm>
          <a:prstGeom prst="roundRect">
            <a:avLst>
              <a:gd name="adj" fmla="val 6250"/>
            </a:avLst>
          </a:prstGeom>
          <a:solidFill>
            <a:srgbClr val="0E2B3B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762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OWNERSHIP / DELEGATION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2660904"/>
            <a:ext cx="4572000" cy="438912"/>
          </a:xfrm>
          <a:prstGeom prst="roundRect">
            <a:avLst>
              <a:gd name="adj" fmla="val 6250"/>
            </a:avLst>
          </a:prstGeom>
          <a:solidFill>
            <a:srgbClr val="0E2B3B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98064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 ENTITLEMENT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282696"/>
            <a:ext cx="4572000" cy="438912"/>
          </a:xfrm>
          <a:prstGeom prst="roundRect">
            <a:avLst>
              <a:gd name="adj" fmla="val 6250"/>
            </a:avLst>
          </a:prstGeom>
          <a:solidFill>
            <a:srgbClr val="0E2B3B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1985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CHRONICLE ADMISSION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904488"/>
            <a:ext cx="4572000" cy="438912"/>
          </a:xfrm>
          <a:prstGeom prst="roundRect">
            <a:avLst>
              <a:gd name="adj" fmla="val 6250"/>
            </a:avLst>
          </a:prstGeom>
          <a:solidFill>
            <a:srgbClr val="0E2B3B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416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LATEST-ROOT INCLUSION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526280"/>
            <a:ext cx="4572000" cy="438912"/>
          </a:xfrm>
          <a:prstGeom prst="roundRect">
            <a:avLst>
              <a:gd name="adj" fmla="val 6250"/>
            </a:avLst>
          </a:prstGeom>
          <a:solidFill>
            <a:srgbClr val="0E2B3B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6634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EXECUTION ENVIRONMENT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60720" y="2148840"/>
            <a:ext cx="1005840" cy="1463040"/>
          </a:xfrm>
          <a:prstGeom prst="chevron">
            <a:avLst/>
          </a:prstGeom>
          <a:solidFill>
            <a:srgbClr val="D6A13C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508760"/>
            <a:ext cx="3886200" cy="3566160"/>
          </a:xfrm>
          <a:prstGeom prst="roundRect">
            <a:avLst>
              <a:gd name="adj" fmla="val 1538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1673352"/>
            <a:ext cx="3483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516368" y="1984248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GOVERNED OUTCOME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516368" y="2532888"/>
            <a:ext cx="3483864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customer receives the result, evidence, scope, capability version and verification receipt. MONTREAL.AI retains the private method, evaluator logic, failure history and graph intelligence.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400" y="562356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0E2B3B">
              <a:alpha val="92000"/>
            </a:srgbClr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5879592"/>
            <a:ext cx="9692640" cy="548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protocol may be copied. The canonical private capability network cannot be recreated retroactively.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final access law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rights, memory and reliance are all current-state questions.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No direct name, no identity.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No current ownership, no write.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825496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No Chronicle admission, no canonical skill.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529584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No entitlement, no use.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4233672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No latest-root proof, no reliance.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A13C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No verified outcome, no compounding.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RECEIVES A GOVERNED RIGHT TO INVOKE. MONTREAL.AI RETAINS THE UNDERLYING INTELLIGENCE.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GoalOS Treasury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free cash flow becomes greater future mission capacity.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58191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95528" y="1892808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CUSTOMER ACQUISITION + DELIVERY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95528" y="2441448"/>
            <a:ext cx="4809744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20-30%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088" y="158191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19088" y="1892808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CAPABILITY ENGINEERING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19088" y="2441448"/>
            <a:ext cx="4809744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20-30%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90779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95528" y="3218688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MODELS, COMPUTE, DATA + ENVIRONMENTS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5528" y="3767328"/>
            <a:ext cx="4809744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10-20%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74320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90779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19088" y="3218688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VALIDATION, LEGAL, SAFETY + SECURITY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19088" y="3767328"/>
            <a:ext cx="4809744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10-15%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06908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23367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5528" y="4544568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STRATEGIC INFRASTRUCTURE PILOTS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5528" y="5093208"/>
            <a:ext cx="4809744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10-20%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069080"/>
            <a:ext cx="5212080" cy="1051560"/>
          </a:xfrm>
          <a:prstGeom prst="roundRect">
            <a:avLst>
              <a:gd name="adj" fmla="val 5217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423367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19088" y="4544568"/>
            <a:ext cx="4809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BOUNDED FRONTIER OPTIONS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19088" y="5093208"/>
            <a:ext cx="4809744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5-10%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14400" y="553212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0E2B3B">
              <a:alpha val="92000"/>
            </a:srgbClr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788152"/>
            <a:ext cx="969264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Every capital allocation becomes another Proof Mission: thesis, baseline, milestones, telemetry, evidence, continuation decision and stop condition.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TREASURY FUNDS THE NEXT FRONTIER - ONLY AFTER OBLIGATIONS AND RESERVES.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north-star metric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Verified Productive Capacity - not revenue alone, not graph size, not agent activity.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764792"/>
            <a:ext cx="9692640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institution is improving when it produces more independently supported outcomes, at lower cost and risk, using more reusable capability, under stronger governance - while increasing future mission capacity.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1143000" cy="1143000"/>
          </a:xfrm>
          <a:prstGeom prst="ellipse">
            <a:avLst/>
          </a:prstGeom>
          <a:solidFill>
            <a:srgbClr val="061522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9684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02920" y="50109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value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13432" y="3703320"/>
            <a:ext cx="1143000" cy="1143000"/>
          </a:xfrm>
          <a:prstGeom prst="ellipse">
            <a:avLst/>
          </a:prstGeom>
          <a:solidFill>
            <a:srgbClr val="061522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39684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130552" y="50109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Reuse advantage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41064" y="3703320"/>
            <a:ext cx="1143000" cy="1143000"/>
          </a:xfrm>
          <a:prstGeom prst="ellipse">
            <a:avLst/>
          </a:prstGeom>
          <a:solidFill>
            <a:srgbClr val="061522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23944" y="39684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3758184" y="50109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Ownership + control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68696" y="3703320"/>
            <a:ext cx="1143000" cy="1143000"/>
          </a:xfrm>
          <a:prstGeom prst="ellipse">
            <a:avLst/>
          </a:prstGeom>
          <a:solidFill>
            <a:srgbClr val="061522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51576" y="39684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5385816" y="50109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Persistence + freshness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96328" y="3703320"/>
            <a:ext cx="1143000" cy="1143000"/>
          </a:xfrm>
          <a:prstGeom prst="ellipse">
            <a:avLst/>
          </a:prstGeom>
          <a:solidFill>
            <a:srgbClr val="061522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9208" y="39684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013448" y="50109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+ legitimacy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23960" y="3703320"/>
            <a:ext cx="1143000" cy="1143000"/>
          </a:xfrm>
          <a:prstGeom prst="ellipse">
            <a:avLst/>
          </a:prstGeom>
          <a:solidFill>
            <a:srgbClr val="D6A13C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39684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8641080" y="50109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Unresolved Proof Debt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451592" y="3703320"/>
            <a:ext cx="1143000" cy="1143000"/>
          </a:xfrm>
          <a:prstGeom prst="ellipse">
            <a:avLst/>
          </a:prstGeom>
          <a:solidFill>
            <a:srgbClr val="D6A13C"/>
          </a:solidFill>
          <a:ln w="19050">
            <a:solidFill>
              <a:srgbClr val="D6A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34472" y="39684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X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10268712" y="50109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15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Externality + concentration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VERIFIED VALUE, REUSE, CONTROL, FRESHNESS AND GOVERNANCE. MINIMIZE PROOF DEBT AND EXTERNALITY.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Commercial Proof Run 001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authority must come from customer receipts.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PAYING CUSTOMERS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5087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 MISSIONS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1+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9224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VERDICT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98280" y="15087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1+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26880" y="24505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/ EXPANSION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5661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1+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22960" y="4507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ADMITTED CAPABILITY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29000" y="35661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1+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657600" y="4507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IMPROVEMENT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5661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+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492240" y="4507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CONTRIBUTION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98280" y="3566160"/>
            <a:ext cx="2423160" cy="1600200"/>
          </a:xfrm>
          <a:prstGeom prst="roundRect">
            <a:avLst>
              <a:gd name="adj" fmla="val 3429"/>
            </a:avLst>
          </a:prstGeom>
          <a:solidFill>
            <a:srgbClr val="0E2B3B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9326880" y="450799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BREACHES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4400" y="553212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0E2B3B">
              <a:alpha val="92000"/>
            </a:srgbClr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4440" y="5788152"/>
            <a:ext cx="9692640" cy="1737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Build the category now. Sell the bounded mission now. Publish the evidence. Compound only what passes.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architecture of scale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ten-year category scenario - not a forecast.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5852160" cy="402336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Y1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Y10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$2.2M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$341M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$9.63B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Gross profit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$1.8M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$263M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$7.66B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EBITDA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($1.7M)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$123M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$5.08B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Recurring + usage mix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25%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80%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91%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Proof Offices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0.75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1,300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Chronicle capabilities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615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7,500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mnt/data/MONTREAL_AI_GoalOS_Sovereign_Productive_Intelligence_Package_2026-07-20/05_Financial_Model/MONTREAL_AI_GoalOS_Financial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417320"/>
            <a:ext cx="4754880" cy="3566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03720" y="5257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architecture only. Every larger capital and valuation claim remains subordinate to proof gates.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Only proof earns scale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Valuation follows evidence. It does not precede it.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61872"/>
            <a:ext cx="10652760" cy="713232"/>
          </a:xfrm>
          <a:prstGeom prst="roundRect">
            <a:avLst>
              <a:gd name="adj" fmla="val 3846"/>
            </a:avLst>
          </a:prstGeom>
          <a:solidFill>
            <a:srgbClr val="132F40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356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72768" y="14356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PROOF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41732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customers • 1 verified outcome • 1 repeat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10652760" cy="713232"/>
          </a:xfrm>
          <a:prstGeom prst="roundRect">
            <a:avLst>
              <a:gd name="adj" fmla="val 3846"/>
            </a:avLst>
          </a:prstGeom>
          <a:solidFill>
            <a:srgbClr val="0E2B3B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682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72768" y="236829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REPEATABLE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35000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20-30 missions • 5+ Offices • admitted capability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127248"/>
            <a:ext cx="10652760" cy="713232"/>
          </a:xfrm>
          <a:prstGeom prst="roundRect">
            <a:avLst>
              <a:gd name="adj" fmla="val 3846"/>
            </a:avLst>
          </a:prstGeom>
          <a:solidFill>
            <a:srgbClr val="132F40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00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III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72768" y="33009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PLATFORM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28269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20+ enterprises • 50%+ recurring • private deployments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4059936"/>
            <a:ext cx="10652760" cy="713232"/>
          </a:xfrm>
          <a:prstGeom prst="roundRect">
            <a:avLst>
              <a:gd name="adj" fmla="val 3846"/>
            </a:avLst>
          </a:prstGeom>
          <a:solidFill>
            <a:srgbClr val="0E2B3B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33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IV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72768" y="423367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STANDARD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215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 institutions • $100M+ recurring trajectory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4992624"/>
            <a:ext cx="10652760" cy="713232"/>
          </a:xfrm>
          <a:prstGeom prst="roundRect">
            <a:avLst>
              <a:gd name="adj" fmla="val 3846"/>
            </a:avLst>
          </a:prstGeom>
          <a:solidFill>
            <a:srgbClr val="132F40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166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D57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72768" y="5166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PRODUCTIVE INFRASTRUCTURE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5148072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standard • network economics • productive assets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FOR $100B+ IMPORTANCE. CLAIM ONLY WHAT THE RECEIPTS PROVE.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Institutional architecture that can survive scale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the operating company. Ring-fence physical infrastructure. Separate authority.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58191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HOLDCO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41248" y="1892808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MONTREAL.AI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2441448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Category, canonical network, strategic governance and long-horizon capital doctrine.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70832" y="14173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58191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COMPANY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1892808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GOALOS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441448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contracts, Proof Missions, Proof Offices and customer value.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4290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02752" y="1581912"/>
            <a:ext cx="3026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+ RESERVE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302752" y="1892808"/>
            <a:ext cx="30266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CAPABILITY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02752" y="2441448"/>
            <a:ext cx="3026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Runtime, Chronicle, VSG, protected execution, identity and rights-cleared assets.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325880" y="3886200"/>
            <a:ext cx="4251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27048" y="4050792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TREASURY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27048" y="4361688"/>
            <a:ext cx="3849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CAPITAL DISCIPLINE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7048" y="4910328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Reserves, proof-gated reinvestment and portfolio governance.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3886200"/>
            <a:ext cx="4251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651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4050792"/>
            <a:ext cx="3849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SPVS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84848" y="4361688"/>
            <a:ext cx="3849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1522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RING-FENCED SCALE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84848" y="4910328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171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Compute, energy, laboratories and industry financed against milestones.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D6A1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SINGLE AGENT, FOUNDER, VALIDATOR OR CAPITAL PROVIDER CONTROLS THE ENTIRE INSTITUTION.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Do not launch a product suite.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103327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the institution.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10332720" cy="1920240"/>
          </a:xfrm>
          <a:prstGeom prst="roundRect">
            <a:avLst>
              <a:gd name="adj" fmla="val 3810"/>
            </a:avLst>
          </a:prstGeom>
          <a:solidFill>
            <a:srgbClr val="0E2B3B">
              <a:alpha val="92000"/>
            </a:srgbClr>
          </a:solidFill>
          <a:ln w="22860">
            <a:solidFill>
              <a:srgbClr val="D6A1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719072"/>
            <a:ext cx="9692640" cy="14081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MONTREAL.AI is constructing the operating institution through which intelligence becomes trusted work, trusted work becomes protected capability, protected capability becomes recurring economic power, and verified economic power finances a larger future.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INSTITUTION IS ITS OWN FIRST CUSTOMER.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4782312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REALITY IS ITS FINAL AUTHORITY.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6509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F7F1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MERELY WORK COMPLETED. CAPABILITY EARNED. IMPROVEMENT PROVEN.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614476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5D5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AMBITION • MINIMUM UNSUPPORTED CLAIM • ONE CONSEQUENTIAL MISSION AT A TIME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D6A13C"/>
                </a:solidFill>
                <a:latin typeface="Inter"/>
                <a:ea typeface="Inter"/>
                <a:cs typeface="Inter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MONTREAL.AI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MONTREAL.AI x GoalOS - Board and Investor Deck</dc:title>
  <dc:subject>GoalOS - Sovereign Productive Intelligence Institution</dc:subject>
  <dc:creator>MONTREAL.AI</dc:creator>
  <cp:lastModifiedBy>MONTREAL.AI</cp:lastModifiedBy>
  <cp:revision>1</cp:revision>
  <dcterms:created xsi:type="dcterms:W3CDTF">2026-07-20T19:17:38Z</dcterms:created>
  <dcterms:modified xsi:type="dcterms:W3CDTF">2026-07-20T19:17:38Z</dcterms:modified>
</cp:coreProperties>
</file>