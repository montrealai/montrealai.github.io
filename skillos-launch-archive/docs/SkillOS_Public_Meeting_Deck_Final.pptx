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killos_public_launch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E6FF"/>
                </a:solidFill>
                <a:latin typeface="Arial"/>
              </a:defRPr>
            </a:pPr>
            <a:r>
              <a:t>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SkillOS is an open-source proof that AI-agent work can compound.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D8E6F7"/>
                </a:solidFill>
                <a:latin typeface="Arial"/>
              </a:defRPr>
            </a:pPr>
            <a:r>
              <a:t>Jobs become traces. Traces become tested skills. Tested skills improve future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3291840" cy="137160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1E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3913631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E6FF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4315968"/>
            <a:ext cx="28895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Work -&gt; Trace -&gt; Learn -&gt; Skill -&gt; Test -&gt; Release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49039"/>
            <a:ext cx="3291840" cy="137160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9D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3913631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D6CFF"/>
                </a:solidFill>
                <a:latin typeface="Arial"/>
              </a:defRPr>
            </a:pPr>
            <a:r>
              <a:t>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4315968"/>
            <a:ext cx="28895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Live site, repo, proof, docs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749039"/>
            <a:ext cx="3291840" cy="137160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F7C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3913631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C948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4315968"/>
            <a:ext cx="28895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Pilot 001 with real workflow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WHAT IS PUBLIC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303520" cy="132588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1E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490472"/>
            <a:ext cx="49011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E6FF"/>
                </a:solidFill>
                <a:latin typeface="Arial"/>
              </a:defRPr>
            </a:pPr>
            <a:r>
              <a:t>LIVE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92807"/>
            <a:ext cx="4901183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https://montrealai.github.io/skillos/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120640" cy="132588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9D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1490472"/>
            <a:ext cx="471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D6CFF"/>
                </a:solidFill>
                <a:latin typeface="Arial"/>
              </a:defRPr>
            </a:pPr>
            <a:r>
              <a:t>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892807"/>
            <a:ext cx="4718303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https://github.com/MontrealAI/skillos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383280" cy="150876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F7C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2783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C948"/>
                </a:solidFill>
                <a:latin typeface="Arial"/>
              </a:defRPr>
            </a:pPr>
            <a:r>
              <a:t>REFERENCE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630168"/>
            <a:ext cx="298094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Sales follow-up emails from call notes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063240"/>
            <a:ext cx="3383280" cy="150876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2EE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322783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E59D"/>
                </a:solidFill>
                <a:latin typeface="Arial"/>
              </a:defRPr>
            </a:pPr>
            <a:r>
              <a:t>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630168"/>
            <a:ext cx="298094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GitHub Actions verifies, builds, and deploys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063240"/>
            <a:ext cx="3383280" cy="150876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1E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3227832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E6FF"/>
                </a:solidFill>
                <a:latin typeface="Arial"/>
              </a:defRPr>
            </a:pPr>
            <a:r>
              <a:t>ARCHIVE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630168"/>
            <a:ext cx="298094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Permanent public meeting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THE COMPOUNDING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691640" cy="320040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1E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673351"/>
            <a:ext cx="1289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E6FF"/>
                </a:solidFill>
                <a:latin typeface="Arial"/>
              </a:defRPr>
            </a:pPr>
            <a:r>
              <a:t>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75688"/>
            <a:ext cx="1289304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Agent completes a 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508760"/>
            <a:ext cx="1691640" cy="320040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1E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4328" y="1673351"/>
            <a:ext cx="1289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E6FF"/>
                </a:solidFill>
                <a:latin typeface="Arial"/>
              </a:defRPr>
            </a:pPr>
            <a:r>
              <a:t>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2075688"/>
            <a:ext cx="1289304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System records what happened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1691640" cy="320040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1E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673351"/>
            <a:ext cx="1289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E6FF"/>
                </a:solidFill>
                <a:latin typeface="Arial"/>
              </a:defRPr>
            </a:pPr>
            <a:r>
              <a:t>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75688"/>
            <a:ext cx="1289304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Corrections become lessons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1691640" cy="320040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1E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673351"/>
            <a:ext cx="1289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E6FF"/>
                </a:solidFill>
                <a:latin typeface="Arial"/>
              </a:defRPr>
            </a:pPr>
            <a:r>
              <a:t>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075688"/>
            <a:ext cx="1289304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Lessons become bounded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508760"/>
            <a:ext cx="1691640" cy="320040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1E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673351"/>
            <a:ext cx="1289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E6FF"/>
                </a:solidFill>
                <a:latin typeface="Arial"/>
              </a:defRPr>
            </a:pPr>
            <a: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075688"/>
            <a:ext cx="1289304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Candidate must improve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1508760"/>
            <a:ext cx="1691640" cy="320040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1E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05288" y="1673351"/>
            <a:ext cx="1289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E6FF"/>
                </a:solidFill>
                <a:latin typeface="Arial"/>
              </a:defRPr>
            </a:pPr>
            <a:r>
              <a:t>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5288" y="2075688"/>
            <a:ext cx="1289304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Approved versions improve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7C948"/>
                </a:solidFill>
                <a:latin typeface="Arial"/>
              </a:defRPr>
            </a:pPr>
            <a:r>
              <a:t>Work stops being disposable and becomes reusable capability.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PUBLIC-SAFE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EE6FF"/>
                </a:solidFill>
                <a:latin typeface="Arial"/>
              </a:defRPr>
            </a:pPr>
            <a:r>
              <a:t>Reference workflow. Reproducible proof. Human approval. No guaranteed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3474720" cy="210312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1E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49631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E6FF"/>
                </a:solidFill>
                <a:latin typeface="Arial"/>
              </a:defRPr>
            </a:pPr>
            <a:r>
              <a:t>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98648"/>
            <a:ext cx="3072384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Open-source proof</a:t>
            </a:r>
            <a:br/>
            <a:r>
              <a:t>Reference workflow</a:t>
            </a:r>
            <a:br/>
            <a:r>
              <a:t>Controlled environment</a:t>
            </a:r>
            <a:br/>
            <a:r>
              <a:t>Measured improvement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331720"/>
            <a:ext cx="3474720" cy="210312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F7C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249631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C948"/>
                </a:solidFill>
                <a:latin typeface="Arial"/>
              </a:defRPr>
            </a:pPr>
            <a:r>
              <a:t>AVOID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898648"/>
            <a:ext cx="3072384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Guarantees</a:t>
            </a:r>
            <a:br/>
            <a:r>
              <a:t>Unaudited ROI claims</a:t>
            </a:r>
            <a:br/>
            <a:r>
              <a:t>Financial claims</a:t>
            </a:r>
            <a:br/>
            <a:r>
              <a:t>High-impact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3474720" cy="210312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2EE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249631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E59D"/>
                </a:solidFill>
                <a:latin typeface="Arial"/>
              </a:defRPr>
            </a:pPr>
            <a:r>
              <a:t>PILOT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898648"/>
            <a:ext cx="3072384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Agent drafts</a:t>
            </a:r>
            <a:br/>
            <a:r>
              <a:t>Human approves</a:t>
            </a:r>
            <a:br/>
            <a:r>
              <a:t>Nothing sends automatically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PILOT 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8E6F7"/>
                </a:solidFill>
                <a:latin typeface="Arial"/>
              </a:defRPr>
            </a:pPr>
            <a:r>
              <a:t>The bridge from reference proof to market proof.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743200" cy="196596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1E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3911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E6FF"/>
                </a:solidFill>
                <a:latin typeface="Arial"/>
              </a:defRPr>
            </a:pPr>
            <a: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41448"/>
            <a:ext cx="234086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Sales follow-up emails from call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874519"/>
            <a:ext cx="2743200" cy="196596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9D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4487" y="203911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D6CFF"/>
                </a:solidFill>
                <a:latin typeface="Arial"/>
              </a:defRPr>
            </a:pPr>
            <a:r>
              <a:t>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7" y="2441448"/>
            <a:ext cx="234086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50-100 real 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874519"/>
            <a:ext cx="2743200" cy="196596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F7C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203911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C948"/>
                </a:solidFill>
                <a:latin typeface="Arial"/>
              </a:defRPr>
            </a:pPr>
            <a:r>
              <a:t>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2441448"/>
            <a:ext cx="234086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Agent drafts. Human approves.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1874519"/>
            <a:ext cx="2011680" cy="1965960"/>
          </a:xfrm>
          <a:prstGeom prst="roundRect">
            <a:avLst/>
          </a:prstGeom>
          <a:solidFill>
            <a:srgbClr val="0E2036"/>
          </a:solidFill>
          <a:ln w="15240">
            <a:solidFill>
              <a:srgbClr val="2EE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48088" y="2039112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E59D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48088" y="2441448"/>
            <a:ext cx="160934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8E6F7"/>
                </a:solidFill>
                <a:latin typeface="Arial"/>
              </a:defRPr>
            </a:pPr>
            <a:r>
              <a:t>Aggregated before/after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7C948"/>
                </a:solidFill>
                <a:latin typeface="Arial"/>
              </a:defRPr>
            </a:pPr>
            <a:r>
              <a:t>Pilot 001 proves whether the mechanism creates real workflow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WHAT WE NEED FROM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D8E6F7"/>
                </a:solidFill>
                <a:latin typeface="Arial"/>
              </a:defRPr>
            </a:pPr>
            <a:r>
              <a:t>1. Approve the public-safe launch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D8E6F7"/>
                </a:solidFill>
                <a:latin typeface="Arial"/>
              </a:defRPr>
            </a:pPr>
            <a:r>
              <a:t>2. Identify 1-3 Pilot 001 partners or warm introductions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D8E6F7"/>
                </a:solidFill>
                <a:latin typeface="Arial"/>
              </a:defRPr>
            </a:pPr>
            <a:r>
              <a:t>3. Assign pilot, measurement, and privacy owners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D8E6F7"/>
                </a:solidFill>
                <a:latin typeface="Arial"/>
              </a:defRPr>
            </a:pPr>
            <a:r>
              <a:t>4. Agree to publish only safe, aggregated pilot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E6FF"/>
                </a:solidFill>
                <a:latin typeface="Arial"/>
              </a:defRPr>
            </a:pPr>
            <a:r>
              <a:t>THE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We are not asking people to believe in a pitch.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7C948"/>
                </a:solidFill>
                <a:latin typeface="Arial"/>
              </a:defRPr>
            </a:pPr>
            <a:r>
              <a:t>We are showing a live reference proof and asking to test one real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E6FF"/>
                </a:solidFill>
                <a:latin typeface="Arial"/>
              </a:defRPr>
            </a:pPr>
            <a:r>
              <a:t>SkillOS proves the mechanism. Pilot 001 proves the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8E6F7"/>
                </a:solidFill>
                <a:latin typeface="Arial"/>
              </a:defRPr>
            </a:pPr>
            <a:r>
              <a:t>https://montrealai.github.io/skillos-launch-archive/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