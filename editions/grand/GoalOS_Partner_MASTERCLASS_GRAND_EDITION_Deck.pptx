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Median score</c:v>
                </c:pt>
              </c:strCache>
            </c:strRef>
          </c:tx>
          <c:spPr>
            <a:solidFill>
              <a:srgbClr val="43D79B"/>
            </a:solidFill>
            <a:effectLst/>
          </c:spPr>
          <c:invertIfNegative val="0"/>
          <c:dLbls>
            <c:numFmt formatCode="0.00" sourceLinked="0"/>
            <c:txPr>
              <a:bodyPr/>
              <a:lstStyle/>
              <a:p>
                <a:pPr>
                  <a:defRPr b="0" i="0" strike="noStrike" sz="1200" u="none">
                    <a:solidFill>
                      <a:srgbClr val="F7FBFF"/>
                    </a:solidFill>
                    <a:latin typeface="Arial"/>
                  </a:defRPr>
                </a:pPr>
              </a:p>
            </c:txPr>
            <c:showLegendKey val="0"/>
            <c:showVal val="1"/>
            <c:showCatName val="0"/>
            <c:showSerName val="0"/>
            <c:showPercent val="0"/>
            <c:showBubbleSize val="0"/>
            <c:showLeaderLines val="0"/>
          </c:dLbls>
          <c:cat>
            <c:multiLvlStrRef>
              <c:f>Sheet1!$A$2:$A$5</c:f>
              <c:multiLvlStrCache>
                <c:ptCount val="4"/>
                <c:lvl>
                  <c:pt idx="0">
                    <c:v>Validated skill</c:v>
                  </c:pt>
                  <c:pt idx="1">
                    <c:v>Raw memory</c:v>
                  </c:pt>
                  <c:pt idx="2">
                    <c:v>Fresh control</c:v>
                  </c:pt>
                  <c:pt idx="3">
                    <c:v>Ungated rejected</c:v>
                  </c:pt>
                </c:lvl>
              </c:multiLvlStrCache>
            </c:multiLvlStrRef>
          </c:cat>
          <c:val>
            <c:numRef>
              <c:f>Sheet1!$B$2:$B$5</c:f>
              <c:numCache>
                <c:formatCode>General</c:formatCode>
                <c:ptCount val="4"/>
                <c:pt idx="0">
                  <c:v>90.31</c:v>
                </c:pt>
                <c:pt idx="1">
                  <c:v>78.73</c:v>
                </c:pt>
                <c:pt idx="2">
                  <c:v>73.39</c:v>
                </c:pt>
                <c:pt idx="3">
                  <c:v>64.63</c:v>
                </c:pt>
              </c:numCache>
            </c:numRef>
          </c:val>
        </c:ser>
        <c:dLbls>
          <c:numFmt formatCode="0.00" sourceLinked="0"/>
          <c:txPr>
            <a:bodyPr/>
            <a:lstStyle/>
            <a:p>
              <a:pPr>
                <a:defRPr b="0" i="0" strike="noStrike" sz="1200" u="none">
                  <a:solidFill>
                    <a:srgbClr val="F7FB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B9C5D2"/>
                </a:solidFill>
                <a:latin typeface="Arial"/>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12700" cap="flat">
              <a:solidFill>
                <a:srgbClr val="28415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B9C5D2"/>
                </a:solidFill>
                <a:latin typeface="Arial"/>
              </a:defRPr>
            </a:pPr>
            <a:endParaRPr lang="en-US"/>
          </a:p>
        </c:txPr>
        <c:crossAx val="2094734554"/>
        <c:crosses val="autoZero"/>
        <c:crossBetween val="between"/>
        <c:majorUnit val="10"/>
      </c:valAx>
      <c:spPr>
        <a:solidFill>
          <a:srgbClr val="07101D">
            <a:alpha val="0"/>
          </a:srgbClr>
        </a:solidFill>
        <a:ln w="12700" cap="flat">
          <a:solidFill>
            <a:srgbClr val="07101D"/>
          </a:solidFill>
        </a:ln>
        <a:effectLst/>
      </c:spPr>
    </c:plotArea>
    <c:plotVisOnly val="1"/>
    <c:dispBlanksAs val="span"/>
  </c:chart>
  <c:spPr>
    <a:solidFill>
      <a:srgbClr val="07101D">
        <a:alpha val="0"/>
      </a:srgbClr>
    </a:solidFill>
    <a:ln w="12700" cap="flat">
      <a:solidFill>
        <a:srgbClr val="07101D"/>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outcome, not the architecture. Say: “This is not a seminar about another agent framework. It is a working model for deciding what AI work is allowed to matter.” Ask each participant to silently identify one decision their organization needs to make but cannot yet defend with sufficient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audience to choose the route. For an executive group, compress system details and spend time on the decision gap, Governed Decision State, use cases, and pilot. For technical or research partners, go deeper on proof levels, Chronicle, Merkle commitments, RSI, replay, and second-mission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after the doctrine. Ask: “Where in your organization does an AI answer become an institutional fact?” Most organizations cannot point to a rigorous mechanism. GoalOS is designed to make that transition explicit, challengeable, and 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concrete example: an AI vendor claims a 35% productivity lift, enterprise-grade security, and rapid deployment. A conventional agent summarizes the claims. GoalOS asks which claims are supported, which require evidence, which are contradicted, and which must be blocked before the recommendation can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protects credibility. Avoid “universal verifier.” Say that GoalOS offers a general institutional process for stating proof requirements, gathering evidence, routing review, preserving uncertainty, and refusing authority until the configured burden is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01: The proof-to-capability operating loop.. How autonomous work moves from objective to governed memory without allowing persuasive output to become institutional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once without detail. The key phrase is “authority narrows at every stage.” The system is not trying to make every output look successful. Repair, rejection, quarantine, and explicit uncertainty are valid and often valuable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useful answer to “where is the moat?” The moat is not one model. It is the institutional separation of responsibilities and the evidence-preserving path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more important than it looks. Many “agent platforms” begin with canned workflows that imply capability and authority before the mission exists. GoalOS makes the origin of every job and every inherited capability inspectable.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test an objective: “Should we deploy Vendor X?” Rewrite it as a decision contract: “Should we run a bounded 60-day pilot, under which data boundary, with which acceptance tests, reviewer, and rollback?” The quality of the mission contract controls the quality of everything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phrase “Proof Debt is not failure; it is fuel.” A strong system does not hide missing evidence in caveats at the end of a report. It makes the missing proof an explicit object with priority, acceptance tests, a retirement condition, and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distinction with a diligence mission. “Research vendor security” is a generic task. A proof job states the claim, required source type, reviewer independence, acceptance tests, contradictions to preserve, and the exact artifact that must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trust signal is often preserved failure. A system that records only successful runs is building a marketing archive, not an institutional evidence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flagship product surface for partners. It changes the review conversation from “Do you trust the AI?” to “Which claims are supported, by what evidence, under which limits, and what happens if the evidence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often ask whether validators are “independent.” The correct answer is policy-based and attributable: distinct effective control, conflict disclosure, model or infrastructure diversity where required, and a challenge path. Synthetic validators in demos must be labeled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proof levels into cost and authority. A partner can start at L2 or L3. The system should not force maximal proof for every exploratory task, but it must prevent a low-burden result from being relabeled later as production-grade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Chronicle is where the system demonstrates institutional maturity. The correct outcome is not always admission. A repair decision creates new proof jobs. Rejection preserves the evidence and reason. Quarantine isolates risk. Revocation removes future influence without erasing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library accumulates fragments. The Validated Skill Graph accumulates governed capability objects and evidence-preserving relationships. Composition itself creates a new candidate that must pass a new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is not the skill and not the authority decision. It is the commitment layer. Typed leaves prevent an evidence object from being replayed as a skill object. The graph epoch binds policy, proof level, previous state, and identity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claim-boundary slides. Say it plainly: “A root can prove that a record was committed; it cannot prove the record is true.” Authority still depends on evidence, validation, scope, policy, freshness, and challenge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resolves a common misconception. GoalOS does not advocate publishing private prompts, traces, or customer data. It commits minimal public evidence—hashes, roots, attestations, and bounded pointers—while private evidence remains under controlled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“governed autonomy.” The system can keep working, but its authority is bounded by the mission contract and state machine. It may generate, inspect, hash, package, and propose. Irreversible or external actions remain 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product definition. A partner should not have to understand every protocol layer. They should understand that GoalOS produces a defendable decision state, not a longer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value concrete in the partner’s language: decision-cycle time, review hours, risk of acting on unsupported claims, duplicated research, cost of rework, and the value of a reusable capability that improves future missions. Avoid guaranteed ROI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02: Recursive self-improvement that earns authority.. How open-ended exploration, deterministic replay, evidence contact, baselines, stress tests, and rollback turn improvement from a story into an audited state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“super dynamic AI” answer without hype. GoalOS can orchestrate multiple roles, models, tools, environments, reviewers, and validators. The critical design choice is that generation, evaluation, admission, and settlement are not collapsed into one unaccountable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core distinction: RSI is not “the model rewrites itself until it feels smarter.” It is a governed process for proposing changes, testing against baselines, requiring executed evidence, monitoring persistence, and releasing only through reversible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RSI map. TARGET and EMIT expand the search space. FILTER and ATLAS create risk and mechanism structure. TEST-PLAN and EVAL produce falsifiable comparisons. INSERT preserves stepping stones. PROMOTE requires a dossier and hard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powerful governance principle for any AI organization. Taste, novelty, and learned search can allocate scarce attention. They should not be mistaken for validators.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simple example: a model says a new workflow should reduce cost. That is E0. A static analysis is E1. A sandbox run is E2. Independent replay is E3. Stress under alternate assumptions is E4. A field or external reviewer result is E5.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discipline protects the room from “our new system did well.” The right question is whether it did better than the incumbent, raw memory, a strong single agent, or a simpler workflow under equal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evokes surprising high-value moves, but the governance is the point. A highly novel candidate should trigger stricter proof: reproduce it, compare against baselines, stress it, preserve sensitivity, and package the full decision-grade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difference between self-improvement and uncontrolled prompt mutation. Intentional change is allowed, but it must be signed, versioned, benchmarked, and attributable.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Gradient can rank candidates, but it does not replace constitutional gates. This is essential because aggregate scores can hide catastrophic failure in one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RSI becomes institutional rather than aspirational. Upgrades are treated as candidates. They earn rollout rights progressively, and delayed outcomes can still trigger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decisive test. Producing a useful artifact once is not compounding. The capability must improve fresh work while holding constraints constant and without increasing risk, unsupported-claim leakage, or hidden review burden.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test harness, not a marketing benchmark. It illustrates the right comparison: fresh control, raw memory, admitted skill, and an ungated rejected candidate under equal constraints. The next burden is real tasks and independent 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03: Proof, identity, validators, settlement, and organizational compounding.. How GoalOS connects autonomous work to AGI ALPHA’s wider substrate for governed intelligence organizations.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position the ambition without overclaiming. GoalOS addresses the institutional substrate above models: agents doing bounded jobs, validators gating authority, memory preserving only admitted capability, and governance controlling propagation and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node model makes responsibility legible. Worker, validator, and sentinel roles should not collapse into one identity where independence is required. In a partner pilot, these roles can begin as human-plus-AI processes before any live network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“proof thermostat” carefully. The economic rail reacts to evidence quality, replay, validator performance, disputes, and risk. Enterprise users can experience “protocol protection included” without acquiring a token or managing wallets.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participants to identify which use case resembles a current decision. The best wedge is narrow, high-value, reviewable, and reversible. Avoid starting with “transform the entire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helps convert interest into a specific lane. Ask: “Which proof role can your organization credibly own?” The answer should be something operational: a real task, reviewer capacity, environment access, evaluation expertise, deployment lane, or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maturity ladder to build trust. The system can demonstrate local structure, replayability, tests, artifacts, and bounded benchmark mechanics. External validation, real validator independence, live network status, legal certification, and field impact remain separate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04: Turn the architecture into one evidence-producing collaboration.. A practical founding mission, partner operating model, scorecard, and 30–60–90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48-hour proof mission can remain a rapid diagnostic, but for a high-caliber founding partnership, the stronger offer is a 30-day evidence cycle with a designated reviewer and a second-mission option. Timing should be confirmed only after scope and source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roadmap is evidence-gated. The partner should be able to stop after the first mission with a useful Docket and decision. The second phase tests whether a reusable capability actually transfers. The third operationalizes only what earned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serious partnership pre-registers what would count as failure. The mission can still create value even if Chronicle rejects the capability; the Docket can reveal that the evidence does not support the proposed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leave the partnership abstract. Ask which engagement mode fits, who can own the reviewer role, what objective can be scoped, and what evidence can legally and operationally be made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ask: “Name the decision. Name the reviewer. Give us permission to measure.” Do not end on token economics, AGI, or architecture. End on the first evidence-producing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responses without becoming defensive. The strongest partner impression comes from clarity about what the system does, what it does not do, and the exact evidence required to strengthen each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doubles as a discovery script. Use it before proposing scope or price. A good proof mission is jointly defined; it cannot be manufactured from a vague ambition.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page for a mixed audience. The system becomes easier to discuss once objects are named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appendix with the exact claim boundary. The masterclass is designed to be ambitious without presenting architecture, local tests, synthetic fixtures, or future roadmaps as achieved external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04: The masterclass becomes a live partner institution.. Boardroom theatre, dynamic AI council, proof stress tests, governed RSI frontier, diligence vault, and a board-ready founding charter.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Grand Edition by answering the implicit question directly. The upgrade is not cosmetic. It turns the presentation into an operating environment where partners can test authority, failure, improvement, and engagement design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navigation map. Partners do not need every technical detail in one sitting. Move them through the rooms appropriate to their role and time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live six-scene experience. It is especially effective for executives because it avoids technical overload while preserving the distinction between candidate work, evidence, authority, commitment, and empirical 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council is deliberately advisory. It is useful because it makes role separation visible. A live endpoint can enrich language, but no AI council replaces domain review or Chronicle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with the partner’s most feared failure mode. The system should become more credible when it fails because it shows containment, attribution, memory effects, settlement effects, and future-mission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mission studio is not a static mock. Partners can freeze a scenario, step through gates, inspect changing artifacts, run the complete loop, and export the session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clarify the commercial object. A Docket can be public-safe with a private audit appendix. The value is decision integrity, not document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key credibility slide for sophisticated partners. The reference system may simulate a validator mesh, but it must label shared effective control honestly and never call synthetic nodes independent external validators.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is not an edge case; it is part of the product. The partner should see how evidence can be disputed, how authority changes, who bears losses, and how corrected state becomes a new graph epoch.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live deterministic cycle. Candidate dots change with the mandate and controls. The archive mutates only when gates pass; silent drift hard-fails without incrementing the cycle or mutating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RSI slide. It converts “surprising idea” into a controlled institutional protocol. The novelty score itself has no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reframes RSI for serious institutions. The product is not a novelty engine. It is an invention governance control plane with a dashboard that can be audited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often the difference between an interesting protocol and an adoptable enterprise system. The chain or public commitment layer coordinates proof; it does not require disclosing raw private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 the charter live. It is exportable as Markdown and JSON. The readiness score is a discussion aid; it cannot replace the evidence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makes the engagement legible to boards and procurement teams. The dates are planning windows, not promises. Each phase has an explicit stop condition and evidence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essential. Do not hide pending gates. High-caliber partners are more impressed by a system that knows exactly what it has and has not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smallest credible next commitment. Do not close on AGI, tokens, or abstract futurism. Close on a decision, a reviewer, and a second-mission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7101D"/>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7F2E7"/>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masterclass edition</a:t>
            </a:r>
            <a:endParaRPr lang="en-US" sz="640" dirty="0"/>
          </a:p>
        </p:txBody>
      </p:sp>
      <p:sp>
        <p:nvSpPr>
          <p:cNvPr id="28" name="Shape 26"/>
          <p:cNvSpPr/>
          <p:nvPr/>
        </p:nvSpPr>
        <p:spPr>
          <a:xfrm>
            <a:off x="594360" y="1051560"/>
            <a:ext cx="2423160" cy="301752"/>
          </a:xfrm>
          <a:prstGeom prst="roundRect">
            <a:avLst>
              <a:gd name="adj" fmla="val 24242"/>
            </a:avLst>
          </a:prstGeom>
          <a:solidFill>
            <a:srgbClr val="E7BD62">
              <a:alpha val="12000"/>
            </a:srgbClr>
          </a:solidFill>
          <a:ln w="10160">
            <a:solidFill>
              <a:srgbClr val="E7BD62">
                <a:alpha val="65000"/>
              </a:srgbClr>
            </a:solidFill>
            <a:prstDash val="solid"/>
          </a:ln>
        </p:spPr>
      </p:sp>
      <p:sp>
        <p:nvSpPr>
          <p:cNvPr id="29" name="Text 27"/>
          <p:cNvSpPr/>
          <p:nvPr/>
        </p:nvSpPr>
        <p:spPr>
          <a:xfrm>
            <a:off x="676656" y="1133856"/>
            <a:ext cx="2258568" cy="109728"/>
          </a:xfrm>
          <a:prstGeom prst="rect">
            <a:avLst/>
          </a:prstGeom>
          <a:noFill/>
          <a:ln/>
        </p:spPr>
        <p:txBody>
          <a:bodyPr wrap="square" lIns="0" tIns="0" rIns="0" bIns="0" rtlCol="0" anchor="ctr"/>
          <a:lstStyle/>
          <a:p>
            <a:pPr algn="ctr" indent="0" marL="0">
              <a:buNone/>
            </a:pPr>
            <a:r>
              <a:rPr lang="en-US" sz="720" b="1" spc="130" kern="0" dirty="0">
                <a:solidFill>
                  <a:srgbClr val="E7BD62"/>
                </a:solidFill>
                <a:latin typeface="Inter" pitchFamily="34" charset="0"/>
                <a:ea typeface="Inter" pitchFamily="34" charset="-122"/>
                <a:cs typeface="Inter" pitchFamily="34" charset="-120"/>
              </a:rPr>
              <a:t>GRAND INSTITUTIONAL EDITION</a:t>
            </a:r>
            <a:endParaRPr lang="en-US" sz="720" dirty="0"/>
          </a:p>
        </p:txBody>
      </p:sp>
      <p:sp>
        <p:nvSpPr>
          <p:cNvPr id="30" name="Text 28"/>
          <p:cNvSpPr/>
          <p:nvPr/>
        </p:nvSpPr>
        <p:spPr>
          <a:xfrm>
            <a:off x="594360" y="1600200"/>
            <a:ext cx="7040880" cy="2423160"/>
          </a:xfrm>
          <a:prstGeom prst="rect">
            <a:avLst/>
          </a:prstGeom>
          <a:noFill/>
          <a:ln/>
        </p:spPr>
        <p:txBody>
          <a:bodyPr wrap="square" lIns="0" tIns="0" rIns="0" bIns="0" rtlCol="0" anchor="ctr">
            <a:normAutofit/>
          </a:bodyPr>
          <a:lstStyle/>
          <a:p>
            <a:pPr indent="0" marL="0">
              <a:buNone/>
            </a:pPr>
            <a:r>
              <a:rPr lang="en-US" sz="3900" b="1" dirty="0">
                <a:solidFill>
                  <a:srgbClr val="F7FBFF"/>
                </a:solidFill>
                <a:latin typeface="Inter Display" pitchFamily="34" charset="0"/>
                <a:ea typeface="Inter Display" pitchFamily="34" charset="-122"/>
                <a:cs typeface="Inter Display" pitchFamily="34" charset="-120"/>
              </a:rPr>
              <a:t>From AI output</a:t>
            </a:r>
            <a:endParaRPr lang="en-US" sz="3900" dirty="0"/>
          </a:p>
          <a:p>
            <a:pPr indent="0" marL="0">
              <a:buNone/>
            </a:pPr>
            <a:r>
              <a:rPr lang="en-US" sz="3900" b="1" dirty="0">
                <a:solidFill>
                  <a:srgbClr val="F7FBFF"/>
                </a:solidFill>
                <a:latin typeface="Inter Display" pitchFamily="34" charset="0"/>
                <a:ea typeface="Inter Display" pitchFamily="34" charset="-122"/>
                <a:cs typeface="Inter Display" pitchFamily="34" charset="-120"/>
              </a:rPr>
              <a:t>to proof-carrying</a:t>
            </a:r>
            <a:endParaRPr lang="en-US" sz="3900" dirty="0"/>
          </a:p>
          <a:p>
            <a:pPr indent="0" marL="0">
              <a:buNone/>
            </a:pPr>
            <a:r>
              <a:rPr lang="en-US" sz="3900" b="1" dirty="0">
                <a:solidFill>
                  <a:srgbClr val="F7FBFF"/>
                </a:solidFill>
                <a:latin typeface="Inter Display" pitchFamily="34" charset="0"/>
                <a:ea typeface="Inter Display" pitchFamily="34" charset="-122"/>
                <a:cs typeface="Inter Display" pitchFamily="34" charset="-120"/>
              </a:rPr>
              <a:t>institutional capability.</a:t>
            </a:r>
            <a:endParaRPr lang="en-US" sz="3900" dirty="0"/>
          </a:p>
        </p:txBody>
      </p:sp>
      <p:sp>
        <p:nvSpPr>
          <p:cNvPr id="31" name="Text 29"/>
          <p:cNvSpPr/>
          <p:nvPr/>
        </p:nvSpPr>
        <p:spPr>
          <a:xfrm>
            <a:off x="630936" y="4279392"/>
            <a:ext cx="3291840" cy="585216"/>
          </a:xfrm>
          <a:prstGeom prst="rect">
            <a:avLst/>
          </a:prstGeom>
          <a:noFill/>
          <a:ln/>
        </p:spPr>
        <p:txBody>
          <a:bodyPr wrap="square" lIns="0" tIns="0" rIns="0" bIns="0" rtlCol="0" anchor="ctr"/>
          <a:lstStyle/>
          <a:p>
            <a:pPr indent="0" marL="0">
              <a:buNone/>
            </a:pPr>
            <a:r>
              <a:rPr lang="en-US" sz="2900" b="1" spc="150" kern="0" dirty="0">
                <a:solidFill>
                  <a:srgbClr val="E7BD62"/>
                </a:solidFill>
                <a:latin typeface="Georgia" pitchFamily="34" charset="0"/>
                <a:ea typeface="Georgia" pitchFamily="34" charset="-122"/>
                <a:cs typeface="Georgia" pitchFamily="34" charset="-120"/>
              </a:rPr>
              <a:t>GOALOS</a:t>
            </a:r>
            <a:endParaRPr lang="en-US" sz="2900" dirty="0"/>
          </a:p>
        </p:txBody>
      </p:sp>
      <p:sp>
        <p:nvSpPr>
          <p:cNvPr id="32" name="Text 30"/>
          <p:cNvSpPr/>
          <p:nvPr/>
        </p:nvSpPr>
        <p:spPr>
          <a:xfrm>
            <a:off x="630936" y="4901184"/>
            <a:ext cx="4389120" cy="320040"/>
          </a:xfrm>
          <a:prstGeom prst="rect">
            <a:avLst/>
          </a:prstGeom>
          <a:noFill/>
          <a:ln/>
        </p:spPr>
        <p:txBody>
          <a:bodyPr wrap="square" lIns="0" tIns="0" rIns="0" bIns="0" rtlCol="0" anchor="ctr"/>
          <a:lstStyle/>
          <a:p>
            <a:pPr indent="0" marL="0">
              <a:buNone/>
            </a:pPr>
            <a:r>
              <a:rPr lang="en-US" sz="1300" b="1" spc="240" kern="0" dirty="0">
                <a:solidFill>
                  <a:srgbClr val="54D6D0"/>
                </a:solidFill>
                <a:latin typeface="Inter" pitchFamily="34" charset="0"/>
                <a:ea typeface="Inter" pitchFamily="34" charset="-122"/>
                <a:cs typeface="Inter" pitchFamily="34" charset="-120"/>
              </a:rPr>
              <a:t>PARTNER MASTERCLASS · GRAND EDITION</a:t>
            </a:r>
            <a:endParaRPr lang="en-US" sz="1300" dirty="0"/>
          </a:p>
        </p:txBody>
      </p:sp>
      <p:sp>
        <p:nvSpPr>
          <p:cNvPr id="33" name="Text 31"/>
          <p:cNvSpPr/>
          <p:nvPr/>
        </p:nvSpPr>
        <p:spPr>
          <a:xfrm>
            <a:off x="640080" y="5440680"/>
            <a:ext cx="6766560" cy="566928"/>
          </a:xfrm>
          <a:prstGeom prst="rect">
            <a:avLst/>
          </a:prstGeom>
          <a:noFill/>
          <a:ln/>
        </p:spPr>
        <p:txBody>
          <a:bodyPr wrap="square" lIns="0" tIns="0" rIns="0" bIns="0" rtlCol="0" anchor="ctr">
            <a:normAutofit/>
          </a:bodyPr>
          <a:lstStyle/>
          <a:p>
            <a:pPr indent="0" marL="0">
              <a:buNone/>
            </a:pPr>
            <a:r>
              <a:rPr lang="en-US" sz="1120" dirty="0">
                <a:solidFill>
                  <a:srgbClr val="B9C5D2"/>
                </a:solidFill>
                <a:latin typeface="Inter" pitchFamily="34" charset="0"/>
                <a:ea typeface="Inter" pitchFamily="34" charset="-122"/>
                <a:cs typeface="Inter" pitchFamily="34" charset="-120"/>
              </a:rPr>
              <a:t>Proof-gated autonomy · governed recursive self-improvement · reusable capability · settlement-ready evidence</a:t>
            </a:r>
            <a:endParaRPr lang="en-US" sz="1120" dirty="0"/>
          </a:p>
        </p:txBody>
      </p:sp>
      <p:sp>
        <p:nvSpPr>
          <p:cNvPr id="34" name="Shape 32"/>
          <p:cNvSpPr/>
          <p:nvPr/>
        </p:nvSpPr>
        <p:spPr>
          <a:xfrm>
            <a:off x="7818120" y="1124712"/>
            <a:ext cx="3703320" cy="4526280"/>
          </a:xfrm>
          <a:prstGeom prst="roundRect">
            <a:avLst>
              <a:gd name="adj" fmla="val 1975"/>
            </a:avLst>
          </a:prstGeom>
          <a:solidFill>
            <a:srgbClr val="10223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7973568" y="1252728"/>
            <a:ext cx="339242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THE PARTNER PROMISE</a:t>
            </a:r>
            <a:endParaRPr lang="en-US" sz="680" dirty="0"/>
          </a:p>
        </p:txBody>
      </p:sp>
      <p:sp>
        <p:nvSpPr>
          <p:cNvPr id="36" name="Text 34"/>
          <p:cNvSpPr/>
          <p:nvPr/>
        </p:nvSpPr>
        <p:spPr>
          <a:xfrm>
            <a:off x="7973568" y="1380744"/>
            <a:ext cx="3392424" cy="329184"/>
          </a:xfrm>
          <a:prstGeom prst="rect">
            <a:avLst/>
          </a:prstGeom>
          <a:noFill/>
          <a:ln/>
        </p:spPr>
        <p:txBody>
          <a:bodyPr wrap="square" lIns="0" tIns="0" rIns="0" bIns="0" rtlCol="0" anchor="ctr">
            <a:normAutofit/>
          </a:bodyPr>
          <a:lstStyle/>
          <a:p>
            <a:pPr indent="0" marL="0">
              <a:buNone/>
            </a:pPr>
            <a:r>
              <a:rPr lang="en-US" sz="2400" b="1" dirty="0">
                <a:solidFill>
                  <a:srgbClr val="F7FBFF"/>
                </a:solidFill>
                <a:latin typeface="Inter Display" pitchFamily="34" charset="0"/>
                <a:ea typeface="Inter Display" pitchFamily="34" charset="-122"/>
                <a:cs typeface="Inter Display" pitchFamily="34" charset="-120"/>
              </a:rPr>
              <a:t>Bring one consequential objective.</a:t>
            </a:r>
            <a:endParaRPr lang="en-US" sz="2400" dirty="0"/>
          </a:p>
          <a:p>
            <a:pPr indent="0" marL="0">
              <a:buNone/>
            </a:pPr>
            <a:r>
              <a:rPr lang="en-US" sz="2400" b="1" dirty="0">
                <a:solidFill>
                  <a:srgbClr val="F7FBFF"/>
                </a:solidFill>
                <a:latin typeface="Inter Display" pitchFamily="34" charset="0"/>
                <a:ea typeface="Inter Display" pitchFamily="34" charset="-122"/>
                <a:cs typeface="Inter Display" pitchFamily="34" charset="-120"/>
              </a:rPr>
              <a:t>Leave with proof.</a:t>
            </a:r>
            <a:endParaRPr lang="en-US" sz="2400" dirty="0"/>
          </a:p>
        </p:txBody>
      </p:sp>
      <p:sp>
        <p:nvSpPr>
          <p:cNvPr id="37" name="Text 35"/>
          <p:cNvSpPr/>
          <p:nvPr/>
        </p:nvSpPr>
        <p:spPr>
          <a:xfrm>
            <a:off x="7973568" y="1783080"/>
            <a:ext cx="3392424" cy="3730752"/>
          </a:xfrm>
          <a:prstGeom prst="rect">
            <a:avLst/>
          </a:prstGeom>
          <a:noFill/>
          <a:ln/>
        </p:spPr>
        <p:txBody>
          <a:bodyPr wrap="square" lIns="0" tIns="0" rIns="0" bIns="0" rtlCol="0" anchor="t">
            <a:normAutofit/>
          </a:bodyPr>
          <a:lstStyle/>
          <a:p>
            <a:pPr indent="0" marL="0">
              <a:buNone/>
            </a:pPr>
            <a:r>
              <a:rPr lang="en-US" sz="1150" dirty="0">
                <a:solidFill>
                  <a:srgbClr val="B9C5D2"/>
                </a:solidFill>
                <a:latin typeface="Inter" pitchFamily="34" charset="0"/>
                <a:ea typeface="Inter" pitchFamily="34" charset="-122"/>
                <a:cs typeface="Inter" pitchFamily="34" charset="-120"/>
              </a:rPr>
              <a:t>This masterclass shows how GoalOS converts a strategic objective into a bounded mission, explicit Proof Debt, custom proof work, an Evidence Docket, a governed decision state, and a reusable capability candidate.</a:t>
            </a:r>
            <a:endParaRPr lang="en-US" sz="1150" dirty="0"/>
          </a:p>
        </p:txBody>
      </p:sp>
      <p:sp>
        <p:nvSpPr>
          <p:cNvPr id="38" name="Shape 36"/>
          <p:cNvSpPr/>
          <p:nvPr/>
        </p:nvSpPr>
        <p:spPr>
          <a:xfrm>
            <a:off x="8092440" y="4983480"/>
            <a:ext cx="1417320" cy="283464"/>
          </a:xfrm>
          <a:prstGeom prst="roundRect">
            <a:avLst>
              <a:gd name="adj" fmla="val 38710"/>
            </a:avLst>
          </a:prstGeom>
          <a:solidFill>
            <a:srgbClr val="E7BD62">
              <a:alpha val="13000"/>
            </a:srgbClr>
          </a:solidFill>
          <a:ln w="10160">
            <a:solidFill>
              <a:srgbClr val="E7BD62">
                <a:alpha val="60000"/>
              </a:srgbClr>
            </a:solidFill>
            <a:prstDash val="solid"/>
          </a:ln>
        </p:spPr>
      </p:sp>
      <p:sp>
        <p:nvSpPr>
          <p:cNvPr id="39" name="Text 37"/>
          <p:cNvSpPr/>
          <p:nvPr/>
        </p:nvSpPr>
        <p:spPr>
          <a:xfrm>
            <a:off x="8147304" y="5061204"/>
            <a:ext cx="1307592" cy="109728"/>
          </a:xfrm>
          <a:prstGeom prst="rect">
            <a:avLst/>
          </a:prstGeom>
          <a:noFill/>
          <a:ln/>
        </p:spPr>
        <p:txBody>
          <a:bodyPr wrap="square" lIns="0" tIns="0" rIns="0" bIns="0" rtlCol="0" anchor="ctr"/>
          <a:lstStyle/>
          <a:p>
            <a:pPr algn="ctr" indent="0" marL="0">
              <a:buNone/>
            </a:pPr>
            <a:r>
              <a:rPr lang="en-US" sz="690" b="1" dirty="0">
                <a:solidFill>
                  <a:srgbClr val="E7BD62"/>
                </a:solidFill>
                <a:latin typeface="Inter" pitchFamily="34" charset="0"/>
                <a:ea typeface="Inter" pitchFamily="34" charset="-122"/>
                <a:cs typeface="Inter" pitchFamily="34" charset="-120"/>
              </a:rPr>
              <a:t>90-MIN MASTERCLASS</a:t>
            </a:r>
            <a:endParaRPr lang="en-US" sz="690" dirty="0"/>
          </a:p>
        </p:txBody>
      </p:sp>
      <p:sp>
        <p:nvSpPr>
          <p:cNvPr id="40" name="Shape 38"/>
          <p:cNvSpPr/>
          <p:nvPr/>
        </p:nvSpPr>
        <p:spPr>
          <a:xfrm>
            <a:off x="9646920" y="4983480"/>
            <a:ext cx="1325880" cy="283464"/>
          </a:xfrm>
          <a:prstGeom prst="roundRect">
            <a:avLst>
              <a:gd name="adj" fmla="val 38710"/>
            </a:avLst>
          </a:prstGeom>
          <a:solidFill>
            <a:srgbClr val="54D6D0">
              <a:alpha val="13000"/>
            </a:srgbClr>
          </a:solidFill>
          <a:ln w="10160">
            <a:solidFill>
              <a:srgbClr val="54D6D0">
                <a:alpha val="60000"/>
              </a:srgbClr>
            </a:solidFill>
            <a:prstDash val="solid"/>
          </a:ln>
        </p:spPr>
      </p:sp>
      <p:sp>
        <p:nvSpPr>
          <p:cNvPr id="41" name="Text 39"/>
          <p:cNvSpPr/>
          <p:nvPr/>
        </p:nvSpPr>
        <p:spPr>
          <a:xfrm>
            <a:off x="9701784" y="5061204"/>
            <a:ext cx="1216152" cy="109728"/>
          </a:xfrm>
          <a:prstGeom prst="rect">
            <a:avLst/>
          </a:prstGeom>
          <a:noFill/>
          <a:ln/>
        </p:spPr>
        <p:txBody>
          <a:bodyPr wrap="square" lIns="0" tIns="0" rIns="0" bIns="0" rtlCol="0" anchor="ctr"/>
          <a:lstStyle/>
          <a:p>
            <a:pPr algn="ctr" indent="0" marL="0">
              <a:buNone/>
            </a:pPr>
            <a:r>
              <a:rPr lang="en-US" sz="690" b="1" dirty="0">
                <a:solidFill>
                  <a:srgbClr val="54D6D0"/>
                </a:solidFill>
                <a:latin typeface="Inter" pitchFamily="34" charset="0"/>
                <a:ea typeface="Inter" pitchFamily="34" charset="-122"/>
                <a:cs typeface="Inter" pitchFamily="34" charset="-120"/>
              </a:rPr>
              <a:t>3-HOUR WORKSHOP</a:t>
            </a:r>
            <a:endParaRPr lang="en-US" sz="69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SESSION MAP</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900" b="1" dirty="0">
                <a:solidFill>
                  <a:srgbClr val="14273D"/>
                </a:solidFill>
                <a:latin typeface="Inter Display" pitchFamily="34" charset="0"/>
                <a:ea typeface="Inter Display" pitchFamily="34" charset="-122"/>
                <a:cs typeface="Inter Display" pitchFamily="34" charset="-120"/>
              </a:rPr>
              <a:t>A masterclass that moves from thesis to a partner-ready mission.</a:t>
            </a:r>
            <a:endParaRPr lang="en-US" sz="29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Choose the depth live: 12-minute executive compression, 45-minute board briefing, 90-minute masterclass, or 3-hour working session.</a:t>
            </a:r>
            <a:endParaRPr lang="en-US" sz="1450" dirty="0"/>
          </a:p>
        </p:txBody>
      </p:sp>
      <p:sp>
        <p:nvSpPr>
          <p:cNvPr id="30" name="Shape 28"/>
          <p:cNvSpPr/>
          <p:nvPr/>
        </p:nvSpPr>
        <p:spPr>
          <a:xfrm>
            <a:off x="594360" y="2240280"/>
            <a:ext cx="3547872" cy="1234440"/>
          </a:xfrm>
          <a:prstGeom prst="roundRect">
            <a:avLst>
              <a:gd name="adj" fmla="val 5926"/>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749808" y="2368296"/>
            <a:ext cx="323697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01</a:t>
            </a:r>
            <a:endParaRPr lang="en-US" sz="680" dirty="0"/>
          </a:p>
        </p:txBody>
      </p:sp>
      <p:sp>
        <p:nvSpPr>
          <p:cNvPr id="32" name="Text 30"/>
          <p:cNvSpPr/>
          <p:nvPr/>
        </p:nvSpPr>
        <p:spPr>
          <a:xfrm>
            <a:off x="749808" y="2496312"/>
            <a:ext cx="3236976" cy="329184"/>
          </a:xfrm>
          <a:prstGeom prst="rect">
            <a:avLst/>
          </a:prstGeom>
          <a:noFill/>
          <a:ln/>
        </p:spPr>
        <p:txBody>
          <a:bodyPr wrap="square" lIns="0" tIns="0" rIns="0" bIns="0" rtlCol="0" anchor="ctr">
            <a:normAutofit/>
          </a:bodyPr>
          <a:lstStyle/>
          <a:p>
            <a:pPr indent="0" marL="0">
              <a:buNone/>
            </a:pPr>
            <a:r>
              <a:rPr lang="en-US" sz="1600" b="1" dirty="0">
                <a:solidFill>
                  <a:srgbClr val="14273D"/>
                </a:solidFill>
                <a:latin typeface="Inter Display" pitchFamily="34" charset="0"/>
                <a:ea typeface="Inter Display" pitchFamily="34" charset="-122"/>
                <a:cs typeface="Inter Display" pitchFamily="34" charset="-120"/>
              </a:rPr>
              <a:t>Decision gap</a:t>
            </a:r>
            <a:endParaRPr lang="en-US" sz="1600" dirty="0"/>
          </a:p>
        </p:txBody>
      </p:sp>
      <p:sp>
        <p:nvSpPr>
          <p:cNvPr id="33" name="Text 31"/>
          <p:cNvSpPr/>
          <p:nvPr/>
        </p:nvSpPr>
        <p:spPr>
          <a:xfrm>
            <a:off x="749808" y="2898648"/>
            <a:ext cx="3236976" cy="43891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Why AI output is abundant but justified authority is scarce.</a:t>
            </a:r>
            <a:endParaRPr lang="en-US" sz="870" dirty="0"/>
          </a:p>
        </p:txBody>
      </p:sp>
      <p:sp>
        <p:nvSpPr>
          <p:cNvPr id="34" name="Shape 32"/>
          <p:cNvSpPr/>
          <p:nvPr/>
        </p:nvSpPr>
        <p:spPr>
          <a:xfrm>
            <a:off x="4416552" y="2240280"/>
            <a:ext cx="3547872" cy="1234440"/>
          </a:xfrm>
          <a:prstGeom prst="roundRect">
            <a:avLst>
              <a:gd name="adj" fmla="val 5926"/>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4572000" y="2368296"/>
            <a:ext cx="323697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02</a:t>
            </a:r>
            <a:endParaRPr lang="en-US" sz="680" dirty="0"/>
          </a:p>
        </p:txBody>
      </p:sp>
      <p:sp>
        <p:nvSpPr>
          <p:cNvPr id="36" name="Text 34"/>
          <p:cNvSpPr/>
          <p:nvPr/>
        </p:nvSpPr>
        <p:spPr>
          <a:xfrm>
            <a:off x="4572000" y="2496312"/>
            <a:ext cx="3236976" cy="329184"/>
          </a:xfrm>
          <a:prstGeom prst="rect">
            <a:avLst/>
          </a:prstGeom>
          <a:noFill/>
          <a:ln/>
        </p:spPr>
        <p:txBody>
          <a:bodyPr wrap="square" lIns="0" tIns="0" rIns="0" bIns="0" rtlCol="0" anchor="ctr">
            <a:normAutofit/>
          </a:bodyPr>
          <a:lstStyle/>
          <a:p>
            <a:pPr indent="0" marL="0">
              <a:buNone/>
            </a:pPr>
            <a:r>
              <a:rPr lang="en-US" sz="1600" b="1" dirty="0">
                <a:solidFill>
                  <a:srgbClr val="14273D"/>
                </a:solidFill>
                <a:latin typeface="Inter Display" pitchFamily="34" charset="0"/>
                <a:ea typeface="Inter Display" pitchFamily="34" charset="-122"/>
                <a:cs typeface="Inter Display" pitchFamily="34" charset="-120"/>
              </a:rPr>
              <a:t>Proof loop</a:t>
            </a:r>
            <a:endParaRPr lang="en-US" sz="1600" dirty="0"/>
          </a:p>
        </p:txBody>
      </p:sp>
      <p:sp>
        <p:nvSpPr>
          <p:cNvPr id="37" name="Text 35"/>
          <p:cNvSpPr/>
          <p:nvPr/>
        </p:nvSpPr>
        <p:spPr>
          <a:xfrm>
            <a:off x="4572000" y="2898648"/>
            <a:ext cx="3236976" cy="43891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How objectives become missions, evidence, Chronicle decisions, and capability.</a:t>
            </a:r>
            <a:endParaRPr lang="en-US" sz="870" dirty="0"/>
          </a:p>
        </p:txBody>
      </p:sp>
      <p:sp>
        <p:nvSpPr>
          <p:cNvPr id="38" name="Shape 36"/>
          <p:cNvSpPr/>
          <p:nvPr/>
        </p:nvSpPr>
        <p:spPr>
          <a:xfrm>
            <a:off x="8238744" y="2240280"/>
            <a:ext cx="3547872" cy="1234440"/>
          </a:xfrm>
          <a:prstGeom prst="roundRect">
            <a:avLst>
              <a:gd name="adj" fmla="val 5926"/>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8394192" y="2368296"/>
            <a:ext cx="3236976"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03</a:t>
            </a:r>
            <a:endParaRPr lang="en-US" sz="680" dirty="0"/>
          </a:p>
        </p:txBody>
      </p:sp>
      <p:sp>
        <p:nvSpPr>
          <p:cNvPr id="40" name="Text 38"/>
          <p:cNvSpPr/>
          <p:nvPr/>
        </p:nvSpPr>
        <p:spPr>
          <a:xfrm>
            <a:off x="8394192" y="2496312"/>
            <a:ext cx="3236976" cy="329184"/>
          </a:xfrm>
          <a:prstGeom prst="rect">
            <a:avLst/>
          </a:prstGeom>
          <a:noFill/>
          <a:ln/>
        </p:spPr>
        <p:txBody>
          <a:bodyPr wrap="square" lIns="0" tIns="0" rIns="0" bIns="0" rtlCol="0" anchor="ctr">
            <a:normAutofit/>
          </a:bodyPr>
          <a:lstStyle/>
          <a:p>
            <a:pPr indent="0" marL="0">
              <a:buNone/>
            </a:pPr>
            <a:r>
              <a:rPr lang="en-US" sz="1600" b="1" dirty="0">
                <a:solidFill>
                  <a:srgbClr val="14273D"/>
                </a:solidFill>
                <a:latin typeface="Inter Display" pitchFamily="34" charset="0"/>
                <a:ea typeface="Inter Display" pitchFamily="34" charset="-122"/>
                <a:cs typeface="Inter Display" pitchFamily="34" charset="-120"/>
              </a:rPr>
              <a:t>RSI</a:t>
            </a:r>
            <a:endParaRPr lang="en-US" sz="1600" dirty="0"/>
          </a:p>
        </p:txBody>
      </p:sp>
      <p:sp>
        <p:nvSpPr>
          <p:cNvPr id="41" name="Text 39"/>
          <p:cNvSpPr/>
          <p:nvPr/>
        </p:nvSpPr>
        <p:spPr>
          <a:xfrm>
            <a:off x="8394192" y="2898648"/>
            <a:ext cx="3236976" cy="43891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How recursive improvement becomes deterministic, baseline-comparative, and governed.</a:t>
            </a:r>
            <a:endParaRPr lang="en-US" sz="870" dirty="0"/>
          </a:p>
        </p:txBody>
      </p:sp>
      <p:sp>
        <p:nvSpPr>
          <p:cNvPr id="42" name="Shape 40"/>
          <p:cNvSpPr/>
          <p:nvPr/>
        </p:nvSpPr>
        <p:spPr>
          <a:xfrm>
            <a:off x="594360" y="3749040"/>
            <a:ext cx="3547872" cy="1234440"/>
          </a:xfrm>
          <a:prstGeom prst="roundRect">
            <a:avLst>
              <a:gd name="adj" fmla="val 5926"/>
            </a:avLst>
          </a:prstGeom>
          <a:solidFill>
            <a:srgbClr val="FFFDF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43" name="Text 41"/>
          <p:cNvSpPr/>
          <p:nvPr/>
        </p:nvSpPr>
        <p:spPr>
          <a:xfrm>
            <a:off x="749808" y="3877056"/>
            <a:ext cx="3236976"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04</a:t>
            </a:r>
            <a:endParaRPr lang="en-US" sz="680" dirty="0"/>
          </a:p>
        </p:txBody>
      </p:sp>
      <p:sp>
        <p:nvSpPr>
          <p:cNvPr id="44" name="Text 42"/>
          <p:cNvSpPr/>
          <p:nvPr/>
        </p:nvSpPr>
        <p:spPr>
          <a:xfrm>
            <a:off x="749808" y="4005072"/>
            <a:ext cx="3236976" cy="329184"/>
          </a:xfrm>
          <a:prstGeom prst="rect">
            <a:avLst/>
          </a:prstGeom>
          <a:noFill/>
          <a:ln/>
        </p:spPr>
        <p:txBody>
          <a:bodyPr wrap="square" lIns="0" tIns="0" rIns="0" bIns="0" rtlCol="0" anchor="ctr">
            <a:normAutofit/>
          </a:bodyPr>
          <a:lstStyle/>
          <a:p>
            <a:pPr indent="0" marL="0">
              <a:buNone/>
            </a:pPr>
            <a:r>
              <a:rPr lang="en-US" sz="1600" b="1" dirty="0">
                <a:solidFill>
                  <a:srgbClr val="14273D"/>
                </a:solidFill>
                <a:latin typeface="Inter Display" pitchFamily="34" charset="0"/>
                <a:ea typeface="Inter Display" pitchFamily="34" charset="-122"/>
                <a:cs typeface="Inter Display" pitchFamily="34" charset="-120"/>
              </a:rPr>
              <a:t>Trust rails</a:t>
            </a:r>
            <a:endParaRPr lang="en-US" sz="1600" dirty="0"/>
          </a:p>
        </p:txBody>
      </p:sp>
      <p:sp>
        <p:nvSpPr>
          <p:cNvPr id="45" name="Text 43"/>
          <p:cNvSpPr/>
          <p:nvPr/>
        </p:nvSpPr>
        <p:spPr>
          <a:xfrm>
            <a:off x="749808" y="4407408"/>
            <a:ext cx="3236976" cy="43891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How roots, validators, bonds, settlement, privacy, and rollback constrain authority.</a:t>
            </a:r>
            <a:endParaRPr lang="en-US" sz="870" dirty="0"/>
          </a:p>
        </p:txBody>
      </p:sp>
      <p:sp>
        <p:nvSpPr>
          <p:cNvPr id="46" name="Shape 44"/>
          <p:cNvSpPr/>
          <p:nvPr/>
        </p:nvSpPr>
        <p:spPr>
          <a:xfrm>
            <a:off x="4416552" y="3749040"/>
            <a:ext cx="3547872" cy="1234440"/>
          </a:xfrm>
          <a:prstGeom prst="roundRect">
            <a:avLst>
              <a:gd name="adj" fmla="val 5926"/>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47" name="Text 45"/>
          <p:cNvSpPr/>
          <p:nvPr/>
        </p:nvSpPr>
        <p:spPr>
          <a:xfrm>
            <a:off x="4572000" y="3877056"/>
            <a:ext cx="32369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05</a:t>
            </a:r>
            <a:endParaRPr lang="en-US" sz="680" dirty="0"/>
          </a:p>
        </p:txBody>
      </p:sp>
      <p:sp>
        <p:nvSpPr>
          <p:cNvPr id="48" name="Text 46"/>
          <p:cNvSpPr/>
          <p:nvPr/>
        </p:nvSpPr>
        <p:spPr>
          <a:xfrm>
            <a:off x="4572000" y="4005072"/>
            <a:ext cx="3236976" cy="329184"/>
          </a:xfrm>
          <a:prstGeom prst="rect">
            <a:avLst/>
          </a:prstGeom>
          <a:noFill/>
          <a:ln/>
        </p:spPr>
        <p:txBody>
          <a:bodyPr wrap="square" lIns="0" tIns="0" rIns="0" bIns="0" rtlCol="0" anchor="ctr">
            <a:normAutofit/>
          </a:bodyPr>
          <a:lstStyle/>
          <a:p>
            <a:pPr indent="0" marL="0">
              <a:buNone/>
            </a:pPr>
            <a:r>
              <a:rPr lang="en-US" sz="1600" b="1" dirty="0">
                <a:solidFill>
                  <a:srgbClr val="14273D"/>
                </a:solidFill>
                <a:latin typeface="Inter Display" pitchFamily="34" charset="0"/>
                <a:ea typeface="Inter Display" pitchFamily="34" charset="-122"/>
                <a:cs typeface="Inter Display" pitchFamily="34" charset="-120"/>
              </a:rPr>
              <a:t>Partner value</a:t>
            </a:r>
            <a:endParaRPr lang="en-US" sz="1600" dirty="0"/>
          </a:p>
        </p:txBody>
      </p:sp>
      <p:sp>
        <p:nvSpPr>
          <p:cNvPr id="49" name="Text 47"/>
          <p:cNvSpPr/>
          <p:nvPr/>
        </p:nvSpPr>
        <p:spPr>
          <a:xfrm>
            <a:off x="4572000" y="4407408"/>
            <a:ext cx="3236976" cy="43891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How to apply GoalOS to one consequential objective and measure the result.</a:t>
            </a:r>
            <a:endParaRPr lang="en-US" sz="870" dirty="0"/>
          </a:p>
        </p:txBody>
      </p:sp>
      <p:sp>
        <p:nvSpPr>
          <p:cNvPr id="50" name="Shape 48"/>
          <p:cNvSpPr/>
          <p:nvPr/>
        </p:nvSpPr>
        <p:spPr>
          <a:xfrm>
            <a:off x="8238744" y="3749040"/>
            <a:ext cx="3547872" cy="1234440"/>
          </a:xfrm>
          <a:prstGeom prst="roundRect">
            <a:avLst>
              <a:gd name="adj" fmla="val 5926"/>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51" name="Text 49"/>
          <p:cNvSpPr/>
          <p:nvPr/>
        </p:nvSpPr>
        <p:spPr>
          <a:xfrm>
            <a:off x="8394192" y="3877056"/>
            <a:ext cx="323697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06</a:t>
            </a:r>
            <a:endParaRPr lang="en-US" sz="680" dirty="0"/>
          </a:p>
        </p:txBody>
      </p:sp>
      <p:sp>
        <p:nvSpPr>
          <p:cNvPr id="52" name="Text 50"/>
          <p:cNvSpPr/>
          <p:nvPr/>
        </p:nvSpPr>
        <p:spPr>
          <a:xfrm>
            <a:off x="8394192" y="4005072"/>
            <a:ext cx="3236976" cy="329184"/>
          </a:xfrm>
          <a:prstGeom prst="rect">
            <a:avLst/>
          </a:prstGeom>
          <a:noFill/>
          <a:ln/>
        </p:spPr>
        <p:txBody>
          <a:bodyPr wrap="square" lIns="0" tIns="0" rIns="0" bIns="0" rtlCol="0" anchor="ctr">
            <a:normAutofit/>
          </a:bodyPr>
          <a:lstStyle/>
          <a:p>
            <a:pPr indent="0" marL="0">
              <a:buNone/>
            </a:pPr>
            <a:r>
              <a:rPr lang="en-US" sz="1600" b="1" dirty="0">
                <a:solidFill>
                  <a:srgbClr val="14273D"/>
                </a:solidFill>
                <a:latin typeface="Inter Display" pitchFamily="34" charset="0"/>
                <a:ea typeface="Inter Display" pitchFamily="34" charset="-122"/>
                <a:cs typeface="Inter Display" pitchFamily="34" charset="-120"/>
              </a:rPr>
              <a:t>Mission lab</a:t>
            </a:r>
            <a:endParaRPr lang="en-US" sz="1600" dirty="0"/>
          </a:p>
        </p:txBody>
      </p:sp>
      <p:sp>
        <p:nvSpPr>
          <p:cNvPr id="53" name="Text 51"/>
          <p:cNvSpPr/>
          <p:nvPr/>
        </p:nvSpPr>
        <p:spPr>
          <a:xfrm>
            <a:off x="8394192" y="4407408"/>
            <a:ext cx="3236976" cy="43891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Build a real Proof Mission and leave with a 30-day partnership design.</a:t>
            </a:r>
            <a:endParaRPr lang="en-US" sz="870" dirty="0"/>
          </a:p>
        </p:txBody>
      </p:sp>
      <p:sp>
        <p:nvSpPr>
          <p:cNvPr id="54" name="Text 52"/>
          <p:cNvSpPr/>
          <p:nvPr/>
        </p:nvSpPr>
        <p:spPr>
          <a:xfrm>
            <a:off x="731520" y="5513832"/>
            <a:ext cx="10698480" cy="429768"/>
          </a:xfrm>
          <a:prstGeom prst="rect">
            <a:avLst/>
          </a:prstGeom>
          <a:noFill/>
          <a:ln/>
        </p:spPr>
        <p:txBody>
          <a:bodyPr wrap="square" lIns="0" tIns="0" rIns="0" bIns="0" rtlCol="0" anchor="ctr">
            <a:normAutofit/>
          </a:bodyPr>
          <a:lstStyle/>
          <a:p>
            <a:pPr algn="ctr" indent="0" marL="0">
              <a:buNone/>
            </a:pPr>
            <a:r>
              <a:rPr lang="en-US" sz="1120" b="1" dirty="0">
                <a:solidFill>
                  <a:srgbClr val="14273D"/>
                </a:solidFill>
                <a:latin typeface="Inter" pitchFamily="34" charset="0"/>
                <a:ea typeface="Inter" pitchFamily="34" charset="-122"/>
                <a:cs typeface="Inter" pitchFamily="34" charset="-120"/>
              </a:rPr>
              <a:t>Operating rule: every module must answer what changed, why it changed, what remains blocked, what authority has been earned, and what the partner can do next.</a:t>
            </a:r>
            <a:endParaRPr lang="en-US" sz="112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OPENING</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640080" y="1325880"/>
            <a:ext cx="411480" cy="640080"/>
          </a:xfrm>
          <a:prstGeom prst="rect">
            <a:avLst/>
          </a:prstGeom>
          <a:noFill/>
          <a:ln/>
        </p:spPr>
        <p:txBody>
          <a:bodyPr wrap="square" lIns="0" tIns="0" rIns="0" bIns="0" rtlCol="0" anchor="ctr"/>
          <a:lstStyle/>
          <a:p>
            <a:pPr indent="0" marL="0">
              <a:buNone/>
            </a:pPr>
            <a:r>
              <a:rPr lang="en-US" sz="4800" dirty="0">
                <a:solidFill>
                  <a:srgbClr val="E7BD62"/>
                </a:solidFill>
                <a:latin typeface="Georgia" pitchFamily="34" charset="0"/>
                <a:ea typeface="Georgia" pitchFamily="34" charset="-122"/>
                <a:cs typeface="Georgia" pitchFamily="34" charset="-120"/>
              </a:rPr>
              <a:t>“</a:t>
            </a:r>
            <a:endParaRPr lang="en-US" sz="4800" dirty="0"/>
          </a:p>
        </p:txBody>
      </p:sp>
      <p:sp>
        <p:nvSpPr>
          <p:cNvPr id="29" name="Text 27"/>
          <p:cNvSpPr/>
          <p:nvPr/>
        </p:nvSpPr>
        <p:spPr>
          <a:xfrm>
            <a:off x="1051560" y="1371600"/>
            <a:ext cx="10058400" cy="1371600"/>
          </a:xfrm>
          <a:prstGeom prst="rect">
            <a:avLst/>
          </a:prstGeom>
          <a:noFill/>
          <a:ln/>
        </p:spPr>
        <p:txBody>
          <a:bodyPr wrap="square" lIns="0" tIns="0" rIns="0" bIns="0" rtlCol="0" anchor="ctr">
            <a:normAutofit/>
          </a:bodyPr>
          <a:lstStyle/>
          <a:p>
            <a:pPr indent="0" marL="0">
              <a:buNone/>
            </a:pPr>
            <a:r>
              <a:rPr lang="en-US" sz="2800" i="1" dirty="0">
                <a:solidFill>
                  <a:srgbClr val="F7FBFF"/>
                </a:solidFill>
                <a:latin typeface="Georgia" pitchFamily="34" charset="0"/>
                <a:ea typeface="Georgia" pitchFamily="34" charset="-122"/>
                <a:cs typeface="Georgia" pitchFamily="34" charset="-120"/>
              </a:rPr>
              <a:t>A model may answer. An agent may act. An institution must prove.</a:t>
            </a:r>
            <a:endParaRPr lang="en-US" sz="2800" dirty="0"/>
          </a:p>
        </p:txBody>
      </p:sp>
      <p:sp>
        <p:nvSpPr>
          <p:cNvPr id="30" name="Text 28"/>
          <p:cNvSpPr/>
          <p:nvPr/>
        </p:nvSpPr>
        <p:spPr>
          <a:xfrm>
            <a:off x="1069848" y="2825496"/>
            <a:ext cx="6400800" cy="228600"/>
          </a:xfrm>
          <a:prstGeom prst="rect">
            <a:avLst/>
          </a:prstGeom>
          <a:noFill/>
          <a:ln/>
        </p:spPr>
        <p:txBody>
          <a:bodyPr wrap="square" lIns="0" tIns="0" rIns="0" bIns="0" rtlCol="0" anchor="ctr"/>
          <a:lstStyle/>
          <a:p>
            <a:pPr indent="0" marL="0">
              <a:buNone/>
            </a:pPr>
            <a:r>
              <a:rPr lang="en-US" sz="900" b="1" dirty="0">
                <a:solidFill>
                  <a:srgbClr val="97A8BC"/>
                </a:solidFill>
                <a:latin typeface="Inter" pitchFamily="34" charset="0"/>
                <a:ea typeface="Inter" pitchFamily="34" charset="-122"/>
                <a:cs typeface="Inter" pitchFamily="34" charset="-120"/>
              </a:rPr>
              <a:t>GoalOS constitutional doctrine</a:t>
            </a:r>
            <a:endParaRPr lang="en-US" sz="900" dirty="0"/>
          </a:p>
        </p:txBody>
      </p:sp>
      <p:sp>
        <p:nvSpPr>
          <p:cNvPr id="31" name="Shape 29"/>
          <p:cNvSpPr/>
          <p:nvPr/>
        </p:nvSpPr>
        <p:spPr>
          <a:xfrm>
            <a:off x="548640" y="3886200"/>
            <a:ext cx="2683764" cy="786384"/>
          </a:xfrm>
          <a:prstGeom prst="roundRect">
            <a:avLst>
              <a:gd name="adj" fmla="val 8140"/>
            </a:avLst>
          </a:prstGeom>
          <a:solidFill>
            <a:srgbClr val="6FB5FF"/>
          </a:solidFill>
          <a:ln w="12700">
            <a:solidFill>
              <a:srgbClr val="6FB5FF"/>
            </a:solidFill>
            <a:prstDash val="solid"/>
          </a:ln>
        </p:spPr>
      </p:sp>
      <p:sp>
        <p:nvSpPr>
          <p:cNvPr id="32" name="Text 30"/>
          <p:cNvSpPr/>
          <p:nvPr/>
        </p:nvSpPr>
        <p:spPr>
          <a:xfrm>
            <a:off x="603504" y="3959352"/>
            <a:ext cx="237744" cy="118872"/>
          </a:xfrm>
          <a:prstGeom prst="rect">
            <a:avLst/>
          </a:prstGeom>
          <a:noFill/>
          <a:ln/>
        </p:spPr>
        <p:txBody>
          <a:bodyPr wrap="square" lIns="0" tIns="0" rIns="0" bIns="0" rtlCol="0" anchor="ctr"/>
          <a:lstStyle/>
          <a:p>
            <a:pPr indent="0" marL="0">
              <a:buNone/>
            </a:pPr>
            <a:r>
              <a:rPr lang="en-US" sz="610" b="1" dirty="0">
                <a:solidFill>
                  <a:srgbClr val="6FB5FF"/>
                </a:solidFill>
                <a:latin typeface="Inter" pitchFamily="34" charset="0"/>
                <a:ea typeface="Inter" pitchFamily="34" charset="-122"/>
                <a:cs typeface="Inter" pitchFamily="34" charset="-120"/>
              </a:rPr>
              <a:t>01</a:t>
            </a:r>
            <a:endParaRPr lang="en-US" sz="610" dirty="0"/>
          </a:p>
        </p:txBody>
      </p:sp>
      <p:sp>
        <p:nvSpPr>
          <p:cNvPr id="33" name="Text 31"/>
          <p:cNvSpPr/>
          <p:nvPr/>
        </p:nvSpPr>
        <p:spPr>
          <a:xfrm>
            <a:off x="630936" y="4123944"/>
            <a:ext cx="2519172"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ANSWER</a:t>
            </a:r>
            <a:endParaRPr lang="en-US" sz="750" dirty="0"/>
          </a:p>
        </p:txBody>
      </p:sp>
      <p:sp>
        <p:nvSpPr>
          <p:cNvPr id="34" name="Text 32"/>
          <p:cNvSpPr/>
          <p:nvPr/>
        </p:nvSpPr>
        <p:spPr>
          <a:xfrm>
            <a:off x="621792" y="4352544"/>
            <a:ext cx="2537460"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candidate output</a:t>
            </a:r>
            <a:endParaRPr lang="en-US" sz="540" dirty="0"/>
          </a:p>
        </p:txBody>
      </p:sp>
      <p:sp>
        <p:nvSpPr>
          <p:cNvPr id="35" name="Shape 33"/>
          <p:cNvSpPr/>
          <p:nvPr/>
        </p:nvSpPr>
        <p:spPr>
          <a:xfrm>
            <a:off x="3232404" y="4279392"/>
            <a:ext cx="109728" cy="0"/>
          </a:xfrm>
          <a:prstGeom prst="line">
            <a:avLst/>
          </a:prstGeom>
          <a:noFill/>
          <a:ln w="15240">
            <a:solidFill>
              <a:srgbClr val="E7BD62"/>
            </a:solidFill>
            <a:prstDash val="solid"/>
            <a:headEnd type="none"/>
            <a:tailEnd type="triangle"/>
          </a:ln>
        </p:spPr>
      </p:sp>
      <p:sp>
        <p:nvSpPr>
          <p:cNvPr id="36" name="Shape 34"/>
          <p:cNvSpPr/>
          <p:nvPr/>
        </p:nvSpPr>
        <p:spPr>
          <a:xfrm>
            <a:off x="3342132" y="3886200"/>
            <a:ext cx="2683764" cy="786384"/>
          </a:xfrm>
          <a:prstGeom prst="roundRect">
            <a:avLst>
              <a:gd name="adj" fmla="val 8140"/>
            </a:avLst>
          </a:prstGeom>
          <a:solidFill>
            <a:srgbClr val="A99CFF"/>
          </a:solidFill>
          <a:ln w="12700">
            <a:solidFill>
              <a:srgbClr val="A99CFF"/>
            </a:solidFill>
            <a:prstDash val="solid"/>
          </a:ln>
        </p:spPr>
      </p:sp>
      <p:sp>
        <p:nvSpPr>
          <p:cNvPr id="37" name="Text 35"/>
          <p:cNvSpPr/>
          <p:nvPr/>
        </p:nvSpPr>
        <p:spPr>
          <a:xfrm>
            <a:off x="3396996" y="3959352"/>
            <a:ext cx="237744" cy="118872"/>
          </a:xfrm>
          <a:prstGeom prst="rect">
            <a:avLst/>
          </a:prstGeom>
          <a:noFill/>
          <a:ln/>
        </p:spPr>
        <p:txBody>
          <a:bodyPr wrap="square" lIns="0" tIns="0" rIns="0" bIns="0" rtlCol="0" anchor="ctr"/>
          <a:lstStyle/>
          <a:p>
            <a:pPr indent="0" marL="0">
              <a:buNone/>
            </a:pPr>
            <a:r>
              <a:rPr lang="en-US" sz="610" b="1" dirty="0">
                <a:solidFill>
                  <a:srgbClr val="A99CFF"/>
                </a:solidFill>
                <a:latin typeface="Inter" pitchFamily="34" charset="0"/>
                <a:ea typeface="Inter" pitchFamily="34" charset="-122"/>
                <a:cs typeface="Inter" pitchFamily="34" charset="-120"/>
              </a:rPr>
              <a:t>02</a:t>
            </a:r>
            <a:endParaRPr lang="en-US" sz="610" dirty="0"/>
          </a:p>
        </p:txBody>
      </p:sp>
      <p:sp>
        <p:nvSpPr>
          <p:cNvPr id="38" name="Text 36"/>
          <p:cNvSpPr/>
          <p:nvPr/>
        </p:nvSpPr>
        <p:spPr>
          <a:xfrm>
            <a:off x="3424428" y="4123944"/>
            <a:ext cx="2519172"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ACT</a:t>
            </a:r>
            <a:endParaRPr lang="en-US" sz="750" dirty="0"/>
          </a:p>
        </p:txBody>
      </p:sp>
      <p:sp>
        <p:nvSpPr>
          <p:cNvPr id="39" name="Text 37"/>
          <p:cNvSpPr/>
          <p:nvPr/>
        </p:nvSpPr>
        <p:spPr>
          <a:xfrm>
            <a:off x="3415284" y="4352544"/>
            <a:ext cx="2537460"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bounded execution</a:t>
            </a:r>
            <a:endParaRPr lang="en-US" sz="540" dirty="0"/>
          </a:p>
        </p:txBody>
      </p:sp>
      <p:sp>
        <p:nvSpPr>
          <p:cNvPr id="40" name="Shape 38"/>
          <p:cNvSpPr/>
          <p:nvPr/>
        </p:nvSpPr>
        <p:spPr>
          <a:xfrm>
            <a:off x="6025896" y="4279392"/>
            <a:ext cx="109728" cy="0"/>
          </a:xfrm>
          <a:prstGeom prst="line">
            <a:avLst/>
          </a:prstGeom>
          <a:noFill/>
          <a:ln w="15240">
            <a:solidFill>
              <a:srgbClr val="E7BD62"/>
            </a:solidFill>
            <a:prstDash val="solid"/>
            <a:headEnd type="none"/>
            <a:tailEnd type="triangle"/>
          </a:ln>
        </p:spPr>
      </p:sp>
      <p:sp>
        <p:nvSpPr>
          <p:cNvPr id="41" name="Shape 39"/>
          <p:cNvSpPr/>
          <p:nvPr/>
        </p:nvSpPr>
        <p:spPr>
          <a:xfrm>
            <a:off x="6135624" y="3886200"/>
            <a:ext cx="2683764" cy="786384"/>
          </a:xfrm>
          <a:prstGeom prst="roundRect">
            <a:avLst>
              <a:gd name="adj" fmla="val 8140"/>
            </a:avLst>
          </a:prstGeom>
          <a:solidFill>
            <a:srgbClr val="E7BD62"/>
          </a:solidFill>
          <a:ln w="12700">
            <a:solidFill>
              <a:srgbClr val="E7BD62"/>
            </a:solidFill>
            <a:prstDash val="solid"/>
          </a:ln>
        </p:spPr>
      </p:sp>
      <p:sp>
        <p:nvSpPr>
          <p:cNvPr id="42" name="Text 40"/>
          <p:cNvSpPr/>
          <p:nvPr/>
        </p:nvSpPr>
        <p:spPr>
          <a:xfrm>
            <a:off x="6190488" y="3959352"/>
            <a:ext cx="237744" cy="118872"/>
          </a:xfrm>
          <a:prstGeom prst="rect">
            <a:avLst/>
          </a:prstGeom>
          <a:noFill/>
          <a:ln/>
        </p:spPr>
        <p:txBody>
          <a:bodyPr wrap="square" lIns="0" tIns="0" rIns="0" bIns="0" rtlCol="0" anchor="ctr"/>
          <a:lstStyle/>
          <a:p>
            <a:pPr indent="0" marL="0">
              <a:buNone/>
            </a:pPr>
            <a:r>
              <a:rPr lang="en-US" sz="610" b="1" dirty="0">
                <a:solidFill>
                  <a:srgbClr val="E7BD62"/>
                </a:solidFill>
                <a:latin typeface="Inter" pitchFamily="34" charset="0"/>
                <a:ea typeface="Inter" pitchFamily="34" charset="-122"/>
                <a:cs typeface="Inter" pitchFamily="34" charset="-120"/>
              </a:rPr>
              <a:t>03</a:t>
            </a:r>
            <a:endParaRPr lang="en-US" sz="610" dirty="0"/>
          </a:p>
        </p:txBody>
      </p:sp>
      <p:sp>
        <p:nvSpPr>
          <p:cNvPr id="43" name="Text 41"/>
          <p:cNvSpPr/>
          <p:nvPr/>
        </p:nvSpPr>
        <p:spPr>
          <a:xfrm>
            <a:off x="6217920" y="4123944"/>
            <a:ext cx="2519172"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PROVE</a:t>
            </a:r>
            <a:endParaRPr lang="en-US" sz="750" dirty="0"/>
          </a:p>
        </p:txBody>
      </p:sp>
      <p:sp>
        <p:nvSpPr>
          <p:cNvPr id="44" name="Text 42"/>
          <p:cNvSpPr/>
          <p:nvPr/>
        </p:nvSpPr>
        <p:spPr>
          <a:xfrm>
            <a:off x="6208776" y="4352544"/>
            <a:ext cx="2537460"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inspectable evidence</a:t>
            </a:r>
            <a:endParaRPr lang="en-US" sz="540" dirty="0"/>
          </a:p>
        </p:txBody>
      </p:sp>
      <p:sp>
        <p:nvSpPr>
          <p:cNvPr id="45" name="Shape 43"/>
          <p:cNvSpPr/>
          <p:nvPr/>
        </p:nvSpPr>
        <p:spPr>
          <a:xfrm>
            <a:off x="8819388" y="4279392"/>
            <a:ext cx="109728" cy="0"/>
          </a:xfrm>
          <a:prstGeom prst="line">
            <a:avLst/>
          </a:prstGeom>
          <a:noFill/>
          <a:ln w="15240">
            <a:solidFill>
              <a:srgbClr val="E7BD62"/>
            </a:solidFill>
            <a:prstDash val="solid"/>
            <a:headEnd type="none"/>
            <a:tailEnd type="triangle"/>
          </a:ln>
        </p:spPr>
      </p:sp>
      <p:sp>
        <p:nvSpPr>
          <p:cNvPr id="46" name="Shape 44"/>
          <p:cNvSpPr/>
          <p:nvPr/>
        </p:nvSpPr>
        <p:spPr>
          <a:xfrm>
            <a:off x="8929116" y="3886200"/>
            <a:ext cx="2683764" cy="786384"/>
          </a:xfrm>
          <a:prstGeom prst="roundRect">
            <a:avLst>
              <a:gd name="adj" fmla="val 8140"/>
            </a:avLst>
          </a:prstGeom>
          <a:solidFill>
            <a:srgbClr val="43D79B"/>
          </a:solidFill>
          <a:ln w="12700">
            <a:solidFill>
              <a:srgbClr val="43D79B"/>
            </a:solidFill>
            <a:prstDash val="solid"/>
          </a:ln>
        </p:spPr>
      </p:sp>
      <p:sp>
        <p:nvSpPr>
          <p:cNvPr id="47" name="Text 45"/>
          <p:cNvSpPr/>
          <p:nvPr/>
        </p:nvSpPr>
        <p:spPr>
          <a:xfrm>
            <a:off x="8983980" y="3959352"/>
            <a:ext cx="237744" cy="118872"/>
          </a:xfrm>
          <a:prstGeom prst="rect">
            <a:avLst/>
          </a:prstGeom>
          <a:noFill/>
          <a:ln/>
        </p:spPr>
        <p:txBody>
          <a:bodyPr wrap="square" lIns="0" tIns="0" rIns="0" bIns="0" rtlCol="0" anchor="ctr"/>
          <a:lstStyle/>
          <a:p>
            <a:pPr indent="0" marL="0">
              <a:buNone/>
            </a:pPr>
            <a:r>
              <a:rPr lang="en-US" sz="610" b="1" dirty="0">
                <a:solidFill>
                  <a:srgbClr val="43D79B"/>
                </a:solidFill>
                <a:latin typeface="Inter" pitchFamily="34" charset="0"/>
                <a:ea typeface="Inter" pitchFamily="34" charset="-122"/>
                <a:cs typeface="Inter" pitchFamily="34" charset="-120"/>
              </a:rPr>
              <a:t>04</a:t>
            </a:r>
            <a:endParaRPr lang="en-US" sz="610" dirty="0"/>
          </a:p>
        </p:txBody>
      </p:sp>
      <p:sp>
        <p:nvSpPr>
          <p:cNvPr id="48" name="Text 46"/>
          <p:cNvSpPr/>
          <p:nvPr/>
        </p:nvSpPr>
        <p:spPr>
          <a:xfrm>
            <a:off x="9011412" y="4123944"/>
            <a:ext cx="2519172"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ADMIT</a:t>
            </a:r>
            <a:endParaRPr lang="en-US" sz="750" dirty="0"/>
          </a:p>
        </p:txBody>
      </p:sp>
      <p:sp>
        <p:nvSpPr>
          <p:cNvPr id="49" name="Text 47"/>
          <p:cNvSpPr/>
          <p:nvPr/>
        </p:nvSpPr>
        <p:spPr>
          <a:xfrm>
            <a:off x="9002268" y="4352544"/>
            <a:ext cx="2537460"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governed authority</a:t>
            </a:r>
            <a:endParaRPr lang="en-US" sz="540" dirty="0"/>
          </a:p>
        </p:txBody>
      </p:sp>
      <p:sp>
        <p:nvSpPr>
          <p:cNvPr id="50" name="Text 48"/>
          <p:cNvSpPr/>
          <p:nvPr/>
        </p:nvSpPr>
        <p:spPr>
          <a:xfrm>
            <a:off x="1051560" y="5074920"/>
            <a:ext cx="10058400" cy="566928"/>
          </a:xfrm>
          <a:prstGeom prst="rect">
            <a:avLst/>
          </a:prstGeom>
          <a:noFill/>
          <a:ln/>
        </p:spPr>
        <p:txBody>
          <a:bodyPr wrap="square" lIns="0" tIns="0" rIns="0" bIns="0" rtlCol="0" anchor="ctr">
            <a:normAutofit/>
          </a:bodyPr>
          <a:lstStyle/>
          <a:p>
            <a:pPr algn="ctr" indent="0" marL="0">
              <a:buNone/>
            </a:pPr>
            <a:r>
              <a:rPr lang="en-US" sz="1460" dirty="0">
                <a:solidFill>
                  <a:srgbClr val="B9C5D2"/>
                </a:solidFill>
                <a:latin typeface="Inter" pitchFamily="34" charset="0"/>
                <a:ea typeface="Inter" pitchFamily="34" charset="-122"/>
                <a:cs typeface="Inter" pitchFamily="34" charset="-120"/>
              </a:rPr>
              <a:t>The central business problem is not whether AI can produce something. It is whether the result deserves trust, action, payment, memory, propagation, or reuse.</a:t>
            </a:r>
            <a:endParaRPr lang="en-US" sz="146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THE DECISION GAP</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AI made output abundant. It did not make trust cheap.</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bottleneck shifted from generation to the institutional decision about what earns authority.</a:t>
            </a:r>
            <a:endParaRPr lang="en-US" sz="1450" dirty="0"/>
          </a:p>
        </p:txBody>
      </p:sp>
      <p:sp>
        <p:nvSpPr>
          <p:cNvPr id="30" name="Shape 28"/>
          <p:cNvSpPr/>
          <p:nvPr/>
        </p:nvSpPr>
        <p:spPr>
          <a:xfrm>
            <a:off x="658368" y="2240280"/>
            <a:ext cx="5230368" cy="3246120"/>
          </a:xfrm>
          <a:prstGeom prst="roundRect">
            <a:avLst>
              <a:gd name="adj" fmla="val 2254"/>
            </a:avLst>
          </a:prstGeom>
          <a:solidFill>
            <a:srgbClr val="FFFDF8"/>
          </a:solidFill>
          <a:ln w="10160">
            <a:solidFill>
              <a:srgbClr val="6FB5FF"/>
            </a:solidFill>
            <a:prstDash val="solid"/>
          </a:ln>
        </p:spPr>
      </p:sp>
      <p:sp>
        <p:nvSpPr>
          <p:cNvPr id="31" name="Text 29"/>
          <p:cNvSpPr/>
          <p:nvPr/>
        </p:nvSpPr>
        <p:spPr>
          <a:xfrm>
            <a:off x="813816" y="2368296"/>
            <a:ext cx="4919472"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WHAT AI PRODUCES EASILY</a:t>
            </a:r>
            <a:endParaRPr lang="en-US" sz="680" dirty="0"/>
          </a:p>
        </p:txBody>
      </p:sp>
      <p:sp>
        <p:nvSpPr>
          <p:cNvPr id="32" name="Text 30"/>
          <p:cNvSpPr/>
          <p:nvPr/>
        </p:nvSpPr>
        <p:spPr>
          <a:xfrm>
            <a:off x="813816" y="2496312"/>
            <a:ext cx="4919472" cy="329184"/>
          </a:xfrm>
          <a:prstGeom prst="rect">
            <a:avLst/>
          </a:prstGeom>
          <a:noFill/>
          <a:ln/>
        </p:spPr>
        <p:txBody>
          <a:bodyPr wrap="square" lIns="0" tIns="0" rIns="0" bIns="0" rtlCol="0" anchor="ctr">
            <a:normAutofit/>
          </a:bodyPr>
          <a:lstStyle/>
          <a:p>
            <a:pPr indent="0" marL="0">
              <a:buNone/>
            </a:pPr>
            <a:r>
              <a:rPr lang="en-US" sz="2000" b="1" dirty="0">
                <a:solidFill>
                  <a:srgbClr val="14273D"/>
                </a:solidFill>
                <a:latin typeface="Inter Display" pitchFamily="34" charset="0"/>
                <a:ea typeface="Inter Display" pitchFamily="34" charset="-122"/>
                <a:cs typeface="Inter Display" pitchFamily="34" charset="-120"/>
              </a:rPr>
              <a:t>Candidate work</a:t>
            </a:r>
            <a:endParaRPr lang="en-US" sz="2000" dirty="0"/>
          </a:p>
        </p:txBody>
      </p:sp>
      <p:sp>
        <p:nvSpPr>
          <p:cNvPr id="33" name="Text 31"/>
          <p:cNvSpPr/>
          <p:nvPr/>
        </p:nvSpPr>
        <p:spPr>
          <a:xfrm>
            <a:off x="813816" y="2898648"/>
            <a:ext cx="4919472" cy="2450592"/>
          </a:xfrm>
          <a:prstGeom prst="rect">
            <a:avLst/>
          </a:prstGeom>
          <a:noFill/>
          <a:ln/>
        </p:spPr>
        <p:txBody>
          <a:bodyPr wrap="square" lIns="0" tIns="0" rIns="0" bIns="0" rtlCol="0" anchor="t">
            <a:normAutofit/>
          </a:bodyPr>
          <a:lstStyle/>
          <a:p>
            <a:pPr indent="0" marL="0">
              <a:buNone/>
            </a:pPr>
            <a:r>
              <a:rPr lang="en-US" sz="1200" dirty="0">
                <a:solidFill>
                  <a:srgbClr val="43566A"/>
                </a:solidFill>
                <a:latin typeface="Inter" pitchFamily="34" charset="0"/>
                <a:ea typeface="Inter" pitchFamily="34" charset="-122"/>
                <a:cs typeface="Inter" pitchFamily="34" charset="-120"/>
              </a:rPr>
              <a:t>• Reports and briefs</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Code and patches</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Plans and recommendations</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Agent traces and tool actions</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Simulations and hypotheses</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Confident explanations</a:t>
            </a:r>
            <a:endParaRPr lang="en-US" sz="1200" dirty="0"/>
          </a:p>
        </p:txBody>
      </p:sp>
      <p:sp>
        <p:nvSpPr>
          <p:cNvPr id="34" name="Shape 32"/>
          <p:cNvSpPr/>
          <p:nvPr/>
        </p:nvSpPr>
        <p:spPr>
          <a:xfrm>
            <a:off x="6309360" y="2240280"/>
            <a:ext cx="5230368" cy="3246120"/>
          </a:xfrm>
          <a:prstGeom prst="roundRect">
            <a:avLst>
              <a:gd name="adj" fmla="val 2254"/>
            </a:avLst>
          </a:prstGeom>
          <a:solidFill>
            <a:srgbClr val="FFFDF8"/>
          </a:solidFill>
          <a:ln w="10160">
            <a:solidFill>
              <a:srgbClr val="E7BD62"/>
            </a:solidFill>
            <a:prstDash val="solid"/>
          </a:ln>
        </p:spPr>
      </p:sp>
      <p:sp>
        <p:nvSpPr>
          <p:cNvPr id="35" name="Text 33"/>
          <p:cNvSpPr/>
          <p:nvPr/>
        </p:nvSpPr>
        <p:spPr>
          <a:xfrm>
            <a:off x="6464808" y="2368296"/>
            <a:ext cx="4919472"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WHAT INSTITUTIONS STILL NEED</a:t>
            </a:r>
            <a:endParaRPr lang="en-US" sz="680" dirty="0"/>
          </a:p>
        </p:txBody>
      </p:sp>
      <p:sp>
        <p:nvSpPr>
          <p:cNvPr id="36" name="Text 34"/>
          <p:cNvSpPr/>
          <p:nvPr/>
        </p:nvSpPr>
        <p:spPr>
          <a:xfrm>
            <a:off x="6464808" y="2496312"/>
            <a:ext cx="4919472" cy="329184"/>
          </a:xfrm>
          <a:prstGeom prst="rect">
            <a:avLst/>
          </a:prstGeom>
          <a:noFill/>
          <a:ln/>
        </p:spPr>
        <p:txBody>
          <a:bodyPr wrap="square" lIns="0" tIns="0" rIns="0" bIns="0" rtlCol="0" anchor="ctr">
            <a:normAutofit/>
          </a:bodyPr>
          <a:lstStyle/>
          <a:p>
            <a:pPr indent="0" marL="0">
              <a:buNone/>
            </a:pPr>
            <a:r>
              <a:rPr lang="en-US" sz="2000" b="1" dirty="0">
                <a:solidFill>
                  <a:srgbClr val="14273D"/>
                </a:solidFill>
                <a:latin typeface="Inter Display" pitchFamily="34" charset="0"/>
                <a:ea typeface="Inter Display" pitchFamily="34" charset="-122"/>
                <a:cs typeface="Inter Display" pitchFamily="34" charset="-120"/>
              </a:rPr>
              <a:t>Justified authority</a:t>
            </a:r>
            <a:endParaRPr lang="en-US" sz="2000" dirty="0"/>
          </a:p>
        </p:txBody>
      </p:sp>
      <p:sp>
        <p:nvSpPr>
          <p:cNvPr id="37" name="Text 35"/>
          <p:cNvSpPr/>
          <p:nvPr/>
        </p:nvSpPr>
        <p:spPr>
          <a:xfrm>
            <a:off x="6464808" y="2898648"/>
            <a:ext cx="4919472" cy="2450592"/>
          </a:xfrm>
          <a:prstGeom prst="rect">
            <a:avLst/>
          </a:prstGeom>
          <a:noFill/>
          <a:ln/>
        </p:spPr>
        <p:txBody>
          <a:bodyPr wrap="square" lIns="0" tIns="0" rIns="0" bIns="0" rtlCol="0" anchor="t">
            <a:normAutofit/>
          </a:bodyPr>
          <a:lstStyle/>
          <a:p>
            <a:pPr indent="0" marL="0">
              <a:buNone/>
            </a:pPr>
            <a:r>
              <a:rPr lang="en-US" sz="1200" dirty="0">
                <a:solidFill>
                  <a:srgbClr val="43566A"/>
                </a:solidFill>
                <a:latin typeface="Inter" pitchFamily="34" charset="0"/>
                <a:ea typeface="Inter" pitchFamily="34" charset="-122"/>
                <a:cs typeface="Inter" pitchFamily="34" charset="-120"/>
              </a:rPr>
              <a:t>• What was attempted?</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What actually happened?</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What evidence exists?</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What failed or remains uncertain?</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What may be trusted, reused, paid, or acted on?</a:t>
            </a:r>
            <a:endParaRPr lang="en-US" sz="1200" dirty="0"/>
          </a:p>
          <a:p>
            <a:pPr indent="0" marL="0">
              <a:buNone/>
            </a:pPr>
            <a:r>
              <a:rPr lang="en-US" sz="1200" dirty="0">
                <a:solidFill>
                  <a:srgbClr val="43566A"/>
                </a:solidFill>
                <a:latin typeface="Inter" pitchFamily="34" charset="0"/>
                <a:ea typeface="Inter" pitchFamily="34" charset="-122"/>
                <a:cs typeface="Inter" pitchFamily="34" charset="-120"/>
              </a:rPr>
              <a:t>• What must remain blocked?</a:t>
            </a:r>
            <a:endParaRPr lang="en-US" sz="1200" dirty="0"/>
          </a:p>
        </p:txBody>
      </p:sp>
      <p:sp>
        <p:nvSpPr>
          <p:cNvPr id="38" name="Shape 36"/>
          <p:cNvSpPr/>
          <p:nvPr/>
        </p:nvSpPr>
        <p:spPr>
          <a:xfrm>
            <a:off x="5879592" y="3611880"/>
            <a:ext cx="411480" cy="310896"/>
          </a:xfrm>
          <a:prstGeom prst="chevron">
            <a:avLst/>
          </a:prstGeom>
          <a:solidFill>
            <a:srgbClr val="E7BD62">
              <a:alpha val="90000"/>
            </a:srgbClr>
          </a:solidFill>
          <a:ln w="6350">
            <a:solidFill>
              <a:srgbClr val="E7BD62">
                <a:alpha val="40000"/>
              </a:srgbClr>
            </a:solidFill>
            <a:prstDash val="solid"/>
          </a:ln>
        </p:spPr>
      </p:sp>
      <p:sp>
        <p:nvSpPr>
          <p:cNvPr id="39" name="Text 37"/>
          <p:cNvSpPr/>
          <p:nvPr/>
        </p:nvSpPr>
        <p:spPr>
          <a:xfrm>
            <a:off x="3154680" y="5715000"/>
            <a:ext cx="5943600" cy="320040"/>
          </a:xfrm>
          <a:prstGeom prst="rect">
            <a:avLst/>
          </a:prstGeom>
          <a:noFill/>
          <a:ln/>
        </p:spPr>
        <p:txBody>
          <a:bodyPr wrap="square" lIns="0" tIns="0" rIns="0" bIns="0" rtlCol="0" anchor="ctr"/>
          <a:lstStyle/>
          <a:p>
            <a:pPr algn="ctr" indent="0" marL="0">
              <a:buNone/>
            </a:pPr>
            <a:r>
              <a:rPr lang="en-US" sz="1700" b="1" dirty="0">
                <a:solidFill>
                  <a:srgbClr val="14273D"/>
                </a:solidFill>
                <a:latin typeface="Inter Display" pitchFamily="34" charset="0"/>
                <a:ea typeface="Inter Display" pitchFamily="34" charset="-122"/>
                <a:cs typeface="Inter Display" pitchFamily="34" charset="-120"/>
              </a:rPr>
              <a:t>GoalOS is the operating layer across that gap.</a:t>
            </a:r>
            <a:endParaRPr lang="en-US" sz="17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PRODUCT DEFINITION</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GoalOS is not “more AI.” It is governed authority over AI work.</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universality lies in the mission-and-proof interface—not in pretending every semantic claim can be mechanically verified.</a:t>
            </a:r>
            <a:endParaRPr lang="en-US" sz="1450" dirty="0"/>
          </a:p>
        </p:txBody>
      </p:sp>
      <p:sp>
        <p:nvSpPr>
          <p:cNvPr id="30" name="Shape 28"/>
          <p:cNvSpPr/>
          <p:nvPr/>
        </p:nvSpPr>
        <p:spPr>
          <a:xfrm>
            <a:off x="621792" y="2176272"/>
            <a:ext cx="5257800" cy="758952"/>
          </a:xfrm>
          <a:prstGeom prst="roundRect">
            <a:avLst>
              <a:gd name="adj" fmla="val 9639"/>
            </a:avLst>
          </a:prstGeom>
          <a:solidFill>
            <a:srgbClr val="102238"/>
          </a:solidFill>
          <a:ln w="10160">
            <a:solidFill>
              <a:srgbClr val="43D79B"/>
            </a:solidFill>
            <a:prstDash val="solid"/>
          </a:ln>
        </p:spPr>
      </p:sp>
      <p:sp>
        <p:nvSpPr>
          <p:cNvPr id="31" name="Text 29"/>
          <p:cNvSpPr/>
          <p:nvPr/>
        </p:nvSpPr>
        <p:spPr>
          <a:xfrm>
            <a:off x="777240" y="2304288"/>
            <a:ext cx="494690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GOALOS IS</a:t>
            </a:r>
            <a:endParaRPr lang="en-US" sz="680" dirty="0"/>
          </a:p>
        </p:txBody>
      </p:sp>
      <p:sp>
        <p:nvSpPr>
          <p:cNvPr id="32" name="Text 30"/>
          <p:cNvSpPr/>
          <p:nvPr/>
        </p:nvSpPr>
        <p:spPr>
          <a:xfrm>
            <a:off x="777240" y="2432304"/>
            <a:ext cx="494690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Mission OS</a:t>
            </a:r>
            <a:endParaRPr lang="en-US" sz="1300" dirty="0"/>
          </a:p>
        </p:txBody>
      </p:sp>
      <p:sp>
        <p:nvSpPr>
          <p:cNvPr id="33" name="Text 31"/>
          <p:cNvSpPr/>
          <p:nvPr/>
        </p:nvSpPr>
        <p:spPr>
          <a:xfrm>
            <a:off x="777240" y="2834640"/>
            <a:ext cx="4946904" cy="-36576"/>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Objective → proof-backed decision state</a:t>
            </a:r>
            <a:endParaRPr lang="en-US" sz="840" dirty="0"/>
          </a:p>
        </p:txBody>
      </p:sp>
      <p:sp>
        <p:nvSpPr>
          <p:cNvPr id="34" name="Shape 32"/>
          <p:cNvSpPr/>
          <p:nvPr/>
        </p:nvSpPr>
        <p:spPr>
          <a:xfrm>
            <a:off x="621792" y="2176272"/>
            <a:ext cx="5257800" cy="758952"/>
          </a:xfrm>
          <a:prstGeom prst="roundRect">
            <a:avLst>
              <a:gd name="adj" fmla="val 9639"/>
            </a:avLst>
          </a:prstGeom>
          <a:solidFill>
            <a:srgbClr val="102238"/>
          </a:solidFill>
          <a:ln w="10160">
            <a:solidFill>
              <a:srgbClr val="43D79B"/>
            </a:solidFill>
            <a:prstDash val="solid"/>
          </a:ln>
        </p:spPr>
      </p:sp>
      <p:sp>
        <p:nvSpPr>
          <p:cNvPr id="35" name="Text 33"/>
          <p:cNvSpPr/>
          <p:nvPr/>
        </p:nvSpPr>
        <p:spPr>
          <a:xfrm>
            <a:off x="777240" y="2304288"/>
            <a:ext cx="494690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GOALOS IS</a:t>
            </a:r>
            <a:endParaRPr lang="en-US" sz="680" dirty="0"/>
          </a:p>
        </p:txBody>
      </p:sp>
      <p:sp>
        <p:nvSpPr>
          <p:cNvPr id="36" name="Text 34"/>
          <p:cNvSpPr/>
          <p:nvPr/>
        </p:nvSpPr>
        <p:spPr>
          <a:xfrm>
            <a:off x="777240" y="2432304"/>
            <a:ext cx="494690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Proof OS</a:t>
            </a:r>
            <a:endParaRPr lang="en-US" sz="1300" dirty="0"/>
          </a:p>
        </p:txBody>
      </p:sp>
      <p:sp>
        <p:nvSpPr>
          <p:cNvPr id="37" name="Text 35"/>
          <p:cNvSpPr/>
          <p:nvPr/>
        </p:nvSpPr>
        <p:spPr>
          <a:xfrm>
            <a:off x="777240" y="2834640"/>
            <a:ext cx="4946904" cy="-36576"/>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Candidate work → inspectable evidence</a:t>
            </a:r>
            <a:endParaRPr lang="en-US" sz="840" dirty="0"/>
          </a:p>
        </p:txBody>
      </p:sp>
      <p:sp>
        <p:nvSpPr>
          <p:cNvPr id="38" name="Shape 36"/>
          <p:cNvSpPr/>
          <p:nvPr/>
        </p:nvSpPr>
        <p:spPr>
          <a:xfrm>
            <a:off x="621792" y="2176272"/>
            <a:ext cx="5257800" cy="758952"/>
          </a:xfrm>
          <a:prstGeom prst="roundRect">
            <a:avLst>
              <a:gd name="adj" fmla="val 9639"/>
            </a:avLst>
          </a:prstGeom>
          <a:solidFill>
            <a:srgbClr val="102238"/>
          </a:solidFill>
          <a:ln w="10160">
            <a:solidFill>
              <a:srgbClr val="43D79B"/>
            </a:solidFill>
            <a:prstDash val="solid"/>
          </a:ln>
        </p:spPr>
      </p:sp>
      <p:sp>
        <p:nvSpPr>
          <p:cNvPr id="39" name="Text 37"/>
          <p:cNvSpPr/>
          <p:nvPr/>
        </p:nvSpPr>
        <p:spPr>
          <a:xfrm>
            <a:off x="777240" y="2304288"/>
            <a:ext cx="494690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GOALOS IS</a:t>
            </a:r>
            <a:endParaRPr lang="en-US" sz="680" dirty="0"/>
          </a:p>
        </p:txBody>
      </p:sp>
      <p:sp>
        <p:nvSpPr>
          <p:cNvPr id="40" name="Text 38"/>
          <p:cNvSpPr/>
          <p:nvPr/>
        </p:nvSpPr>
        <p:spPr>
          <a:xfrm>
            <a:off x="777240" y="2432304"/>
            <a:ext cx="494690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Memory firewall</a:t>
            </a:r>
            <a:endParaRPr lang="en-US" sz="1300" dirty="0"/>
          </a:p>
        </p:txBody>
      </p:sp>
      <p:sp>
        <p:nvSpPr>
          <p:cNvPr id="41" name="Text 39"/>
          <p:cNvSpPr/>
          <p:nvPr/>
        </p:nvSpPr>
        <p:spPr>
          <a:xfrm>
            <a:off x="777240" y="2834640"/>
            <a:ext cx="4946904" cy="-36576"/>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Evidence → scoped, challengeable capability</a:t>
            </a:r>
            <a:endParaRPr lang="en-US" sz="840" dirty="0"/>
          </a:p>
        </p:txBody>
      </p:sp>
      <p:sp>
        <p:nvSpPr>
          <p:cNvPr id="42" name="Shape 40"/>
          <p:cNvSpPr/>
          <p:nvPr/>
        </p:nvSpPr>
        <p:spPr>
          <a:xfrm>
            <a:off x="621792" y="2176272"/>
            <a:ext cx="5257800" cy="758952"/>
          </a:xfrm>
          <a:prstGeom prst="roundRect">
            <a:avLst>
              <a:gd name="adj" fmla="val 9639"/>
            </a:avLst>
          </a:prstGeom>
          <a:solidFill>
            <a:srgbClr val="102238"/>
          </a:solidFill>
          <a:ln w="10160">
            <a:solidFill>
              <a:srgbClr val="43D79B"/>
            </a:solidFill>
            <a:prstDash val="solid"/>
          </a:ln>
        </p:spPr>
      </p:sp>
      <p:sp>
        <p:nvSpPr>
          <p:cNvPr id="43" name="Text 41"/>
          <p:cNvSpPr/>
          <p:nvPr/>
        </p:nvSpPr>
        <p:spPr>
          <a:xfrm>
            <a:off x="777240" y="2304288"/>
            <a:ext cx="494690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GOALOS IS</a:t>
            </a:r>
            <a:endParaRPr lang="en-US" sz="680" dirty="0"/>
          </a:p>
        </p:txBody>
      </p:sp>
      <p:sp>
        <p:nvSpPr>
          <p:cNvPr id="44" name="Text 42"/>
          <p:cNvSpPr/>
          <p:nvPr/>
        </p:nvSpPr>
        <p:spPr>
          <a:xfrm>
            <a:off x="777240" y="2432304"/>
            <a:ext cx="494690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RSI governor</a:t>
            </a:r>
            <a:endParaRPr lang="en-US" sz="1300" dirty="0"/>
          </a:p>
        </p:txBody>
      </p:sp>
      <p:sp>
        <p:nvSpPr>
          <p:cNvPr id="45" name="Text 43"/>
          <p:cNvSpPr/>
          <p:nvPr/>
        </p:nvSpPr>
        <p:spPr>
          <a:xfrm>
            <a:off x="777240" y="2834640"/>
            <a:ext cx="4946904" cy="-36576"/>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Candidate improvement → baseline-tested promotion</a:t>
            </a:r>
            <a:endParaRPr lang="en-US" sz="840" dirty="0"/>
          </a:p>
        </p:txBody>
      </p:sp>
      <p:sp>
        <p:nvSpPr>
          <p:cNvPr id="46" name="Shape 44"/>
          <p:cNvSpPr/>
          <p:nvPr/>
        </p:nvSpPr>
        <p:spPr>
          <a:xfrm>
            <a:off x="6309360" y="2176272"/>
            <a:ext cx="5257800" cy="758952"/>
          </a:xfrm>
          <a:prstGeom prst="roundRect">
            <a:avLst>
              <a:gd name="adj" fmla="val 9639"/>
            </a:avLst>
          </a:prstGeom>
          <a:solidFill>
            <a:srgbClr val="102238"/>
          </a:solidFill>
          <a:ln w="10160">
            <a:solidFill>
              <a:srgbClr val="FF7584"/>
            </a:solidFill>
            <a:prstDash val="solid"/>
          </a:ln>
        </p:spPr>
      </p:sp>
      <p:sp>
        <p:nvSpPr>
          <p:cNvPr id="47" name="Text 45"/>
          <p:cNvSpPr/>
          <p:nvPr/>
        </p:nvSpPr>
        <p:spPr>
          <a:xfrm>
            <a:off x="6464808" y="2304288"/>
            <a:ext cx="49469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GOALOS IS NOT</a:t>
            </a:r>
            <a:endParaRPr lang="en-US" sz="680" dirty="0"/>
          </a:p>
        </p:txBody>
      </p:sp>
      <p:sp>
        <p:nvSpPr>
          <p:cNvPr id="48" name="Text 46"/>
          <p:cNvSpPr/>
          <p:nvPr/>
        </p:nvSpPr>
        <p:spPr>
          <a:xfrm>
            <a:off x="6464808" y="2432304"/>
            <a:ext cx="494690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Not a chatbot</a:t>
            </a:r>
            <a:endParaRPr lang="en-US" sz="1300" dirty="0"/>
          </a:p>
        </p:txBody>
      </p:sp>
      <p:sp>
        <p:nvSpPr>
          <p:cNvPr id="49" name="Text 47"/>
          <p:cNvSpPr/>
          <p:nvPr/>
        </p:nvSpPr>
        <p:spPr>
          <a:xfrm>
            <a:off x="6464808" y="2834640"/>
            <a:ext cx="4946904" cy="-36576"/>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A response does not automatically become authority.</a:t>
            </a:r>
            <a:endParaRPr lang="en-US" sz="840" dirty="0"/>
          </a:p>
        </p:txBody>
      </p:sp>
      <p:sp>
        <p:nvSpPr>
          <p:cNvPr id="50" name="Shape 48"/>
          <p:cNvSpPr/>
          <p:nvPr/>
        </p:nvSpPr>
        <p:spPr>
          <a:xfrm>
            <a:off x="6309360" y="2176272"/>
            <a:ext cx="5257800" cy="758952"/>
          </a:xfrm>
          <a:prstGeom prst="roundRect">
            <a:avLst>
              <a:gd name="adj" fmla="val 9639"/>
            </a:avLst>
          </a:prstGeom>
          <a:solidFill>
            <a:srgbClr val="102238"/>
          </a:solidFill>
          <a:ln w="10160">
            <a:solidFill>
              <a:srgbClr val="FF7584"/>
            </a:solidFill>
            <a:prstDash val="solid"/>
          </a:ln>
        </p:spPr>
      </p:sp>
      <p:sp>
        <p:nvSpPr>
          <p:cNvPr id="51" name="Text 49"/>
          <p:cNvSpPr/>
          <p:nvPr/>
        </p:nvSpPr>
        <p:spPr>
          <a:xfrm>
            <a:off x="6464808" y="2304288"/>
            <a:ext cx="49469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GOALOS IS NOT</a:t>
            </a:r>
            <a:endParaRPr lang="en-US" sz="680" dirty="0"/>
          </a:p>
        </p:txBody>
      </p:sp>
      <p:sp>
        <p:nvSpPr>
          <p:cNvPr id="52" name="Text 50"/>
          <p:cNvSpPr/>
          <p:nvPr/>
        </p:nvSpPr>
        <p:spPr>
          <a:xfrm>
            <a:off x="6464808" y="2432304"/>
            <a:ext cx="494690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Not an agent swarm</a:t>
            </a:r>
            <a:endParaRPr lang="en-US" sz="1300" dirty="0"/>
          </a:p>
        </p:txBody>
      </p:sp>
      <p:sp>
        <p:nvSpPr>
          <p:cNvPr id="53" name="Text 51"/>
          <p:cNvSpPr/>
          <p:nvPr/>
        </p:nvSpPr>
        <p:spPr>
          <a:xfrm>
            <a:off x="6464808" y="2834640"/>
            <a:ext cx="4946904" cy="-36576"/>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Coordination alone does not establish truth or trust.</a:t>
            </a:r>
            <a:endParaRPr lang="en-US" sz="840" dirty="0"/>
          </a:p>
        </p:txBody>
      </p:sp>
      <p:sp>
        <p:nvSpPr>
          <p:cNvPr id="54" name="Shape 52"/>
          <p:cNvSpPr/>
          <p:nvPr/>
        </p:nvSpPr>
        <p:spPr>
          <a:xfrm>
            <a:off x="6309360" y="2176272"/>
            <a:ext cx="5257800" cy="758952"/>
          </a:xfrm>
          <a:prstGeom prst="roundRect">
            <a:avLst>
              <a:gd name="adj" fmla="val 9639"/>
            </a:avLst>
          </a:prstGeom>
          <a:solidFill>
            <a:srgbClr val="102238"/>
          </a:solidFill>
          <a:ln w="10160">
            <a:solidFill>
              <a:srgbClr val="FF7584"/>
            </a:solidFill>
            <a:prstDash val="solid"/>
          </a:ln>
        </p:spPr>
      </p:sp>
      <p:sp>
        <p:nvSpPr>
          <p:cNvPr id="55" name="Text 53"/>
          <p:cNvSpPr/>
          <p:nvPr/>
        </p:nvSpPr>
        <p:spPr>
          <a:xfrm>
            <a:off x="6464808" y="2304288"/>
            <a:ext cx="49469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GOALOS IS NOT</a:t>
            </a:r>
            <a:endParaRPr lang="en-US" sz="680" dirty="0"/>
          </a:p>
        </p:txBody>
      </p:sp>
      <p:sp>
        <p:nvSpPr>
          <p:cNvPr id="56" name="Text 54"/>
          <p:cNvSpPr/>
          <p:nvPr/>
        </p:nvSpPr>
        <p:spPr>
          <a:xfrm>
            <a:off x="6464808" y="2432304"/>
            <a:ext cx="494690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Not a universal oracle</a:t>
            </a:r>
            <a:endParaRPr lang="en-US" sz="1300" dirty="0"/>
          </a:p>
        </p:txBody>
      </p:sp>
      <p:sp>
        <p:nvSpPr>
          <p:cNvPr id="57" name="Text 55"/>
          <p:cNvSpPr/>
          <p:nvPr/>
        </p:nvSpPr>
        <p:spPr>
          <a:xfrm>
            <a:off x="6464808" y="2834640"/>
            <a:ext cx="4946904" cy="-36576"/>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Domains provide evidence contracts and evaluators.</a:t>
            </a:r>
            <a:endParaRPr lang="en-US" sz="840" dirty="0"/>
          </a:p>
        </p:txBody>
      </p:sp>
      <p:sp>
        <p:nvSpPr>
          <p:cNvPr id="58" name="Shape 56"/>
          <p:cNvSpPr/>
          <p:nvPr/>
        </p:nvSpPr>
        <p:spPr>
          <a:xfrm>
            <a:off x="6309360" y="2176272"/>
            <a:ext cx="5257800" cy="758952"/>
          </a:xfrm>
          <a:prstGeom prst="roundRect">
            <a:avLst>
              <a:gd name="adj" fmla="val 9639"/>
            </a:avLst>
          </a:prstGeom>
          <a:solidFill>
            <a:srgbClr val="102238"/>
          </a:solidFill>
          <a:ln w="10160">
            <a:solidFill>
              <a:srgbClr val="FF7584"/>
            </a:solidFill>
            <a:prstDash val="solid"/>
          </a:ln>
        </p:spPr>
      </p:sp>
      <p:sp>
        <p:nvSpPr>
          <p:cNvPr id="59" name="Text 57"/>
          <p:cNvSpPr/>
          <p:nvPr/>
        </p:nvSpPr>
        <p:spPr>
          <a:xfrm>
            <a:off x="6464808" y="2304288"/>
            <a:ext cx="49469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GOALOS IS NOT</a:t>
            </a:r>
            <a:endParaRPr lang="en-US" sz="680" dirty="0"/>
          </a:p>
        </p:txBody>
      </p:sp>
      <p:sp>
        <p:nvSpPr>
          <p:cNvPr id="60" name="Text 58"/>
          <p:cNvSpPr/>
          <p:nvPr/>
        </p:nvSpPr>
        <p:spPr>
          <a:xfrm>
            <a:off x="6464808" y="2432304"/>
            <a:ext cx="494690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Not a claim of AGI/ASI</a:t>
            </a:r>
            <a:endParaRPr lang="en-US" sz="1300" dirty="0"/>
          </a:p>
        </p:txBody>
      </p:sp>
      <p:sp>
        <p:nvSpPr>
          <p:cNvPr id="61" name="Text 59"/>
          <p:cNvSpPr/>
          <p:nvPr/>
        </p:nvSpPr>
        <p:spPr>
          <a:xfrm>
            <a:off x="6464808" y="2834640"/>
            <a:ext cx="4946904" cy="-36576"/>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Architecture and local evidence remain claim-bounded.</a:t>
            </a:r>
            <a:endParaRPr lang="en-US" sz="840" dirty="0"/>
          </a:p>
        </p:txBody>
      </p:sp>
      <p:sp>
        <p:nvSpPr>
          <p:cNvPr id="62" name="Text 60"/>
          <p:cNvSpPr/>
          <p:nvPr/>
        </p:nvSpPr>
        <p:spPr>
          <a:xfrm>
            <a:off x="1051560" y="5650992"/>
            <a:ext cx="10058400" cy="411480"/>
          </a:xfrm>
          <a:prstGeom prst="rect">
            <a:avLst/>
          </a:prstGeom>
          <a:noFill/>
          <a:ln/>
        </p:spPr>
        <p:txBody>
          <a:bodyPr wrap="square" lIns="0" tIns="0" rIns="0" bIns="0" rtlCol="0" anchor="ctr">
            <a:normAutofit/>
          </a:bodyPr>
          <a:lstStyle/>
          <a:p>
            <a:pPr algn="ctr" indent="0" marL="0">
              <a:buNone/>
            </a:pPr>
            <a:r>
              <a:rPr lang="en-US" sz="1650" i="1" dirty="0">
                <a:solidFill>
                  <a:srgbClr val="E7BD62"/>
                </a:solidFill>
                <a:latin typeface="Georgia" pitchFamily="34" charset="0"/>
                <a:ea typeface="Georgia" pitchFamily="34" charset="-122"/>
                <a:cs typeface="Georgia" pitchFamily="34" charset="-120"/>
              </a:rPr>
              <a:t>Open-ended in what work may be attempted. Bounded in what authority the result may earn.</a:t>
            </a:r>
            <a:endParaRPr lang="en-US" sz="16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THE SYSTEM</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Masterclass module divider</a:t>
            </a:r>
            <a:endParaRPr lang="en-US" sz="640" dirty="0"/>
          </a:p>
        </p:txBody>
      </p:sp>
      <p:sp>
        <p:nvSpPr>
          <p:cNvPr id="28" name="Text 26"/>
          <p:cNvSpPr/>
          <p:nvPr/>
        </p:nvSpPr>
        <p:spPr>
          <a:xfrm>
            <a:off x="640080" y="1097280"/>
            <a:ext cx="1828800" cy="1097280"/>
          </a:xfrm>
          <a:prstGeom prst="rect">
            <a:avLst/>
          </a:prstGeom>
          <a:noFill/>
          <a:ln/>
        </p:spPr>
        <p:txBody>
          <a:bodyPr wrap="square" lIns="0" tIns="0" rIns="0" bIns="0" rtlCol="0" anchor="ctr"/>
          <a:lstStyle/>
          <a:p>
            <a:pPr indent="0" marL="0">
              <a:buNone/>
            </a:pPr>
            <a:r>
              <a:rPr lang="en-US" sz="5800" b="1" dirty="0">
                <a:solidFill>
                  <a:srgbClr val="E7BD62">
                    <a:alpha val="95000"/>
                  </a:srgbClr>
                </a:solidFill>
                <a:latin typeface="Inter Display" pitchFamily="34" charset="0"/>
                <a:ea typeface="Inter Display" pitchFamily="34" charset="-122"/>
                <a:cs typeface="Inter Display" pitchFamily="34" charset="-120"/>
              </a:rPr>
              <a:t>01</a:t>
            </a:r>
            <a:endParaRPr lang="en-US" sz="5800" dirty="0"/>
          </a:p>
        </p:txBody>
      </p:sp>
      <p:sp>
        <p:nvSpPr>
          <p:cNvPr id="29" name="Shape 27"/>
          <p:cNvSpPr/>
          <p:nvPr/>
        </p:nvSpPr>
        <p:spPr>
          <a:xfrm>
            <a:off x="2743200" y="1234440"/>
            <a:ext cx="2560320" cy="301752"/>
          </a:xfrm>
          <a:prstGeom prst="roundRect">
            <a:avLst>
              <a:gd name="adj" fmla="val 24242"/>
            </a:avLst>
          </a:prstGeom>
          <a:solidFill>
            <a:srgbClr val="E7BD62">
              <a:alpha val="12000"/>
            </a:srgbClr>
          </a:solidFill>
          <a:ln w="10160">
            <a:solidFill>
              <a:srgbClr val="E7BD62">
                <a:alpha val="65000"/>
              </a:srgbClr>
            </a:solidFill>
            <a:prstDash val="solid"/>
          </a:ln>
        </p:spPr>
      </p:sp>
      <p:sp>
        <p:nvSpPr>
          <p:cNvPr id="30" name="Text 28"/>
          <p:cNvSpPr/>
          <p:nvPr/>
        </p:nvSpPr>
        <p:spPr>
          <a:xfrm>
            <a:off x="2825496" y="1316736"/>
            <a:ext cx="2395728" cy="109728"/>
          </a:xfrm>
          <a:prstGeom prst="rect">
            <a:avLst/>
          </a:prstGeom>
          <a:noFill/>
          <a:ln/>
        </p:spPr>
        <p:txBody>
          <a:bodyPr wrap="square" lIns="0" tIns="0" rIns="0" bIns="0" rtlCol="0" anchor="ctr"/>
          <a:lstStyle/>
          <a:p>
            <a:pPr algn="ctr" indent="0" marL="0">
              <a:buNone/>
            </a:pPr>
            <a:r>
              <a:rPr lang="en-US" sz="720" b="1" spc="130" kern="0" dirty="0">
                <a:solidFill>
                  <a:srgbClr val="E7BD62"/>
                </a:solidFill>
                <a:latin typeface="Inter" pitchFamily="34" charset="0"/>
                <a:ea typeface="Inter" pitchFamily="34" charset="-122"/>
                <a:cs typeface="Inter" pitchFamily="34" charset="-120"/>
              </a:rPr>
              <a:t>THE SYSTEM</a:t>
            </a:r>
            <a:endParaRPr lang="en-US" sz="720" dirty="0"/>
          </a:p>
        </p:txBody>
      </p:sp>
      <p:sp>
        <p:nvSpPr>
          <p:cNvPr id="31" name="Text 29"/>
          <p:cNvSpPr/>
          <p:nvPr/>
        </p:nvSpPr>
        <p:spPr>
          <a:xfrm>
            <a:off x="2743200" y="1828800"/>
            <a:ext cx="8412480" cy="1188720"/>
          </a:xfrm>
          <a:prstGeom prst="rect">
            <a:avLst/>
          </a:prstGeom>
          <a:noFill/>
          <a:ln/>
        </p:spPr>
        <p:txBody>
          <a:bodyPr wrap="square" lIns="0" tIns="0" rIns="0" bIns="0" rtlCol="0" anchor="ctr">
            <a:normAutofit/>
          </a:bodyPr>
          <a:lstStyle/>
          <a:p>
            <a:pPr indent="0" marL="0">
              <a:buNone/>
            </a:pPr>
            <a:r>
              <a:rPr lang="en-US" sz="3700" b="1" dirty="0">
                <a:solidFill>
                  <a:srgbClr val="F7FBFF"/>
                </a:solidFill>
                <a:latin typeface="Inter Display" pitchFamily="34" charset="0"/>
                <a:ea typeface="Inter Display" pitchFamily="34" charset="-122"/>
                <a:cs typeface="Inter Display" pitchFamily="34" charset="-120"/>
              </a:rPr>
              <a:t>The proof-to-capability operating loop.</a:t>
            </a:r>
            <a:endParaRPr lang="en-US" sz="3700" dirty="0"/>
          </a:p>
        </p:txBody>
      </p:sp>
      <p:sp>
        <p:nvSpPr>
          <p:cNvPr id="32" name="Text 30"/>
          <p:cNvSpPr/>
          <p:nvPr/>
        </p:nvSpPr>
        <p:spPr>
          <a:xfrm>
            <a:off x="2770632" y="3246120"/>
            <a:ext cx="8046720" cy="822960"/>
          </a:xfrm>
          <a:prstGeom prst="rect">
            <a:avLst/>
          </a:prstGeom>
          <a:noFill/>
          <a:ln/>
        </p:spPr>
        <p:txBody>
          <a:bodyPr wrap="square" lIns="0" tIns="0" rIns="0" bIns="0" rtlCol="0" anchor="ctr">
            <a:normAutofit/>
          </a:bodyPr>
          <a:lstStyle/>
          <a:p>
            <a:pPr indent="0" marL="0">
              <a:buNone/>
            </a:pPr>
            <a:r>
              <a:rPr lang="en-US" sz="1600" dirty="0">
                <a:solidFill>
                  <a:srgbClr val="B9C5D2"/>
                </a:solidFill>
                <a:latin typeface="Inter" pitchFamily="34" charset="0"/>
                <a:ea typeface="Inter" pitchFamily="34" charset="-122"/>
                <a:cs typeface="Inter" pitchFamily="34" charset="-120"/>
              </a:rPr>
              <a:t>How autonomous work moves from objective to governed memory without allowing persuasive output to become institutional default.</a:t>
            </a:r>
            <a:endParaRPr lang="en-US" sz="1600" dirty="0"/>
          </a:p>
        </p:txBody>
      </p:sp>
      <p:sp>
        <p:nvSpPr>
          <p:cNvPr id="33" name="Shape 31"/>
          <p:cNvSpPr/>
          <p:nvPr/>
        </p:nvSpPr>
        <p:spPr>
          <a:xfrm>
            <a:off x="2761488" y="4279392"/>
            <a:ext cx="7132320" cy="0"/>
          </a:xfrm>
          <a:prstGeom prst="line">
            <a:avLst/>
          </a:prstGeom>
          <a:noFill/>
          <a:ln w="25400">
            <a:solidFill>
              <a:srgbClr val="E7BD62"/>
            </a:solidFill>
            <a:prstDash val="solid"/>
          </a:ln>
        </p:spPr>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CANONICAL LOOP</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Set the objective. GoalOS runs until proof is done.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Every stage narrows authority. A failed gate returns the mission to explicit Proof Debt rather than contaminating memory.</a:t>
            </a:r>
            <a:endParaRPr lang="en-US" sz="1450" dirty="0"/>
          </a:p>
        </p:txBody>
      </p:sp>
      <p:sp>
        <p:nvSpPr>
          <p:cNvPr id="30" name="Shape 28"/>
          <p:cNvSpPr/>
          <p:nvPr/>
        </p:nvSpPr>
        <p:spPr>
          <a:xfrm>
            <a:off x="548640" y="2514600"/>
            <a:ext cx="1287018" cy="749808"/>
          </a:xfrm>
          <a:prstGeom prst="roundRect">
            <a:avLst>
              <a:gd name="adj" fmla="val 8537"/>
            </a:avLst>
          </a:prstGeom>
          <a:solidFill>
            <a:srgbClr val="6FB5FF"/>
          </a:solidFill>
          <a:ln w="12700">
            <a:solidFill>
              <a:srgbClr val="6FB5FF"/>
            </a:solidFill>
            <a:prstDash val="solid"/>
          </a:ln>
        </p:spPr>
      </p:sp>
      <p:sp>
        <p:nvSpPr>
          <p:cNvPr id="31" name="Text 29"/>
          <p:cNvSpPr/>
          <p:nvPr/>
        </p:nvSpPr>
        <p:spPr>
          <a:xfrm>
            <a:off x="603504" y="2587752"/>
            <a:ext cx="237744" cy="118872"/>
          </a:xfrm>
          <a:prstGeom prst="rect">
            <a:avLst/>
          </a:prstGeom>
          <a:noFill/>
          <a:ln/>
        </p:spPr>
        <p:txBody>
          <a:bodyPr wrap="square" lIns="0" tIns="0" rIns="0" bIns="0" rtlCol="0" anchor="ctr"/>
          <a:lstStyle/>
          <a:p>
            <a:pPr indent="0" marL="0">
              <a:buNone/>
            </a:pPr>
            <a:r>
              <a:rPr lang="en-US" sz="610" b="1" dirty="0">
                <a:solidFill>
                  <a:srgbClr val="6FB5FF"/>
                </a:solidFill>
                <a:latin typeface="Inter" pitchFamily="34" charset="0"/>
                <a:ea typeface="Inter" pitchFamily="34" charset="-122"/>
                <a:cs typeface="Inter" pitchFamily="34" charset="-120"/>
              </a:rPr>
              <a:t>01</a:t>
            </a:r>
            <a:endParaRPr lang="en-US" sz="610" dirty="0"/>
          </a:p>
        </p:txBody>
      </p:sp>
      <p:sp>
        <p:nvSpPr>
          <p:cNvPr id="32" name="Text 30"/>
          <p:cNvSpPr/>
          <p:nvPr/>
        </p:nvSpPr>
        <p:spPr>
          <a:xfrm>
            <a:off x="630936" y="2752344"/>
            <a:ext cx="1122426" cy="210312"/>
          </a:xfrm>
          <a:prstGeom prst="rect">
            <a:avLst/>
          </a:prstGeom>
          <a:noFill/>
          <a:ln/>
        </p:spPr>
        <p:txBody>
          <a:bodyPr wrap="square" lIns="0" tIns="0" rIns="0" bIns="0" rtlCol="0" anchor="ctr">
            <a:normAutofit/>
          </a:bodyPr>
          <a:lstStyle/>
          <a:p>
            <a:pPr algn="ctr" indent="0" marL="0">
              <a:buNone/>
            </a:pPr>
            <a:r>
              <a:rPr lang="en-US" sz="750" b="1" dirty="0">
                <a:solidFill>
                  <a:srgbClr val="14273D"/>
                </a:solidFill>
                <a:latin typeface="Inter" pitchFamily="34" charset="0"/>
                <a:ea typeface="Inter" pitchFamily="34" charset="-122"/>
                <a:cs typeface="Inter" pitchFamily="34" charset="-120"/>
              </a:rPr>
              <a:t>Objective</a:t>
            </a:r>
            <a:endParaRPr lang="en-US" sz="750" dirty="0"/>
          </a:p>
        </p:txBody>
      </p:sp>
      <p:sp>
        <p:nvSpPr>
          <p:cNvPr id="33" name="Shape 31"/>
          <p:cNvSpPr/>
          <p:nvPr/>
        </p:nvSpPr>
        <p:spPr>
          <a:xfrm>
            <a:off x="1835658" y="2889504"/>
            <a:ext cx="109728" cy="0"/>
          </a:xfrm>
          <a:prstGeom prst="line">
            <a:avLst/>
          </a:prstGeom>
          <a:noFill/>
          <a:ln w="15240">
            <a:solidFill>
              <a:srgbClr val="E7BD62"/>
            </a:solidFill>
            <a:prstDash val="solid"/>
            <a:headEnd type="none"/>
            <a:tailEnd type="triangle"/>
          </a:ln>
        </p:spPr>
      </p:sp>
      <p:sp>
        <p:nvSpPr>
          <p:cNvPr id="34" name="Shape 32"/>
          <p:cNvSpPr/>
          <p:nvPr/>
        </p:nvSpPr>
        <p:spPr>
          <a:xfrm>
            <a:off x="1945386" y="2514600"/>
            <a:ext cx="1287018" cy="749808"/>
          </a:xfrm>
          <a:prstGeom prst="roundRect">
            <a:avLst>
              <a:gd name="adj" fmla="val 8537"/>
            </a:avLst>
          </a:prstGeom>
          <a:solidFill>
            <a:srgbClr val="6FB5FF"/>
          </a:solidFill>
          <a:ln w="12700">
            <a:solidFill>
              <a:srgbClr val="6FB5FF"/>
            </a:solidFill>
            <a:prstDash val="solid"/>
          </a:ln>
        </p:spPr>
      </p:sp>
      <p:sp>
        <p:nvSpPr>
          <p:cNvPr id="35" name="Text 33"/>
          <p:cNvSpPr/>
          <p:nvPr/>
        </p:nvSpPr>
        <p:spPr>
          <a:xfrm>
            <a:off x="2000250" y="2587752"/>
            <a:ext cx="237744" cy="118872"/>
          </a:xfrm>
          <a:prstGeom prst="rect">
            <a:avLst/>
          </a:prstGeom>
          <a:noFill/>
          <a:ln/>
        </p:spPr>
        <p:txBody>
          <a:bodyPr wrap="square" lIns="0" tIns="0" rIns="0" bIns="0" rtlCol="0" anchor="ctr"/>
          <a:lstStyle/>
          <a:p>
            <a:pPr indent="0" marL="0">
              <a:buNone/>
            </a:pPr>
            <a:r>
              <a:rPr lang="en-US" sz="610" b="1" dirty="0">
                <a:solidFill>
                  <a:srgbClr val="6FB5FF"/>
                </a:solidFill>
                <a:latin typeface="Inter" pitchFamily="34" charset="0"/>
                <a:ea typeface="Inter" pitchFamily="34" charset="-122"/>
                <a:cs typeface="Inter" pitchFamily="34" charset="-120"/>
              </a:rPr>
              <a:t>02</a:t>
            </a:r>
            <a:endParaRPr lang="en-US" sz="610" dirty="0"/>
          </a:p>
        </p:txBody>
      </p:sp>
      <p:sp>
        <p:nvSpPr>
          <p:cNvPr id="36" name="Text 34"/>
          <p:cNvSpPr/>
          <p:nvPr/>
        </p:nvSpPr>
        <p:spPr>
          <a:xfrm>
            <a:off x="2027682" y="2752344"/>
            <a:ext cx="1122426" cy="210312"/>
          </a:xfrm>
          <a:prstGeom prst="rect">
            <a:avLst/>
          </a:prstGeom>
          <a:noFill/>
          <a:ln/>
        </p:spPr>
        <p:txBody>
          <a:bodyPr wrap="square" lIns="0" tIns="0" rIns="0" bIns="0" rtlCol="0" anchor="ctr">
            <a:normAutofit/>
          </a:bodyPr>
          <a:lstStyle/>
          <a:p>
            <a:pPr algn="ctr" indent="0" marL="0">
              <a:buNone/>
            </a:pPr>
            <a:r>
              <a:rPr lang="en-US" sz="750" b="1" dirty="0">
                <a:solidFill>
                  <a:srgbClr val="14273D"/>
                </a:solidFill>
                <a:latin typeface="Inter" pitchFamily="34" charset="0"/>
                <a:ea typeface="Inter" pitchFamily="34" charset="-122"/>
                <a:cs typeface="Inter" pitchFamily="34" charset="-120"/>
              </a:rPr>
              <a:t>Proof Mission</a:t>
            </a:r>
            <a:endParaRPr lang="en-US" sz="750" dirty="0"/>
          </a:p>
        </p:txBody>
      </p:sp>
      <p:sp>
        <p:nvSpPr>
          <p:cNvPr id="37" name="Shape 35"/>
          <p:cNvSpPr/>
          <p:nvPr/>
        </p:nvSpPr>
        <p:spPr>
          <a:xfrm>
            <a:off x="3232404" y="2889504"/>
            <a:ext cx="109728" cy="0"/>
          </a:xfrm>
          <a:prstGeom prst="line">
            <a:avLst/>
          </a:prstGeom>
          <a:noFill/>
          <a:ln w="15240">
            <a:solidFill>
              <a:srgbClr val="E7BD62"/>
            </a:solidFill>
            <a:prstDash val="solid"/>
            <a:headEnd type="none"/>
            <a:tailEnd type="triangle"/>
          </a:ln>
        </p:spPr>
      </p:sp>
      <p:sp>
        <p:nvSpPr>
          <p:cNvPr id="38" name="Shape 36"/>
          <p:cNvSpPr/>
          <p:nvPr/>
        </p:nvSpPr>
        <p:spPr>
          <a:xfrm>
            <a:off x="3342132" y="2514600"/>
            <a:ext cx="1287018" cy="749808"/>
          </a:xfrm>
          <a:prstGeom prst="roundRect">
            <a:avLst>
              <a:gd name="adj" fmla="val 8537"/>
            </a:avLst>
          </a:prstGeom>
          <a:solidFill>
            <a:srgbClr val="FF7584"/>
          </a:solidFill>
          <a:ln w="12700">
            <a:solidFill>
              <a:srgbClr val="FF7584"/>
            </a:solidFill>
            <a:prstDash val="solid"/>
          </a:ln>
        </p:spPr>
      </p:sp>
      <p:sp>
        <p:nvSpPr>
          <p:cNvPr id="39" name="Text 37"/>
          <p:cNvSpPr/>
          <p:nvPr/>
        </p:nvSpPr>
        <p:spPr>
          <a:xfrm>
            <a:off x="3396996" y="2587752"/>
            <a:ext cx="237744" cy="118872"/>
          </a:xfrm>
          <a:prstGeom prst="rect">
            <a:avLst/>
          </a:prstGeom>
          <a:noFill/>
          <a:ln/>
        </p:spPr>
        <p:txBody>
          <a:bodyPr wrap="square" lIns="0" tIns="0" rIns="0" bIns="0" rtlCol="0" anchor="ctr"/>
          <a:lstStyle/>
          <a:p>
            <a:pPr indent="0" marL="0">
              <a:buNone/>
            </a:pPr>
            <a:r>
              <a:rPr lang="en-US" sz="610" b="1" dirty="0">
                <a:solidFill>
                  <a:srgbClr val="FF7584"/>
                </a:solidFill>
                <a:latin typeface="Inter" pitchFamily="34" charset="0"/>
                <a:ea typeface="Inter" pitchFamily="34" charset="-122"/>
                <a:cs typeface="Inter" pitchFamily="34" charset="-120"/>
              </a:rPr>
              <a:t>03</a:t>
            </a:r>
            <a:endParaRPr lang="en-US" sz="610" dirty="0"/>
          </a:p>
        </p:txBody>
      </p:sp>
      <p:sp>
        <p:nvSpPr>
          <p:cNvPr id="40" name="Text 38"/>
          <p:cNvSpPr/>
          <p:nvPr/>
        </p:nvSpPr>
        <p:spPr>
          <a:xfrm>
            <a:off x="3424428" y="2752344"/>
            <a:ext cx="1122426" cy="210312"/>
          </a:xfrm>
          <a:prstGeom prst="rect">
            <a:avLst/>
          </a:prstGeom>
          <a:noFill/>
          <a:ln/>
        </p:spPr>
        <p:txBody>
          <a:bodyPr wrap="square" lIns="0" tIns="0" rIns="0" bIns="0" rtlCol="0" anchor="ctr">
            <a:normAutofit/>
          </a:bodyPr>
          <a:lstStyle/>
          <a:p>
            <a:pPr algn="ctr" indent="0" marL="0">
              <a:buNone/>
            </a:pPr>
            <a:r>
              <a:rPr lang="en-US" sz="750" b="1" dirty="0">
                <a:solidFill>
                  <a:srgbClr val="14273D"/>
                </a:solidFill>
                <a:latin typeface="Inter" pitchFamily="34" charset="0"/>
                <a:ea typeface="Inter" pitchFamily="34" charset="-122"/>
                <a:cs typeface="Inter" pitchFamily="34" charset="-120"/>
              </a:rPr>
              <a:t>AGI Jobs</a:t>
            </a:r>
            <a:endParaRPr lang="en-US" sz="750" dirty="0"/>
          </a:p>
        </p:txBody>
      </p:sp>
      <p:sp>
        <p:nvSpPr>
          <p:cNvPr id="41" name="Shape 39"/>
          <p:cNvSpPr/>
          <p:nvPr/>
        </p:nvSpPr>
        <p:spPr>
          <a:xfrm>
            <a:off x="4629150" y="2889504"/>
            <a:ext cx="109728" cy="0"/>
          </a:xfrm>
          <a:prstGeom prst="line">
            <a:avLst/>
          </a:prstGeom>
          <a:noFill/>
          <a:ln w="15240">
            <a:solidFill>
              <a:srgbClr val="E7BD62"/>
            </a:solidFill>
            <a:prstDash val="solid"/>
            <a:headEnd type="none"/>
            <a:tailEnd type="triangle"/>
          </a:ln>
        </p:spPr>
      </p:sp>
      <p:sp>
        <p:nvSpPr>
          <p:cNvPr id="42" name="Shape 40"/>
          <p:cNvSpPr/>
          <p:nvPr/>
        </p:nvSpPr>
        <p:spPr>
          <a:xfrm>
            <a:off x="4738878" y="2514600"/>
            <a:ext cx="1287018" cy="749808"/>
          </a:xfrm>
          <a:prstGeom prst="roundRect">
            <a:avLst>
              <a:gd name="adj" fmla="val 8537"/>
            </a:avLst>
          </a:prstGeom>
          <a:solidFill>
            <a:srgbClr val="54D6D0"/>
          </a:solidFill>
          <a:ln w="12700">
            <a:solidFill>
              <a:srgbClr val="54D6D0"/>
            </a:solidFill>
            <a:prstDash val="solid"/>
          </a:ln>
        </p:spPr>
      </p:sp>
      <p:sp>
        <p:nvSpPr>
          <p:cNvPr id="43" name="Text 41"/>
          <p:cNvSpPr/>
          <p:nvPr/>
        </p:nvSpPr>
        <p:spPr>
          <a:xfrm>
            <a:off x="4793742" y="2587752"/>
            <a:ext cx="237744" cy="118872"/>
          </a:xfrm>
          <a:prstGeom prst="rect">
            <a:avLst/>
          </a:prstGeom>
          <a:noFill/>
          <a:ln/>
        </p:spPr>
        <p:txBody>
          <a:bodyPr wrap="square" lIns="0" tIns="0" rIns="0" bIns="0" rtlCol="0" anchor="ctr"/>
          <a:lstStyle/>
          <a:p>
            <a:pPr indent="0" marL="0">
              <a:buNone/>
            </a:pPr>
            <a:r>
              <a:rPr lang="en-US" sz="610" b="1" dirty="0">
                <a:solidFill>
                  <a:srgbClr val="54D6D0"/>
                </a:solidFill>
                <a:latin typeface="Inter" pitchFamily="34" charset="0"/>
                <a:ea typeface="Inter" pitchFamily="34" charset="-122"/>
                <a:cs typeface="Inter" pitchFamily="34" charset="-120"/>
              </a:rPr>
              <a:t>04</a:t>
            </a:r>
            <a:endParaRPr lang="en-US" sz="610" dirty="0"/>
          </a:p>
        </p:txBody>
      </p:sp>
      <p:sp>
        <p:nvSpPr>
          <p:cNvPr id="44" name="Text 42"/>
          <p:cNvSpPr/>
          <p:nvPr/>
        </p:nvSpPr>
        <p:spPr>
          <a:xfrm>
            <a:off x="4821174" y="2752344"/>
            <a:ext cx="1122426" cy="210312"/>
          </a:xfrm>
          <a:prstGeom prst="rect">
            <a:avLst/>
          </a:prstGeom>
          <a:noFill/>
          <a:ln/>
        </p:spPr>
        <p:txBody>
          <a:bodyPr wrap="square" lIns="0" tIns="0" rIns="0" bIns="0" rtlCol="0" anchor="ctr">
            <a:normAutofit/>
          </a:bodyPr>
          <a:lstStyle/>
          <a:p>
            <a:pPr algn="ctr" indent="0" marL="0">
              <a:buNone/>
            </a:pPr>
            <a:r>
              <a:rPr lang="en-US" sz="750" b="1" dirty="0">
                <a:solidFill>
                  <a:srgbClr val="14273D"/>
                </a:solidFill>
                <a:latin typeface="Inter" pitchFamily="34" charset="0"/>
                <a:ea typeface="Inter" pitchFamily="34" charset="-122"/>
                <a:cs typeface="Inter" pitchFamily="34" charset="-120"/>
              </a:rPr>
              <a:t>Evidence</a:t>
            </a:r>
            <a:endParaRPr lang="en-US" sz="750" dirty="0"/>
          </a:p>
        </p:txBody>
      </p:sp>
      <p:sp>
        <p:nvSpPr>
          <p:cNvPr id="45" name="Shape 43"/>
          <p:cNvSpPr/>
          <p:nvPr/>
        </p:nvSpPr>
        <p:spPr>
          <a:xfrm>
            <a:off x="6025896" y="2889504"/>
            <a:ext cx="109728" cy="0"/>
          </a:xfrm>
          <a:prstGeom prst="line">
            <a:avLst/>
          </a:prstGeom>
          <a:noFill/>
          <a:ln w="15240">
            <a:solidFill>
              <a:srgbClr val="E7BD62"/>
            </a:solidFill>
            <a:prstDash val="solid"/>
            <a:headEnd type="none"/>
            <a:tailEnd type="triangle"/>
          </a:ln>
        </p:spPr>
      </p:sp>
      <p:sp>
        <p:nvSpPr>
          <p:cNvPr id="46" name="Shape 44"/>
          <p:cNvSpPr/>
          <p:nvPr/>
        </p:nvSpPr>
        <p:spPr>
          <a:xfrm>
            <a:off x="6135624" y="2514600"/>
            <a:ext cx="1287018" cy="749808"/>
          </a:xfrm>
          <a:prstGeom prst="roundRect">
            <a:avLst>
              <a:gd name="adj" fmla="val 8537"/>
            </a:avLst>
          </a:prstGeom>
          <a:solidFill>
            <a:srgbClr val="E7BD62"/>
          </a:solidFill>
          <a:ln w="12700">
            <a:solidFill>
              <a:srgbClr val="E7BD62"/>
            </a:solidFill>
            <a:prstDash val="solid"/>
          </a:ln>
        </p:spPr>
      </p:sp>
      <p:sp>
        <p:nvSpPr>
          <p:cNvPr id="47" name="Text 45"/>
          <p:cNvSpPr/>
          <p:nvPr/>
        </p:nvSpPr>
        <p:spPr>
          <a:xfrm>
            <a:off x="6190488" y="2587752"/>
            <a:ext cx="237744" cy="118872"/>
          </a:xfrm>
          <a:prstGeom prst="rect">
            <a:avLst/>
          </a:prstGeom>
          <a:noFill/>
          <a:ln/>
        </p:spPr>
        <p:txBody>
          <a:bodyPr wrap="square" lIns="0" tIns="0" rIns="0" bIns="0" rtlCol="0" anchor="ctr"/>
          <a:lstStyle/>
          <a:p>
            <a:pPr indent="0" marL="0">
              <a:buNone/>
            </a:pPr>
            <a:r>
              <a:rPr lang="en-US" sz="610" b="1" dirty="0">
                <a:solidFill>
                  <a:srgbClr val="E7BD62"/>
                </a:solidFill>
                <a:latin typeface="Inter" pitchFamily="34" charset="0"/>
                <a:ea typeface="Inter" pitchFamily="34" charset="-122"/>
                <a:cs typeface="Inter" pitchFamily="34" charset="-120"/>
              </a:rPr>
              <a:t>05</a:t>
            </a:r>
            <a:endParaRPr lang="en-US" sz="610" dirty="0"/>
          </a:p>
        </p:txBody>
      </p:sp>
      <p:sp>
        <p:nvSpPr>
          <p:cNvPr id="48" name="Text 46"/>
          <p:cNvSpPr/>
          <p:nvPr/>
        </p:nvSpPr>
        <p:spPr>
          <a:xfrm>
            <a:off x="6217920" y="2752344"/>
            <a:ext cx="1122426" cy="210312"/>
          </a:xfrm>
          <a:prstGeom prst="rect">
            <a:avLst/>
          </a:prstGeom>
          <a:noFill/>
          <a:ln/>
        </p:spPr>
        <p:txBody>
          <a:bodyPr wrap="square" lIns="0" tIns="0" rIns="0" bIns="0" rtlCol="0" anchor="ctr">
            <a:normAutofit/>
          </a:bodyPr>
          <a:lstStyle/>
          <a:p>
            <a:pPr algn="ctr" indent="0" marL="0">
              <a:buNone/>
            </a:pPr>
            <a:r>
              <a:rPr lang="en-US" sz="750" b="1" dirty="0">
                <a:solidFill>
                  <a:srgbClr val="14273D"/>
                </a:solidFill>
                <a:latin typeface="Inter" pitchFamily="34" charset="0"/>
                <a:ea typeface="Inter" pitchFamily="34" charset="-122"/>
                <a:cs typeface="Inter" pitchFamily="34" charset="-120"/>
              </a:rPr>
              <a:t>Chronicle</a:t>
            </a:r>
            <a:endParaRPr lang="en-US" sz="750" dirty="0"/>
          </a:p>
        </p:txBody>
      </p:sp>
      <p:sp>
        <p:nvSpPr>
          <p:cNvPr id="49" name="Shape 47"/>
          <p:cNvSpPr/>
          <p:nvPr/>
        </p:nvSpPr>
        <p:spPr>
          <a:xfrm>
            <a:off x="7422642" y="2889504"/>
            <a:ext cx="109728" cy="0"/>
          </a:xfrm>
          <a:prstGeom prst="line">
            <a:avLst/>
          </a:prstGeom>
          <a:noFill/>
          <a:ln w="15240">
            <a:solidFill>
              <a:srgbClr val="E7BD62"/>
            </a:solidFill>
            <a:prstDash val="solid"/>
            <a:headEnd type="none"/>
            <a:tailEnd type="triangle"/>
          </a:ln>
        </p:spPr>
      </p:sp>
      <p:sp>
        <p:nvSpPr>
          <p:cNvPr id="50" name="Shape 48"/>
          <p:cNvSpPr/>
          <p:nvPr/>
        </p:nvSpPr>
        <p:spPr>
          <a:xfrm>
            <a:off x="7532370" y="2514600"/>
            <a:ext cx="1287018" cy="749808"/>
          </a:xfrm>
          <a:prstGeom prst="roundRect">
            <a:avLst>
              <a:gd name="adj" fmla="val 8537"/>
            </a:avLst>
          </a:prstGeom>
          <a:solidFill>
            <a:srgbClr val="43D79B"/>
          </a:solidFill>
          <a:ln w="12700">
            <a:solidFill>
              <a:srgbClr val="43D79B"/>
            </a:solidFill>
            <a:prstDash val="solid"/>
          </a:ln>
        </p:spPr>
      </p:sp>
      <p:sp>
        <p:nvSpPr>
          <p:cNvPr id="51" name="Text 49"/>
          <p:cNvSpPr/>
          <p:nvPr/>
        </p:nvSpPr>
        <p:spPr>
          <a:xfrm>
            <a:off x="7587234" y="2587752"/>
            <a:ext cx="237744" cy="118872"/>
          </a:xfrm>
          <a:prstGeom prst="rect">
            <a:avLst/>
          </a:prstGeom>
          <a:noFill/>
          <a:ln/>
        </p:spPr>
        <p:txBody>
          <a:bodyPr wrap="square" lIns="0" tIns="0" rIns="0" bIns="0" rtlCol="0" anchor="ctr"/>
          <a:lstStyle/>
          <a:p>
            <a:pPr indent="0" marL="0">
              <a:buNone/>
            </a:pPr>
            <a:r>
              <a:rPr lang="en-US" sz="610" b="1" dirty="0">
                <a:solidFill>
                  <a:srgbClr val="43D79B"/>
                </a:solidFill>
                <a:latin typeface="Inter" pitchFamily="34" charset="0"/>
                <a:ea typeface="Inter" pitchFamily="34" charset="-122"/>
                <a:cs typeface="Inter" pitchFamily="34" charset="-120"/>
              </a:rPr>
              <a:t>06</a:t>
            </a:r>
            <a:endParaRPr lang="en-US" sz="610" dirty="0"/>
          </a:p>
        </p:txBody>
      </p:sp>
      <p:sp>
        <p:nvSpPr>
          <p:cNvPr id="52" name="Text 50"/>
          <p:cNvSpPr/>
          <p:nvPr/>
        </p:nvSpPr>
        <p:spPr>
          <a:xfrm>
            <a:off x="7614666" y="2752344"/>
            <a:ext cx="1122426" cy="210312"/>
          </a:xfrm>
          <a:prstGeom prst="rect">
            <a:avLst/>
          </a:prstGeom>
          <a:noFill/>
          <a:ln/>
        </p:spPr>
        <p:txBody>
          <a:bodyPr wrap="square" lIns="0" tIns="0" rIns="0" bIns="0" rtlCol="0" anchor="ctr">
            <a:normAutofit/>
          </a:bodyPr>
          <a:lstStyle/>
          <a:p>
            <a:pPr algn="ctr" indent="0" marL="0">
              <a:buNone/>
            </a:pPr>
            <a:r>
              <a:rPr lang="en-US" sz="750" b="1" dirty="0">
                <a:solidFill>
                  <a:srgbClr val="14273D"/>
                </a:solidFill>
                <a:latin typeface="Inter" pitchFamily="34" charset="0"/>
                <a:ea typeface="Inter" pitchFamily="34" charset="-122"/>
                <a:cs typeface="Inter" pitchFamily="34" charset="-120"/>
              </a:rPr>
              <a:t>Validated Skill</a:t>
            </a:r>
            <a:endParaRPr lang="en-US" sz="750" dirty="0"/>
          </a:p>
        </p:txBody>
      </p:sp>
      <p:sp>
        <p:nvSpPr>
          <p:cNvPr id="53" name="Shape 51"/>
          <p:cNvSpPr/>
          <p:nvPr/>
        </p:nvSpPr>
        <p:spPr>
          <a:xfrm>
            <a:off x="8819388" y="2889504"/>
            <a:ext cx="109728" cy="0"/>
          </a:xfrm>
          <a:prstGeom prst="line">
            <a:avLst/>
          </a:prstGeom>
          <a:noFill/>
          <a:ln w="15240">
            <a:solidFill>
              <a:srgbClr val="E7BD62"/>
            </a:solidFill>
            <a:prstDash val="solid"/>
            <a:headEnd type="none"/>
            <a:tailEnd type="triangle"/>
          </a:ln>
        </p:spPr>
      </p:sp>
      <p:sp>
        <p:nvSpPr>
          <p:cNvPr id="54" name="Shape 52"/>
          <p:cNvSpPr/>
          <p:nvPr/>
        </p:nvSpPr>
        <p:spPr>
          <a:xfrm>
            <a:off x="8929116" y="2514600"/>
            <a:ext cx="1287018" cy="749808"/>
          </a:xfrm>
          <a:prstGeom prst="roundRect">
            <a:avLst>
              <a:gd name="adj" fmla="val 8537"/>
            </a:avLst>
          </a:prstGeom>
          <a:solidFill>
            <a:srgbClr val="A99CFF"/>
          </a:solidFill>
          <a:ln w="12700">
            <a:solidFill>
              <a:srgbClr val="A99CFF"/>
            </a:solidFill>
            <a:prstDash val="solid"/>
          </a:ln>
        </p:spPr>
      </p:sp>
      <p:sp>
        <p:nvSpPr>
          <p:cNvPr id="55" name="Text 53"/>
          <p:cNvSpPr/>
          <p:nvPr/>
        </p:nvSpPr>
        <p:spPr>
          <a:xfrm>
            <a:off x="8983980" y="2587752"/>
            <a:ext cx="237744" cy="118872"/>
          </a:xfrm>
          <a:prstGeom prst="rect">
            <a:avLst/>
          </a:prstGeom>
          <a:noFill/>
          <a:ln/>
        </p:spPr>
        <p:txBody>
          <a:bodyPr wrap="square" lIns="0" tIns="0" rIns="0" bIns="0" rtlCol="0" anchor="ctr"/>
          <a:lstStyle/>
          <a:p>
            <a:pPr indent="0" marL="0">
              <a:buNone/>
            </a:pPr>
            <a:r>
              <a:rPr lang="en-US" sz="610" b="1" dirty="0">
                <a:solidFill>
                  <a:srgbClr val="A99CFF"/>
                </a:solidFill>
                <a:latin typeface="Inter" pitchFamily="34" charset="0"/>
                <a:ea typeface="Inter" pitchFamily="34" charset="-122"/>
                <a:cs typeface="Inter" pitchFamily="34" charset="-120"/>
              </a:rPr>
              <a:t>07</a:t>
            </a:r>
            <a:endParaRPr lang="en-US" sz="610" dirty="0"/>
          </a:p>
        </p:txBody>
      </p:sp>
      <p:sp>
        <p:nvSpPr>
          <p:cNvPr id="56" name="Text 54"/>
          <p:cNvSpPr/>
          <p:nvPr/>
        </p:nvSpPr>
        <p:spPr>
          <a:xfrm>
            <a:off x="9011412" y="2752344"/>
            <a:ext cx="1122426" cy="210312"/>
          </a:xfrm>
          <a:prstGeom prst="rect">
            <a:avLst/>
          </a:prstGeom>
          <a:noFill/>
          <a:ln/>
        </p:spPr>
        <p:txBody>
          <a:bodyPr wrap="square" lIns="0" tIns="0" rIns="0" bIns="0" rtlCol="0" anchor="ctr">
            <a:normAutofit/>
          </a:bodyPr>
          <a:lstStyle/>
          <a:p>
            <a:pPr algn="ctr" indent="0" marL="0">
              <a:buNone/>
            </a:pPr>
            <a:r>
              <a:rPr lang="en-US" sz="750" b="1" dirty="0">
                <a:solidFill>
                  <a:srgbClr val="14273D"/>
                </a:solidFill>
                <a:latin typeface="Inter" pitchFamily="34" charset="0"/>
                <a:ea typeface="Inter" pitchFamily="34" charset="-122"/>
                <a:cs typeface="Inter" pitchFamily="34" charset="-120"/>
              </a:rPr>
              <a:t>Graph Root</a:t>
            </a:r>
            <a:endParaRPr lang="en-US" sz="750" dirty="0"/>
          </a:p>
        </p:txBody>
      </p:sp>
      <p:sp>
        <p:nvSpPr>
          <p:cNvPr id="57" name="Shape 55"/>
          <p:cNvSpPr/>
          <p:nvPr/>
        </p:nvSpPr>
        <p:spPr>
          <a:xfrm>
            <a:off x="10216134" y="2889504"/>
            <a:ext cx="109728" cy="0"/>
          </a:xfrm>
          <a:prstGeom prst="line">
            <a:avLst/>
          </a:prstGeom>
          <a:noFill/>
          <a:ln w="15240">
            <a:solidFill>
              <a:srgbClr val="E7BD62"/>
            </a:solidFill>
            <a:prstDash val="solid"/>
            <a:headEnd type="none"/>
            <a:tailEnd type="triangle"/>
          </a:ln>
        </p:spPr>
      </p:sp>
      <p:sp>
        <p:nvSpPr>
          <p:cNvPr id="58" name="Shape 56"/>
          <p:cNvSpPr/>
          <p:nvPr/>
        </p:nvSpPr>
        <p:spPr>
          <a:xfrm>
            <a:off x="10325862" y="2514600"/>
            <a:ext cx="1287018" cy="749808"/>
          </a:xfrm>
          <a:prstGeom prst="roundRect">
            <a:avLst>
              <a:gd name="adj" fmla="val 8537"/>
            </a:avLst>
          </a:prstGeom>
          <a:solidFill>
            <a:srgbClr val="43D79B"/>
          </a:solidFill>
          <a:ln w="12700">
            <a:solidFill>
              <a:srgbClr val="43D79B"/>
            </a:solidFill>
            <a:prstDash val="solid"/>
          </a:ln>
        </p:spPr>
      </p:sp>
      <p:sp>
        <p:nvSpPr>
          <p:cNvPr id="59" name="Text 57"/>
          <p:cNvSpPr/>
          <p:nvPr/>
        </p:nvSpPr>
        <p:spPr>
          <a:xfrm>
            <a:off x="10380726" y="2587752"/>
            <a:ext cx="237744" cy="118872"/>
          </a:xfrm>
          <a:prstGeom prst="rect">
            <a:avLst/>
          </a:prstGeom>
          <a:noFill/>
          <a:ln/>
        </p:spPr>
        <p:txBody>
          <a:bodyPr wrap="square" lIns="0" tIns="0" rIns="0" bIns="0" rtlCol="0" anchor="ctr"/>
          <a:lstStyle/>
          <a:p>
            <a:pPr indent="0" marL="0">
              <a:buNone/>
            </a:pPr>
            <a:r>
              <a:rPr lang="en-US" sz="610" b="1" dirty="0">
                <a:solidFill>
                  <a:srgbClr val="43D79B"/>
                </a:solidFill>
                <a:latin typeface="Inter" pitchFamily="34" charset="0"/>
                <a:ea typeface="Inter" pitchFamily="34" charset="-122"/>
                <a:cs typeface="Inter" pitchFamily="34" charset="-120"/>
              </a:rPr>
              <a:t>08</a:t>
            </a:r>
            <a:endParaRPr lang="en-US" sz="610" dirty="0"/>
          </a:p>
        </p:txBody>
      </p:sp>
      <p:sp>
        <p:nvSpPr>
          <p:cNvPr id="60" name="Text 58"/>
          <p:cNvSpPr/>
          <p:nvPr/>
        </p:nvSpPr>
        <p:spPr>
          <a:xfrm>
            <a:off x="10408158" y="2752344"/>
            <a:ext cx="1122426" cy="210312"/>
          </a:xfrm>
          <a:prstGeom prst="rect">
            <a:avLst/>
          </a:prstGeom>
          <a:noFill/>
          <a:ln/>
        </p:spPr>
        <p:txBody>
          <a:bodyPr wrap="square" lIns="0" tIns="0" rIns="0" bIns="0" rtlCol="0" anchor="ctr">
            <a:normAutofit/>
          </a:bodyPr>
          <a:lstStyle/>
          <a:p>
            <a:pPr algn="ctr" indent="0" marL="0">
              <a:buNone/>
            </a:pPr>
            <a:r>
              <a:rPr lang="en-US" sz="750" b="1" dirty="0">
                <a:solidFill>
                  <a:srgbClr val="14273D"/>
                </a:solidFill>
                <a:latin typeface="Inter" pitchFamily="34" charset="0"/>
                <a:ea typeface="Inter" pitchFamily="34" charset="-122"/>
                <a:cs typeface="Inter" pitchFamily="34" charset="-120"/>
              </a:rPr>
              <a:t>Future Mission</a:t>
            </a:r>
            <a:endParaRPr lang="en-US" sz="750" dirty="0"/>
          </a:p>
        </p:txBody>
      </p:sp>
      <p:sp>
        <p:nvSpPr>
          <p:cNvPr id="61" name="Shape 59"/>
          <p:cNvSpPr/>
          <p:nvPr/>
        </p:nvSpPr>
        <p:spPr>
          <a:xfrm>
            <a:off x="960120" y="3822192"/>
            <a:ext cx="2880360" cy="1234440"/>
          </a:xfrm>
          <a:prstGeom prst="roundRect">
            <a:avLst>
              <a:gd name="adj" fmla="val 5926"/>
            </a:avLst>
          </a:prstGeom>
          <a:solidFill>
            <a:srgbClr val="FFFDF8"/>
          </a:solidFill>
          <a:ln w="10160">
            <a:solidFill>
              <a:srgbClr val="FF7584"/>
            </a:solidFill>
            <a:prstDash val="solid"/>
          </a:ln>
        </p:spPr>
      </p:sp>
      <p:sp>
        <p:nvSpPr>
          <p:cNvPr id="62" name="Text 60"/>
          <p:cNvSpPr/>
          <p:nvPr/>
        </p:nvSpPr>
        <p:spPr>
          <a:xfrm>
            <a:off x="1115568" y="3950208"/>
            <a:ext cx="25694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IF PROOF IS MISSING</a:t>
            </a:r>
            <a:endParaRPr lang="en-US" sz="680" dirty="0"/>
          </a:p>
        </p:txBody>
      </p:sp>
      <p:sp>
        <p:nvSpPr>
          <p:cNvPr id="63" name="Text 61"/>
          <p:cNvSpPr/>
          <p:nvPr/>
        </p:nvSpPr>
        <p:spPr>
          <a:xfrm>
            <a:off x="1115568" y="4078224"/>
            <a:ext cx="2569464" cy="329184"/>
          </a:xfrm>
          <a:prstGeom prst="rect">
            <a:avLst/>
          </a:prstGeom>
          <a:noFill/>
          <a:ln/>
        </p:spPr>
        <p:txBody>
          <a:bodyPr wrap="square" lIns="0" tIns="0" rIns="0" bIns="0" rtlCol="0" anchor="ctr">
            <a:normAutofit/>
          </a:bodyPr>
          <a:lstStyle/>
          <a:p>
            <a:pPr indent="0" marL="0">
              <a:buNone/>
            </a:pPr>
            <a:r>
              <a:rPr lang="en-US" sz="1800" b="1" dirty="0">
                <a:solidFill>
                  <a:srgbClr val="14273D"/>
                </a:solidFill>
                <a:latin typeface="Inter Display" pitchFamily="34" charset="0"/>
                <a:ea typeface="Inter Display" pitchFamily="34" charset="-122"/>
                <a:cs typeface="Inter Display" pitchFamily="34" charset="-120"/>
              </a:rPr>
              <a:t>Proof Debt</a:t>
            </a:r>
            <a:endParaRPr lang="en-US" sz="1800" dirty="0"/>
          </a:p>
        </p:txBody>
      </p:sp>
      <p:sp>
        <p:nvSpPr>
          <p:cNvPr id="64" name="Text 62"/>
          <p:cNvSpPr/>
          <p:nvPr/>
        </p:nvSpPr>
        <p:spPr>
          <a:xfrm>
            <a:off x="1115568" y="4480560"/>
            <a:ext cx="2569464" cy="438912"/>
          </a:xfrm>
          <a:prstGeom prst="rect">
            <a:avLst/>
          </a:prstGeom>
          <a:noFill/>
          <a:ln/>
        </p:spPr>
        <p:txBody>
          <a:bodyPr wrap="square" lIns="0" tIns="0" rIns="0" bIns="0" rtlCol="0" anchor="t">
            <a:normAutofit/>
          </a:bodyPr>
          <a:lstStyle/>
          <a:p>
            <a:pPr indent="0" marL="0">
              <a:buNone/>
            </a:pPr>
            <a:r>
              <a:rPr lang="en-US" sz="920" dirty="0">
                <a:solidFill>
                  <a:srgbClr val="43566A"/>
                </a:solidFill>
                <a:latin typeface="Inter" pitchFamily="34" charset="0"/>
                <a:ea typeface="Inter" pitchFamily="34" charset="-122"/>
                <a:cs typeface="Inter" pitchFamily="34" charset="-120"/>
              </a:rPr>
              <a:t>Uncertainty becomes an explicit work queue with acceptance tests and retirement conditions.</a:t>
            </a:r>
            <a:endParaRPr lang="en-US" sz="920" dirty="0"/>
          </a:p>
        </p:txBody>
      </p:sp>
      <p:sp>
        <p:nvSpPr>
          <p:cNvPr id="65" name="Shape 63"/>
          <p:cNvSpPr/>
          <p:nvPr/>
        </p:nvSpPr>
        <p:spPr>
          <a:xfrm>
            <a:off x="4617720" y="3822192"/>
            <a:ext cx="2880360" cy="1234440"/>
          </a:xfrm>
          <a:prstGeom prst="roundRect">
            <a:avLst>
              <a:gd name="adj" fmla="val 5926"/>
            </a:avLst>
          </a:prstGeom>
          <a:solidFill>
            <a:srgbClr val="FFFDF8"/>
          </a:solidFill>
          <a:ln w="10160">
            <a:solidFill>
              <a:srgbClr val="43D79B"/>
            </a:solidFill>
            <a:prstDash val="solid"/>
          </a:ln>
        </p:spPr>
      </p:sp>
      <p:sp>
        <p:nvSpPr>
          <p:cNvPr id="66" name="Text 64"/>
          <p:cNvSpPr/>
          <p:nvPr/>
        </p:nvSpPr>
        <p:spPr>
          <a:xfrm>
            <a:off x="4773168" y="3950208"/>
            <a:ext cx="25694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IF THE GATE PASSES</a:t>
            </a:r>
            <a:endParaRPr lang="en-US" sz="680" dirty="0"/>
          </a:p>
        </p:txBody>
      </p:sp>
      <p:sp>
        <p:nvSpPr>
          <p:cNvPr id="67" name="Text 65"/>
          <p:cNvSpPr/>
          <p:nvPr/>
        </p:nvSpPr>
        <p:spPr>
          <a:xfrm>
            <a:off x="4773168" y="4078224"/>
            <a:ext cx="2569464" cy="329184"/>
          </a:xfrm>
          <a:prstGeom prst="rect">
            <a:avLst/>
          </a:prstGeom>
          <a:noFill/>
          <a:ln/>
        </p:spPr>
        <p:txBody>
          <a:bodyPr wrap="square" lIns="0" tIns="0" rIns="0" bIns="0" rtlCol="0" anchor="ctr">
            <a:normAutofit/>
          </a:bodyPr>
          <a:lstStyle/>
          <a:p>
            <a:pPr indent="0" marL="0">
              <a:buNone/>
            </a:pPr>
            <a:r>
              <a:rPr lang="en-US" sz="1800" b="1" dirty="0">
                <a:solidFill>
                  <a:srgbClr val="14273D"/>
                </a:solidFill>
                <a:latin typeface="Inter Display" pitchFamily="34" charset="0"/>
                <a:ea typeface="Inter Display" pitchFamily="34" charset="-122"/>
                <a:cs typeface="Inter Display" pitchFamily="34" charset="-120"/>
              </a:rPr>
              <a:t>Scoped authority</a:t>
            </a:r>
            <a:endParaRPr lang="en-US" sz="1800" dirty="0"/>
          </a:p>
        </p:txBody>
      </p:sp>
      <p:sp>
        <p:nvSpPr>
          <p:cNvPr id="68" name="Text 66"/>
          <p:cNvSpPr/>
          <p:nvPr/>
        </p:nvSpPr>
        <p:spPr>
          <a:xfrm>
            <a:off x="4773168" y="4480560"/>
            <a:ext cx="2569464" cy="438912"/>
          </a:xfrm>
          <a:prstGeom prst="rect">
            <a:avLst/>
          </a:prstGeom>
          <a:noFill/>
          <a:ln/>
        </p:spPr>
        <p:txBody>
          <a:bodyPr wrap="square" lIns="0" tIns="0" rIns="0" bIns="0" rtlCol="0" anchor="t">
            <a:normAutofit/>
          </a:bodyPr>
          <a:lstStyle/>
          <a:p>
            <a:pPr indent="0" marL="0">
              <a:buNone/>
            </a:pPr>
            <a:r>
              <a:rPr lang="en-US" sz="920" dirty="0">
                <a:solidFill>
                  <a:srgbClr val="43566A"/>
                </a:solidFill>
                <a:latin typeface="Inter" pitchFamily="34" charset="0"/>
                <a:ea typeface="Inter" pitchFamily="34" charset="-122"/>
                <a:cs typeface="Inter" pitchFamily="34" charset="-120"/>
              </a:rPr>
              <a:t>The result may influence future work only within recorded scope, proof level, freshness, and rollback.</a:t>
            </a:r>
            <a:endParaRPr lang="en-US" sz="920" dirty="0"/>
          </a:p>
        </p:txBody>
      </p:sp>
      <p:sp>
        <p:nvSpPr>
          <p:cNvPr id="69" name="Shape 67"/>
          <p:cNvSpPr/>
          <p:nvPr/>
        </p:nvSpPr>
        <p:spPr>
          <a:xfrm>
            <a:off x="8275320" y="3822192"/>
            <a:ext cx="2880360" cy="1234440"/>
          </a:xfrm>
          <a:prstGeom prst="roundRect">
            <a:avLst>
              <a:gd name="adj" fmla="val 5926"/>
            </a:avLst>
          </a:prstGeom>
          <a:solidFill>
            <a:srgbClr val="FFFDF8"/>
          </a:solidFill>
          <a:ln w="10160">
            <a:solidFill>
              <a:srgbClr val="A99CFF"/>
            </a:solidFill>
            <a:prstDash val="solid"/>
          </a:ln>
        </p:spPr>
      </p:sp>
      <p:sp>
        <p:nvSpPr>
          <p:cNvPr id="70" name="Text 68"/>
          <p:cNvSpPr/>
          <p:nvPr/>
        </p:nvSpPr>
        <p:spPr>
          <a:xfrm>
            <a:off x="8430768" y="3950208"/>
            <a:ext cx="256946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THE EMPIRICAL TEST</a:t>
            </a:r>
            <a:endParaRPr lang="en-US" sz="680" dirty="0"/>
          </a:p>
        </p:txBody>
      </p:sp>
      <p:sp>
        <p:nvSpPr>
          <p:cNvPr id="71" name="Text 69"/>
          <p:cNvSpPr/>
          <p:nvPr/>
        </p:nvSpPr>
        <p:spPr>
          <a:xfrm>
            <a:off x="8430768" y="4078224"/>
            <a:ext cx="2569464" cy="329184"/>
          </a:xfrm>
          <a:prstGeom prst="rect">
            <a:avLst/>
          </a:prstGeom>
          <a:noFill/>
          <a:ln/>
        </p:spPr>
        <p:txBody>
          <a:bodyPr wrap="square" lIns="0" tIns="0" rIns="0" bIns="0" rtlCol="0" anchor="ctr">
            <a:normAutofit/>
          </a:bodyPr>
          <a:lstStyle/>
          <a:p>
            <a:pPr indent="0" marL="0">
              <a:buNone/>
            </a:pPr>
            <a:r>
              <a:rPr lang="en-US" sz="1800" b="1" dirty="0">
                <a:solidFill>
                  <a:srgbClr val="14273D"/>
                </a:solidFill>
                <a:latin typeface="Inter Display" pitchFamily="34" charset="0"/>
                <a:ea typeface="Inter Display" pitchFamily="34" charset="-122"/>
                <a:cs typeface="Inter Display" pitchFamily="34" charset="-120"/>
              </a:rPr>
              <a:t>Mission 2</a:t>
            </a:r>
            <a:endParaRPr lang="en-US" sz="1800" dirty="0"/>
          </a:p>
        </p:txBody>
      </p:sp>
      <p:sp>
        <p:nvSpPr>
          <p:cNvPr id="72" name="Text 70"/>
          <p:cNvSpPr/>
          <p:nvPr/>
        </p:nvSpPr>
        <p:spPr>
          <a:xfrm>
            <a:off x="8430768" y="4480560"/>
            <a:ext cx="2569464" cy="438912"/>
          </a:xfrm>
          <a:prstGeom prst="rect">
            <a:avLst/>
          </a:prstGeom>
          <a:noFill/>
          <a:ln/>
        </p:spPr>
        <p:txBody>
          <a:bodyPr wrap="square" lIns="0" tIns="0" rIns="0" bIns="0" rtlCol="0" anchor="t">
            <a:normAutofit/>
          </a:bodyPr>
          <a:lstStyle/>
          <a:p>
            <a:pPr indent="0" marL="0">
              <a:buNone/>
            </a:pPr>
            <a:r>
              <a:rPr lang="en-US" sz="920" dirty="0">
                <a:solidFill>
                  <a:srgbClr val="43566A"/>
                </a:solidFill>
                <a:latin typeface="Inter" pitchFamily="34" charset="0"/>
                <a:ea typeface="Inter" pitchFamily="34" charset="-122"/>
                <a:cs typeface="Inter" pitchFamily="34" charset="-120"/>
              </a:rPr>
              <a:t>Compounding begins only when admitted capability measurably improves fresh work under equal constraints.</a:t>
            </a:r>
            <a:endParaRPr lang="en-US" sz="920" dirty="0"/>
          </a:p>
        </p:txBody>
      </p:sp>
      <p:sp>
        <p:nvSpPr>
          <p:cNvPr id="73" name="Text 71"/>
          <p:cNvSpPr/>
          <p:nvPr/>
        </p:nvSpPr>
        <p:spPr>
          <a:xfrm>
            <a:off x="731520" y="5623560"/>
            <a:ext cx="10789920" cy="320040"/>
          </a:xfrm>
          <a:prstGeom prst="rect">
            <a:avLst/>
          </a:prstGeom>
          <a:noFill/>
          <a:ln/>
        </p:spPr>
        <p:txBody>
          <a:bodyPr wrap="square" lIns="0" tIns="0" rIns="0" bIns="0" rtlCol="0" anchor="ctr">
            <a:normAutofit/>
          </a:bodyPr>
          <a:lstStyle/>
          <a:p>
            <a:pPr algn="ctr" indent="0" marL="0">
              <a:buNone/>
            </a:pPr>
            <a:r>
              <a:rPr lang="en-US" sz="950" b="1" dirty="0">
                <a:solidFill>
                  <a:srgbClr val="14273D"/>
                </a:solidFill>
                <a:latin typeface="Inter" pitchFamily="34" charset="0"/>
                <a:ea typeface="Inter" pitchFamily="34" charset="-122"/>
                <a:cs typeface="Inter" pitchFamily="34" charset="-120"/>
              </a:rPr>
              <a:t>Objective → Mission Contract → Proof Debt → Jobs → ProofBundles → Evidence Docket → Validators → Chronicle → Skill → Root → Future Mission</a:t>
            </a:r>
            <a:endParaRPr lang="en-US" sz="9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AUTHORITY STACK</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800" b="1" dirty="0">
                <a:solidFill>
                  <a:srgbClr val="F7FBFF"/>
                </a:solidFill>
                <a:latin typeface="Inter Display" pitchFamily="34" charset="0"/>
                <a:ea typeface="Inter Display" pitchFamily="34" charset="-122"/>
                <a:cs typeface="Inter Display" pitchFamily="34" charset="-120"/>
              </a:rPr>
              <a:t>The authority stack separates desire, work, evidence, memory, and commitment.</a:t>
            </a:r>
            <a:endParaRPr lang="en-US" sz="28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No lower layer may silently bypass the gate above it.</a:t>
            </a:r>
            <a:endParaRPr lang="en-US" sz="1450" dirty="0"/>
          </a:p>
        </p:txBody>
      </p:sp>
      <p:sp>
        <p:nvSpPr>
          <p:cNvPr id="30" name="Shape 28"/>
          <p:cNvSpPr/>
          <p:nvPr/>
        </p:nvSpPr>
        <p:spPr>
          <a:xfrm>
            <a:off x="868680" y="1874520"/>
            <a:ext cx="10241280" cy="475488"/>
          </a:xfrm>
          <a:prstGeom prst="roundRect">
            <a:avLst>
              <a:gd name="adj" fmla="val 9615"/>
            </a:avLst>
          </a:prstGeom>
          <a:solidFill>
            <a:srgbClr val="102238"/>
          </a:solidFill>
          <a:ln w="13970">
            <a:solidFill>
              <a:srgbClr val="E7BD62"/>
            </a:solidFill>
            <a:prstDash val="solid"/>
          </a:ln>
        </p:spPr>
      </p:sp>
      <p:sp>
        <p:nvSpPr>
          <p:cNvPr id="31" name="Text 29"/>
          <p:cNvSpPr/>
          <p:nvPr/>
        </p:nvSpPr>
        <p:spPr>
          <a:xfrm>
            <a:off x="1078992" y="1993392"/>
            <a:ext cx="1417320" cy="137160"/>
          </a:xfrm>
          <a:prstGeom prst="rect">
            <a:avLst/>
          </a:prstGeom>
          <a:noFill/>
          <a:ln/>
        </p:spPr>
        <p:txBody>
          <a:bodyPr wrap="square" lIns="0" tIns="0" rIns="0" bIns="0" rtlCol="0" anchor="ctr"/>
          <a:lstStyle/>
          <a:p>
            <a:pPr indent="0" marL="0">
              <a:buNone/>
            </a:pPr>
            <a:r>
              <a:rPr lang="en-US" sz="750" b="1" dirty="0">
                <a:solidFill>
                  <a:srgbClr val="E7BD62"/>
                </a:solidFill>
                <a:latin typeface="Inter" pitchFamily="34" charset="0"/>
                <a:ea typeface="Inter" pitchFamily="34" charset="-122"/>
                <a:cs typeface="Inter" pitchFamily="34" charset="-120"/>
              </a:rPr>
              <a:t>1 · OBJECTIVE</a:t>
            </a:r>
            <a:endParaRPr lang="en-US" sz="750" dirty="0"/>
          </a:p>
        </p:txBody>
      </p:sp>
      <p:sp>
        <p:nvSpPr>
          <p:cNvPr id="32" name="Text 30"/>
          <p:cNvSpPr/>
          <p:nvPr/>
        </p:nvSpPr>
        <p:spPr>
          <a:xfrm>
            <a:off x="2578608" y="1965960"/>
            <a:ext cx="7909560" cy="182880"/>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Intent, decision, desired outcome, success and failure criteria</a:t>
            </a:r>
            <a:endParaRPr lang="en-US" sz="820" dirty="0"/>
          </a:p>
        </p:txBody>
      </p:sp>
      <p:sp>
        <p:nvSpPr>
          <p:cNvPr id="33" name="Shape 31"/>
          <p:cNvSpPr/>
          <p:nvPr/>
        </p:nvSpPr>
        <p:spPr>
          <a:xfrm>
            <a:off x="1033272" y="2532888"/>
            <a:ext cx="9912096" cy="475488"/>
          </a:xfrm>
          <a:prstGeom prst="roundRect">
            <a:avLst>
              <a:gd name="adj" fmla="val 9615"/>
            </a:avLst>
          </a:prstGeom>
          <a:solidFill>
            <a:srgbClr val="102238"/>
          </a:solidFill>
          <a:ln w="13970">
            <a:solidFill>
              <a:srgbClr val="6FB5FF"/>
            </a:solidFill>
            <a:prstDash val="solid"/>
          </a:ln>
        </p:spPr>
      </p:sp>
      <p:sp>
        <p:nvSpPr>
          <p:cNvPr id="34" name="Text 32"/>
          <p:cNvSpPr/>
          <p:nvPr/>
        </p:nvSpPr>
        <p:spPr>
          <a:xfrm>
            <a:off x="1243584" y="2651760"/>
            <a:ext cx="1417320" cy="137160"/>
          </a:xfrm>
          <a:prstGeom prst="rect">
            <a:avLst/>
          </a:prstGeom>
          <a:noFill/>
          <a:ln/>
        </p:spPr>
        <p:txBody>
          <a:bodyPr wrap="square" lIns="0" tIns="0" rIns="0" bIns="0" rtlCol="0" anchor="ctr"/>
          <a:lstStyle/>
          <a:p>
            <a:pPr indent="0" marL="0">
              <a:buNone/>
            </a:pPr>
            <a:r>
              <a:rPr lang="en-US" sz="750" b="1" dirty="0">
                <a:solidFill>
                  <a:srgbClr val="6FB5FF"/>
                </a:solidFill>
                <a:latin typeface="Inter" pitchFamily="34" charset="0"/>
                <a:ea typeface="Inter" pitchFamily="34" charset="-122"/>
                <a:cs typeface="Inter" pitchFamily="34" charset="-120"/>
              </a:rPr>
              <a:t>2 · MISSION</a:t>
            </a:r>
            <a:endParaRPr lang="en-US" sz="750" dirty="0"/>
          </a:p>
        </p:txBody>
      </p:sp>
      <p:sp>
        <p:nvSpPr>
          <p:cNvPr id="35" name="Text 33"/>
          <p:cNvSpPr/>
          <p:nvPr/>
        </p:nvSpPr>
        <p:spPr>
          <a:xfrm>
            <a:off x="2743200" y="2624328"/>
            <a:ext cx="7580376" cy="182880"/>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Scope, proof level, boundaries, budget, tools, validators, rollback</a:t>
            </a:r>
            <a:endParaRPr lang="en-US" sz="820" dirty="0"/>
          </a:p>
        </p:txBody>
      </p:sp>
      <p:sp>
        <p:nvSpPr>
          <p:cNvPr id="36" name="Shape 34"/>
          <p:cNvSpPr/>
          <p:nvPr/>
        </p:nvSpPr>
        <p:spPr>
          <a:xfrm>
            <a:off x="1197864" y="3191256"/>
            <a:ext cx="9582912" cy="475488"/>
          </a:xfrm>
          <a:prstGeom prst="roundRect">
            <a:avLst>
              <a:gd name="adj" fmla="val 9615"/>
            </a:avLst>
          </a:prstGeom>
          <a:solidFill>
            <a:srgbClr val="102238"/>
          </a:solidFill>
          <a:ln w="13970">
            <a:solidFill>
              <a:srgbClr val="FF7584"/>
            </a:solidFill>
            <a:prstDash val="solid"/>
          </a:ln>
        </p:spPr>
      </p:sp>
      <p:sp>
        <p:nvSpPr>
          <p:cNvPr id="37" name="Text 35"/>
          <p:cNvSpPr/>
          <p:nvPr/>
        </p:nvSpPr>
        <p:spPr>
          <a:xfrm>
            <a:off x="1408176" y="3310128"/>
            <a:ext cx="1417320" cy="137160"/>
          </a:xfrm>
          <a:prstGeom prst="rect">
            <a:avLst/>
          </a:prstGeom>
          <a:noFill/>
          <a:ln/>
        </p:spPr>
        <p:txBody>
          <a:bodyPr wrap="square" lIns="0" tIns="0" rIns="0" bIns="0" rtlCol="0" anchor="ctr"/>
          <a:lstStyle/>
          <a:p>
            <a:pPr indent="0" marL="0">
              <a:buNone/>
            </a:pPr>
            <a:r>
              <a:rPr lang="en-US" sz="750" b="1" dirty="0">
                <a:solidFill>
                  <a:srgbClr val="FF7584"/>
                </a:solidFill>
                <a:latin typeface="Inter" pitchFamily="34" charset="0"/>
                <a:ea typeface="Inter" pitchFamily="34" charset="-122"/>
                <a:cs typeface="Inter" pitchFamily="34" charset="-120"/>
              </a:rPr>
              <a:t>3 · PROOF WORK</a:t>
            </a:r>
            <a:endParaRPr lang="en-US" sz="750" dirty="0"/>
          </a:p>
        </p:txBody>
      </p:sp>
      <p:sp>
        <p:nvSpPr>
          <p:cNvPr id="38" name="Text 36"/>
          <p:cNvSpPr/>
          <p:nvPr/>
        </p:nvSpPr>
        <p:spPr>
          <a:xfrm>
            <a:off x="2907792" y="3282696"/>
            <a:ext cx="7251192" cy="182880"/>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Claims, Proof Debt, custom jobs, workers, validators, sentinels</a:t>
            </a:r>
            <a:endParaRPr lang="en-US" sz="820" dirty="0"/>
          </a:p>
        </p:txBody>
      </p:sp>
      <p:sp>
        <p:nvSpPr>
          <p:cNvPr id="39" name="Shape 37"/>
          <p:cNvSpPr/>
          <p:nvPr/>
        </p:nvSpPr>
        <p:spPr>
          <a:xfrm>
            <a:off x="1362456" y="3849624"/>
            <a:ext cx="9253728" cy="475488"/>
          </a:xfrm>
          <a:prstGeom prst="roundRect">
            <a:avLst>
              <a:gd name="adj" fmla="val 9615"/>
            </a:avLst>
          </a:prstGeom>
          <a:solidFill>
            <a:srgbClr val="102238"/>
          </a:solidFill>
          <a:ln w="13970">
            <a:solidFill>
              <a:srgbClr val="54D6D0"/>
            </a:solidFill>
            <a:prstDash val="solid"/>
          </a:ln>
        </p:spPr>
      </p:sp>
      <p:sp>
        <p:nvSpPr>
          <p:cNvPr id="40" name="Text 38"/>
          <p:cNvSpPr/>
          <p:nvPr/>
        </p:nvSpPr>
        <p:spPr>
          <a:xfrm>
            <a:off x="1572768" y="3968496"/>
            <a:ext cx="1417320" cy="137160"/>
          </a:xfrm>
          <a:prstGeom prst="rect">
            <a:avLst/>
          </a:prstGeom>
          <a:noFill/>
          <a:ln/>
        </p:spPr>
        <p:txBody>
          <a:bodyPr wrap="square" lIns="0" tIns="0" rIns="0" bIns="0" rtlCol="0" anchor="ctr"/>
          <a:lstStyle/>
          <a:p>
            <a:pPr indent="0" marL="0">
              <a:buNone/>
            </a:pPr>
            <a:r>
              <a:rPr lang="en-US" sz="750" b="1" dirty="0">
                <a:solidFill>
                  <a:srgbClr val="54D6D0"/>
                </a:solidFill>
                <a:latin typeface="Inter" pitchFamily="34" charset="0"/>
                <a:ea typeface="Inter" pitchFamily="34" charset="-122"/>
                <a:cs typeface="Inter" pitchFamily="34" charset="-120"/>
              </a:rPr>
              <a:t>4 · EVIDENCE</a:t>
            </a:r>
            <a:endParaRPr lang="en-US" sz="750" dirty="0"/>
          </a:p>
        </p:txBody>
      </p:sp>
      <p:sp>
        <p:nvSpPr>
          <p:cNvPr id="41" name="Text 39"/>
          <p:cNvSpPr/>
          <p:nvPr/>
        </p:nvSpPr>
        <p:spPr>
          <a:xfrm>
            <a:off x="3072384" y="3941064"/>
            <a:ext cx="6922008" cy="182880"/>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ProofBundles, provenance, replay, risk, cost, contradictions</a:t>
            </a:r>
            <a:endParaRPr lang="en-US" sz="820" dirty="0"/>
          </a:p>
        </p:txBody>
      </p:sp>
      <p:sp>
        <p:nvSpPr>
          <p:cNvPr id="42" name="Shape 40"/>
          <p:cNvSpPr/>
          <p:nvPr/>
        </p:nvSpPr>
        <p:spPr>
          <a:xfrm>
            <a:off x="1527048" y="4507992"/>
            <a:ext cx="8924544" cy="475488"/>
          </a:xfrm>
          <a:prstGeom prst="roundRect">
            <a:avLst>
              <a:gd name="adj" fmla="val 9615"/>
            </a:avLst>
          </a:prstGeom>
          <a:solidFill>
            <a:srgbClr val="102238"/>
          </a:solidFill>
          <a:ln w="13970">
            <a:solidFill>
              <a:srgbClr val="A99CFF"/>
            </a:solidFill>
            <a:prstDash val="solid"/>
          </a:ln>
        </p:spPr>
      </p:sp>
      <p:sp>
        <p:nvSpPr>
          <p:cNvPr id="43" name="Text 41"/>
          <p:cNvSpPr/>
          <p:nvPr/>
        </p:nvSpPr>
        <p:spPr>
          <a:xfrm>
            <a:off x="1737360" y="4626864"/>
            <a:ext cx="1417320" cy="137160"/>
          </a:xfrm>
          <a:prstGeom prst="rect">
            <a:avLst/>
          </a:prstGeom>
          <a:noFill/>
          <a:ln/>
        </p:spPr>
        <p:txBody>
          <a:bodyPr wrap="square" lIns="0" tIns="0" rIns="0" bIns="0" rtlCol="0" anchor="ctr"/>
          <a:lstStyle/>
          <a:p>
            <a:pPr indent="0" marL="0">
              <a:buNone/>
            </a:pPr>
            <a:r>
              <a:rPr lang="en-US" sz="750" b="1" dirty="0">
                <a:solidFill>
                  <a:srgbClr val="A99CFF"/>
                </a:solidFill>
                <a:latin typeface="Inter" pitchFamily="34" charset="0"/>
                <a:ea typeface="Inter" pitchFamily="34" charset="-122"/>
                <a:cs typeface="Inter" pitchFamily="34" charset="-120"/>
              </a:rPr>
              <a:t>5 · MEMORY</a:t>
            </a:r>
            <a:endParaRPr lang="en-US" sz="750" dirty="0"/>
          </a:p>
        </p:txBody>
      </p:sp>
      <p:sp>
        <p:nvSpPr>
          <p:cNvPr id="44" name="Text 42"/>
          <p:cNvSpPr/>
          <p:nvPr/>
        </p:nvSpPr>
        <p:spPr>
          <a:xfrm>
            <a:off x="3236976" y="4599432"/>
            <a:ext cx="6592824" cy="182880"/>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Chronicle decision, skill scope, version, utility, rollback</a:t>
            </a:r>
            <a:endParaRPr lang="en-US" sz="820" dirty="0"/>
          </a:p>
        </p:txBody>
      </p:sp>
      <p:sp>
        <p:nvSpPr>
          <p:cNvPr id="45" name="Shape 43"/>
          <p:cNvSpPr/>
          <p:nvPr/>
        </p:nvSpPr>
        <p:spPr>
          <a:xfrm>
            <a:off x="1691640" y="5166360"/>
            <a:ext cx="8595360" cy="475488"/>
          </a:xfrm>
          <a:prstGeom prst="roundRect">
            <a:avLst>
              <a:gd name="adj" fmla="val 9615"/>
            </a:avLst>
          </a:prstGeom>
          <a:solidFill>
            <a:srgbClr val="102238"/>
          </a:solidFill>
          <a:ln w="13970">
            <a:solidFill>
              <a:srgbClr val="43D79B"/>
            </a:solidFill>
            <a:prstDash val="solid"/>
          </a:ln>
        </p:spPr>
      </p:sp>
      <p:sp>
        <p:nvSpPr>
          <p:cNvPr id="46" name="Text 44"/>
          <p:cNvSpPr/>
          <p:nvPr/>
        </p:nvSpPr>
        <p:spPr>
          <a:xfrm>
            <a:off x="1901952" y="5285232"/>
            <a:ext cx="1417320" cy="137160"/>
          </a:xfrm>
          <a:prstGeom prst="rect">
            <a:avLst/>
          </a:prstGeom>
          <a:noFill/>
          <a:ln/>
        </p:spPr>
        <p:txBody>
          <a:bodyPr wrap="square" lIns="0" tIns="0" rIns="0" bIns="0" rtlCol="0" anchor="ctr"/>
          <a:lstStyle/>
          <a:p>
            <a:pPr indent="0" marL="0">
              <a:buNone/>
            </a:pPr>
            <a:r>
              <a:rPr lang="en-US" sz="750" b="1" dirty="0">
                <a:solidFill>
                  <a:srgbClr val="43D79B"/>
                </a:solidFill>
                <a:latin typeface="Inter" pitchFamily="34" charset="0"/>
                <a:ea typeface="Inter" pitchFamily="34" charset="-122"/>
                <a:cs typeface="Inter" pitchFamily="34" charset="-120"/>
              </a:rPr>
              <a:t>6 · COMMITMENT</a:t>
            </a:r>
            <a:endParaRPr lang="en-US" sz="750" dirty="0"/>
          </a:p>
        </p:txBody>
      </p:sp>
      <p:sp>
        <p:nvSpPr>
          <p:cNvPr id="47" name="Text 45"/>
          <p:cNvSpPr/>
          <p:nvPr/>
        </p:nvSpPr>
        <p:spPr>
          <a:xfrm>
            <a:off x="3401568" y="5257800"/>
            <a:ext cx="6263640" cy="182880"/>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Typed roots, signatures, attestations, authorized lineage</a:t>
            </a:r>
            <a:endParaRPr lang="en-US" sz="820" dirty="0"/>
          </a:p>
        </p:txBody>
      </p:sp>
      <p:sp>
        <p:nvSpPr>
          <p:cNvPr id="48" name="Text 46"/>
          <p:cNvSpPr/>
          <p:nvPr/>
        </p:nvSpPr>
        <p:spPr>
          <a:xfrm>
            <a:off x="2011680" y="5989320"/>
            <a:ext cx="8138160" cy="292608"/>
          </a:xfrm>
          <a:prstGeom prst="rect">
            <a:avLst/>
          </a:prstGeom>
          <a:noFill/>
          <a:ln/>
        </p:spPr>
        <p:txBody>
          <a:bodyPr wrap="square" lIns="0" tIns="0" rIns="0" bIns="0" rtlCol="0" anchor="ctr"/>
          <a:lstStyle/>
          <a:p>
            <a:pPr algn="ctr" indent="0" marL="0">
              <a:buNone/>
            </a:pPr>
            <a:r>
              <a:rPr lang="en-US" sz="1500" b="1" dirty="0">
                <a:solidFill>
                  <a:srgbClr val="E7BD62"/>
                </a:solidFill>
                <a:latin typeface="Inter Display" pitchFamily="34" charset="0"/>
                <a:ea typeface="Inter Display" pitchFamily="34" charset="-122"/>
                <a:cs typeface="Inter Display" pitchFamily="34" charset="-120"/>
              </a:rPr>
              <a:t>Failure at any gate returns the run to Proof Debt—not to hidden memory.</a:t>
            </a:r>
            <a:endParaRPr lang="en-US" sz="15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CLEAN BOOT</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The workbench begins empty—by design.</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No canned jobs, fake graph, preloaded skill, or inherited authority appears before a real objective creates real Proof Debt.</a:t>
            </a:r>
            <a:endParaRPr lang="en-US" sz="1450" dirty="0"/>
          </a:p>
        </p:txBody>
      </p:sp>
      <p:sp>
        <p:nvSpPr>
          <p:cNvPr id="30" name="Shape 28"/>
          <p:cNvSpPr/>
          <p:nvPr/>
        </p:nvSpPr>
        <p:spPr>
          <a:xfrm>
            <a:off x="731520" y="2331720"/>
            <a:ext cx="2487168" cy="1828800"/>
          </a:xfrm>
          <a:prstGeom prst="roundRect">
            <a:avLst>
              <a:gd name="adj" fmla="val 4000"/>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886968" y="2459736"/>
            <a:ext cx="2176272"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CLEAN BOOT</a:t>
            </a:r>
            <a:endParaRPr lang="en-US" sz="680" dirty="0"/>
          </a:p>
        </p:txBody>
      </p:sp>
      <p:sp>
        <p:nvSpPr>
          <p:cNvPr id="32" name="Text 30"/>
          <p:cNvSpPr/>
          <p:nvPr/>
        </p:nvSpPr>
        <p:spPr>
          <a:xfrm>
            <a:off x="886968" y="2587752"/>
            <a:ext cx="2176272" cy="329184"/>
          </a:xfrm>
          <a:prstGeom prst="rect">
            <a:avLst/>
          </a:prstGeom>
          <a:noFill/>
          <a:ln/>
        </p:spPr>
        <p:txBody>
          <a:bodyPr wrap="square" lIns="0" tIns="0" rIns="0" bIns="0" rtlCol="0" anchor="ctr">
            <a:normAutofit/>
          </a:bodyPr>
          <a:lstStyle/>
          <a:p>
            <a:pPr indent="0" marL="0">
              <a:buNone/>
            </a:pPr>
            <a:r>
              <a:rPr lang="en-US" sz="3800" b="1" dirty="0">
                <a:solidFill>
                  <a:srgbClr val="14273D"/>
                </a:solidFill>
                <a:latin typeface="Inter Display" pitchFamily="34" charset="0"/>
                <a:ea typeface="Inter Display" pitchFamily="34" charset="-122"/>
                <a:cs typeface="Inter Display" pitchFamily="34" charset="-120"/>
              </a:rPr>
              <a:t>0</a:t>
            </a:r>
            <a:endParaRPr lang="en-US" sz="3800" dirty="0"/>
          </a:p>
        </p:txBody>
      </p:sp>
      <p:sp>
        <p:nvSpPr>
          <p:cNvPr id="33" name="Text 31"/>
          <p:cNvSpPr/>
          <p:nvPr/>
        </p:nvSpPr>
        <p:spPr>
          <a:xfrm>
            <a:off x="886968" y="2990088"/>
            <a:ext cx="2176272" cy="1033272"/>
          </a:xfrm>
          <a:prstGeom prst="rect">
            <a:avLst/>
          </a:prstGeom>
          <a:noFill/>
          <a:ln/>
        </p:spPr>
        <p:txBody>
          <a:bodyPr wrap="square" lIns="0" tIns="0" rIns="0" bIns="0" rtlCol="0" anchor="t">
            <a:normAutofit/>
          </a:bodyPr>
          <a:lstStyle/>
          <a:p>
            <a:pPr indent="0" marL="0">
              <a:buNone/>
            </a:pPr>
            <a:r>
              <a:rPr lang="en-US" sz="1300" dirty="0">
                <a:solidFill>
                  <a:srgbClr val="43566A"/>
                </a:solidFill>
                <a:latin typeface="Inter" pitchFamily="34" charset="0"/>
                <a:ea typeface="Inter" pitchFamily="34" charset="-122"/>
                <a:cs typeface="Inter" pitchFamily="34" charset="-120"/>
              </a:rPr>
              <a:t>AGI Jobs</a:t>
            </a:r>
            <a:endParaRPr lang="en-US" sz="1300" dirty="0"/>
          </a:p>
        </p:txBody>
      </p:sp>
      <p:sp>
        <p:nvSpPr>
          <p:cNvPr id="34" name="Shape 32"/>
          <p:cNvSpPr/>
          <p:nvPr/>
        </p:nvSpPr>
        <p:spPr>
          <a:xfrm>
            <a:off x="3593592" y="2331720"/>
            <a:ext cx="2487168" cy="1828800"/>
          </a:xfrm>
          <a:prstGeom prst="roundRect">
            <a:avLst>
              <a:gd name="adj" fmla="val 4000"/>
            </a:avLst>
          </a:prstGeom>
          <a:solidFill>
            <a:srgbClr val="FFFDF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3749040" y="2459736"/>
            <a:ext cx="2176272"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CLEAN BOOT</a:t>
            </a:r>
            <a:endParaRPr lang="en-US" sz="680" dirty="0"/>
          </a:p>
        </p:txBody>
      </p:sp>
      <p:sp>
        <p:nvSpPr>
          <p:cNvPr id="36" name="Text 34"/>
          <p:cNvSpPr/>
          <p:nvPr/>
        </p:nvSpPr>
        <p:spPr>
          <a:xfrm>
            <a:off x="3749040" y="2587752"/>
            <a:ext cx="2176272" cy="329184"/>
          </a:xfrm>
          <a:prstGeom prst="rect">
            <a:avLst/>
          </a:prstGeom>
          <a:noFill/>
          <a:ln/>
        </p:spPr>
        <p:txBody>
          <a:bodyPr wrap="square" lIns="0" tIns="0" rIns="0" bIns="0" rtlCol="0" anchor="ctr">
            <a:normAutofit/>
          </a:bodyPr>
          <a:lstStyle/>
          <a:p>
            <a:pPr indent="0" marL="0">
              <a:buNone/>
            </a:pPr>
            <a:r>
              <a:rPr lang="en-US" sz="3800" b="1" dirty="0">
                <a:solidFill>
                  <a:srgbClr val="14273D"/>
                </a:solidFill>
                <a:latin typeface="Inter Display" pitchFamily="34" charset="0"/>
                <a:ea typeface="Inter Display" pitchFamily="34" charset="-122"/>
                <a:cs typeface="Inter Display" pitchFamily="34" charset="-120"/>
              </a:rPr>
              <a:t>0</a:t>
            </a:r>
            <a:endParaRPr lang="en-US" sz="3800" dirty="0"/>
          </a:p>
        </p:txBody>
      </p:sp>
      <p:sp>
        <p:nvSpPr>
          <p:cNvPr id="37" name="Text 35"/>
          <p:cNvSpPr/>
          <p:nvPr/>
        </p:nvSpPr>
        <p:spPr>
          <a:xfrm>
            <a:off x="3749040" y="2990088"/>
            <a:ext cx="2176272" cy="1033272"/>
          </a:xfrm>
          <a:prstGeom prst="rect">
            <a:avLst/>
          </a:prstGeom>
          <a:noFill/>
          <a:ln/>
        </p:spPr>
        <p:txBody>
          <a:bodyPr wrap="square" lIns="0" tIns="0" rIns="0" bIns="0" rtlCol="0" anchor="t">
            <a:normAutofit/>
          </a:bodyPr>
          <a:lstStyle/>
          <a:p>
            <a:pPr indent="0" marL="0">
              <a:buNone/>
            </a:pPr>
            <a:r>
              <a:rPr lang="en-US" sz="1300" dirty="0">
                <a:solidFill>
                  <a:srgbClr val="43566A"/>
                </a:solidFill>
                <a:latin typeface="Inter" pitchFamily="34" charset="0"/>
                <a:ea typeface="Inter" pitchFamily="34" charset="-122"/>
                <a:cs typeface="Inter" pitchFamily="34" charset="-120"/>
              </a:rPr>
              <a:t>ProofBundles</a:t>
            </a:r>
            <a:endParaRPr lang="en-US" sz="1300" dirty="0"/>
          </a:p>
        </p:txBody>
      </p:sp>
      <p:sp>
        <p:nvSpPr>
          <p:cNvPr id="38" name="Shape 36"/>
          <p:cNvSpPr/>
          <p:nvPr/>
        </p:nvSpPr>
        <p:spPr>
          <a:xfrm>
            <a:off x="6455664" y="2331720"/>
            <a:ext cx="2487168" cy="1828800"/>
          </a:xfrm>
          <a:prstGeom prst="roundRect">
            <a:avLst>
              <a:gd name="adj" fmla="val 4000"/>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6611112" y="2459736"/>
            <a:ext cx="2176272"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CLEAN BOOT</a:t>
            </a:r>
            <a:endParaRPr lang="en-US" sz="680" dirty="0"/>
          </a:p>
        </p:txBody>
      </p:sp>
      <p:sp>
        <p:nvSpPr>
          <p:cNvPr id="40" name="Text 38"/>
          <p:cNvSpPr/>
          <p:nvPr/>
        </p:nvSpPr>
        <p:spPr>
          <a:xfrm>
            <a:off x="6611112" y="2587752"/>
            <a:ext cx="2176272" cy="329184"/>
          </a:xfrm>
          <a:prstGeom prst="rect">
            <a:avLst/>
          </a:prstGeom>
          <a:noFill/>
          <a:ln/>
        </p:spPr>
        <p:txBody>
          <a:bodyPr wrap="square" lIns="0" tIns="0" rIns="0" bIns="0" rtlCol="0" anchor="ctr">
            <a:normAutofit/>
          </a:bodyPr>
          <a:lstStyle/>
          <a:p>
            <a:pPr indent="0" marL="0">
              <a:buNone/>
            </a:pPr>
            <a:r>
              <a:rPr lang="en-US" sz="3800" b="1" dirty="0">
                <a:solidFill>
                  <a:srgbClr val="14273D"/>
                </a:solidFill>
                <a:latin typeface="Inter Display" pitchFamily="34" charset="0"/>
                <a:ea typeface="Inter Display" pitchFamily="34" charset="-122"/>
                <a:cs typeface="Inter Display" pitchFamily="34" charset="-120"/>
              </a:rPr>
              <a:t>0</a:t>
            </a:r>
            <a:endParaRPr lang="en-US" sz="3800" dirty="0"/>
          </a:p>
        </p:txBody>
      </p:sp>
      <p:sp>
        <p:nvSpPr>
          <p:cNvPr id="41" name="Text 39"/>
          <p:cNvSpPr/>
          <p:nvPr/>
        </p:nvSpPr>
        <p:spPr>
          <a:xfrm>
            <a:off x="6611112" y="2990088"/>
            <a:ext cx="2176272" cy="1033272"/>
          </a:xfrm>
          <a:prstGeom prst="rect">
            <a:avLst/>
          </a:prstGeom>
          <a:noFill/>
          <a:ln/>
        </p:spPr>
        <p:txBody>
          <a:bodyPr wrap="square" lIns="0" tIns="0" rIns="0" bIns="0" rtlCol="0" anchor="t">
            <a:normAutofit/>
          </a:bodyPr>
          <a:lstStyle/>
          <a:p>
            <a:pPr indent="0" marL="0">
              <a:buNone/>
            </a:pPr>
            <a:r>
              <a:rPr lang="en-US" sz="1300" dirty="0">
                <a:solidFill>
                  <a:srgbClr val="43566A"/>
                </a:solidFill>
                <a:latin typeface="Inter" pitchFamily="34" charset="0"/>
                <a:ea typeface="Inter" pitchFamily="34" charset="-122"/>
                <a:cs typeface="Inter" pitchFamily="34" charset="-120"/>
              </a:rPr>
              <a:t>Validated Skills</a:t>
            </a:r>
            <a:endParaRPr lang="en-US" sz="1300" dirty="0"/>
          </a:p>
        </p:txBody>
      </p:sp>
      <p:sp>
        <p:nvSpPr>
          <p:cNvPr id="42" name="Shape 40"/>
          <p:cNvSpPr/>
          <p:nvPr/>
        </p:nvSpPr>
        <p:spPr>
          <a:xfrm>
            <a:off x="9317736" y="2331720"/>
            <a:ext cx="2487168" cy="1828800"/>
          </a:xfrm>
          <a:prstGeom prst="roundRect">
            <a:avLst>
              <a:gd name="adj" fmla="val 4000"/>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43" name="Text 41"/>
          <p:cNvSpPr/>
          <p:nvPr/>
        </p:nvSpPr>
        <p:spPr>
          <a:xfrm>
            <a:off x="9473184" y="2459736"/>
            <a:ext cx="2176272"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CLEAN BOOT</a:t>
            </a:r>
            <a:endParaRPr lang="en-US" sz="680" dirty="0"/>
          </a:p>
        </p:txBody>
      </p:sp>
      <p:sp>
        <p:nvSpPr>
          <p:cNvPr id="44" name="Text 42"/>
          <p:cNvSpPr/>
          <p:nvPr/>
        </p:nvSpPr>
        <p:spPr>
          <a:xfrm>
            <a:off x="9473184" y="2587752"/>
            <a:ext cx="2176272" cy="329184"/>
          </a:xfrm>
          <a:prstGeom prst="rect">
            <a:avLst/>
          </a:prstGeom>
          <a:noFill/>
          <a:ln/>
        </p:spPr>
        <p:txBody>
          <a:bodyPr wrap="square" lIns="0" tIns="0" rIns="0" bIns="0" rtlCol="0" anchor="ctr">
            <a:normAutofit/>
          </a:bodyPr>
          <a:lstStyle/>
          <a:p>
            <a:pPr indent="0" marL="0">
              <a:buNone/>
            </a:pPr>
            <a:r>
              <a:rPr lang="en-US" sz="3800" b="1" dirty="0">
                <a:solidFill>
                  <a:srgbClr val="14273D"/>
                </a:solidFill>
                <a:latin typeface="Inter Display" pitchFamily="34" charset="0"/>
                <a:ea typeface="Inter Display" pitchFamily="34" charset="-122"/>
                <a:cs typeface="Inter Display" pitchFamily="34" charset="-120"/>
              </a:rPr>
              <a:t>0</a:t>
            </a:r>
            <a:endParaRPr lang="en-US" sz="3800" dirty="0"/>
          </a:p>
        </p:txBody>
      </p:sp>
      <p:sp>
        <p:nvSpPr>
          <p:cNvPr id="45" name="Text 43"/>
          <p:cNvSpPr/>
          <p:nvPr/>
        </p:nvSpPr>
        <p:spPr>
          <a:xfrm>
            <a:off x="9473184" y="2990088"/>
            <a:ext cx="2176272" cy="1033272"/>
          </a:xfrm>
          <a:prstGeom prst="rect">
            <a:avLst/>
          </a:prstGeom>
          <a:noFill/>
          <a:ln/>
        </p:spPr>
        <p:txBody>
          <a:bodyPr wrap="square" lIns="0" tIns="0" rIns="0" bIns="0" rtlCol="0" anchor="t">
            <a:normAutofit/>
          </a:bodyPr>
          <a:lstStyle/>
          <a:p>
            <a:pPr indent="0" marL="0">
              <a:buNone/>
            </a:pPr>
            <a:r>
              <a:rPr lang="en-US" sz="1300" dirty="0">
                <a:solidFill>
                  <a:srgbClr val="43566A"/>
                </a:solidFill>
                <a:latin typeface="Inter" pitchFamily="34" charset="0"/>
                <a:ea typeface="Inter" pitchFamily="34" charset="-122"/>
                <a:cs typeface="Inter" pitchFamily="34" charset="-120"/>
              </a:rPr>
              <a:t>Graph Roots</a:t>
            </a:r>
            <a:endParaRPr lang="en-US" sz="1300" dirty="0"/>
          </a:p>
        </p:txBody>
      </p:sp>
      <p:sp>
        <p:nvSpPr>
          <p:cNvPr id="46" name="Shape 44"/>
          <p:cNvSpPr/>
          <p:nvPr/>
        </p:nvSpPr>
        <p:spPr>
          <a:xfrm>
            <a:off x="2834640" y="4617720"/>
            <a:ext cx="6537960" cy="868680"/>
          </a:xfrm>
          <a:prstGeom prst="roundRect">
            <a:avLst>
              <a:gd name="adj" fmla="val 8421"/>
            </a:avLst>
          </a:prstGeom>
          <a:solidFill>
            <a:srgbClr val="FFFDF8"/>
          </a:solidFill>
          <a:ln w="10160">
            <a:solidFill>
              <a:srgbClr val="E7BD62"/>
            </a:solidFill>
            <a:prstDash val="solid"/>
          </a:ln>
        </p:spPr>
      </p:sp>
      <p:sp>
        <p:nvSpPr>
          <p:cNvPr id="47" name="Text 45"/>
          <p:cNvSpPr/>
          <p:nvPr/>
        </p:nvSpPr>
        <p:spPr>
          <a:xfrm>
            <a:off x="2990088" y="4745736"/>
            <a:ext cx="62270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CHRONICLE</a:t>
            </a:r>
            <a:endParaRPr lang="en-US" sz="680" dirty="0"/>
          </a:p>
        </p:txBody>
      </p:sp>
      <p:sp>
        <p:nvSpPr>
          <p:cNvPr id="48" name="Text 46"/>
          <p:cNvSpPr/>
          <p:nvPr/>
        </p:nvSpPr>
        <p:spPr>
          <a:xfrm>
            <a:off x="2990088" y="4873752"/>
            <a:ext cx="6227064" cy="329184"/>
          </a:xfrm>
          <a:prstGeom prst="rect">
            <a:avLst/>
          </a:prstGeom>
          <a:noFill/>
          <a:ln/>
        </p:spPr>
        <p:txBody>
          <a:bodyPr wrap="square" lIns="0" tIns="0" rIns="0" bIns="0" rtlCol="0" anchor="ctr">
            <a:normAutofit/>
          </a:bodyPr>
          <a:lstStyle/>
          <a:p>
            <a:pPr indent="0" marL="0">
              <a:buNone/>
            </a:pPr>
            <a:r>
              <a:rPr lang="en-US" sz="1700" b="1" dirty="0">
                <a:solidFill>
                  <a:srgbClr val="14273D"/>
                </a:solidFill>
                <a:latin typeface="Inter Display" pitchFamily="34" charset="0"/>
                <a:ea typeface="Inter Display" pitchFamily="34" charset="-122"/>
                <a:cs typeface="Inter Display" pitchFamily="34" charset="-120"/>
              </a:rPr>
              <a:t>CLOSED</a:t>
            </a:r>
            <a:endParaRPr lang="en-US" sz="1700" dirty="0"/>
          </a:p>
        </p:txBody>
      </p:sp>
      <p:sp>
        <p:nvSpPr>
          <p:cNvPr id="49" name="Text 47"/>
          <p:cNvSpPr/>
          <p:nvPr/>
        </p:nvSpPr>
        <p:spPr>
          <a:xfrm>
            <a:off x="2990088" y="5276088"/>
            <a:ext cx="6227064" cy="73152"/>
          </a:xfrm>
          <a:prstGeom prst="rect">
            <a:avLst/>
          </a:prstGeom>
          <a:noFill/>
          <a:ln/>
        </p:spPr>
        <p:txBody>
          <a:bodyPr wrap="square" lIns="0" tIns="0" rIns="0" bIns="0" rtlCol="0" anchor="t">
            <a:normAutofit/>
          </a:bodyPr>
          <a:lstStyle/>
          <a:p>
            <a:pPr indent="0" marL="0">
              <a:buNone/>
            </a:pPr>
            <a:r>
              <a:rPr lang="en-US" sz="920" dirty="0">
                <a:solidFill>
                  <a:srgbClr val="43566A"/>
                </a:solidFill>
                <a:latin typeface="Inter" pitchFamily="34" charset="0"/>
                <a:ea typeface="Inter" pitchFamily="34" charset="-122"/>
                <a:cs typeface="Inter" pitchFamily="34" charset="-120"/>
              </a:rPr>
              <a:t>Authority opens only after evidence, validation, scope, replay, risk, and rollback gates are satisfied.</a:t>
            </a:r>
            <a:endParaRPr lang="en-US" sz="92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MISSION CONTRACT</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The Mission Contract is the first authority-bearing object.</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It freezes what decision the work supports, what evidence is required, what is forbidden, who may validate, and what counts as done.</a:t>
            </a:r>
            <a:endParaRPr lang="en-US" sz="1450" dirty="0"/>
          </a:p>
        </p:txBody>
      </p:sp>
      <p:sp>
        <p:nvSpPr>
          <p:cNvPr id="30" name="Shape 28"/>
          <p:cNvSpPr/>
          <p:nvPr/>
        </p:nvSpPr>
        <p:spPr>
          <a:xfrm>
            <a:off x="640080" y="2148840"/>
            <a:ext cx="3520440" cy="1234440"/>
          </a:xfrm>
          <a:prstGeom prst="roundRect">
            <a:avLst>
              <a:gd name="adj" fmla="val 5926"/>
            </a:avLst>
          </a:prstGeom>
          <a:solidFill>
            <a:srgbClr val="102238"/>
          </a:solidFill>
          <a:ln w="10160">
            <a:solidFill>
              <a:srgbClr val="E7BD62"/>
            </a:solidFill>
            <a:prstDash val="solid"/>
          </a:ln>
        </p:spPr>
      </p:sp>
      <p:sp>
        <p:nvSpPr>
          <p:cNvPr id="31" name="Text 29"/>
          <p:cNvSpPr/>
          <p:nvPr/>
        </p:nvSpPr>
        <p:spPr>
          <a:xfrm>
            <a:off x="795528" y="2276856"/>
            <a:ext cx="320954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DECISION</a:t>
            </a:r>
            <a:endParaRPr lang="en-US" sz="680" dirty="0"/>
          </a:p>
        </p:txBody>
      </p:sp>
      <p:sp>
        <p:nvSpPr>
          <p:cNvPr id="32" name="Text 30"/>
          <p:cNvSpPr/>
          <p:nvPr/>
        </p:nvSpPr>
        <p:spPr>
          <a:xfrm>
            <a:off x="795528" y="2404872"/>
            <a:ext cx="320954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What decision must this work support?</a:t>
            </a:r>
            <a:endParaRPr lang="en-US" sz="1300" dirty="0"/>
          </a:p>
        </p:txBody>
      </p:sp>
      <p:sp>
        <p:nvSpPr>
          <p:cNvPr id="33" name="Text 31"/>
          <p:cNvSpPr/>
          <p:nvPr/>
        </p:nvSpPr>
        <p:spPr>
          <a:xfrm>
            <a:off x="795528" y="2807208"/>
            <a:ext cx="3209544" cy="438912"/>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Frozen before results are visible.</a:t>
            </a:r>
            <a:endParaRPr lang="en-US" sz="840" dirty="0"/>
          </a:p>
        </p:txBody>
      </p:sp>
      <p:sp>
        <p:nvSpPr>
          <p:cNvPr id="34" name="Shape 32"/>
          <p:cNvSpPr/>
          <p:nvPr/>
        </p:nvSpPr>
        <p:spPr>
          <a:xfrm>
            <a:off x="4434840" y="2148840"/>
            <a:ext cx="3520440" cy="1234440"/>
          </a:xfrm>
          <a:prstGeom prst="roundRect">
            <a:avLst>
              <a:gd name="adj" fmla="val 5926"/>
            </a:avLst>
          </a:prstGeom>
          <a:solidFill>
            <a:srgbClr val="102238"/>
          </a:solidFill>
          <a:ln w="10160">
            <a:solidFill>
              <a:srgbClr val="6FB5FF"/>
            </a:solidFill>
            <a:prstDash val="solid"/>
          </a:ln>
        </p:spPr>
      </p:sp>
      <p:sp>
        <p:nvSpPr>
          <p:cNvPr id="35" name="Text 33"/>
          <p:cNvSpPr/>
          <p:nvPr/>
        </p:nvSpPr>
        <p:spPr>
          <a:xfrm>
            <a:off x="4590288" y="2276856"/>
            <a:ext cx="320954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PROOF LEVEL</a:t>
            </a:r>
            <a:endParaRPr lang="en-US" sz="680" dirty="0"/>
          </a:p>
        </p:txBody>
      </p:sp>
      <p:sp>
        <p:nvSpPr>
          <p:cNvPr id="36" name="Text 34"/>
          <p:cNvSpPr/>
          <p:nvPr/>
        </p:nvSpPr>
        <p:spPr>
          <a:xfrm>
            <a:off x="4590288" y="2404872"/>
            <a:ext cx="320954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How much evidence is required?</a:t>
            </a:r>
            <a:endParaRPr lang="en-US" sz="1300" dirty="0"/>
          </a:p>
        </p:txBody>
      </p:sp>
      <p:sp>
        <p:nvSpPr>
          <p:cNvPr id="37" name="Text 35"/>
          <p:cNvSpPr/>
          <p:nvPr/>
        </p:nvSpPr>
        <p:spPr>
          <a:xfrm>
            <a:off x="4590288" y="2807208"/>
            <a:ext cx="3209544" cy="438912"/>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Frozen before results are visible.</a:t>
            </a:r>
            <a:endParaRPr lang="en-US" sz="840" dirty="0"/>
          </a:p>
        </p:txBody>
      </p:sp>
      <p:sp>
        <p:nvSpPr>
          <p:cNvPr id="38" name="Shape 36"/>
          <p:cNvSpPr/>
          <p:nvPr/>
        </p:nvSpPr>
        <p:spPr>
          <a:xfrm>
            <a:off x="8229600" y="2148840"/>
            <a:ext cx="3520440" cy="1234440"/>
          </a:xfrm>
          <a:prstGeom prst="roundRect">
            <a:avLst>
              <a:gd name="adj" fmla="val 5926"/>
            </a:avLst>
          </a:prstGeom>
          <a:solidFill>
            <a:srgbClr val="102238"/>
          </a:solidFill>
          <a:ln w="10160">
            <a:solidFill>
              <a:srgbClr val="FF7584"/>
            </a:solidFill>
            <a:prstDash val="solid"/>
          </a:ln>
        </p:spPr>
      </p:sp>
      <p:sp>
        <p:nvSpPr>
          <p:cNvPr id="39" name="Text 37"/>
          <p:cNvSpPr/>
          <p:nvPr/>
        </p:nvSpPr>
        <p:spPr>
          <a:xfrm>
            <a:off x="8385048" y="2276856"/>
            <a:ext cx="320954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BOUNDARIES</a:t>
            </a:r>
            <a:endParaRPr lang="en-US" sz="680" dirty="0"/>
          </a:p>
        </p:txBody>
      </p:sp>
      <p:sp>
        <p:nvSpPr>
          <p:cNvPr id="40" name="Text 38"/>
          <p:cNvSpPr/>
          <p:nvPr/>
        </p:nvSpPr>
        <p:spPr>
          <a:xfrm>
            <a:off x="8385048" y="2404872"/>
            <a:ext cx="320954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Which tools, data, claims, and actions are blocked?</a:t>
            </a:r>
            <a:endParaRPr lang="en-US" sz="1300" dirty="0"/>
          </a:p>
        </p:txBody>
      </p:sp>
      <p:sp>
        <p:nvSpPr>
          <p:cNvPr id="41" name="Text 39"/>
          <p:cNvSpPr/>
          <p:nvPr/>
        </p:nvSpPr>
        <p:spPr>
          <a:xfrm>
            <a:off x="8385048" y="2807208"/>
            <a:ext cx="3209544" cy="438912"/>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Frozen before results are visible.</a:t>
            </a:r>
            <a:endParaRPr lang="en-US" sz="840" dirty="0"/>
          </a:p>
        </p:txBody>
      </p:sp>
      <p:sp>
        <p:nvSpPr>
          <p:cNvPr id="42" name="Shape 40"/>
          <p:cNvSpPr/>
          <p:nvPr/>
        </p:nvSpPr>
        <p:spPr>
          <a:xfrm>
            <a:off x="640080" y="3657600"/>
            <a:ext cx="3520440" cy="1234440"/>
          </a:xfrm>
          <a:prstGeom prst="roundRect">
            <a:avLst>
              <a:gd name="adj" fmla="val 5926"/>
            </a:avLst>
          </a:prstGeom>
          <a:solidFill>
            <a:srgbClr val="102238"/>
          </a:solidFill>
          <a:ln w="10160">
            <a:solidFill>
              <a:srgbClr val="54D6D0"/>
            </a:solidFill>
            <a:prstDash val="solid"/>
          </a:ln>
        </p:spPr>
      </p:sp>
      <p:sp>
        <p:nvSpPr>
          <p:cNvPr id="43" name="Text 41"/>
          <p:cNvSpPr/>
          <p:nvPr/>
        </p:nvSpPr>
        <p:spPr>
          <a:xfrm>
            <a:off x="795528" y="3785616"/>
            <a:ext cx="320954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VALIDATORS</a:t>
            </a:r>
            <a:endParaRPr lang="en-US" sz="680" dirty="0"/>
          </a:p>
        </p:txBody>
      </p:sp>
      <p:sp>
        <p:nvSpPr>
          <p:cNvPr id="44" name="Text 42"/>
          <p:cNvSpPr/>
          <p:nvPr/>
        </p:nvSpPr>
        <p:spPr>
          <a:xfrm>
            <a:off x="795528" y="3913632"/>
            <a:ext cx="320954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Who may attest, challenge, or require repair?</a:t>
            </a:r>
            <a:endParaRPr lang="en-US" sz="1300" dirty="0"/>
          </a:p>
        </p:txBody>
      </p:sp>
      <p:sp>
        <p:nvSpPr>
          <p:cNvPr id="45" name="Text 43"/>
          <p:cNvSpPr/>
          <p:nvPr/>
        </p:nvSpPr>
        <p:spPr>
          <a:xfrm>
            <a:off x="795528" y="4315968"/>
            <a:ext cx="3209544" cy="438912"/>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Frozen before results are visible.</a:t>
            </a:r>
            <a:endParaRPr lang="en-US" sz="840" dirty="0"/>
          </a:p>
        </p:txBody>
      </p:sp>
      <p:sp>
        <p:nvSpPr>
          <p:cNvPr id="46" name="Shape 44"/>
          <p:cNvSpPr/>
          <p:nvPr/>
        </p:nvSpPr>
        <p:spPr>
          <a:xfrm>
            <a:off x="4434840" y="3657600"/>
            <a:ext cx="3520440" cy="1234440"/>
          </a:xfrm>
          <a:prstGeom prst="roundRect">
            <a:avLst>
              <a:gd name="adj" fmla="val 5926"/>
            </a:avLst>
          </a:prstGeom>
          <a:solidFill>
            <a:srgbClr val="102238"/>
          </a:solidFill>
          <a:ln w="10160">
            <a:solidFill>
              <a:srgbClr val="43D79B"/>
            </a:solidFill>
            <a:prstDash val="solid"/>
          </a:ln>
        </p:spPr>
      </p:sp>
      <p:sp>
        <p:nvSpPr>
          <p:cNvPr id="47" name="Text 45"/>
          <p:cNvSpPr/>
          <p:nvPr/>
        </p:nvSpPr>
        <p:spPr>
          <a:xfrm>
            <a:off x="4590288" y="3785616"/>
            <a:ext cx="320954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DONE CONDITION</a:t>
            </a:r>
            <a:endParaRPr lang="en-US" sz="680" dirty="0"/>
          </a:p>
        </p:txBody>
      </p:sp>
      <p:sp>
        <p:nvSpPr>
          <p:cNvPr id="48" name="Text 46"/>
          <p:cNvSpPr/>
          <p:nvPr/>
        </p:nvSpPr>
        <p:spPr>
          <a:xfrm>
            <a:off x="4590288" y="3913632"/>
            <a:ext cx="320954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What exact artifact and gate state ends the mission?</a:t>
            </a:r>
            <a:endParaRPr lang="en-US" sz="1300" dirty="0"/>
          </a:p>
        </p:txBody>
      </p:sp>
      <p:sp>
        <p:nvSpPr>
          <p:cNvPr id="49" name="Text 47"/>
          <p:cNvSpPr/>
          <p:nvPr/>
        </p:nvSpPr>
        <p:spPr>
          <a:xfrm>
            <a:off x="4590288" y="4315968"/>
            <a:ext cx="3209544" cy="438912"/>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Frozen before results are visible.</a:t>
            </a:r>
            <a:endParaRPr lang="en-US" sz="840" dirty="0"/>
          </a:p>
        </p:txBody>
      </p:sp>
      <p:sp>
        <p:nvSpPr>
          <p:cNvPr id="50" name="Shape 48"/>
          <p:cNvSpPr/>
          <p:nvPr/>
        </p:nvSpPr>
        <p:spPr>
          <a:xfrm>
            <a:off x="8229600" y="3657600"/>
            <a:ext cx="3520440" cy="1234440"/>
          </a:xfrm>
          <a:prstGeom prst="roundRect">
            <a:avLst>
              <a:gd name="adj" fmla="val 5926"/>
            </a:avLst>
          </a:prstGeom>
          <a:solidFill>
            <a:srgbClr val="102238"/>
          </a:solidFill>
          <a:ln w="10160">
            <a:solidFill>
              <a:srgbClr val="A99CFF"/>
            </a:solidFill>
            <a:prstDash val="solid"/>
          </a:ln>
        </p:spPr>
      </p:sp>
      <p:sp>
        <p:nvSpPr>
          <p:cNvPr id="51" name="Text 49"/>
          <p:cNvSpPr/>
          <p:nvPr/>
        </p:nvSpPr>
        <p:spPr>
          <a:xfrm>
            <a:off x="8385048" y="3785616"/>
            <a:ext cx="320954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ROLLBACK</a:t>
            </a:r>
            <a:endParaRPr lang="en-US" sz="680" dirty="0"/>
          </a:p>
        </p:txBody>
      </p:sp>
      <p:sp>
        <p:nvSpPr>
          <p:cNvPr id="52" name="Text 50"/>
          <p:cNvSpPr/>
          <p:nvPr/>
        </p:nvSpPr>
        <p:spPr>
          <a:xfrm>
            <a:off x="8385048" y="3913632"/>
            <a:ext cx="3209544" cy="329184"/>
          </a:xfrm>
          <a:prstGeom prst="rect">
            <a:avLst/>
          </a:prstGeom>
          <a:noFill/>
          <a:ln/>
        </p:spPr>
        <p:txBody>
          <a:bodyPr wrap="square" lIns="0" tIns="0" rIns="0" bIns="0" rtlCol="0" anchor="ctr">
            <a:normAutofit/>
          </a:bodyPr>
          <a:lstStyle/>
          <a:p>
            <a:pPr indent="0" marL="0">
              <a:buNone/>
            </a:pPr>
            <a:r>
              <a:rPr lang="en-US" sz="1300" b="1" dirty="0">
                <a:solidFill>
                  <a:srgbClr val="F7FBFF"/>
                </a:solidFill>
                <a:latin typeface="Inter Display" pitchFamily="34" charset="0"/>
                <a:ea typeface="Inter Display" pitchFamily="34" charset="-122"/>
                <a:cs typeface="Inter Display" pitchFamily="34" charset="-120"/>
              </a:rPr>
              <a:t>What happens if evidence, scope, or outcomes fail?</a:t>
            </a:r>
            <a:endParaRPr lang="en-US" sz="1300" dirty="0"/>
          </a:p>
        </p:txBody>
      </p:sp>
      <p:sp>
        <p:nvSpPr>
          <p:cNvPr id="53" name="Text 51"/>
          <p:cNvSpPr/>
          <p:nvPr/>
        </p:nvSpPr>
        <p:spPr>
          <a:xfrm>
            <a:off x="8385048" y="4315968"/>
            <a:ext cx="3209544" cy="438912"/>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Frozen before results are visible.</a:t>
            </a:r>
            <a:endParaRPr lang="en-US" sz="840" dirty="0"/>
          </a:p>
        </p:txBody>
      </p:sp>
      <p:sp>
        <p:nvSpPr>
          <p:cNvPr id="54" name="Text 52"/>
          <p:cNvSpPr/>
          <p:nvPr/>
        </p:nvSpPr>
        <p:spPr>
          <a:xfrm>
            <a:off x="1143000" y="5394960"/>
            <a:ext cx="9875520" cy="347472"/>
          </a:xfrm>
          <a:prstGeom prst="rect">
            <a:avLst/>
          </a:prstGeom>
          <a:noFill/>
          <a:ln/>
        </p:spPr>
        <p:txBody>
          <a:bodyPr wrap="square" lIns="0" tIns="0" rIns="0" bIns="0" rtlCol="0" anchor="ctr"/>
          <a:lstStyle/>
          <a:p>
            <a:pPr algn="ctr" indent="0" marL="0">
              <a:buNone/>
            </a:pPr>
            <a:r>
              <a:rPr lang="en-US" sz="1600" i="1" dirty="0">
                <a:solidFill>
                  <a:srgbClr val="E7BD62"/>
                </a:solidFill>
                <a:latin typeface="Georgia" pitchFamily="34" charset="0"/>
                <a:ea typeface="Georgia" pitchFamily="34" charset="-122"/>
                <a:cs typeface="Georgia" pitchFamily="34" charset="-120"/>
              </a:rPr>
              <a:t>A mission contract prevents an agent from optimizing an ambiguous request.</a:t>
            </a:r>
            <a:endParaRPr lang="en-US" sz="16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PROOF DEBT</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Proof Debt turns uncertainty into work.</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It is the distance between what the system wants to claim and what it can currently support.</a:t>
            </a:r>
            <a:endParaRPr lang="en-US" sz="1450" dirty="0"/>
          </a:p>
        </p:txBody>
      </p:sp>
      <p:sp>
        <p:nvSpPr>
          <p:cNvPr id="30" name="Shape 28"/>
          <p:cNvSpPr/>
          <p:nvPr/>
        </p:nvSpPr>
        <p:spPr>
          <a:xfrm>
            <a:off x="658368" y="2148840"/>
            <a:ext cx="4983480" cy="3063240"/>
          </a:xfrm>
          <a:prstGeom prst="roundRect">
            <a:avLst>
              <a:gd name="adj" fmla="val 2388"/>
            </a:avLst>
          </a:prstGeom>
          <a:solidFill>
            <a:srgbClr val="FFFDF8"/>
          </a:solidFill>
          <a:ln w="10160">
            <a:solidFill>
              <a:srgbClr val="FF7584"/>
            </a:solidFill>
            <a:prstDash val="solid"/>
          </a:ln>
        </p:spPr>
      </p:sp>
      <p:sp>
        <p:nvSpPr>
          <p:cNvPr id="31" name="Text 29"/>
          <p:cNvSpPr/>
          <p:nvPr/>
        </p:nvSpPr>
        <p:spPr>
          <a:xfrm>
            <a:off x="813816" y="2276856"/>
            <a:ext cx="467258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RISK-WEIGHTED PRIORITY</a:t>
            </a:r>
            <a:endParaRPr lang="en-US" sz="680" dirty="0"/>
          </a:p>
        </p:txBody>
      </p:sp>
      <p:sp>
        <p:nvSpPr>
          <p:cNvPr id="32" name="Text 30"/>
          <p:cNvSpPr/>
          <p:nvPr/>
        </p:nvSpPr>
        <p:spPr>
          <a:xfrm>
            <a:off x="813816" y="2404872"/>
            <a:ext cx="4672584" cy="329184"/>
          </a:xfrm>
          <a:prstGeom prst="rect">
            <a:avLst/>
          </a:prstGeom>
          <a:noFill/>
          <a:ln/>
        </p:spPr>
        <p:txBody>
          <a:bodyPr wrap="square" lIns="0" tIns="0" rIns="0" bIns="0" rtlCol="0" anchor="ctr">
            <a:normAutofit/>
          </a:bodyPr>
          <a:lstStyle/>
          <a:p>
            <a:pPr indent="0" marL="0">
              <a:buNone/>
            </a:pPr>
            <a:r>
              <a:rPr lang="en-US" sz="1900" b="1" dirty="0">
                <a:solidFill>
                  <a:srgbClr val="14273D"/>
                </a:solidFill>
                <a:latin typeface="Inter Display" pitchFamily="34" charset="0"/>
                <a:ea typeface="Inter Display" pitchFamily="34" charset="-122"/>
                <a:cs typeface="Inter Display" pitchFamily="34" charset="-120"/>
              </a:rPr>
              <a:t>Impact × Unsupported × Irreversibility × Reuse Risk</a:t>
            </a:r>
            <a:endParaRPr lang="en-US" sz="1900" dirty="0"/>
          </a:p>
        </p:txBody>
      </p:sp>
      <p:sp>
        <p:nvSpPr>
          <p:cNvPr id="33" name="Text 31"/>
          <p:cNvSpPr/>
          <p:nvPr/>
        </p:nvSpPr>
        <p:spPr>
          <a:xfrm>
            <a:off x="813816" y="2807208"/>
            <a:ext cx="4672584" cy="2267712"/>
          </a:xfrm>
          <a:prstGeom prst="rect">
            <a:avLst/>
          </a:prstGeom>
          <a:noFill/>
          <a:ln/>
        </p:spPr>
        <p:txBody>
          <a:bodyPr wrap="square" lIns="0" tIns="0" rIns="0" bIns="0" rtlCol="0" anchor="t">
            <a:normAutofit/>
          </a:bodyPr>
          <a:lstStyle/>
          <a:p>
            <a:pPr indent="0" marL="0">
              <a:buNone/>
            </a:pPr>
            <a:r>
              <a:rPr lang="en-US" sz="1100" dirty="0">
                <a:solidFill>
                  <a:srgbClr val="43566A"/>
                </a:solidFill>
                <a:latin typeface="Inter" pitchFamily="34" charset="0"/>
                <a:ea typeface="Inter" pitchFamily="34" charset="-122"/>
                <a:cs typeface="Inter" pitchFamily="34" charset="-120"/>
              </a:rPr>
              <a:t>The score is prioritization metadata—not truth. Its purpose is to focus proof resources where an unsupported claim could do the most institutional damage.</a:t>
            </a:r>
            <a:endParaRPr lang="en-US" sz="1100" dirty="0"/>
          </a:p>
        </p:txBody>
      </p:sp>
      <p:sp>
        <p:nvSpPr>
          <p:cNvPr id="34" name="Shape 32"/>
          <p:cNvSpPr/>
          <p:nvPr/>
        </p:nvSpPr>
        <p:spPr>
          <a:xfrm>
            <a:off x="6080760" y="2157984"/>
            <a:ext cx="2176272" cy="283464"/>
          </a:xfrm>
          <a:prstGeom prst="roundRect">
            <a:avLst>
              <a:gd name="adj" fmla="val 38710"/>
            </a:avLst>
          </a:prstGeom>
          <a:solidFill>
            <a:srgbClr val="43D79B">
              <a:alpha val="13000"/>
            </a:srgbClr>
          </a:solidFill>
          <a:ln w="10160">
            <a:solidFill>
              <a:srgbClr val="43D79B">
                <a:alpha val="60000"/>
              </a:srgbClr>
            </a:solidFill>
            <a:prstDash val="solid"/>
          </a:ln>
        </p:spPr>
      </p:sp>
      <p:sp>
        <p:nvSpPr>
          <p:cNvPr id="35" name="Text 33"/>
          <p:cNvSpPr/>
          <p:nvPr/>
        </p:nvSpPr>
        <p:spPr>
          <a:xfrm>
            <a:off x="6135624" y="2235708"/>
            <a:ext cx="206654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SUPPORTED</a:t>
            </a:r>
            <a:endParaRPr lang="en-US" sz="690" dirty="0"/>
          </a:p>
        </p:txBody>
      </p:sp>
      <p:sp>
        <p:nvSpPr>
          <p:cNvPr id="36" name="Shape 34"/>
          <p:cNvSpPr/>
          <p:nvPr/>
        </p:nvSpPr>
        <p:spPr>
          <a:xfrm>
            <a:off x="8503920" y="2157984"/>
            <a:ext cx="2176272" cy="283464"/>
          </a:xfrm>
          <a:prstGeom prst="roundRect">
            <a:avLst>
              <a:gd name="adj" fmla="val 38710"/>
            </a:avLst>
          </a:prstGeom>
          <a:solidFill>
            <a:srgbClr val="F5C46B">
              <a:alpha val="13000"/>
            </a:srgbClr>
          </a:solidFill>
          <a:ln w="10160">
            <a:solidFill>
              <a:srgbClr val="F5C46B">
                <a:alpha val="60000"/>
              </a:srgbClr>
            </a:solidFill>
            <a:prstDash val="solid"/>
          </a:ln>
        </p:spPr>
      </p:sp>
      <p:sp>
        <p:nvSpPr>
          <p:cNvPr id="37" name="Text 35"/>
          <p:cNvSpPr/>
          <p:nvPr/>
        </p:nvSpPr>
        <p:spPr>
          <a:xfrm>
            <a:off x="8558784" y="2235708"/>
            <a:ext cx="206654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NEEDS EVIDENCE</a:t>
            </a:r>
            <a:endParaRPr lang="en-US" sz="690" dirty="0"/>
          </a:p>
        </p:txBody>
      </p:sp>
      <p:sp>
        <p:nvSpPr>
          <p:cNvPr id="38" name="Shape 36"/>
          <p:cNvSpPr/>
          <p:nvPr/>
        </p:nvSpPr>
        <p:spPr>
          <a:xfrm>
            <a:off x="6080760" y="2843784"/>
            <a:ext cx="2176272" cy="283464"/>
          </a:xfrm>
          <a:prstGeom prst="roundRect">
            <a:avLst>
              <a:gd name="adj" fmla="val 38710"/>
            </a:avLst>
          </a:prstGeom>
          <a:solidFill>
            <a:srgbClr val="6FB5FF">
              <a:alpha val="13000"/>
            </a:srgbClr>
          </a:solidFill>
          <a:ln w="10160">
            <a:solidFill>
              <a:srgbClr val="6FB5FF">
                <a:alpha val="60000"/>
              </a:srgbClr>
            </a:solidFill>
            <a:prstDash val="solid"/>
          </a:ln>
        </p:spPr>
      </p:sp>
      <p:sp>
        <p:nvSpPr>
          <p:cNvPr id="39" name="Text 37"/>
          <p:cNvSpPr/>
          <p:nvPr/>
        </p:nvSpPr>
        <p:spPr>
          <a:xfrm>
            <a:off x="6135624" y="2921508"/>
            <a:ext cx="206654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NEEDS REPLAY</a:t>
            </a:r>
            <a:endParaRPr lang="en-US" sz="690" dirty="0"/>
          </a:p>
        </p:txBody>
      </p:sp>
      <p:sp>
        <p:nvSpPr>
          <p:cNvPr id="40" name="Shape 38"/>
          <p:cNvSpPr/>
          <p:nvPr/>
        </p:nvSpPr>
        <p:spPr>
          <a:xfrm>
            <a:off x="8503920" y="2843784"/>
            <a:ext cx="2176272" cy="283464"/>
          </a:xfrm>
          <a:prstGeom prst="roundRect">
            <a:avLst>
              <a:gd name="adj" fmla="val 38710"/>
            </a:avLst>
          </a:prstGeom>
          <a:solidFill>
            <a:srgbClr val="A99CFF">
              <a:alpha val="13000"/>
            </a:srgbClr>
          </a:solidFill>
          <a:ln w="10160">
            <a:solidFill>
              <a:srgbClr val="A99CFF">
                <a:alpha val="60000"/>
              </a:srgbClr>
            </a:solidFill>
            <a:prstDash val="solid"/>
          </a:ln>
        </p:spPr>
      </p:sp>
      <p:sp>
        <p:nvSpPr>
          <p:cNvPr id="41" name="Text 39"/>
          <p:cNvSpPr/>
          <p:nvPr/>
        </p:nvSpPr>
        <p:spPr>
          <a:xfrm>
            <a:off x="8558784" y="2921508"/>
            <a:ext cx="206654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NEEDS REVIEWER</a:t>
            </a:r>
            <a:endParaRPr lang="en-US" sz="690" dirty="0"/>
          </a:p>
        </p:txBody>
      </p:sp>
      <p:sp>
        <p:nvSpPr>
          <p:cNvPr id="42" name="Shape 40"/>
          <p:cNvSpPr/>
          <p:nvPr/>
        </p:nvSpPr>
        <p:spPr>
          <a:xfrm>
            <a:off x="6080760" y="3529584"/>
            <a:ext cx="2176272" cy="283464"/>
          </a:xfrm>
          <a:prstGeom prst="roundRect">
            <a:avLst>
              <a:gd name="adj" fmla="val 38710"/>
            </a:avLst>
          </a:prstGeom>
          <a:solidFill>
            <a:srgbClr val="E7BD62">
              <a:alpha val="13000"/>
            </a:srgbClr>
          </a:solidFill>
          <a:ln w="10160">
            <a:solidFill>
              <a:srgbClr val="E7BD62">
                <a:alpha val="60000"/>
              </a:srgbClr>
            </a:solidFill>
            <a:prstDash val="solid"/>
          </a:ln>
        </p:spPr>
      </p:sp>
      <p:sp>
        <p:nvSpPr>
          <p:cNvPr id="43" name="Text 41"/>
          <p:cNvSpPr/>
          <p:nvPr/>
        </p:nvSpPr>
        <p:spPr>
          <a:xfrm>
            <a:off x="6135624" y="3607308"/>
            <a:ext cx="206654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NEEDS BOUNDARY</a:t>
            </a:r>
            <a:endParaRPr lang="en-US" sz="690" dirty="0"/>
          </a:p>
        </p:txBody>
      </p:sp>
      <p:sp>
        <p:nvSpPr>
          <p:cNvPr id="44" name="Shape 42"/>
          <p:cNvSpPr/>
          <p:nvPr/>
        </p:nvSpPr>
        <p:spPr>
          <a:xfrm>
            <a:off x="8503920" y="3529584"/>
            <a:ext cx="2176272"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45" name="Text 43"/>
          <p:cNvSpPr/>
          <p:nvPr/>
        </p:nvSpPr>
        <p:spPr>
          <a:xfrm>
            <a:off x="8558784" y="3607308"/>
            <a:ext cx="206654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BLOCKED</a:t>
            </a:r>
            <a:endParaRPr lang="en-US" sz="690" dirty="0"/>
          </a:p>
        </p:txBody>
      </p:sp>
      <p:sp>
        <p:nvSpPr>
          <p:cNvPr id="46" name="Shape 44"/>
          <p:cNvSpPr/>
          <p:nvPr/>
        </p:nvSpPr>
        <p:spPr>
          <a:xfrm>
            <a:off x="6080760" y="4215384"/>
            <a:ext cx="2176272" cy="283464"/>
          </a:xfrm>
          <a:prstGeom prst="roundRect">
            <a:avLst>
              <a:gd name="adj" fmla="val 38710"/>
            </a:avLst>
          </a:prstGeom>
          <a:solidFill>
            <a:srgbClr val="7A8695">
              <a:alpha val="13000"/>
            </a:srgbClr>
          </a:solidFill>
          <a:ln w="10160">
            <a:solidFill>
              <a:srgbClr val="7A8695">
                <a:alpha val="60000"/>
              </a:srgbClr>
            </a:solidFill>
            <a:prstDash val="solid"/>
          </a:ln>
        </p:spPr>
      </p:sp>
      <p:sp>
        <p:nvSpPr>
          <p:cNvPr id="47" name="Text 45"/>
          <p:cNvSpPr/>
          <p:nvPr/>
        </p:nvSpPr>
        <p:spPr>
          <a:xfrm>
            <a:off x="6135624" y="4293108"/>
            <a:ext cx="206654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OUT OF SCOPE</a:t>
            </a:r>
            <a:endParaRPr lang="en-US" sz="690" dirty="0"/>
          </a:p>
        </p:txBody>
      </p:sp>
      <p:sp>
        <p:nvSpPr>
          <p:cNvPr id="48" name="Shape 46"/>
          <p:cNvSpPr/>
          <p:nvPr/>
        </p:nvSpPr>
        <p:spPr>
          <a:xfrm>
            <a:off x="5989320" y="4901184"/>
            <a:ext cx="5074920" cy="658368"/>
          </a:xfrm>
          <a:prstGeom prst="roundRect">
            <a:avLst>
              <a:gd name="adj" fmla="val 11111"/>
            </a:avLst>
          </a:prstGeom>
          <a:solidFill>
            <a:srgbClr val="FFFDF8"/>
          </a:solidFill>
          <a:ln w="10160">
            <a:solidFill>
              <a:srgbClr val="E7BD62"/>
            </a:solidFill>
            <a:prstDash val="solid"/>
          </a:ln>
        </p:spPr>
      </p:sp>
      <p:sp>
        <p:nvSpPr>
          <p:cNvPr id="49" name="Text 47"/>
          <p:cNvSpPr/>
          <p:nvPr/>
        </p:nvSpPr>
        <p:spPr>
          <a:xfrm>
            <a:off x="6144768" y="5029200"/>
            <a:ext cx="476402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OPERATING INSIGHT</a:t>
            </a:r>
            <a:endParaRPr lang="en-US" sz="680" dirty="0"/>
          </a:p>
        </p:txBody>
      </p:sp>
      <p:sp>
        <p:nvSpPr>
          <p:cNvPr id="50" name="Text 48"/>
          <p:cNvSpPr/>
          <p:nvPr/>
        </p:nvSpPr>
        <p:spPr>
          <a:xfrm>
            <a:off x="6144768" y="5157216"/>
            <a:ext cx="4764024" cy="329184"/>
          </a:xfrm>
          <a:prstGeom prst="rect">
            <a:avLst/>
          </a:prstGeom>
          <a:noFill/>
          <a:ln/>
        </p:spPr>
        <p:txBody>
          <a:bodyPr wrap="square" lIns="0" tIns="0" rIns="0" bIns="0" rtlCol="0" anchor="ctr">
            <a:normAutofit/>
          </a:bodyPr>
          <a:lstStyle/>
          <a:p>
            <a:pPr indent="0" marL="0">
              <a:buNone/>
            </a:pPr>
            <a:r>
              <a:rPr lang="en-US" sz="1240" b="1" dirty="0">
                <a:solidFill>
                  <a:srgbClr val="14273D"/>
                </a:solidFill>
                <a:latin typeface="Inter Display" pitchFamily="34" charset="0"/>
                <a:ea typeface="Inter Display" pitchFamily="34" charset="-122"/>
                <a:cs typeface="Inter Display" pitchFamily="34" charset="-120"/>
              </a:rPr>
              <a:t>A system that cannot state what proof is missing is still chatting rather than operating.</a:t>
            </a:r>
            <a:endParaRPr lang="en-US" sz="124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CUSTOM AGI JOBS</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An AGI Job is a proof contract—not a task in a todo list.</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job factory generates only the proof work required by the current mission and proof level.</a:t>
            </a:r>
            <a:endParaRPr lang="en-US" sz="1450" dirty="0"/>
          </a:p>
        </p:txBody>
      </p:sp>
      <p:sp>
        <p:nvSpPr>
          <p:cNvPr id="30" name="Shape 28"/>
          <p:cNvSpPr/>
          <p:nvPr/>
        </p:nvSpPr>
        <p:spPr>
          <a:xfrm>
            <a:off x="566928" y="2011680"/>
            <a:ext cx="3566160" cy="1170432"/>
          </a:xfrm>
          <a:prstGeom prst="roundRect">
            <a:avLst>
              <a:gd name="adj" fmla="val 6250"/>
            </a:avLst>
          </a:prstGeom>
          <a:solidFill>
            <a:srgbClr val="102238"/>
          </a:solidFill>
          <a:ln w="10160">
            <a:solidFill>
              <a:srgbClr val="FF7584"/>
            </a:solidFill>
            <a:prstDash val="solid"/>
          </a:ln>
        </p:spPr>
      </p:sp>
      <p:sp>
        <p:nvSpPr>
          <p:cNvPr id="31" name="Text 29"/>
          <p:cNvSpPr/>
          <p:nvPr/>
        </p:nvSpPr>
        <p:spPr>
          <a:xfrm>
            <a:off x="722376" y="2139696"/>
            <a:ext cx="32552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SOURCE CLAIM</a:t>
            </a:r>
            <a:endParaRPr lang="en-US" sz="680" dirty="0"/>
          </a:p>
        </p:txBody>
      </p:sp>
      <p:sp>
        <p:nvSpPr>
          <p:cNvPr id="32" name="Text 30"/>
          <p:cNvSpPr/>
          <p:nvPr/>
        </p:nvSpPr>
        <p:spPr>
          <a:xfrm>
            <a:off x="722376" y="2267712"/>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What needs support?</a:t>
            </a:r>
            <a:endParaRPr lang="en-US" sz="1320" dirty="0"/>
          </a:p>
        </p:txBody>
      </p:sp>
      <p:sp>
        <p:nvSpPr>
          <p:cNvPr id="33" name="Text 31"/>
          <p:cNvSpPr/>
          <p:nvPr/>
        </p:nvSpPr>
        <p:spPr>
          <a:xfrm>
            <a:off x="722376" y="2670048"/>
            <a:ext cx="3255264" cy="374904"/>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Blocked claims and rollback are predeclared.</a:t>
            </a:r>
            <a:endParaRPr lang="en-US" sz="810" dirty="0"/>
          </a:p>
        </p:txBody>
      </p:sp>
      <p:sp>
        <p:nvSpPr>
          <p:cNvPr id="34" name="Shape 32"/>
          <p:cNvSpPr/>
          <p:nvPr/>
        </p:nvSpPr>
        <p:spPr>
          <a:xfrm>
            <a:off x="4389120" y="2011680"/>
            <a:ext cx="3566160" cy="1170432"/>
          </a:xfrm>
          <a:prstGeom prst="roundRect">
            <a:avLst>
              <a:gd name="adj" fmla="val 6250"/>
            </a:avLst>
          </a:prstGeom>
          <a:solidFill>
            <a:srgbClr val="102238"/>
          </a:solidFill>
          <a:ln w="10160">
            <a:solidFill>
              <a:srgbClr val="E7BD62"/>
            </a:solidFill>
            <a:prstDash val="solid"/>
          </a:ln>
        </p:spPr>
      </p:sp>
      <p:sp>
        <p:nvSpPr>
          <p:cNvPr id="35" name="Text 33"/>
          <p:cNvSpPr/>
          <p:nvPr/>
        </p:nvSpPr>
        <p:spPr>
          <a:xfrm>
            <a:off x="4544568" y="2139696"/>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WHY NEEDED</a:t>
            </a:r>
            <a:endParaRPr lang="en-US" sz="680" dirty="0"/>
          </a:p>
        </p:txBody>
      </p:sp>
      <p:sp>
        <p:nvSpPr>
          <p:cNvPr id="36" name="Text 34"/>
          <p:cNvSpPr/>
          <p:nvPr/>
        </p:nvSpPr>
        <p:spPr>
          <a:xfrm>
            <a:off x="4544568" y="2267712"/>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Why can it not earn authority yet?</a:t>
            </a:r>
            <a:endParaRPr lang="en-US" sz="1320" dirty="0"/>
          </a:p>
        </p:txBody>
      </p:sp>
      <p:sp>
        <p:nvSpPr>
          <p:cNvPr id="37" name="Text 35"/>
          <p:cNvSpPr/>
          <p:nvPr/>
        </p:nvSpPr>
        <p:spPr>
          <a:xfrm>
            <a:off x="4544568" y="2670048"/>
            <a:ext cx="3255264" cy="374904"/>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Blocked claims and rollback are predeclared.</a:t>
            </a:r>
            <a:endParaRPr lang="en-US" sz="810" dirty="0"/>
          </a:p>
        </p:txBody>
      </p:sp>
      <p:sp>
        <p:nvSpPr>
          <p:cNvPr id="38" name="Shape 36"/>
          <p:cNvSpPr/>
          <p:nvPr/>
        </p:nvSpPr>
        <p:spPr>
          <a:xfrm>
            <a:off x="8211312" y="2011680"/>
            <a:ext cx="3566160" cy="1170432"/>
          </a:xfrm>
          <a:prstGeom prst="roundRect">
            <a:avLst>
              <a:gd name="adj" fmla="val 6250"/>
            </a:avLst>
          </a:prstGeom>
          <a:solidFill>
            <a:srgbClr val="102238"/>
          </a:solidFill>
          <a:ln w="10160">
            <a:solidFill>
              <a:srgbClr val="6FB5FF"/>
            </a:solidFill>
            <a:prstDash val="solid"/>
          </a:ln>
        </p:spPr>
      </p:sp>
      <p:sp>
        <p:nvSpPr>
          <p:cNvPr id="39" name="Text 37"/>
          <p:cNvSpPr/>
          <p:nvPr/>
        </p:nvSpPr>
        <p:spPr>
          <a:xfrm>
            <a:off x="8366760" y="2139696"/>
            <a:ext cx="32552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WORKER</a:t>
            </a:r>
            <a:endParaRPr lang="en-US" sz="680" dirty="0"/>
          </a:p>
        </p:txBody>
      </p:sp>
      <p:sp>
        <p:nvSpPr>
          <p:cNvPr id="40" name="Text 38"/>
          <p:cNvSpPr/>
          <p:nvPr/>
        </p:nvSpPr>
        <p:spPr>
          <a:xfrm>
            <a:off x="8366760" y="2267712"/>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Who can produce evidence?</a:t>
            </a:r>
            <a:endParaRPr lang="en-US" sz="1320" dirty="0"/>
          </a:p>
        </p:txBody>
      </p:sp>
      <p:sp>
        <p:nvSpPr>
          <p:cNvPr id="41" name="Text 39"/>
          <p:cNvSpPr/>
          <p:nvPr/>
        </p:nvSpPr>
        <p:spPr>
          <a:xfrm>
            <a:off x="8366760" y="2670048"/>
            <a:ext cx="3255264" cy="374904"/>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Blocked claims and rollback are predeclared.</a:t>
            </a:r>
            <a:endParaRPr lang="en-US" sz="810" dirty="0"/>
          </a:p>
        </p:txBody>
      </p:sp>
      <p:sp>
        <p:nvSpPr>
          <p:cNvPr id="42" name="Shape 40"/>
          <p:cNvSpPr/>
          <p:nvPr/>
        </p:nvSpPr>
        <p:spPr>
          <a:xfrm>
            <a:off x="566928" y="3474720"/>
            <a:ext cx="3566160" cy="1170432"/>
          </a:xfrm>
          <a:prstGeom prst="roundRect">
            <a:avLst>
              <a:gd name="adj" fmla="val 6250"/>
            </a:avLst>
          </a:prstGeom>
          <a:solidFill>
            <a:srgbClr val="102238"/>
          </a:solidFill>
          <a:ln w="10160">
            <a:solidFill>
              <a:srgbClr val="54D6D0"/>
            </a:solidFill>
            <a:prstDash val="solid"/>
          </a:ln>
        </p:spPr>
      </p:sp>
      <p:sp>
        <p:nvSpPr>
          <p:cNvPr id="43" name="Text 41"/>
          <p:cNvSpPr/>
          <p:nvPr/>
        </p:nvSpPr>
        <p:spPr>
          <a:xfrm>
            <a:off x="722376" y="3602736"/>
            <a:ext cx="32552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VALIDATOR</a:t>
            </a:r>
            <a:endParaRPr lang="en-US" sz="680" dirty="0"/>
          </a:p>
        </p:txBody>
      </p:sp>
      <p:sp>
        <p:nvSpPr>
          <p:cNvPr id="44" name="Text 42"/>
          <p:cNvSpPr/>
          <p:nvPr/>
        </p:nvSpPr>
        <p:spPr>
          <a:xfrm>
            <a:off x="722376" y="3730752"/>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Who can independently test it?</a:t>
            </a:r>
            <a:endParaRPr lang="en-US" sz="1320" dirty="0"/>
          </a:p>
        </p:txBody>
      </p:sp>
      <p:sp>
        <p:nvSpPr>
          <p:cNvPr id="45" name="Text 43"/>
          <p:cNvSpPr/>
          <p:nvPr/>
        </p:nvSpPr>
        <p:spPr>
          <a:xfrm>
            <a:off x="722376" y="4133088"/>
            <a:ext cx="3255264" cy="374904"/>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Blocked claims and rollback are predeclared.</a:t>
            </a:r>
            <a:endParaRPr lang="en-US" sz="810" dirty="0"/>
          </a:p>
        </p:txBody>
      </p:sp>
      <p:sp>
        <p:nvSpPr>
          <p:cNvPr id="46" name="Shape 44"/>
          <p:cNvSpPr/>
          <p:nvPr/>
        </p:nvSpPr>
        <p:spPr>
          <a:xfrm>
            <a:off x="4389120" y="3474720"/>
            <a:ext cx="3566160" cy="1170432"/>
          </a:xfrm>
          <a:prstGeom prst="roundRect">
            <a:avLst>
              <a:gd name="adj" fmla="val 6250"/>
            </a:avLst>
          </a:prstGeom>
          <a:solidFill>
            <a:srgbClr val="102238"/>
          </a:solidFill>
          <a:ln w="10160">
            <a:solidFill>
              <a:srgbClr val="43D79B"/>
            </a:solidFill>
            <a:prstDash val="solid"/>
          </a:ln>
        </p:spPr>
      </p:sp>
      <p:sp>
        <p:nvSpPr>
          <p:cNvPr id="47" name="Text 45"/>
          <p:cNvSpPr/>
          <p:nvPr/>
        </p:nvSpPr>
        <p:spPr>
          <a:xfrm>
            <a:off x="4544568" y="3602736"/>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ACCEPTANCE TESTS</a:t>
            </a:r>
            <a:endParaRPr lang="en-US" sz="680" dirty="0"/>
          </a:p>
        </p:txBody>
      </p:sp>
      <p:sp>
        <p:nvSpPr>
          <p:cNvPr id="48" name="Text 46"/>
          <p:cNvSpPr/>
          <p:nvPr/>
        </p:nvSpPr>
        <p:spPr>
          <a:xfrm>
            <a:off x="4544568" y="3730752"/>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What would satisfy the job?</a:t>
            </a:r>
            <a:endParaRPr lang="en-US" sz="1320" dirty="0"/>
          </a:p>
        </p:txBody>
      </p:sp>
      <p:sp>
        <p:nvSpPr>
          <p:cNvPr id="49" name="Text 47"/>
          <p:cNvSpPr/>
          <p:nvPr/>
        </p:nvSpPr>
        <p:spPr>
          <a:xfrm>
            <a:off x="4544568" y="4133088"/>
            <a:ext cx="3255264" cy="374904"/>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Blocked claims and rollback are predeclared.</a:t>
            </a:r>
            <a:endParaRPr lang="en-US" sz="810" dirty="0"/>
          </a:p>
        </p:txBody>
      </p:sp>
      <p:sp>
        <p:nvSpPr>
          <p:cNvPr id="50" name="Shape 48"/>
          <p:cNvSpPr/>
          <p:nvPr/>
        </p:nvSpPr>
        <p:spPr>
          <a:xfrm>
            <a:off x="8211312" y="3474720"/>
            <a:ext cx="3566160" cy="1170432"/>
          </a:xfrm>
          <a:prstGeom prst="roundRect">
            <a:avLst>
              <a:gd name="adj" fmla="val 6250"/>
            </a:avLst>
          </a:prstGeom>
          <a:solidFill>
            <a:srgbClr val="102238"/>
          </a:solidFill>
          <a:ln w="10160">
            <a:solidFill>
              <a:srgbClr val="A99CFF"/>
            </a:solidFill>
            <a:prstDash val="solid"/>
          </a:ln>
        </p:spPr>
      </p:sp>
      <p:sp>
        <p:nvSpPr>
          <p:cNvPr id="51" name="Text 49"/>
          <p:cNvSpPr/>
          <p:nvPr/>
        </p:nvSpPr>
        <p:spPr>
          <a:xfrm>
            <a:off x="8366760" y="3602736"/>
            <a:ext cx="325526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RETURN PATH</a:t>
            </a:r>
            <a:endParaRPr lang="en-US" sz="680" dirty="0"/>
          </a:p>
        </p:txBody>
      </p:sp>
      <p:sp>
        <p:nvSpPr>
          <p:cNvPr id="52" name="Text 50"/>
          <p:cNvSpPr/>
          <p:nvPr/>
        </p:nvSpPr>
        <p:spPr>
          <a:xfrm>
            <a:off x="8366760" y="3730752"/>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Which ProofBundle must come back?</a:t>
            </a:r>
            <a:endParaRPr lang="en-US" sz="1320" dirty="0"/>
          </a:p>
        </p:txBody>
      </p:sp>
      <p:sp>
        <p:nvSpPr>
          <p:cNvPr id="53" name="Text 51"/>
          <p:cNvSpPr/>
          <p:nvPr/>
        </p:nvSpPr>
        <p:spPr>
          <a:xfrm>
            <a:off x="8366760" y="4133088"/>
            <a:ext cx="3255264" cy="374904"/>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Blocked claims and rollback are predeclared.</a:t>
            </a:r>
            <a:endParaRPr lang="en-US" sz="810" dirty="0"/>
          </a:p>
        </p:txBody>
      </p:sp>
      <p:sp>
        <p:nvSpPr>
          <p:cNvPr id="54" name="Text 52"/>
          <p:cNvSpPr/>
          <p:nvPr/>
        </p:nvSpPr>
        <p:spPr>
          <a:xfrm>
            <a:off x="1234440" y="5285232"/>
            <a:ext cx="9738360" cy="438912"/>
          </a:xfrm>
          <a:prstGeom prst="rect">
            <a:avLst/>
          </a:prstGeom>
          <a:noFill/>
          <a:ln/>
        </p:spPr>
        <p:txBody>
          <a:bodyPr wrap="square" lIns="0" tIns="0" rIns="0" bIns="0" rtlCol="0" anchor="ctr">
            <a:normAutofit/>
          </a:bodyPr>
          <a:lstStyle/>
          <a:p>
            <a:pPr algn="ctr" indent="0" marL="0">
              <a:buNone/>
            </a:pPr>
            <a:r>
              <a:rPr lang="en-US" sz="1640" i="1" dirty="0">
                <a:solidFill>
                  <a:srgbClr val="E7BD62"/>
                </a:solidFill>
                <a:latin typeface="Georgia" pitchFamily="34" charset="0"/>
                <a:ea typeface="Georgia" pitchFamily="34" charset="-122"/>
                <a:cs typeface="Georgia" pitchFamily="34" charset="-120"/>
              </a:rPr>
              <a:t>If a job does not state what evidence would satisfy it, it is not a proof job. It is a wish.</a:t>
            </a:r>
            <a:endParaRPr lang="en-US" sz="164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PROOFBUNDLE</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Every meaningful execution returns proof—even when the work fails.</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Negative evidence, failed tests, contradictions, cost, latency, and rollback notes are first-class.</a:t>
            </a:r>
            <a:endParaRPr lang="en-US" sz="1450" dirty="0"/>
          </a:p>
        </p:txBody>
      </p:sp>
      <p:sp>
        <p:nvSpPr>
          <p:cNvPr id="30" name="Shape 28"/>
          <p:cNvSpPr/>
          <p:nvPr/>
        </p:nvSpPr>
        <p:spPr>
          <a:xfrm>
            <a:off x="640080" y="2167128"/>
            <a:ext cx="3538728" cy="1188720"/>
          </a:xfrm>
          <a:prstGeom prst="roundRect">
            <a:avLst>
              <a:gd name="adj" fmla="val 6154"/>
            </a:avLst>
          </a:prstGeom>
          <a:solidFill>
            <a:srgbClr val="FFFDF8"/>
          </a:solidFill>
          <a:ln w="10160">
            <a:solidFill>
              <a:srgbClr val="6FB5FF"/>
            </a:solidFill>
            <a:prstDash val="solid"/>
          </a:ln>
        </p:spPr>
      </p:sp>
      <p:sp>
        <p:nvSpPr>
          <p:cNvPr id="31" name="Text 29"/>
          <p:cNvSpPr/>
          <p:nvPr/>
        </p:nvSpPr>
        <p:spPr>
          <a:xfrm>
            <a:off x="795528" y="2295144"/>
            <a:ext cx="3227832"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PROOFBUNDLE</a:t>
            </a:r>
            <a:endParaRPr lang="en-US" sz="680" dirty="0"/>
          </a:p>
        </p:txBody>
      </p:sp>
      <p:sp>
        <p:nvSpPr>
          <p:cNvPr id="32" name="Text 30"/>
          <p:cNvSpPr/>
          <p:nvPr/>
        </p:nvSpPr>
        <p:spPr>
          <a:xfrm>
            <a:off x="795528" y="2423160"/>
            <a:ext cx="3227832" cy="329184"/>
          </a:xfrm>
          <a:prstGeom prst="rect">
            <a:avLst/>
          </a:prstGeom>
          <a:noFill/>
          <a:ln/>
        </p:spPr>
        <p:txBody>
          <a:bodyPr wrap="square" lIns="0" tIns="0" rIns="0" bIns="0" rtlCol="0" anchor="ctr">
            <a:normAutofit/>
          </a:bodyPr>
          <a:lstStyle/>
          <a:p>
            <a:pPr indent="0" marL="0">
              <a:buNone/>
            </a:pPr>
            <a:r>
              <a:rPr lang="en-US" sz="1500" b="1" dirty="0">
                <a:solidFill>
                  <a:srgbClr val="14273D"/>
                </a:solidFill>
                <a:latin typeface="Inter Display" pitchFamily="34" charset="0"/>
                <a:ea typeface="Inter Display" pitchFamily="34" charset="-122"/>
                <a:cs typeface="Inter Display" pitchFamily="34" charset="-120"/>
              </a:rPr>
              <a:t>Input root</a:t>
            </a:r>
            <a:endParaRPr lang="en-US" sz="1500" dirty="0"/>
          </a:p>
        </p:txBody>
      </p:sp>
      <p:sp>
        <p:nvSpPr>
          <p:cNvPr id="33" name="Text 31"/>
          <p:cNvSpPr/>
          <p:nvPr/>
        </p:nvSpPr>
        <p:spPr>
          <a:xfrm>
            <a:off x="795528" y="2825496"/>
            <a:ext cx="3227832" cy="39319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What exact input state was used?</a:t>
            </a:r>
            <a:endParaRPr lang="en-US" sz="870" dirty="0"/>
          </a:p>
        </p:txBody>
      </p:sp>
      <p:sp>
        <p:nvSpPr>
          <p:cNvPr id="34" name="Shape 32"/>
          <p:cNvSpPr/>
          <p:nvPr/>
        </p:nvSpPr>
        <p:spPr>
          <a:xfrm>
            <a:off x="4453128" y="2167128"/>
            <a:ext cx="3538728" cy="1188720"/>
          </a:xfrm>
          <a:prstGeom prst="roundRect">
            <a:avLst>
              <a:gd name="adj" fmla="val 6154"/>
            </a:avLst>
          </a:prstGeom>
          <a:solidFill>
            <a:srgbClr val="FFFDF8"/>
          </a:solidFill>
          <a:ln w="10160">
            <a:solidFill>
              <a:srgbClr val="A99CFF"/>
            </a:solidFill>
            <a:prstDash val="solid"/>
          </a:ln>
        </p:spPr>
      </p:sp>
      <p:sp>
        <p:nvSpPr>
          <p:cNvPr id="35" name="Text 33"/>
          <p:cNvSpPr/>
          <p:nvPr/>
        </p:nvSpPr>
        <p:spPr>
          <a:xfrm>
            <a:off x="4608576" y="2295144"/>
            <a:ext cx="3227832"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PROOFBUNDLE</a:t>
            </a:r>
            <a:endParaRPr lang="en-US" sz="680" dirty="0"/>
          </a:p>
        </p:txBody>
      </p:sp>
      <p:sp>
        <p:nvSpPr>
          <p:cNvPr id="36" name="Text 34"/>
          <p:cNvSpPr/>
          <p:nvPr/>
        </p:nvSpPr>
        <p:spPr>
          <a:xfrm>
            <a:off x="4608576" y="2423160"/>
            <a:ext cx="3227832" cy="329184"/>
          </a:xfrm>
          <a:prstGeom prst="rect">
            <a:avLst/>
          </a:prstGeom>
          <a:noFill/>
          <a:ln/>
        </p:spPr>
        <p:txBody>
          <a:bodyPr wrap="square" lIns="0" tIns="0" rIns="0" bIns="0" rtlCol="0" anchor="ctr">
            <a:normAutofit/>
          </a:bodyPr>
          <a:lstStyle/>
          <a:p>
            <a:pPr indent="0" marL="0">
              <a:buNone/>
            </a:pPr>
            <a:r>
              <a:rPr lang="en-US" sz="1500" b="1" dirty="0">
                <a:solidFill>
                  <a:srgbClr val="14273D"/>
                </a:solidFill>
                <a:latin typeface="Inter Display" pitchFamily="34" charset="0"/>
                <a:ea typeface="Inter Display" pitchFamily="34" charset="-122"/>
                <a:cs typeface="Inter Display" pitchFamily="34" charset="-120"/>
              </a:rPr>
              <a:t>Environment root</a:t>
            </a:r>
            <a:endParaRPr lang="en-US" sz="1500" dirty="0"/>
          </a:p>
        </p:txBody>
      </p:sp>
      <p:sp>
        <p:nvSpPr>
          <p:cNvPr id="37" name="Text 35"/>
          <p:cNvSpPr/>
          <p:nvPr/>
        </p:nvSpPr>
        <p:spPr>
          <a:xfrm>
            <a:off x="4608576" y="2825496"/>
            <a:ext cx="3227832" cy="39319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Which tools, versions, permissions, and seeds?</a:t>
            </a:r>
            <a:endParaRPr lang="en-US" sz="870" dirty="0"/>
          </a:p>
        </p:txBody>
      </p:sp>
      <p:sp>
        <p:nvSpPr>
          <p:cNvPr id="38" name="Shape 36"/>
          <p:cNvSpPr/>
          <p:nvPr/>
        </p:nvSpPr>
        <p:spPr>
          <a:xfrm>
            <a:off x="8266176" y="2167128"/>
            <a:ext cx="3538728" cy="1188720"/>
          </a:xfrm>
          <a:prstGeom prst="roundRect">
            <a:avLst>
              <a:gd name="adj" fmla="val 6154"/>
            </a:avLst>
          </a:prstGeom>
          <a:solidFill>
            <a:srgbClr val="FFFDF8"/>
          </a:solidFill>
          <a:ln w="10160">
            <a:solidFill>
              <a:srgbClr val="43D79B"/>
            </a:solidFill>
            <a:prstDash val="solid"/>
          </a:ln>
        </p:spPr>
      </p:sp>
      <p:sp>
        <p:nvSpPr>
          <p:cNvPr id="39" name="Text 37"/>
          <p:cNvSpPr/>
          <p:nvPr/>
        </p:nvSpPr>
        <p:spPr>
          <a:xfrm>
            <a:off x="8421624" y="2295144"/>
            <a:ext cx="3227832"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PROOFBUNDLE</a:t>
            </a:r>
            <a:endParaRPr lang="en-US" sz="680" dirty="0"/>
          </a:p>
        </p:txBody>
      </p:sp>
      <p:sp>
        <p:nvSpPr>
          <p:cNvPr id="40" name="Text 38"/>
          <p:cNvSpPr/>
          <p:nvPr/>
        </p:nvSpPr>
        <p:spPr>
          <a:xfrm>
            <a:off x="8421624" y="2423160"/>
            <a:ext cx="3227832" cy="329184"/>
          </a:xfrm>
          <a:prstGeom prst="rect">
            <a:avLst/>
          </a:prstGeom>
          <a:noFill/>
          <a:ln/>
        </p:spPr>
        <p:txBody>
          <a:bodyPr wrap="square" lIns="0" tIns="0" rIns="0" bIns="0" rtlCol="0" anchor="ctr">
            <a:normAutofit/>
          </a:bodyPr>
          <a:lstStyle/>
          <a:p>
            <a:pPr indent="0" marL="0">
              <a:buNone/>
            </a:pPr>
            <a:r>
              <a:rPr lang="en-US" sz="1500" b="1" dirty="0">
                <a:solidFill>
                  <a:srgbClr val="14273D"/>
                </a:solidFill>
                <a:latin typeface="Inter Display" pitchFamily="34" charset="0"/>
                <a:ea typeface="Inter Display" pitchFamily="34" charset="-122"/>
                <a:cs typeface="Inter Display" pitchFamily="34" charset="-120"/>
              </a:rPr>
              <a:t>Output root</a:t>
            </a:r>
            <a:endParaRPr lang="en-US" sz="1500" dirty="0"/>
          </a:p>
        </p:txBody>
      </p:sp>
      <p:sp>
        <p:nvSpPr>
          <p:cNvPr id="41" name="Text 39"/>
          <p:cNvSpPr/>
          <p:nvPr/>
        </p:nvSpPr>
        <p:spPr>
          <a:xfrm>
            <a:off x="8421624" y="2825496"/>
            <a:ext cx="3227832" cy="39319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What exact artifacts were produced?</a:t>
            </a:r>
            <a:endParaRPr lang="en-US" sz="870" dirty="0"/>
          </a:p>
        </p:txBody>
      </p:sp>
      <p:sp>
        <p:nvSpPr>
          <p:cNvPr id="42" name="Shape 40"/>
          <p:cNvSpPr/>
          <p:nvPr/>
        </p:nvSpPr>
        <p:spPr>
          <a:xfrm>
            <a:off x="640080" y="3648456"/>
            <a:ext cx="3538728" cy="1188720"/>
          </a:xfrm>
          <a:prstGeom prst="roundRect">
            <a:avLst>
              <a:gd name="adj" fmla="val 6154"/>
            </a:avLst>
          </a:prstGeom>
          <a:solidFill>
            <a:srgbClr val="FFFDF8"/>
          </a:solidFill>
          <a:ln w="10160">
            <a:solidFill>
              <a:srgbClr val="54D6D0"/>
            </a:solidFill>
            <a:prstDash val="solid"/>
          </a:ln>
        </p:spPr>
      </p:sp>
      <p:sp>
        <p:nvSpPr>
          <p:cNvPr id="43" name="Text 41"/>
          <p:cNvSpPr/>
          <p:nvPr/>
        </p:nvSpPr>
        <p:spPr>
          <a:xfrm>
            <a:off x="795528" y="3776472"/>
            <a:ext cx="3227832"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PROOFBUNDLE</a:t>
            </a:r>
            <a:endParaRPr lang="en-US" sz="680" dirty="0"/>
          </a:p>
        </p:txBody>
      </p:sp>
      <p:sp>
        <p:nvSpPr>
          <p:cNvPr id="44" name="Text 42"/>
          <p:cNvSpPr/>
          <p:nvPr/>
        </p:nvSpPr>
        <p:spPr>
          <a:xfrm>
            <a:off x="795528" y="3904488"/>
            <a:ext cx="3227832" cy="329184"/>
          </a:xfrm>
          <a:prstGeom prst="rect">
            <a:avLst/>
          </a:prstGeom>
          <a:noFill/>
          <a:ln/>
        </p:spPr>
        <p:txBody>
          <a:bodyPr wrap="square" lIns="0" tIns="0" rIns="0" bIns="0" rtlCol="0" anchor="ctr">
            <a:normAutofit/>
          </a:bodyPr>
          <a:lstStyle/>
          <a:p>
            <a:pPr indent="0" marL="0">
              <a:buNone/>
            </a:pPr>
            <a:r>
              <a:rPr lang="en-US" sz="1500" b="1" dirty="0">
                <a:solidFill>
                  <a:srgbClr val="14273D"/>
                </a:solidFill>
                <a:latin typeface="Inter Display" pitchFamily="34" charset="0"/>
                <a:ea typeface="Inter Display" pitchFamily="34" charset="-122"/>
                <a:cs typeface="Inter Display" pitchFamily="34" charset="-120"/>
              </a:rPr>
              <a:t>Trace + decisions</a:t>
            </a:r>
            <a:endParaRPr lang="en-US" sz="1500" dirty="0"/>
          </a:p>
        </p:txBody>
      </p:sp>
      <p:sp>
        <p:nvSpPr>
          <p:cNvPr id="45" name="Text 43"/>
          <p:cNvSpPr/>
          <p:nvPr/>
        </p:nvSpPr>
        <p:spPr>
          <a:xfrm>
            <a:off x="795528" y="4306824"/>
            <a:ext cx="3227832" cy="39319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Which tools and policies were invoked?</a:t>
            </a:r>
            <a:endParaRPr lang="en-US" sz="870" dirty="0"/>
          </a:p>
        </p:txBody>
      </p:sp>
      <p:sp>
        <p:nvSpPr>
          <p:cNvPr id="46" name="Shape 44"/>
          <p:cNvSpPr/>
          <p:nvPr/>
        </p:nvSpPr>
        <p:spPr>
          <a:xfrm>
            <a:off x="4453128" y="3648456"/>
            <a:ext cx="3538728" cy="1188720"/>
          </a:xfrm>
          <a:prstGeom prst="roundRect">
            <a:avLst>
              <a:gd name="adj" fmla="val 6154"/>
            </a:avLst>
          </a:prstGeom>
          <a:solidFill>
            <a:srgbClr val="FFFDF8"/>
          </a:solidFill>
          <a:ln w="10160">
            <a:solidFill>
              <a:srgbClr val="FF7584"/>
            </a:solidFill>
            <a:prstDash val="solid"/>
          </a:ln>
        </p:spPr>
      </p:sp>
      <p:sp>
        <p:nvSpPr>
          <p:cNvPr id="47" name="Text 45"/>
          <p:cNvSpPr/>
          <p:nvPr/>
        </p:nvSpPr>
        <p:spPr>
          <a:xfrm>
            <a:off x="4608576" y="3776472"/>
            <a:ext cx="3227832"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PROOFBUNDLE</a:t>
            </a:r>
            <a:endParaRPr lang="en-US" sz="680" dirty="0"/>
          </a:p>
        </p:txBody>
      </p:sp>
      <p:sp>
        <p:nvSpPr>
          <p:cNvPr id="48" name="Text 46"/>
          <p:cNvSpPr/>
          <p:nvPr/>
        </p:nvSpPr>
        <p:spPr>
          <a:xfrm>
            <a:off x="4608576" y="3904488"/>
            <a:ext cx="3227832" cy="329184"/>
          </a:xfrm>
          <a:prstGeom prst="rect">
            <a:avLst/>
          </a:prstGeom>
          <a:noFill/>
          <a:ln/>
        </p:spPr>
        <p:txBody>
          <a:bodyPr wrap="square" lIns="0" tIns="0" rIns="0" bIns="0" rtlCol="0" anchor="ctr">
            <a:normAutofit/>
          </a:bodyPr>
          <a:lstStyle/>
          <a:p>
            <a:pPr indent="0" marL="0">
              <a:buNone/>
            </a:pPr>
            <a:r>
              <a:rPr lang="en-US" sz="1500" b="1" dirty="0">
                <a:solidFill>
                  <a:srgbClr val="14273D"/>
                </a:solidFill>
                <a:latin typeface="Inter Display" pitchFamily="34" charset="0"/>
                <a:ea typeface="Inter Display" pitchFamily="34" charset="-122"/>
                <a:cs typeface="Inter Display" pitchFamily="34" charset="-120"/>
              </a:rPr>
              <a:t>Tests + failures</a:t>
            </a:r>
            <a:endParaRPr lang="en-US" sz="1500" dirty="0"/>
          </a:p>
        </p:txBody>
      </p:sp>
      <p:sp>
        <p:nvSpPr>
          <p:cNvPr id="49" name="Text 47"/>
          <p:cNvSpPr/>
          <p:nvPr/>
        </p:nvSpPr>
        <p:spPr>
          <a:xfrm>
            <a:off x="4608576" y="4306824"/>
            <a:ext cx="3227832" cy="39319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What passed, failed, contradicted, or timed out?</a:t>
            </a:r>
            <a:endParaRPr lang="en-US" sz="870" dirty="0"/>
          </a:p>
        </p:txBody>
      </p:sp>
      <p:sp>
        <p:nvSpPr>
          <p:cNvPr id="50" name="Shape 48"/>
          <p:cNvSpPr/>
          <p:nvPr/>
        </p:nvSpPr>
        <p:spPr>
          <a:xfrm>
            <a:off x="8266176" y="3648456"/>
            <a:ext cx="3538728" cy="1188720"/>
          </a:xfrm>
          <a:prstGeom prst="roundRect">
            <a:avLst>
              <a:gd name="adj" fmla="val 6154"/>
            </a:avLst>
          </a:prstGeom>
          <a:solidFill>
            <a:srgbClr val="FFFDF8"/>
          </a:solidFill>
          <a:ln w="10160">
            <a:solidFill>
              <a:srgbClr val="E7BD62"/>
            </a:solidFill>
            <a:prstDash val="solid"/>
          </a:ln>
        </p:spPr>
      </p:sp>
      <p:sp>
        <p:nvSpPr>
          <p:cNvPr id="51" name="Text 49"/>
          <p:cNvSpPr/>
          <p:nvPr/>
        </p:nvSpPr>
        <p:spPr>
          <a:xfrm>
            <a:off x="8421624" y="3776472"/>
            <a:ext cx="3227832"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PROOFBUNDLE</a:t>
            </a:r>
            <a:endParaRPr lang="en-US" sz="680" dirty="0"/>
          </a:p>
        </p:txBody>
      </p:sp>
      <p:sp>
        <p:nvSpPr>
          <p:cNvPr id="52" name="Text 50"/>
          <p:cNvSpPr/>
          <p:nvPr/>
        </p:nvSpPr>
        <p:spPr>
          <a:xfrm>
            <a:off x="8421624" y="3904488"/>
            <a:ext cx="3227832" cy="329184"/>
          </a:xfrm>
          <a:prstGeom prst="rect">
            <a:avLst/>
          </a:prstGeom>
          <a:noFill/>
          <a:ln/>
        </p:spPr>
        <p:txBody>
          <a:bodyPr wrap="square" lIns="0" tIns="0" rIns="0" bIns="0" rtlCol="0" anchor="ctr">
            <a:normAutofit/>
          </a:bodyPr>
          <a:lstStyle/>
          <a:p>
            <a:pPr indent="0" marL="0">
              <a:buNone/>
            </a:pPr>
            <a:r>
              <a:rPr lang="en-US" sz="1500" b="1" dirty="0">
                <a:solidFill>
                  <a:srgbClr val="14273D"/>
                </a:solidFill>
                <a:latin typeface="Inter Display" pitchFamily="34" charset="0"/>
                <a:ea typeface="Inter Display" pitchFamily="34" charset="-122"/>
                <a:cs typeface="Inter Display" pitchFamily="34" charset="-120"/>
              </a:rPr>
              <a:t>Replay manifest</a:t>
            </a:r>
            <a:endParaRPr lang="en-US" sz="1500" dirty="0"/>
          </a:p>
        </p:txBody>
      </p:sp>
      <p:sp>
        <p:nvSpPr>
          <p:cNvPr id="53" name="Text 51"/>
          <p:cNvSpPr/>
          <p:nvPr/>
        </p:nvSpPr>
        <p:spPr>
          <a:xfrm>
            <a:off x="8421624" y="4306824"/>
            <a:ext cx="3227832" cy="393192"/>
          </a:xfrm>
          <a:prstGeom prst="rect">
            <a:avLst/>
          </a:prstGeom>
          <a:noFill/>
          <a:ln/>
        </p:spPr>
        <p:txBody>
          <a:bodyPr wrap="square" lIns="0" tIns="0" rIns="0" bIns="0" rtlCol="0" anchor="t">
            <a:normAutofit/>
          </a:bodyPr>
          <a:lstStyle/>
          <a:p>
            <a:pPr indent="0" marL="0">
              <a:buNone/>
            </a:pPr>
            <a:r>
              <a:rPr lang="en-US" sz="870" dirty="0">
                <a:solidFill>
                  <a:srgbClr val="43566A"/>
                </a:solidFill>
                <a:latin typeface="Inter" pitchFamily="34" charset="0"/>
                <a:ea typeface="Inter" pitchFamily="34" charset="-122"/>
                <a:cs typeface="Inter" pitchFamily="34" charset="-120"/>
              </a:rPr>
              <a:t>How can the result be reproduced or challenged?</a:t>
            </a:r>
            <a:endParaRPr lang="en-US" sz="870" dirty="0"/>
          </a:p>
        </p:txBody>
      </p:sp>
      <p:sp>
        <p:nvSpPr>
          <p:cNvPr id="54" name="Shape 52"/>
          <p:cNvSpPr/>
          <p:nvPr/>
        </p:nvSpPr>
        <p:spPr>
          <a:xfrm>
            <a:off x="2286000" y="5394960"/>
            <a:ext cx="2606040" cy="283464"/>
          </a:xfrm>
          <a:prstGeom prst="roundRect">
            <a:avLst>
              <a:gd name="adj" fmla="val 38710"/>
            </a:avLst>
          </a:prstGeom>
          <a:solidFill>
            <a:srgbClr val="6FB5FF">
              <a:alpha val="13000"/>
            </a:srgbClr>
          </a:solidFill>
          <a:ln w="10160">
            <a:solidFill>
              <a:srgbClr val="6FB5FF">
                <a:alpha val="60000"/>
              </a:srgbClr>
            </a:solidFill>
            <a:prstDash val="solid"/>
          </a:ln>
        </p:spPr>
      </p:sp>
      <p:sp>
        <p:nvSpPr>
          <p:cNvPr id="55" name="Text 53"/>
          <p:cNvSpPr/>
          <p:nvPr/>
        </p:nvSpPr>
        <p:spPr>
          <a:xfrm>
            <a:off x="2340864" y="5472684"/>
            <a:ext cx="2496312"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WORKER MAY PRODUCE OUTPUT</a:t>
            </a:r>
            <a:endParaRPr lang="en-US" sz="690" dirty="0"/>
          </a:p>
        </p:txBody>
      </p:sp>
      <p:sp>
        <p:nvSpPr>
          <p:cNvPr id="56" name="Shape 54"/>
          <p:cNvSpPr/>
          <p:nvPr/>
        </p:nvSpPr>
        <p:spPr>
          <a:xfrm>
            <a:off x="4992624" y="5394960"/>
            <a:ext cx="2331720"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57" name="Text 55"/>
          <p:cNvSpPr/>
          <p:nvPr/>
        </p:nvSpPr>
        <p:spPr>
          <a:xfrm>
            <a:off x="5047488" y="5472684"/>
            <a:ext cx="2221992"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WORKER MAY NOT SELF-ADMIT</a:t>
            </a:r>
            <a:endParaRPr lang="en-US" sz="690" dirty="0"/>
          </a:p>
        </p:txBody>
      </p:sp>
      <p:sp>
        <p:nvSpPr>
          <p:cNvPr id="58" name="Shape 56"/>
          <p:cNvSpPr/>
          <p:nvPr/>
        </p:nvSpPr>
        <p:spPr>
          <a:xfrm>
            <a:off x="7424928" y="5394960"/>
            <a:ext cx="2468880" cy="283464"/>
          </a:xfrm>
          <a:prstGeom prst="roundRect">
            <a:avLst>
              <a:gd name="adj" fmla="val 38710"/>
            </a:avLst>
          </a:prstGeom>
          <a:solidFill>
            <a:srgbClr val="E7BD62">
              <a:alpha val="13000"/>
            </a:srgbClr>
          </a:solidFill>
          <a:ln w="10160">
            <a:solidFill>
              <a:srgbClr val="E7BD62">
                <a:alpha val="60000"/>
              </a:srgbClr>
            </a:solidFill>
            <a:prstDash val="solid"/>
          </a:ln>
        </p:spPr>
      </p:sp>
      <p:sp>
        <p:nvSpPr>
          <p:cNvPr id="59" name="Text 57"/>
          <p:cNvSpPr/>
          <p:nvPr/>
        </p:nvSpPr>
        <p:spPr>
          <a:xfrm>
            <a:off x="7479792" y="5472684"/>
            <a:ext cx="2359152"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WORKER MAY NOT SELF-SETTLE</a:t>
            </a:r>
            <a:endParaRPr lang="en-US" sz="69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EVIDENCE DOCKET</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The Evidence Docket is the proof room—not a file pile.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A reviewer should be able to reconstruct the mission without reading every raw trace.</a:t>
            </a:r>
            <a:endParaRPr lang="en-US" sz="1450" dirty="0"/>
          </a:p>
        </p:txBody>
      </p:sp>
      <p:sp>
        <p:nvSpPr>
          <p:cNvPr id="30" name="Shape 28"/>
          <p:cNvSpPr/>
          <p:nvPr/>
        </p:nvSpPr>
        <p:spPr>
          <a:xfrm>
            <a:off x="640080" y="2057400"/>
            <a:ext cx="5166360" cy="914400"/>
          </a:xfrm>
          <a:prstGeom prst="roundRect">
            <a:avLst>
              <a:gd name="adj" fmla="val 8000"/>
            </a:avLst>
          </a:prstGeom>
          <a:solidFill>
            <a:srgbClr val="102238"/>
          </a:solidFill>
          <a:ln w="10160">
            <a:solidFill>
              <a:srgbClr val="E7BD62"/>
            </a:solidFill>
            <a:prstDash val="solid"/>
          </a:ln>
        </p:spPr>
      </p:sp>
      <p:sp>
        <p:nvSpPr>
          <p:cNvPr id="31" name="Text 29"/>
          <p:cNvSpPr/>
          <p:nvPr/>
        </p:nvSpPr>
        <p:spPr>
          <a:xfrm>
            <a:off x="795528" y="2185416"/>
            <a:ext cx="48554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REVIEWER QUESTION</a:t>
            </a:r>
            <a:endParaRPr lang="en-US" sz="680" dirty="0"/>
          </a:p>
        </p:txBody>
      </p:sp>
      <p:sp>
        <p:nvSpPr>
          <p:cNvPr id="32" name="Text 30"/>
          <p:cNvSpPr/>
          <p:nvPr/>
        </p:nvSpPr>
        <p:spPr>
          <a:xfrm>
            <a:off x="795528" y="2313432"/>
            <a:ext cx="4855464" cy="329184"/>
          </a:xfrm>
          <a:prstGeom prst="rect">
            <a:avLst/>
          </a:prstGeom>
          <a:noFill/>
          <a:ln/>
        </p:spPr>
        <p:txBody>
          <a:bodyPr wrap="square" lIns="0" tIns="0" rIns="0" bIns="0" rtlCol="0" anchor="ctr">
            <a:normAutofit/>
          </a:bodyPr>
          <a:lstStyle/>
          <a:p>
            <a:pPr indent="0" marL="0">
              <a:buNone/>
            </a:pPr>
            <a:r>
              <a:rPr lang="en-US" sz="1350" b="1" dirty="0">
                <a:solidFill>
                  <a:srgbClr val="F7FBFF"/>
                </a:solidFill>
                <a:latin typeface="Inter Display" pitchFamily="34" charset="0"/>
                <a:ea typeface="Inter Display" pitchFamily="34" charset="-122"/>
                <a:cs typeface="Inter Display" pitchFamily="34" charset="-120"/>
              </a:rPr>
              <a:t>What was attempted?</a:t>
            </a:r>
            <a:endParaRPr lang="en-US" sz="1350" dirty="0"/>
          </a:p>
        </p:txBody>
      </p:sp>
      <p:sp>
        <p:nvSpPr>
          <p:cNvPr id="33" name="Text 31"/>
          <p:cNvSpPr/>
          <p:nvPr/>
        </p:nvSpPr>
        <p:spPr>
          <a:xfrm>
            <a:off x="795528" y="2715768"/>
            <a:ext cx="4855464" cy="118872"/>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Mission Contract, sources, agents, tools, acceptance tests</a:t>
            </a:r>
            <a:endParaRPr lang="en-US" sz="810" dirty="0"/>
          </a:p>
        </p:txBody>
      </p:sp>
      <p:sp>
        <p:nvSpPr>
          <p:cNvPr id="34" name="Shape 32"/>
          <p:cNvSpPr/>
          <p:nvPr/>
        </p:nvSpPr>
        <p:spPr>
          <a:xfrm>
            <a:off x="6172200" y="2057400"/>
            <a:ext cx="5166360" cy="914400"/>
          </a:xfrm>
          <a:prstGeom prst="roundRect">
            <a:avLst>
              <a:gd name="adj" fmla="val 8000"/>
            </a:avLst>
          </a:prstGeom>
          <a:solidFill>
            <a:srgbClr val="102238"/>
          </a:solidFill>
          <a:ln w="10160">
            <a:solidFill>
              <a:srgbClr val="54D6D0"/>
            </a:solidFill>
            <a:prstDash val="solid"/>
          </a:ln>
        </p:spPr>
      </p:sp>
      <p:sp>
        <p:nvSpPr>
          <p:cNvPr id="35" name="Text 33"/>
          <p:cNvSpPr/>
          <p:nvPr/>
        </p:nvSpPr>
        <p:spPr>
          <a:xfrm>
            <a:off x="6327648" y="2185416"/>
            <a:ext cx="48554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REVIEWER QUESTION</a:t>
            </a:r>
            <a:endParaRPr lang="en-US" sz="680" dirty="0"/>
          </a:p>
        </p:txBody>
      </p:sp>
      <p:sp>
        <p:nvSpPr>
          <p:cNvPr id="36" name="Text 34"/>
          <p:cNvSpPr/>
          <p:nvPr/>
        </p:nvSpPr>
        <p:spPr>
          <a:xfrm>
            <a:off x="6327648" y="2313432"/>
            <a:ext cx="4855464" cy="329184"/>
          </a:xfrm>
          <a:prstGeom prst="rect">
            <a:avLst/>
          </a:prstGeom>
          <a:noFill/>
          <a:ln/>
        </p:spPr>
        <p:txBody>
          <a:bodyPr wrap="square" lIns="0" tIns="0" rIns="0" bIns="0" rtlCol="0" anchor="ctr">
            <a:normAutofit/>
          </a:bodyPr>
          <a:lstStyle/>
          <a:p>
            <a:pPr indent="0" marL="0">
              <a:buNone/>
            </a:pPr>
            <a:r>
              <a:rPr lang="en-US" sz="1350" b="1" dirty="0">
                <a:solidFill>
                  <a:srgbClr val="F7FBFF"/>
                </a:solidFill>
                <a:latin typeface="Inter Display" pitchFamily="34" charset="0"/>
                <a:ea typeface="Inter Display" pitchFamily="34" charset="-122"/>
                <a:cs typeface="Inter Display" pitchFamily="34" charset="-120"/>
              </a:rPr>
              <a:t>What happened?</a:t>
            </a:r>
            <a:endParaRPr lang="en-US" sz="1350" dirty="0"/>
          </a:p>
        </p:txBody>
      </p:sp>
      <p:sp>
        <p:nvSpPr>
          <p:cNvPr id="37" name="Text 35"/>
          <p:cNvSpPr/>
          <p:nvPr/>
        </p:nvSpPr>
        <p:spPr>
          <a:xfrm>
            <a:off x="6327648" y="2715768"/>
            <a:ext cx="4855464" cy="118872"/>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ProofBundles, test results, contradictions, negative evidence</a:t>
            </a:r>
            <a:endParaRPr lang="en-US" sz="810" dirty="0"/>
          </a:p>
        </p:txBody>
      </p:sp>
      <p:sp>
        <p:nvSpPr>
          <p:cNvPr id="38" name="Shape 36"/>
          <p:cNvSpPr/>
          <p:nvPr/>
        </p:nvSpPr>
        <p:spPr>
          <a:xfrm>
            <a:off x="640080" y="3200400"/>
            <a:ext cx="5166360" cy="914400"/>
          </a:xfrm>
          <a:prstGeom prst="roundRect">
            <a:avLst>
              <a:gd name="adj" fmla="val 8000"/>
            </a:avLst>
          </a:prstGeom>
          <a:solidFill>
            <a:srgbClr val="102238"/>
          </a:solidFill>
          <a:ln w="10160">
            <a:solidFill>
              <a:srgbClr val="E7BD62"/>
            </a:solidFill>
            <a:prstDash val="solid"/>
          </a:ln>
        </p:spPr>
      </p:sp>
      <p:sp>
        <p:nvSpPr>
          <p:cNvPr id="39" name="Text 37"/>
          <p:cNvSpPr/>
          <p:nvPr/>
        </p:nvSpPr>
        <p:spPr>
          <a:xfrm>
            <a:off x="795528" y="3328416"/>
            <a:ext cx="48554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REVIEWER QUESTION</a:t>
            </a:r>
            <a:endParaRPr lang="en-US" sz="680" dirty="0"/>
          </a:p>
        </p:txBody>
      </p:sp>
      <p:sp>
        <p:nvSpPr>
          <p:cNvPr id="40" name="Text 38"/>
          <p:cNvSpPr/>
          <p:nvPr/>
        </p:nvSpPr>
        <p:spPr>
          <a:xfrm>
            <a:off x="795528" y="3456432"/>
            <a:ext cx="4855464" cy="329184"/>
          </a:xfrm>
          <a:prstGeom prst="rect">
            <a:avLst/>
          </a:prstGeom>
          <a:noFill/>
          <a:ln/>
        </p:spPr>
        <p:txBody>
          <a:bodyPr wrap="square" lIns="0" tIns="0" rIns="0" bIns="0" rtlCol="0" anchor="ctr">
            <a:normAutofit/>
          </a:bodyPr>
          <a:lstStyle/>
          <a:p>
            <a:pPr indent="0" marL="0">
              <a:buNone/>
            </a:pPr>
            <a:r>
              <a:rPr lang="en-US" sz="1350" b="1" dirty="0">
                <a:solidFill>
                  <a:srgbClr val="F7FBFF"/>
                </a:solidFill>
                <a:latin typeface="Inter Display" pitchFamily="34" charset="0"/>
                <a:ea typeface="Inter Display" pitchFamily="34" charset="-122"/>
                <a:cs typeface="Inter Display" pitchFamily="34" charset="-120"/>
              </a:rPr>
              <a:t>What is supported?</a:t>
            </a:r>
            <a:endParaRPr lang="en-US" sz="1350" dirty="0"/>
          </a:p>
        </p:txBody>
      </p:sp>
      <p:sp>
        <p:nvSpPr>
          <p:cNvPr id="41" name="Text 39"/>
          <p:cNvSpPr/>
          <p:nvPr/>
        </p:nvSpPr>
        <p:spPr>
          <a:xfrm>
            <a:off x="795528" y="3858768"/>
            <a:ext cx="4855464" cy="118872"/>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Claims matrix, source provenance, reviewer verdicts</a:t>
            </a:r>
            <a:endParaRPr lang="en-US" sz="810" dirty="0"/>
          </a:p>
        </p:txBody>
      </p:sp>
      <p:sp>
        <p:nvSpPr>
          <p:cNvPr id="42" name="Shape 40"/>
          <p:cNvSpPr/>
          <p:nvPr/>
        </p:nvSpPr>
        <p:spPr>
          <a:xfrm>
            <a:off x="6172200" y="3200400"/>
            <a:ext cx="5166360" cy="914400"/>
          </a:xfrm>
          <a:prstGeom prst="roundRect">
            <a:avLst>
              <a:gd name="adj" fmla="val 8000"/>
            </a:avLst>
          </a:prstGeom>
          <a:solidFill>
            <a:srgbClr val="102238"/>
          </a:solidFill>
          <a:ln w="10160">
            <a:solidFill>
              <a:srgbClr val="54D6D0"/>
            </a:solidFill>
            <a:prstDash val="solid"/>
          </a:ln>
        </p:spPr>
      </p:sp>
      <p:sp>
        <p:nvSpPr>
          <p:cNvPr id="43" name="Text 41"/>
          <p:cNvSpPr/>
          <p:nvPr/>
        </p:nvSpPr>
        <p:spPr>
          <a:xfrm>
            <a:off x="6327648" y="3328416"/>
            <a:ext cx="48554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REVIEWER QUESTION</a:t>
            </a:r>
            <a:endParaRPr lang="en-US" sz="680" dirty="0"/>
          </a:p>
        </p:txBody>
      </p:sp>
      <p:sp>
        <p:nvSpPr>
          <p:cNvPr id="44" name="Text 42"/>
          <p:cNvSpPr/>
          <p:nvPr/>
        </p:nvSpPr>
        <p:spPr>
          <a:xfrm>
            <a:off x="6327648" y="3456432"/>
            <a:ext cx="4855464" cy="329184"/>
          </a:xfrm>
          <a:prstGeom prst="rect">
            <a:avLst/>
          </a:prstGeom>
          <a:noFill/>
          <a:ln/>
        </p:spPr>
        <p:txBody>
          <a:bodyPr wrap="square" lIns="0" tIns="0" rIns="0" bIns="0" rtlCol="0" anchor="ctr">
            <a:normAutofit/>
          </a:bodyPr>
          <a:lstStyle/>
          <a:p>
            <a:pPr indent="0" marL="0">
              <a:buNone/>
            </a:pPr>
            <a:r>
              <a:rPr lang="en-US" sz="1350" b="1" dirty="0">
                <a:solidFill>
                  <a:srgbClr val="F7FBFF"/>
                </a:solidFill>
                <a:latin typeface="Inter Display" pitchFamily="34" charset="0"/>
                <a:ea typeface="Inter Display" pitchFamily="34" charset="-122"/>
                <a:cs typeface="Inter Display" pitchFamily="34" charset="-120"/>
              </a:rPr>
              <a:t>What failed or remains blocked?</a:t>
            </a:r>
            <a:endParaRPr lang="en-US" sz="1350" dirty="0"/>
          </a:p>
        </p:txBody>
      </p:sp>
      <p:sp>
        <p:nvSpPr>
          <p:cNvPr id="45" name="Text 43"/>
          <p:cNvSpPr/>
          <p:nvPr/>
        </p:nvSpPr>
        <p:spPr>
          <a:xfrm>
            <a:off x="6327648" y="3858768"/>
            <a:ext cx="4855464" cy="118872"/>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Open Proof Debt, risk ledger, excluded claims</a:t>
            </a:r>
            <a:endParaRPr lang="en-US" sz="810" dirty="0"/>
          </a:p>
        </p:txBody>
      </p:sp>
      <p:sp>
        <p:nvSpPr>
          <p:cNvPr id="46" name="Shape 44"/>
          <p:cNvSpPr/>
          <p:nvPr/>
        </p:nvSpPr>
        <p:spPr>
          <a:xfrm>
            <a:off x="640080" y="4343400"/>
            <a:ext cx="5166360" cy="914400"/>
          </a:xfrm>
          <a:prstGeom prst="roundRect">
            <a:avLst>
              <a:gd name="adj" fmla="val 8000"/>
            </a:avLst>
          </a:prstGeom>
          <a:solidFill>
            <a:srgbClr val="102238"/>
          </a:solidFill>
          <a:ln w="10160">
            <a:solidFill>
              <a:srgbClr val="E7BD62"/>
            </a:solidFill>
            <a:prstDash val="solid"/>
          </a:ln>
        </p:spPr>
      </p:sp>
      <p:sp>
        <p:nvSpPr>
          <p:cNvPr id="47" name="Text 45"/>
          <p:cNvSpPr/>
          <p:nvPr/>
        </p:nvSpPr>
        <p:spPr>
          <a:xfrm>
            <a:off x="795528" y="4471416"/>
            <a:ext cx="48554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REVIEWER QUESTION</a:t>
            </a:r>
            <a:endParaRPr lang="en-US" sz="680" dirty="0"/>
          </a:p>
        </p:txBody>
      </p:sp>
      <p:sp>
        <p:nvSpPr>
          <p:cNvPr id="48" name="Text 46"/>
          <p:cNvSpPr/>
          <p:nvPr/>
        </p:nvSpPr>
        <p:spPr>
          <a:xfrm>
            <a:off x="795528" y="4599432"/>
            <a:ext cx="4855464" cy="329184"/>
          </a:xfrm>
          <a:prstGeom prst="rect">
            <a:avLst/>
          </a:prstGeom>
          <a:noFill/>
          <a:ln/>
        </p:spPr>
        <p:txBody>
          <a:bodyPr wrap="square" lIns="0" tIns="0" rIns="0" bIns="0" rtlCol="0" anchor="ctr">
            <a:normAutofit/>
          </a:bodyPr>
          <a:lstStyle/>
          <a:p>
            <a:pPr indent="0" marL="0">
              <a:buNone/>
            </a:pPr>
            <a:r>
              <a:rPr lang="en-US" sz="1350" b="1" dirty="0">
                <a:solidFill>
                  <a:srgbClr val="F7FBFF"/>
                </a:solidFill>
                <a:latin typeface="Inter Display" pitchFamily="34" charset="0"/>
                <a:ea typeface="Inter Display" pitchFamily="34" charset="-122"/>
                <a:cs typeface="Inter Display" pitchFamily="34" charset="-120"/>
              </a:rPr>
              <a:t>What can be replayed?</a:t>
            </a:r>
            <a:endParaRPr lang="en-US" sz="1350" dirty="0"/>
          </a:p>
        </p:txBody>
      </p:sp>
      <p:sp>
        <p:nvSpPr>
          <p:cNvPr id="49" name="Text 47"/>
          <p:cNvSpPr/>
          <p:nvPr/>
        </p:nvSpPr>
        <p:spPr>
          <a:xfrm>
            <a:off x="795528" y="5001768"/>
            <a:ext cx="4855464" cy="118872"/>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Environment pins, inputs, seeds, commands, expected roots</a:t>
            </a:r>
            <a:endParaRPr lang="en-US" sz="810" dirty="0"/>
          </a:p>
        </p:txBody>
      </p:sp>
      <p:sp>
        <p:nvSpPr>
          <p:cNvPr id="50" name="Shape 48"/>
          <p:cNvSpPr/>
          <p:nvPr/>
        </p:nvSpPr>
        <p:spPr>
          <a:xfrm>
            <a:off x="6172200" y="4343400"/>
            <a:ext cx="5166360" cy="914400"/>
          </a:xfrm>
          <a:prstGeom prst="roundRect">
            <a:avLst>
              <a:gd name="adj" fmla="val 8000"/>
            </a:avLst>
          </a:prstGeom>
          <a:solidFill>
            <a:srgbClr val="102238"/>
          </a:solidFill>
          <a:ln w="10160">
            <a:solidFill>
              <a:srgbClr val="54D6D0"/>
            </a:solidFill>
            <a:prstDash val="solid"/>
          </a:ln>
        </p:spPr>
      </p:sp>
      <p:sp>
        <p:nvSpPr>
          <p:cNvPr id="51" name="Text 49"/>
          <p:cNvSpPr/>
          <p:nvPr/>
        </p:nvSpPr>
        <p:spPr>
          <a:xfrm>
            <a:off x="6327648" y="4471416"/>
            <a:ext cx="48554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REVIEWER QUESTION</a:t>
            </a:r>
            <a:endParaRPr lang="en-US" sz="680" dirty="0"/>
          </a:p>
        </p:txBody>
      </p:sp>
      <p:sp>
        <p:nvSpPr>
          <p:cNvPr id="52" name="Text 50"/>
          <p:cNvSpPr/>
          <p:nvPr/>
        </p:nvSpPr>
        <p:spPr>
          <a:xfrm>
            <a:off x="6327648" y="4599432"/>
            <a:ext cx="4855464" cy="329184"/>
          </a:xfrm>
          <a:prstGeom prst="rect">
            <a:avLst/>
          </a:prstGeom>
          <a:noFill/>
          <a:ln/>
        </p:spPr>
        <p:txBody>
          <a:bodyPr wrap="square" lIns="0" tIns="0" rIns="0" bIns="0" rtlCol="0" anchor="ctr">
            <a:normAutofit/>
          </a:bodyPr>
          <a:lstStyle/>
          <a:p>
            <a:pPr indent="0" marL="0">
              <a:buNone/>
            </a:pPr>
            <a:r>
              <a:rPr lang="en-US" sz="1350" b="1" dirty="0">
                <a:solidFill>
                  <a:srgbClr val="F7FBFF"/>
                </a:solidFill>
                <a:latin typeface="Inter Display" pitchFamily="34" charset="0"/>
                <a:ea typeface="Inter Display" pitchFamily="34" charset="-122"/>
                <a:cs typeface="Inter Display" pitchFamily="34" charset="-120"/>
              </a:rPr>
              <a:t>What may be reused?</a:t>
            </a:r>
            <a:endParaRPr lang="en-US" sz="1350" dirty="0"/>
          </a:p>
        </p:txBody>
      </p:sp>
      <p:sp>
        <p:nvSpPr>
          <p:cNvPr id="53" name="Text 51"/>
          <p:cNvSpPr/>
          <p:nvPr/>
        </p:nvSpPr>
        <p:spPr>
          <a:xfrm>
            <a:off x="6327648" y="5001768"/>
            <a:ext cx="4855464" cy="118872"/>
          </a:xfrm>
          <a:prstGeom prst="rect">
            <a:avLst/>
          </a:prstGeom>
          <a:noFill/>
          <a:ln/>
        </p:spPr>
        <p:txBody>
          <a:bodyPr wrap="square" lIns="0" tIns="0" rIns="0" bIns="0" rtlCol="0" anchor="t">
            <a:normAutofit/>
          </a:bodyPr>
          <a:lstStyle/>
          <a:p>
            <a:pPr indent="0" marL="0">
              <a:buNone/>
            </a:pPr>
            <a:r>
              <a:rPr lang="en-US" sz="810" dirty="0">
                <a:solidFill>
                  <a:srgbClr val="B9C5D2"/>
                </a:solidFill>
                <a:latin typeface="Inter" pitchFamily="34" charset="0"/>
                <a:ea typeface="Inter" pitchFamily="34" charset="-122"/>
                <a:cs typeface="Inter" pitchFamily="34" charset="-120"/>
              </a:rPr>
              <a:t>Chronicle recommendation, scope, freshness, rollback</a:t>
            </a:r>
            <a:endParaRPr lang="en-US" sz="810" dirty="0"/>
          </a:p>
        </p:txBody>
      </p:sp>
      <p:sp>
        <p:nvSpPr>
          <p:cNvPr id="54" name="Text 52"/>
          <p:cNvSpPr/>
          <p:nvPr/>
        </p:nvSpPr>
        <p:spPr>
          <a:xfrm>
            <a:off x="1097280" y="5742432"/>
            <a:ext cx="9966960" cy="320040"/>
          </a:xfrm>
          <a:prstGeom prst="rect">
            <a:avLst/>
          </a:prstGeom>
          <a:noFill/>
          <a:ln/>
        </p:spPr>
        <p:txBody>
          <a:bodyPr wrap="square" lIns="0" tIns="0" rIns="0" bIns="0" rtlCol="0" anchor="ctr"/>
          <a:lstStyle/>
          <a:p>
            <a:pPr algn="ctr" indent="0" marL="0">
              <a:buNone/>
            </a:pPr>
            <a:r>
              <a:rPr lang="en-US" sz="1640" i="1" dirty="0">
                <a:solidFill>
                  <a:srgbClr val="E7BD62"/>
                </a:solidFill>
                <a:latin typeface="Georgia" pitchFamily="34" charset="0"/>
                <a:ea typeface="Georgia" pitchFamily="34" charset="-122"/>
                <a:cs typeface="Georgia" pitchFamily="34" charset="-120"/>
              </a:rPr>
              <a:t>The point is not to store more files. The point is to make trust inspectable.</a:t>
            </a:r>
            <a:endParaRPr lang="en-US" sz="164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VERIFIER MESH</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Validation is routed—not assumed.</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Different claims require different evidence contracts, validators, replay routes, and independence policies.</a:t>
            </a:r>
            <a:endParaRPr lang="en-US" sz="1450" dirty="0"/>
          </a:p>
        </p:txBody>
      </p:sp>
      <p:sp>
        <p:nvSpPr>
          <p:cNvPr id="30" name="Shape 28"/>
          <p:cNvSpPr/>
          <p:nvPr/>
        </p:nvSpPr>
        <p:spPr>
          <a:xfrm>
            <a:off x="612648" y="2066544"/>
            <a:ext cx="3547872" cy="1225296"/>
          </a:xfrm>
          <a:prstGeom prst="roundRect">
            <a:avLst>
              <a:gd name="adj" fmla="val 5970"/>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768096" y="2194560"/>
            <a:ext cx="323697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DETERMINISTIC TESTS</a:t>
            </a:r>
            <a:endParaRPr lang="en-US" sz="680" dirty="0"/>
          </a:p>
        </p:txBody>
      </p:sp>
      <p:sp>
        <p:nvSpPr>
          <p:cNvPr id="32" name="Text 30"/>
          <p:cNvSpPr/>
          <p:nvPr/>
        </p:nvSpPr>
        <p:spPr>
          <a:xfrm>
            <a:off x="768096" y="2322576"/>
            <a:ext cx="3236976" cy="329184"/>
          </a:xfrm>
          <a:prstGeom prst="rect">
            <a:avLst/>
          </a:prstGeom>
          <a:noFill/>
          <a:ln/>
        </p:spPr>
        <p:txBody>
          <a:bodyPr wrap="square" lIns="0" tIns="0" rIns="0" bIns="0" rtlCol="0" anchor="ctr">
            <a:normAutofit/>
          </a:bodyPr>
          <a:lstStyle/>
          <a:p>
            <a:pPr indent="0" marL="0">
              <a:buNone/>
            </a:pPr>
            <a:r>
              <a:rPr lang="en-US" sz="1220" b="1" dirty="0">
                <a:solidFill>
                  <a:srgbClr val="14273D"/>
                </a:solidFill>
                <a:latin typeface="Inter Display" pitchFamily="34" charset="0"/>
                <a:ea typeface="Inter Display" pitchFamily="34" charset="-122"/>
                <a:cs typeface="Inter Display" pitchFamily="34" charset="-120"/>
              </a:rPr>
              <a:t>Schema, hashes, signatures, invariants, reproducibility</a:t>
            </a:r>
            <a:endParaRPr lang="en-US" sz="1220" dirty="0"/>
          </a:p>
        </p:txBody>
      </p:sp>
      <p:sp>
        <p:nvSpPr>
          <p:cNvPr id="33" name="Shape 31"/>
          <p:cNvSpPr/>
          <p:nvPr/>
        </p:nvSpPr>
        <p:spPr>
          <a:xfrm>
            <a:off x="4425696" y="2066544"/>
            <a:ext cx="3547872" cy="1225296"/>
          </a:xfrm>
          <a:prstGeom prst="roundRect">
            <a:avLst>
              <a:gd name="adj" fmla="val 5970"/>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34" name="Text 32"/>
          <p:cNvSpPr/>
          <p:nvPr/>
        </p:nvSpPr>
        <p:spPr>
          <a:xfrm>
            <a:off x="4581144" y="2194560"/>
            <a:ext cx="3236976"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DOMAIN EVALUATORS</a:t>
            </a:r>
            <a:endParaRPr lang="en-US" sz="680" dirty="0"/>
          </a:p>
        </p:txBody>
      </p:sp>
      <p:sp>
        <p:nvSpPr>
          <p:cNvPr id="35" name="Text 33"/>
          <p:cNvSpPr/>
          <p:nvPr/>
        </p:nvSpPr>
        <p:spPr>
          <a:xfrm>
            <a:off x="4581144" y="2322576"/>
            <a:ext cx="3236976" cy="329184"/>
          </a:xfrm>
          <a:prstGeom prst="rect">
            <a:avLst/>
          </a:prstGeom>
          <a:noFill/>
          <a:ln/>
        </p:spPr>
        <p:txBody>
          <a:bodyPr wrap="square" lIns="0" tIns="0" rIns="0" bIns="0" rtlCol="0" anchor="ctr">
            <a:normAutofit/>
          </a:bodyPr>
          <a:lstStyle/>
          <a:p>
            <a:pPr indent="0" marL="0">
              <a:buNone/>
            </a:pPr>
            <a:r>
              <a:rPr lang="en-US" sz="1220" b="1" dirty="0">
                <a:solidFill>
                  <a:srgbClr val="14273D"/>
                </a:solidFill>
                <a:latin typeface="Inter Display" pitchFamily="34" charset="0"/>
                <a:ea typeface="Inter Display" pitchFamily="34" charset="-122"/>
                <a:cs typeface="Inter Display" pitchFamily="34" charset="-120"/>
              </a:rPr>
              <a:t>Security, finance, science, operations, policy</a:t>
            </a:r>
            <a:endParaRPr lang="en-US" sz="1220" dirty="0"/>
          </a:p>
        </p:txBody>
      </p:sp>
      <p:sp>
        <p:nvSpPr>
          <p:cNvPr id="36" name="Shape 34"/>
          <p:cNvSpPr/>
          <p:nvPr/>
        </p:nvSpPr>
        <p:spPr>
          <a:xfrm>
            <a:off x="8238744" y="2066544"/>
            <a:ext cx="3547872" cy="1225296"/>
          </a:xfrm>
          <a:prstGeom prst="roundRect">
            <a:avLst>
              <a:gd name="adj" fmla="val 5970"/>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7" name="Text 35"/>
          <p:cNvSpPr/>
          <p:nvPr/>
        </p:nvSpPr>
        <p:spPr>
          <a:xfrm>
            <a:off x="8394192" y="2194560"/>
            <a:ext cx="323697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INDEPENDENT REVIEWERS</a:t>
            </a:r>
            <a:endParaRPr lang="en-US" sz="680" dirty="0"/>
          </a:p>
        </p:txBody>
      </p:sp>
      <p:sp>
        <p:nvSpPr>
          <p:cNvPr id="38" name="Text 36"/>
          <p:cNvSpPr/>
          <p:nvPr/>
        </p:nvSpPr>
        <p:spPr>
          <a:xfrm>
            <a:off x="8394192" y="2322576"/>
            <a:ext cx="3236976" cy="329184"/>
          </a:xfrm>
          <a:prstGeom prst="rect">
            <a:avLst/>
          </a:prstGeom>
          <a:noFill/>
          <a:ln/>
        </p:spPr>
        <p:txBody>
          <a:bodyPr wrap="square" lIns="0" tIns="0" rIns="0" bIns="0" rtlCol="0" anchor="ctr">
            <a:normAutofit/>
          </a:bodyPr>
          <a:lstStyle/>
          <a:p>
            <a:pPr indent="0" marL="0">
              <a:buNone/>
            </a:pPr>
            <a:r>
              <a:rPr lang="en-US" sz="1220" b="1" dirty="0">
                <a:solidFill>
                  <a:srgbClr val="14273D"/>
                </a:solidFill>
                <a:latin typeface="Inter Display" pitchFamily="34" charset="0"/>
                <a:ea typeface="Inter Display" pitchFamily="34" charset="-122"/>
                <a:cs typeface="Inter Display" pitchFamily="34" charset="-120"/>
              </a:rPr>
              <a:t>Human or institutional review outside effective control</a:t>
            </a:r>
            <a:endParaRPr lang="en-US" sz="1220" dirty="0"/>
          </a:p>
        </p:txBody>
      </p:sp>
      <p:sp>
        <p:nvSpPr>
          <p:cNvPr id="39" name="Shape 37"/>
          <p:cNvSpPr/>
          <p:nvPr/>
        </p:nvSpPr>
        <p:spPr>
          <a:xfrm>
            <a:off x="612648" y="3575304"/>
            <a:ext cx="3547872" cy="1225296"/>
          </a:xfrm>
          <a:prstGeom prst="roundRect">
            <a:avLst>
              <a:gd name="adj" fmla="val 5970"/>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40" name="Text 38"/>
          <p:cNvSpPr/>
          <p:nvPr/>
        </p:nvSpPr>
        <p:spPr>
          <a:xfrm>
            <a:off x="768096" y="3703320"/>
            <a:ext cx="323697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BOUNDARY SENTINELS</a:t>
            </a:r>
            <a:endParaRPr lang="en-US" sz="680" dirty="0"/>
          </a:p>
        </p:txBody>
      </p:sp>
      <p:sp>
        <p:nvSpPr>
          <p:cNvPr id="41" name="Text 39"/>
          <p:cNvSpPr/>
          <p:nvPr/>
        </p:nvSpPr>
        <p:spPr>
          <a:xfrm>
            <a:off x="768096" y="3831336"/>
            <a:ext cx="3236976" cy="329184"/>
          </a:xfrm>
          <a:prstGeom prst="rect">
            <a:avLst/>
          </a:prstGeom>
          <a:noFill/>
          <a:ln/>
        </p:spPr>
        <p:txBody>
          <a:bodyPr wrap="square" lIns="0" tIns="0" rIns="0" bIns="0" rtlCol="0" anchor="ctr">
            <a:normAutofit/>
          </a:bodyPr>
          <a:lstStyle/>
          <a:p>
            <a:pPr indent="0" marL="0">
              <a:buNone/>
            </a:pPr>
            <a:r>
              <a:rPr lang="en-US" sz="1220" b="1" dirty="0">
                <a:solidFill>
                  <a:srgbClr val="14273D"/>
                </a:solidFill>
                <a:latin typeface="Inter Display" pitchFamily="34" charset="0"/>
                <a:ea typeface="Inter Display" pitchFamily="34" charset="-122"/>
                <a:cs typeface="Inter Display" pitchFamily="34" charset="-120"/>
              </a:rPr>
              <a:t>Privacy, claim scope, legal/safety boundary, tool permissions</a:t>
            </a:r>
            <a:endParaRPr lang="en-US" sz="1220" dirty="0"/>
          </a:p>
        </p:txBody>
      </p:sp>
      <p:sp>
        <p:nvSpPr>
          <p:cNvPr id="42" name="Shape 40"/>
          <p:cNvSpPr/>
          <p:nvPr/>
        </p:nvSpPr>
        <p:spPr>
          <a:xfrm>
            <a:off x="4425696" y="3575304"/>
            <a:ext cx="3547872" cy="1225296"/>
          </a:xfrm>
          <a:prstGeom prst="roundRect">
            <a:avLst>
              <a:gd name="adj" fmla="val 5970"/>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43" name="Text 41"/>
          <p:cNvSpPr/>
          <p:nvPr/>
        </p:nvSpPr>
        <p:spPr>
          <a:xfrm>
            <a:off x="4581144" y="3703320"/>
            <a:ext cx="32369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DELAYED OUTCOMES</a:t>
            </a:r>
            <a:endParaRPr lang="en-US" sz="680" dirty="0"/>
          </a:p>
        </p:txBody>
      </p:sp>
      <p:sp>
        <p:nvSpPr>
          <p:cNvPr id="44" name="Text 42"/>
          <p:cNvSpPr/>
          <p:nvPr/>
        </p:nvSpPr>
        <p:spPr>
          <a:xfrm>
            <a:off x="4581144" y="3831336"/>
            <a:ext cx="3236976" cy="329184"/>
          </a:xfrm>
          <a:prstGeom prst="rect">
            <a:avLst/>
          </a:prstGeom>
          <a:noFill/>
          <a:ln/>
        </p:spPr>
        <p:txBody>
          <a:bodyPr wrap="square" lIns="0" tIns="0" rIns="0" bIns="0" rtlCol="0" anchor="ctr">
            <a:normAutofit/>
          </a:bodyPr>
          <a:lstStyle/>
          <a:p>
            <a:pPr indent="0" marL="0">
              <a:buNone/>
            </a:pPr>
            <a:r>
              <a:rPr lang="en-US" sz="1220" b="1" dirty="0">
                <a:solidFill>
                  <a:srgbClr val="14273D"/>
                </a:solidFill>
                <a:latin typeface="Inter Display" pitchFamily="34" charset="0"/>
                <a:ea typeface="Inter Display" pitchFamily="34" charset="-122"/>
                <a:cs typeface="Inter Display" pitchFamily="34" charset="-120"/>
              </a:rPr>
              <a:t>What happened after deployment or handoff?</a:t>
            </a:r>
            <a:endParaRPr lang="en-US" sz="1220" dirty="0"/>
          </a:p>
        </p:txBody>
      </p:sp>
      <p:sp>
        <p:nvSpPr>
          <p:cNvPr id="45" name="Shape 43"/>
          <p:cNvSpPr/>
          <p:nvPr/>
        </p:nvSpPr>
        <p:spPr>
          <a:xfrm>
            <a:off x="8238744" y="3575304"/>
            <a:ext cx="3547872" cy="1225296"/>
          </a:xfrm>
          <a:prstGeom prst="roundRect">
            <a:avLst>
              <a:gd name="adj" fmla="val 5970"/>
            </a:avLst>
          </a:prstGeom>
          <a:solidFill>
            <a:srgbClr val="FFFDF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46" name="Text 44"/>
          <p:cNvSpPr/>
          <p:nvPr/>
        </p:nvSpPr>
        <p:spPr>
          <a:xfrm>
            <a:off x="8394192" y="3703320"/>
            <a:ext cx="3236976"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CHALLENGERS</a:t>
            </a:r>
            <a:endParaRPr lang="en-US" sz="680" dirty="0"/>
          </a:p>
        </p:txBody>
      </p:sp>
      <p:sp>
        <p:nvSpPr>
          <p:cNvPr id="47" name="Text 45"/>
          <p:cNvSpPr/>
          <p:nvPr/>
        </p:nvSpPr>
        <p:spPr>
          <a:xfrm>
            <a:off x="8394192" y="3831336"/>
            <a:ext cx="3236976" cy="329184"/>
          </a:xfrm>
          <a:prstGeom prst="rect">
            <a:avLst/>
          </a:prstGeom>
          <a:noFill/>
          <a:ln/>
        </p:spPr>
        <p:txBody>
          <a:bodyPr wrap="square" lIns="0" tIns="0" rIns="0" bIns="0" rtlCol="0" anchor="ctr">
            <a:normAutofit/>
          </a:bodyPr>
          <a:lstStyle/>
          <a:p>
            <a:pPr indent="0" marL="0">
              <a:buNone/>
            </a:pPr>
            <a:r>
              <a:rPr lang="en-US" sz="1220" b="1" dirty="0">
                <a:solidFill>
                  <a:srgbClr val="14273D"/>
                </a:solidFill>
                <a:latin typeface="Inter Display" pitchFamily="34" charset="0"/>
                <a:ea typeface="Inter Display" pitchFamily="34" charset="-122"/>
                <a:cs typeface="Inter Display" pitchFamily="34" charset="-120"/>
              </a:rPr>
              <a:t>Adversarial replay, conflict disclosure, appeal, revocation</a:t>
            </a:r>
            <a:endParaRPr lang="en-US" sz="1220" dirty="0"/>
          </a:p>
        </p:txBody>
      </p:sp>
      <p:sp>
        <p:nvSpPr>
          <p:cNvPr id="48" name="Shape 46"/>
          <p:cNvSpPr/>
          <p:nvPr/>
        </p:nvSpPr>
        <p:spPr>
          <a:xfrm>
            <a:off x="1965960" y="5166360"/>
            <a:ext cx="8229600" cy="612648"/>
          </a:xfrm>
          <a:prstGeom prst="roundRect">
            <a:avLst>
              <a:gd name="adj" fmla="val 11940"/>
            </a:avLst>
          </a:prstGeom>
          <a:solidFill>
            <a:srgbClr val="FFFDF8"/>
          </a:solidFill>
          <a:ln w="10160">
            <a:solidFill>
              <a:srgbClr val="FF7584"/>
            </a:solidFill>
            <a:prstDash val="solid"/>
          </a:ln>
        </p:spPr>
      </p:sp>
      <p:sp>
        <p:nvSpPr>
          <p:cNvPr id="49" name="Text 47"/>
          <p:cNvSpPr/>
          <p:nvPr/>
        </p:nvSpPr>
        <p:spPr>
          <a:xfrm>
            <a:off x="2121408" y="5294376"/>
            <a:ext cx="79187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INDEPENDENCE RULE</a:t>
            </a:r>
            <a:endParaRPr lang="en-US" sz="680" dirty="0"/>
          </a:p>
        </p:txBody>
      </p:sp>
      <p:sp>
        <p:nvSpPr>
          <p:cNvPr id="50" name="Text 48"/>
          <p:cNvSpPr/>
          <p:nvPr/>
        </p:nvSpPr>
        <p:spPr>
          <a:xfrm>
            <a:off x="2121408" y="5422392"/>
            <a:ext cx="7918704" cy="329184"/>
          </a:xfrm>
          <a:prstGeom prst="rect">
            <a:avLst/>
          </a:prstGeom>
          <a:noFill/>
          <a:ln/>
        </p:spPr>
        <p:txBody>
          <a:bodyPr wrap="square" lIns="0" tIns="0" rIns="0" bIns="0" rtlCol="0" anchor="ctr">
            <a:normAutofit/>
          </a:bodyPr>
          <a:lstStyle/>
          <a:p>
            <a:pPr indent="0" marL="0">
              <a:buNone/>
            </a:pPr>
            <a:r>
              <a:rPr lang="en-US" sz="1180" b="1" dirty="0">
                <a:solidFill>
                  <a:srgbClr val="14273D"/>
                </a:solidFill>
                <a:latin typeface="Inter Display" pitchFamily="34" charset="0"/>
                <a:ea typeface="Inter Display" pitchFamily="34" charset="-122"/>
                <a:cs typeface="Inter Display" pitchFamily="34" charset="-120"/>
              </a:rPr>
              <a:t>Eight node names do not count as eight independent validators when one operator, wallet, model, cloud, or prohibited control relationship governs them.</a:t>
            </a:r>
            <a:endParaRPr lang="en-US" sz="118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PROOF LEVELS</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Authority should scale with the evidence burden.</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A demo, an internal workflow, an externally reviewed skill, a handoff, and durable institutional memory should not share one threshold.</a:t>
            </a:r>
            <a:endParaRPr lang="en-US" sz="1450" dirty="0"/>
          </a:p>
        </p:txBody>
      </p:sp>
      <p:sp>
        <p:nvSpPr>
          <p:cNvPr id="30" name="Shape 28"/>
          <p:cNvSpPr/>
          <p:nvPr/>
        </p:nvSpPr>
        <p:spPr>
          <a:xfrm>
            <a:off x="685800" y="1965960"/>
            <a:ext cx="10835640" cy="539496"/>
          </a:xfrm>
          <a:prstGeom prst="roundRect">
            <a:avLst>
              <a:gd name="adj" fmla="val 6780"/>
            </a:avLst>
          </a:prstGeom>
          <a:solidFill>
            <a:srgbClr val="102238"/>
          </a:solidFill>
          <a:ln w="13970">
            <a:solidFill>
              <a:srgbClr val="6FB5FF"/>
            </a:solidFill>
            <a:prstDash val="solid"/>
          </a:ln>
        </p:spPr>
      </p:sp>
      <p:sp>
        <p:nvSpPr>
          <p:cNvPr id="31" name="Text 29"/>
          <p:cNvSpPr/>
          <p:nvPr/>
        </p:nvSpPr>
        <p:spPr>
          <a:xfrm>
            <a:off x="841248" y="2084832"/>
            <a:ext cx="347472" cy="155448"/>
          </a:xfrm>
          <a:prstGeom prst="rect">
            <a:avLst/>
          </a:prstGeom>
          <a:noFill/>
          <a:ln/>
        </p:spPr>
        <p:txBody>
          <a:bodyPr wrap="square" lIns="0" tIns="0" rIns="0" bIns="0" rtlCol="0" anchor="ctr"/>
          <a:lstStyle/>
          <a:p>
            <a:pPr indent="0" marL="0">
              <a:buNone/>
            </a:pPr>
            <a:r>
              <a:rPr lang="en-US" sz="900" b="1" dirty="0">
                <a:solidFill>
                  <a:srgbClr val="6FB5FF"/>
                </a:solidFill>
                <a:latin typeface="Inter Display" pitchFamily="34" charset="0"/>
                <a:ea typeface="Inter Display" pitchFamily="34" charset="-122"/>
                <a:cs typeface="Inter Display" pitchFamily="34" charset="-120"/>
              </a:rPr>
              <a:t>L1</a:t>
            </a:r>
            <a:endParaRPr lang="en-US" sz="900" dirty="0"/>
          </a:p>
        </p:txBody>
      </p:sp>
      <p:sp>
        <p:nvSpPr>
          <p:cNvPr id="32" name="Text 30"/>
          <p:cNvSpPr/>
          <p:nvPr/>
        </p:nvSpPr>
        <p:spPr>
          <a:xfrm>
            <a:off x="1298448" y="2075688"/>
            <a:ext cx="1417320" cy="164592"/>
          </a:xfrm>
          <a:prstGeom prst="rect">
            <a:avLst/>
          </a:prstGeom>
          <a:noFill/>
          <a:ln/>
        </p:spPr>
        <p:txBody>
          <a:bodyPr wrap="square" lIns="0" tIns="0" rIns="0" bIns="0" rtlCol="0" anchor="ctr"/>
          <a:lstStyle/>
          <a:p>
            <a:pPr indent="0" marL="0">
              <a:buNone/>
            </a:pPr>
            <a:r>
              <a:rPr lang="en-US" sz="820" b="1" dirty="0">
                <a:solidFill>
                  <a:srgbClr val="F7FBFF"/>
                </a:solidFill>
                <a:latin typeface="Inter" pitchFamily="34" charset="0"/>
                <a:ea typeface="Inter" pitchFamily="34" charset="-122"/>
                <a:cs typeface="Inter" pitchFamily="34" charset="-120"/>
              </a:rPr>
              <a:t>STRUCTURAL</a:t>
            </a:r>
            <a:endParaRPr lang="en-US" sz="820" dirty="0"/>
          </a:p>
        </p:txBody>
      </p:sp>
      <p:sp>
        <p:nvSpPr>
          <p:cNvPr id="33" name="Text 31"/>
          <p:cNvSpPr/>
          <p:nvPr/>
        </p:nvSpPr>
        <p:spPr>
          <a:xfrm>
            <a:off x="2834640" y="2075688"/>
            <a:ext cx="4983480" cy="182880"/>
          </a:xfrm>
          <a:prstGeom prst="rect">
            <a:avLst/>
          </a:prstGeom>
          <a:noFill/>
          <a:ln/>
        </p:spPr>
        <p:txBody>
          <a:bodyPr wrap="square" lIns="0" tIns="0" rIns="0" bIns="0" rtlCol="0" anchor="ctr">
            <a:normAutofit/>
          </a:bodyPr>
          <a:lstStyle/>
          <a:p>
            <a:pPr indent="0" marL="0">
              <a:buNone/>
            </a:pPr>
            <a:r>
              <a:rPr lang="en-US" sz="810" dirty="0">
                <a:solidFill>
                  <a:srgbClr val="B9C5D2"/>
                </a:solidFill>
                <a:latin typeface="Inter" pitchFamily="34" charset="0"/>
                <a:ea typeface="Inter" pitchFamily="34" charset="-122"/>
                <a:cs typeface="Inter" pitchFamily="34" charset="-120"/>
              </a:rPr>
              <a:t>Coherent objects, explicit Proof Debt</a:t>
            </a:r>
            <a:endParaRPr lang="en-US" sz="810" dirty="0"/>
          </a:p>
        </p:txBody>
      </p:sp>
      <p:sp>
        <p:nvSpPr>
          <p:cNvPr id="34" name="Text 32"/>
          <p:cNvSpPr/>
          <p:nvPr/>
        </p:nvSpPr>
        <p:spPr>
          <a:xfrm>
            <a:off x="8046720" y="2075688"/>
            <a:ext cx="3154680" cy="182880"/>
          </a:xfrm>
          <a:prstGeom prst="rect">
            <a:avLst/>
          </a:prstGeom>
          <a:noFill/>
          <a:ln/>
        </p:spPr>
        <p:txBody>
          <a:bodyPr wrap="square" lIns="0" tIns="0" rIns="0" bIns="0" rtlCol="0" anchor="ctr">
            <a:normAutofit/>
          </a:bodyPr>
          <a:lstStyle/>
          <a:p>
            <a:pPr indent="0" marL="0">
              <a:buNone/>
            </a:pPr>
            <a:r>
              <a:rPr lang="en-US" sz="810" b="1" dirty="0">
                <a:solidFill>
                  <a:srgbClr val="6FB5FF"/>
                </a:solidFill>
                <a:latin typeface="Inter" pitchFamily="34" charset="0"/>
                <a:ea typeface="Inter" pitchFamily="34" charset="-122"/>
                <a:cs typeface="Inter" pitchFamily="34" charset="-120"/>
              </a:rPr>
              <a:t>No durable influence</a:t>
            </a:r>
            <a:endParaRPr lang="en-US" sz="810" dirty="0"/>
          </a:p>
        </p:txBody>
      </p:sp>
      <p:sp>
        <p:nvSpPr>
          <p:cNvPr id="35" name="Shape 33"/>
          <p:cNvSpPr/>
          <p:nvPr/>
        </p:nvSpPr>
        <p:spPr>
          <a:xfrm>
            <a:off x="685800" y="2679192"/>
            <a:ext cx="10835640" cy="539496"/>
          </a:xfrm>
          <a:prstGeom prst="roundRect">
            <a:avLst>
              <a:gd name="adj" fmla="val 6780"/>
            </a:avLst>
          </a:prstGeom>
          <a:solidFill>
            <a:srgbClr val="102238"/>
          </a:solidFill>
          <a:ln w="13970">
            <a:solidFill>
              <a:srgbClr val="54D6D0"/>
            </a:solidFill>
            <a:prstDash val="solid"/>
          </a:ln>
        </p:spPr>
      </p:sp>
      <p:sp>
        <p:nvSpPr>
          <p:cNvPr id="36" name="Text 34"/>
          <p:cNvSpPr/>
          <p:nvPr/>
        </p:nvSpPr>
        <p:spPr>
          <a:xfrm>
            <a:off x="841248" y="2798064"/>
            <a:ext cx="347472" cy="155448"/>
          </a:xfrm>
          <a:prstGeom prst="rect">
            <a:avLst/>
          </a:prstGeom>
          <a:noFill/>
          <a:ln/>
        </p:spPr>
        <p:txBody>
          <a:bodyPr wrap="square" lIns="0" tIns="0" rIns="0" bIns="0" rtlCol="0" anchor="ctr"/>
          <a:lstStyle/>
          <a:p>
            <a:pPr indent="0" marL="0">
              <a:buNone/>
            </a:pPr>
            <a:r>
              <a:rPr lang="en-US" sz="900" b="1" dirty="0">
                <a:solidFill>
                  <a:srgbClr val="54D6D0"/>
                </a:solidFill>
                <a:latin typeface="Inter Display" pitchFamily="34" charset="0"/>
                <a:ea typeface="Inter Display" pitchFamily="34" charset="-122"/>
                <a:cs typeface="Inter Display" pitchFamily="34" charset="-120"/>
              </a:rPr>
              <a:t>L2</a:t>
            </a:r>
            <a:endParaRPr lang="en-US" sz="900" dirty="0"/>
          </a:p>
        </p:txBody>
      </p:sp>
      <p:sp>
        <p:nvSpPr>
          <p:cNvPr id="37" name="Text 35"/>
          <p:cNvSpPr/>
          <p:nvPr/>
        </p:nvSpPr>
        <p:spPr>
          <a:xfrm>
            <a:off x="1298448" y="2788920"/>
            <a:ext cx="1417320" cy="164592"/>
          </a:xfrm>
          <a:prstGeom prst="rect">
            <a:avLst/>
          </a:prstGeom>
          <a:noFill/>
          <a:ln/>
        </p:spPr>
        <p:txBody>
          <a:bodyPr wrap="square" lIns="0" tIns="0" rIns="0" bIns="0" rtlCol="0" anchor="ctr"/>
          <a:lstStyle/>
          <a:p>
            <a:pPr indent="0" marL="0">
              <a:buNone/>
            </a:pPr>
            <a:r>
              <a:rPr lang="en-US" sz="820" b="1" dirty="0">
                <a:solidFill>
                  <a:srgbClr val="F7FBFF"/>
                </a:solidFill>
                <a:latin typeface="Inter" pitchFamily="34" charset="0"/>
                <a:ea typeface="Inter" pitchFamily="34" charset="-122"/>
                <a:cs typeface="Inter" pitchFamily="34" charset="-120"/>
              </a:rPr>
              <a:t>INTERNAL REVIEW</a:t>
            </a:r>
            <a:endParaRPr lang="en-US" sz="820" dirty="0"/>
          </a:p>
        </p:txBody>
      </p:sp>
      <p:sp>
        <p:nvSpPr>
          <p:cNvPr id="38" name="Text 36"/>
          <p:cNvSpPr/>
          <p:nvPr/>
        </p:nvSpPr>
        <p:spPr>
          <a:xfrm>
            <a:off x="2834640" y="2788920"/>
            <a:ext cx="4983480" cy="182880"/>
          </a:xfrm>
          <a:prstGeom prst="rect">
            <a:avLst/>
          </a:prstGeom>
          <a:noFill/>
          <a:ln/>
        </p:spPr>
        <p:txBody>
          <a:bodyPr wrap="square" lIns="0" tIns="0" rIns="0" bIns="0" rtlCol="0" anchor="ctr">
            <a:normAutofit/>
          </a:bodyPr>
          <a:lstStyle/>
          <a:p>
            <a:pPr indent="0" marL="0">
              <a:buNone/>
            </a:pPr>
            <a:r>
              <a:rPr lang="en-US" sz="810" dirty="0">
                <a:solidFill>
                  <a:srgbClr val="B9C5D2"/>
                </a:solidFill>
                <a:latin typeface="Inter" pitchFamily="34" charset="0"/>
                <a:ea typeface="Inter" pitchFamily="34" charset="-122"/>
                <a:cs typeface="Inter" pitchFamily="34" charset="-120"/>
              </a:rPr>
              <a:t>Operator confirms usefulness and obvious safety</a:t>
            </a:r>
            <a:endParaRPr lang="en-US" sz="810" dirty="0"/>
          </a:p>
        </p:txBody>
      </p:sp>
      <p:sp>
        <p:nvSpPr>
          <p:cNvPr id="39" name="Text 37"/>
          <p:cNvSpPr/>
          <p:nvPr/>
        </p:nvSpPr>
        <p:spPr>
          <a:xfrm>
            <a:off x="8046720" y="2788920"/>
            <a:ext cx="3154680" cy="182880"/>
          </a:xfrm>
          <a:prstGeom prst="rect">
            <a:avLst/>
          </a:prstGeom>
          <a:noFill/>
          <a:ln/>
        </p:spPr>
        <p:txBody>
          <a:bodyPr wrap="square" lIns="0" tIns="0" rIns="0" bIns="0" rtlCol="0" anchor="ctr">
            <a:normAutofit/>
          </a:bodyPr>
          <a:lstStyle/>
          <a:p>
            <a:pPr indent="0" marL="0">
              <a:buNone/>
            </a:pPr>
            <a:r>
              <a:rPr lang="en-US" sz="810" b="1" dirty="0">
                <a:solidFill>
                  <a:srgbClr val="54D6D0"/>
                </a:solidFill>
                <a:latin typeface="Inter" pitchFamily="34" charset="0"/>
                <a:ea typeface="Inter" pitchFamily="34" charset="-122"/>
                <a:cs typeface="Inter" pitchFamily="34" charset="-120"/>
              </a:rPr>
              <a:t>Temporary reuse</a:t>
            </a:r>
            <a:endParaRPr lang="en-US" sz="810" dirty="0"/>
          </a:p>
        </p:txBody>
      </p:sp>
      <p:sp>
        <p:nvSpPr>
          <p:cNvPr id="40" name="Shape 38"/>
          <p:cNvSpPr/>
          <p:nvPr/>
        </p:nvSpPr>
        <p:spPr>
          <a:xfrm>
            <a:off x="685800" y="3392424"/>
            <a:ext cx="10835640" cy="539496"/>
          </a:xfrm>
          <a:prstGeom prst="roundRect">
            <a:avLst>
              <a:gd name="adj" fmla="val 6780"/>
            </a:avLst>
          </a:prstGeom>
          <a:solidFill>
            <a:srgbClr val="102238"/>
          </a:solidFill>
          <a:ln w="13970">
            <a:solidFill>
              <a:srgbClr val="E7BD62"/>
            </a:solidFill>
            <a:prstDash val="solid"/>
          </a:ln>
        </p:spPr>
      </p:sp>
      <p:sp>
        <p:nvSpPr>
          <p:cNvPr id="41" name="Text 39"/>
          <p:cNvSpPr/>
          <p:nvPr/>
        </p:nvSpPr>
        <p:spPr>
          <a:xfrm>
            <a:off x="841248" y="3511296"/>
            <a:ext cx="347472" cy="155448"/>
          </a:xfrm>
          <a:prstGeom prst="rect">
            <a:avLst/>
          </a:prstGeom>
          <a:noFill/>
          <a:ln/>
        </p:spPr>
        <p:txBody>
          <a:bodyPr wrap="square" lIns="0" tIns="0" rIns="0" bIns="0" rtlCol="0" anchor="ctr"/>
          <a:lstStyle/>
          <a:p>
            <a:pPr indent="0" marL="0">
              <a:buNone/>
            </a:pPr>
            <a:r>
              <a:rPr lang="en-US" sz="900" b="1" dirty="0">
                <a:solidFill>
                  <a:srgbClr val="E7BD62"/>
                </a:solidFill>
                <a:latin typeface="Inter Display" pitchFamily="34" charset="0"/>
                <a:ea typeface="Inter Display" pitchFamily="34" charset="-122"/>
                <a:cs typeface="Inter Display" pitchFamily="34" charset="-120"/>
              </a:rPr>
              <a:t>L3</a:t>
            </a:r>
            <a:endParaRPr lang="en-US" sz="900" dirty="0"/>
          </a:p>
        </p:txBody>
      </p:sp>
      <p:sp>
        <p:nvSpPr>
          <p:cNvPr id="42" name="Text 40"/>
          <p:cNvSpPr/>
          <p:nvPr/>
        </p:nvSpPr>
        <p:spPr>
          <a:xfrm>
            <a:off x="1298448" y="3502152"/>
            <a:ext cx="1417320" cy="164592"/>
          </a:xfrm>
          <a:prstGeom prst="rect">
            <a:avLst/>
          </a:prstGeom>
          <a:noFill/>
          <a:ln/>
        </p:spPr>
        <p:txBody>
          <a:bodyPr wrap="square" lIns="0" tIns="0" rIns="0" bIns="0" rtlCol="0" anchor="ctr"/>
          <a:lstStyle/>
          <a:p>
            <a:pPr indent="0" marL="0">
              <a:buNone/>
            </a:pPr>
            <a:r>
              <a:rPr lang="en-US" sz="820" b="1" dirty="0">
                <a:solidFill>
                  <a:srgbClr val="F7FBFF"/>
                </a:solidFill>
                <a:latin typeface="Inter" pitchFamily="34" charset="0"/>
                <a:ea typeface="Inter" pitchFamily="34" charset="-122"/>
                <a:cs typeface="Inter" pitchFamily="34" charset="-120"/>
              </a:rPr>
              <a:t>EXTERNAL REVIEW</a:t>
            </a:r>
            <a:endParaRPr lang="en-US" sz="820" dirty="0"/>
          </a:p>
        </p:txBody>
      </p:sp>
      <p:sp>
        <p:nvSpPr>
          <p:cNvPr id="43" name="Text 41"/>
          <p:cNvSpPr/>
          <p:nvPr/>
        </p:nvSpPr>
        <p:spPr>
          <a:xfrm>
            <a:off x="2834640" y="3502152"/>
            <a:ext cx="4983480" cy="182880"/>
          </a:xfrm>
          <a:prstGeom prst="rect">
            <a:avLst/>
          </a:prstGeom>
          <a:noFill/>
          <a:ln/>
        </p:spPr>
        <p:txBody>
          <a:bodyPr wrap="square" lIns="0" tIns="0" rIns="0" bIns="0" rtlCol="0" anchor="ctr">
            <a:normAutofit/>
          </a:bodyPr>
          <a:lstStyle/>
          <a:p>
            <a:pPr indent="0" marL="0">
              <a:buNone/>
            </a:pPr>
            <a:r>
              <a:rPr lang="en-US" sz="810" dirty="0">
                <a:solidFill>
                  <a:srgbClr val="B9C5D2"/>
                </a:solidFill>
                <a:latin typeface="Inter" pitchFamily="34" charset="0"/>
                <a:ea typeface="Inter" pitchFamily="34" charset="-122"/>
                <a:cs typeface="Inter" pitchFamily="34" charset="-120"/>
              </a:rPr>
              <a:t>Independent review or AGI Node validation + replay path</a:t>
            </a:r>
            <a:endParaRPr lang="en-US" sz="810" dirty="0"/>
          </a:p>
        </p:txBody>
      </p:sp>
      <p:sp>
        <p:nvSpPr>
          <p:cNvPr id="44" name="Text 42"/>
          <p:cNvSpPr/>
          <p:nvPr/>
        </p:nvSpPr>
        <p:spPr>
          <a:xfrm>
            <a:off x="8046720" y="3502152"/>
            <a:ext cx="3154680" cy="182880"/>
          </a:xfrm>
          <a:prstGeom prst="rect">
            <a:avLst/>
          </a:prstGeom>
          <a:noFill/>
          <a:ln/>
        </p:spPr>
        <p:txBody>
          <a:bodyPr wrap="square" lIns="0" tIns="0" rIns="0" bIns="0" rtlCol="0" anchor="ctr">
            <a:normAutofit/>
          </a:bodyPr>
          <a:lstStyle/>
          <a:p>
            <a:pPr indent="0" marL="0">
              <a:buNone/>
            </a:pPr>
            <a:r>
              <a:rPr lang="en-US" sz="810" b="1" dirty="0">
                <a:solidFill>
                  <a:srgbClr val="E7BD62"/>
                </a:solidFill>
                <a:latin typeface="Inter" pitchFamily="34" charset="0"/>
                <a:ea typeface="Inter" pitchFamily="34" charset="-122"/>
                <a:cs typeface="Inter" pitchFamily="34" charset="-120"/>
              </a:rPr>
              <a:t>Scoped reusable skill</a:t>
            </a:r>
            <a:endParaRPr lang="en-US" sz="810" dirty="0"/>
          </a:p>
        </p:txBody>
      </p:sp>
      <p:sp>
        <p:nvSpPr>
          <p:cNvPr id="45" name="Shape 43"/>
          <p:cNvSpPr/>
          <p:nvPr/>
        </p:nvSpPr>
        <p:spPr>
          <a:xfrm>
            <a:off x="685800" y="4105656"/>
            <a:ext cx="10835640" cy="539496"/>
          </a:xfrm>
          <a:prstGeom prst="roundRect">
            <a:avLst>
              <a:gd name="adj" fmla="val 6780"/>
            </a:avLst>
          </a:prstGeom>
          <a:solidFill>
            <a:srgbClr val="102238"/>
          </a:solidFill>
          <a:ln w="13970">
            <a:solidFill>
              <a:srgbClr val="A99CFF"/>
            </a:solidFill>
            <a:prstDash val="solid"/>
          </a:ln>
        </p:spPr>
      </p:sp>
      <p:sp>
        <p:nvSpPr>
          <p:cNvPr id="46" name="Text 44"/>
          <p:cNvSpPr/>
          <p:nvPr/>
        </p:nvSpPr>
        <p:spPr>
          <a:xfrm>
            <a:off x="841248" y="4224528"/>
            <a:ext cx="347472" cy="155448"/>
          </a:xfrm>
          <a:prstGeom prst="rect">
            <a:avLst/>
          </a:prstGeom>
          <a:noFill/>
          <a:ln/>
        </p:spPr>
        <p:txBody>
          <a:bodyPr wrap="square" lIns="0" tIns="0" rIns="0" bIns="0" rtlCol="0" anchor="ctr"/>
          <a:lstStyle/>
          <a:p>
            <a:pPr indent="0" marL="0">
              <a:buNone/>
            </a:pPr>
            <a:r>
              <a:rPr lang="en-US" sz="900" b="1" dirty="0">
                <a:solidFill>
                  <a:srgbClr val="A99CFF"/>
                </a:solidFill>
                <a:latin typeface="Inter Display" pitchFamily="34" charset="0"/>
                <a:ea typeface="Inter Display" pitchFamily="34" charset="-122"/>
                <a:cs typeface="Inter Display" pitchFamily="34" charset="-120"/>
              </a:rPr>
              <a:t>L4</a:t>
            </a:r>
            <a:endParaRPr lang="en-US" sz="900" dirty="0"/>
          </a:p>
        </p:txBody>
      </p:sp>
      <p:sp>
        <p:nvSpPr>
          <p:cNvPr id="47" name="Text 45"/>
          <p:cNvSpPr/>
          <p:nvPr/>
        </p:nvSpPr>
        <p:spPr>
          <a:xfrm>
            <a:off x="1298448" y="4215384"/>
            <a:ext cx="1417320" cy="164592"/>
          </a:xfrm>
          <a:prstGeom prst="rect">
            <a:avLst/>
          </a:prstGeom>
          <a:noFill/>
          <a:ln/>
        </p:spPr>
        <p:txBody>
          <a:bodyPr wrap="square" lIns="0" tIns="0" rIns="0" bIns="0" rtlCol="0" anchor="ctr"/>
          <a:lstStyle/>
          <a:p>
            <a:pPr indent="0" marL="0">
              <a:buNone/>
            </a:pPr>
            <a:r>
              <a:rPr lang="en-US" sz="820" b="1" dirty="0">
                <a:solidFill>
                  <a:srgbClr val="F7FBFF"/>
                </a:solidFill>
                <a:latin typeface="Inter" pitchFamily="34" charset="0"/>
                <a:ea typeface="Inter" pitchFamily="34" charset="-122"/>
                <a:cs typeface="Inter" pitchFamily="34" charset="-120"/>
              </a:rPr>
              <a:t>HANDOFF</a:t>
            </a:r>
            <a:endParaRPr lang="en-US" sz="820" dirty="0"/>
          </a:p>
        </p:txBody>
      </p:sp>
      <p:sp>
        <p:nvSpPr>
          <p:cNvPr id="48" name="Text 46"/>
          <p:cNvSpPr/>
          <p:nvPr/>
        </p:nvSpPr>
        <p:spPr>
          <a:xfrm>
            <a:off x="2834640" y="4215384"/>
            <a:ext cx="4983480" cy="182880"/>
          </a:xfrm>
          <a:prstGeom prst="rect">
            <a:avLst/>
          </a:prstGeom>
          <a:noFill/>
          <a:ln/>
        </p:spPr>
        <p:txBody>
          <a:bodyPr wrap="square" lIns="0" tIns="0" rIns="0" bIns="0" rtlCol="0" anchor="ctr">
            <a:normAutofit/>
          </a:bodyPr>
          <a:lstStyle/>
          <a:p>
            <a:pPr indent="0" marL="0">
              <a:buNone/>
            </a:pPr>
            <a:r>
              <a:rPr lang="en-US" sz="810" dirty="0">
                <a:solidFill>
                  <a:srgbClr val="B9C5D2"/>
                </a:solidFill>
                <a:latin typeface="Inter" pitchFamily="34" charset="0"/>
                <a:ea typeface="Inter" pitchFamily="34" charset="-122"/>
                <a:cs typeface="Inter" pitchFamily="34" charset="-120"/>
              </a:rPr>
              <a:t>Complete evidence and operational boundary</a:t>
            </a:r>
            <a:endParaRPr lang="en-US" sz="810" dirty="0"/>
          </a:p>
        </p:txBody>
      </p:sp>
      <p:sp>
        <p:nvSpPr>
          <p:cNvPr id="49" name="Text 47"/>
          <p:cNvSpPr/>
          <p:nvPr/>
        </p:nvSpPr>
        <p:spPr>
          <a:xfrm>
            <a:off x="8046720" y="4215384"/>
            <a:ext cx="3154680" cy="182880"/>
          </a:xfrm>
          <a:prstGeom prst="rect">
            <a:avLst/>
          </a:prstGeom>
          <a:noFill/>
          <a:ln/>
        </p:spPr>
        <p:txBody>
          <a:bodyPr wrap="square" lIns="0" tIns="0" rIns="0" bIns="0" rtlCol="0" anchor="ctr">
            <a:normAutofit/>
          </a:bodyPr>
          <a:lstStyle/>
          <a:p>
            <a:pPr indent="0" marL="0">
              <a:buNone/>
            </a:pPr>
            <a:r>
              <a:rPr lang="en-US" sz="810" b="1" dirty="0">
                <a:solidFill>
                  <a:srgbClr val="A99CFF"/>
                </a:solidFill>
                <a:latin typeface="Inter" pitchFamily="34" charset="0"/>
                <a:ea typeface="Inter" pitchFamily="34" charset="-122"/>
                <a:cs typeface="Inter" pitchFamily="34" charset="-120"/>
              </a:rPr>
              <a:t>External execution preparation</a:t>
            </a:r>
            <a:endParaRPr lang="en-US" sz="810" dirty="0"/>
          </a:p>
        </p:txBody>
      </p:sp>
      <p:sp>
        <p:nvSpPr>
          <p:cNvPr id="50" name="Shape 48"/>
          <p:cNvSpPr/>
          <p:nvPr/>
        </p:nvSpPr>
        <p:spPr>
          <a:xfrm>
            <a:off x="685800" y="4818888"/>
            <a:ext cx="10835640" cy="539496"/>
          </a:xfrm>
          <a:prstGeom prst="roundRect">
            <a:avLst>
              <a:gd name="adj" fmla="val 6780"/>
            </a:avLst>
          </a:prstGeom>
          <a:solidFill>
            <a:srgbClr val="102238"/>
          </a:solidFill>
          <a:ln w="13970">
            <a:solidFill>
              <a:srgbClr val="43D79B"/>
            </a:solidFill>
            <a:prstDash val="solid"/>
          </a:ln>
        </p:spPr>
      </p:sp>
      <p:sp>
        <p:nvSpPr>
          <p:cNvPr id="51" name="Text 49"/>
          <p:cNvSpPr/>
          <p:nvPr/>
        </p:nvSpPr>
        <p:spPr>
          <a:xfrm>
            <a:off x="841248" y="4937760"/>
            <a:ext cx="347472" cy="155448"/>
          </a:xfrm>
          <a:prstGeom prst="rect">
            <a:avLst/>
          </a:prstGeom>
          <a:noFill/>
          <a:ln/>
        </p:spPr>
        <p:txBody>
          <a:bodyPr wrap="square" lIns="0" tIns="0" rIns="0" bIns="0" rtlCol="0" anchor="ctr"/>
          <a:lstStyle/>
          <a:p>
            <a:pPr indent="0" marL="0">
              <a:buNone/>
            </a:pPr>
            <a:r>
              <a:rPr lang="en-US" sz="900" b="1" dirty="0">
                <a:solidFill>
                  <a:srgbClr val="43D79B"/>
                </a:solidFill>
                <a:latin typeface="Inter Display" pitchFamily="34" charset="0"/>
                <a:ea typeface="Inter Display" pitchFamily="34" charset="-122"/>
                <a:cs typeface="Inter Display" pitchFamily="34" charset="-120"/>
              </a:rPr>
              <a:t>L5</a:t>
            </a:r>
            <a:endParaRPr lang="en-US" sz="900" dirty="0"/>
          </a:p>
        </p:txBody>
      </p:sp>
      <p:sp>
        <p:nvSpPr>
          <p:cNvPr id="52" name="Text 50"/>
          <p:cNvSpPr/>
          <p:nvPr/>
        </p:nvSpPr>
        <p:spPr>
          <a:xfrm>
            <a:off x="1298448" y="4928616"/>
            <a:ext cx="1417320" cy="164592"/>
          </a:xfrm>
          <a:prstGeom prst="rect">
            <a:avLst/>
          </a:prstGeom>
          <a:noFill/>
          <a:ln/>
        </p:spPr>
        <p:txBody>
          <a:bodyPr wrap="square" lIns="0" tIns="0" rIns="0" bIns="0" rtlCol="0" anchor="ctr"/>
          <a:lstStyle/>
          <a:p>
            <a:pPr indent="0" marL="0">
              <a:buNone/>
            </a:pPr>
            <a:r>
              <a:rPr lang="en-US" sz="820" b="1" dirty="0">
                <a:solidFill>
                  <a:srgbClr val="F7FBFF"/>
                </a:solidFill>
                <a:latin typeface="Inter" pitchFamily="34" charset="0"/>
                <a:ea typeface="Inter" pitchFamily="34" charset="-122"/>
                <a:cs typeface="Inter" pitchFamily="34" charset="-120"/>
              </a:rPr>
              <a:t>FORMAL CHRONICLE</a:t>
            </a:r>
            <a:endParaRPr lang="en-US" sz="820" dirty="0"/>
          </a:p>
        </p:txBody>
      </p:sp>
      <p:sp>
        <p:nvSpPr>
          <p:cNvPr id="53" name="Text 51"/>
          <p:cNvSpPr/>
          <p:nvPr/>
        </p:nvSpPr>
        <p:spPr>
          <a:xfrm>
            <a:off x="2834640" y="4928616"/>
            <a:ext cx="4983480" cy="182880"/>
          </a:xfrm>
          <a:prstGeom prst="rect">
            <a:avLst/>
          </a:prstGeom>
          <a:noFill/>
          <a:ln/>
        </p:spPr>
        <p:txBody>
          <a:bodyPr wrap="square" lIns="0" tIns="0" rIns="0" bIns="0" rtlCol="0" anchor="ctr">
            <a:normAutofit/>
          </a:bodyPr>
          <a:lstStyle/>
          <a:p>
            <a:pPr indent="0" marL="0">
              <a:buNone/>
            </a:pPr>
            <a:r>
              <a:rPr lang="en-US" sz="810" dirty="0">
                <a:solidFill>
                  <a:srgbClr val="B9C5D2"/>
                </a:solidFill>
                <a:latin typeface="Inter" pitchFamily="34" charset="0"/>
                <a:ea typeface="Inter" pitchFamily="34" charset="-122"/>
                <a:cs typeface="Inter" pitchFamily="34" charset="-120"/>
              </a:rPr>
              <a:t>Multi-validator proof, replay, baseline, risk, rollback, challenge</a:t>
            </a:r>
            <a:endParaRPr lang="en-US" sz="810" dirty="0"/>
          </a:p>
        </p:txBody>
      </p:sp>
      <p:sp>
        <p:nvSpPr>
          <p:cNvPr id="54" name="Text 52"/>
          <p:cNvSpPr/>
          <p:nvPr/>
        </p:nvSpPr>
        <p:spPr>
          <a:xfrm>
            <a:off x="8046720" y="4928616"/>
            <a:ext cx="3154680" cy="182880"/>
          </a:xfrm>
          <a:prstGeom prst="rect">
            <a:avLst/>
          </a:prstGeom>
          <a:noFill/>
          <a:ln/>
        </p:spPr>
        <p:txBody>
          <a:bodyPr wrap="square" lIns="0" tIns="0" rIns="0" bIns="0" rtlCol="0" anchor="ctr">
            <a:normAutofit/>
          </a:bodyPr>
          <a:lstStyle/>
          <a:p>
            <a:pPr indent="0" marL="0">
              <a:buNone/>
            </a:pPr>
            <a:r>
              <a:rPr lang="en-US" sz="810" b="1" dirty="0">
                <a:solidFill>
                  <a:srgbClr val="43D79B"/>
                </a:solidFill>
                <a:latin typeface="Inter" pitchFamily="34" charset="0"/>
                <a:ea typeface="Inter" pitchFamily="34" charset="-122"/>
                <a:cs typeface="Inter" pitchFamily="34" charset="-120"/>
              </a:rPr>
              <a:t>Durable future influence</a:t>
            </a:r>
            <a:endParaRPr lang="en-US" sz="810" dirty="0"/>
          </a:p>
        </p:txBody>
      </p:sp>
      <p:sp>
        <p:nvSpPr>
          <p:cNvPr id="55" name="Text 53"/>
          <p:cNvSpPr/>
          <p:nvPr/>
        </p:nvSpPr>
        <p:spPr>
          <a:xfrm>
            <a:off x="914400" y="5760720"/>
            <a:ext cx="10287000" cy="347472"/>
          </a:xfrm>
          <a:prstGeom prst="rect">
            <a:avLst/>
          </a:prstGeom>
          <a:noFill/>
          <a:ln/>
        </p:spPr>
        <p:txBody>
          <a:bodyPr wrap="square" lIns="0" tIns="0" rIns="0" bIns="0" rtlCol="0" anchor="ctr">
            <a:normAutofit/>
          </a:bodyPr>
          <a:lstStyle/>
          <a:p>
            <a:pPr algn="ctr" indent="0" marL="0">
              <a:buNone/>
            </a:pPr>
            <a:r>
              <a:rPr lang="en-US" sz="1050" b="1" dirty="0">
                <a:solidFill>
                  <a:srgbClr val="E7BD62"/>
                </a:solidFill>
                <a:latin typeface="Inter" pitchFamily="34" charset="0"/>
                <a:ea typeface="Inter" pitchFamily="34" charset="-122"/>
                <a:cs typeface="Inter" pitchFamily="34" charset="-120"/>
              </a:rPr>
              <a:t>The proof level is frozen in the Mission Contract. Raising it creates new Proof Debt. Lowering it cannot retroactively grant stronger authority.</a:t>
            </a:r>
            <a:endParaRPr lang="en-US" sz="10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CHRONICLE</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Chronicle is the memory firewall.</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Evidence does not become durable institutional memory automatically.</a:t>
            </a:r>
            <a:endParaRPr lang="en-US" sz="1450" dirty="0"/>
          </a:p>
        </p:txBody>
      </p:sp>
      <p:sp>
        <p:nvSpPr>
          <p:cNvPr id="30" name="Shape 28"/>
          <p:cNvSpPr/>
          <p:nvPr/>
        </p:nvSpPr>
        <p:spPr>
          <a:xfrm>
            <a:off x="658368" y="2148840"/>
            <a:ext cx="3657600" cy="3154680"/>
          </a:xfrm>
          <a:prstGeom prst="roundRect">
            <a:avLst>
              <a:gd name="adj" fmla="val 2319"/>
            </a:avLst>
          </a:prstGeom>
          <a:solidFill>
            <a:srgbClr val="FFFDF8"/>
          </a:solidFill>
          <a:ln w="10160">
            <a:solidFill>
              <a:srgbClr val="6FB5FF"/>
            </a:solidFill>
            <a:prstDash val="solid"/>
          </a:ln>
        </p:spPr>
      </p:sp>
      <p:sp>
        <p:nvSpPr>
          <p:cNvPr id="31" name="Text 29"/>
          <p:cNvSpPr/>
          <p:nvPr/>
        </p:nvSpPr>
        <p:spPr>
          <a:xfrm>
            <a:off x="813816" y="2276856"/>
            <a:ext cx="334670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INPUT</a:t>
            </a:r>
            <a:endParaRPr lang="en-US" sz="680" dirty="0"/>
          </a:p>
        </p:txBody>
      </p:sp>
      <p:sp>
        <p:nvSpPr>
          <p:cNvPr id="32" name="Text 30"/>
          <p:cNvSpPr/>
          <p:nvPr/>
        </p:nvSpPr>
        <p:spPr>
          <a:xfrm>
            <a:off x="813816" y="2404872"/>
            <a:ext cx="3346704" cy="329184"/>
          </a:xfrm>
          <a:prstGeom prst="rect">
            <a:avLst/>
          </a:prstGeom>
          <a:noFill/>
          <a:ln/>
        </p:spPr>
        <p:txBody>
          <a:bodyPr wrap="square" lIns="0" tIns="0" rIns="0" bIns="0" rtlCol="0" anchor="ctr">
            <a:normAutofit/>
          </a:bodyPr>
          <a:lstStyle/>
          <a:p>
            <a:pPr indent="0" marL="0">
              <a:buNone/>
            </a:pPr>
            <a:r>
              <a:rPr lang="en-US" sz="1700" b="1" dirty="0">
                <a:solidFill>
                  <a:srgbClr val="14273D"/>
                </a:solidFill>
                <a:latin typeface="Inter Display" pitchFamily="34" charset="0"/>
                <a:ea typeface="Inter Display" pitchFamily="34" charset="-122"/>
                <a:cs typeface="Inter Display" pitchFamily="34" charset="-120"/>
              </a:rPr>
              <a:t>Candidate capability + Evidence Docket</a:t>
            </a:r>
            <a:endParaRPr lang="en-US" sz="1700" dirty="0"/>
          </a:p>
        </p:txBody>
      </p:sp>
      <p:sp>
        <p:nvSpPr>
          <p:cNvPr id="33" name="Text 31"/>
          <p:cNvSpPr/>
          <p:nvPr/>
        </p:nvSpPr>
        <p:spPr>
          <a:xfrm>
            <a:off x="813816" y="2807208"/>
            <a:ext cx="3346704" cy="2359152"/>
          </a:xfrm>
          <a:prstGeom prst="rect">
            <a:avLst/>
          </a:prstGeom>
          <a:noFill/>
          <a:ln/>
        </p:spPr>
        <p:txBody>
          <a:bodyPr wrap="square" lIns="0" tIns="0" rIns="0" bIns="0" rtlCol="0" anchor="t">
            <a:normAutofit/>
          </a:bodyPr>
          <a:lstStyle/>
          <a:p>
            <a:pPr indent="0" marL="0">
              <a:buNone/>
            </a:pPr>
            <a:r>
              <a:rPr lang="en-US" sz="1100" dirty="0">
                <a:solidFill>
                  <a:srgbClr val="43566A"/>
                </a:solidFill>
                <a:latin typeface="Inter" pitchFamily="34" charset="0"/>
                <a:ea typeface="Inter" pitchFamily="34" charset="-122"/>
                <a:cs typeface="Inter" pitchFamily="34" charset="-120"/>
              </a:rPr>
              <a:t>Evidence strength</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Replay readiness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Validation coverage</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Risk and scope</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Boundary compliance</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Freshness and utility</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Rollback and challenge finality</a:t>
            </a:r>
            <a:endParaRPr lang="en-US" sz="1100" dirty="0"/>
          </a:p>
        </p:txBody>
      </p:sp>
      <p:sp>
        <p:nvSpPr>
          <p:cNvPr id="34" name="Shape 32"/>
          <p:cNvSpPr/>
          <p:nvPr/>
        </p:nvSpPr>
        <p:spPr>
          <a:xfrm>
            <a:off x="4800600" y="2148840"/>
            <a:ext cx="3063240" cy="804672"/>
          </a:xfrm>
          <a:prstGeom prst="roundRect">
            <a:avLst>
              <a:gd name="adj" fmla="val 9091"/>
            </a:avLst>
          </a:prstGeom>
          <a:solidFill>
            <a:srgbClr val="FFFDF8"/>
          </a:solidFill>
          <a:ln w="10160">
            <a:solidFill>
              <a:srgbClr val="43D79B"/>
            </a:solidFill>
            <a:prstDash val="solid"/>
          </a:ln>
        </p:spPr>
      </p:sp>
      <p:sp>
        <p:nvSpPr>
          <p:cNvPr id="35" name="Text 33"/>
          <p:cNvSpPr/>
          <p:nvPr/>
        </p:nvSpPr>
        <p:spPr>
          <a:xfrm>
            <a:off x="4956048" y="2276856"/>
            <a:ext cx="275234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DECISION</a:t>
            </a:r>
            <a:endParaRPr lang="en-US" sz="680" dirty="0"/>
          </a:p>
        </p:txBody>
      </p:sp>
      <p:sp>
        <p:nvSpPr>
          <p:cNvPr id="36" name="Text 34"/>
          <p:cNvSpPr/>
          <p:nvPr/>
        </p:nvSpPr>
        <p:spPr>
          <a:xfrm>
            <a:off x="4956048" y="2404872"/>
            <a:ext cx="2752344" cy="329184"/>
          </a:xfrm>
          <a:prstGeom prst="rect">
            <a:avLst/>
          </a:prstGeom>
          <a:noFill/>
          <a:ln/>
        </p:spPr>
        <p:txBody>
          <a:bodyPr wrap="square" lIns="0" tIns="0" rIns="0" bIns="0" rtlCol="0" anchor="ctr">
            <a:normAutofit/>
          </a:bodyPr>
          <a:lstStyle/>
          <a:p>
            <a:pPr indent="0" marL="0">
              <a:buNone/>
            </a:pPr>
            <a:r>
              <a:rPr lang="en-US" sz="1180" b="1" dirty="0">
                <a:solidFill>
                  <a:srgbClr val="14273D"/>
                </a:solidFill>
                <a:latin typeface="Inter Display" pitchFamily="34" charset="0"/>
                <a:ea typeface="Inter Display" pitchFamily="34" charset="-122"/>
                <a:cs typeface="Inter Display" pitchFamily="34" charset="-120"/>
              </a:rPr>
              <a:t>ADMIT WITH SCOPE</a:t>
            </a:r>
            <a:endParaRPr lang="en-US" sz="1180" dirty="0"/>
          </a:p>
        </p:txBody>
      </p:sp>
      <p:sp>
        <p:nvSpPr>
          <p:cNvPr id="37" name="Shape 35"/>
          <p:cNvSpPr/>
          <p:nvPr/>
        </p:nvSpPr>
        <p:spPr>
          <a:xfrm>
            <a:off x="8138160" y="2148840"/>
            <a:ext cx="3063240" cy="804672"/>
          </a:xfrm>
          <a:prstGeom prst="roundRect">
            <a:avLst>
              <a:gd name="adj" fmla="val 9091"/>
            </a:avLst>
          </a:prstGeom>
          <a:solidFill>
            <a:srgbClr val="FFFDF8"/>
          </a:solidFill>
          <a:ln w="10160">
            <a:solidFill>
              <a:srgbClr val="F5C46B"/>
            </a:solidFill>
            <a:prstDash val="solid"/>
          </a:ln>
        </p:spPr>
      </p:sp>
      <p:sp>
        <p:nvSpPr>
          <p:cNvPr id="38" name="Text 36"/>
          <p:cNvSpPr/>
          <p:nvPr/>
        </p:nvSpPr>
        <p:spPr>
          <a:xfrm>
            <a:off x="8293608" y="2276856"/>
            <a:ext cx="2752344" cy="146304"/>
          </a:xfrm>
          <a:prstGeom prst="rect">
            <a:avLst/>
          </a:prstGeom>
          <a:noFill/>
          <a:ln/>
        </p:spPr>
        <p:txBody>
          <a:bodyPr wrap="square" lIns="0" tIns="0" rIns="0" bIns="0" rtlCol="0" anchor="ctr"/>
          <a:lstStyle/>
          <a:p>
            <a:pPr indent="0" marL="0">
              <a:buNone/>
            </a:pPr>
            <a:r>
              <a:rPr lang="en-US" sz="680" b="1" spc="120" kern="0" dirty="0">
                <a:solidFill>
                  <a:srgbClr val="F5C46B"/>
                </a:solidFill>
                <a:latin typeface="Inter" pitchFamily="34" charset="0"/>
                <a:ea typeface="Inter" pitchFamily="34" charset="-122"/>
                <a:cs typeface="Inter" pitchFamily="34" charset="-120"/>
              </a:rPr>
              <a:t>DECISION</a:t>
            </a:r>
            <a:endParaRPr lang="en-US" sz="680" dirty="0"/>
          </a:p>
        </p:txBody>
      </p:sp>
      <p:sp>
        <p:nvSpPr>
          <p:cNvPr id="39" name="Text 37"/>
          <p:cNvSpPr/>
          <p:nvPr/>
        </p:nvSpPr>
        <p:spPr>
          <a:xfrm>
            <a:off x="8293608" y="2404872"/>
            <a:ext cx="2752344" cy="329184"/>
          </a:xfrm>
          <a:prstGeom prst="rect">
            <a:avLst/>
          </a:prstGeom>
          <a:noFill/>
          <a:ln/>
        </p:spPr>
        <p:txBody>
          <a:bodyPr wrap="square" lIns="0" tIns="0" rIns="0" bIns="0" rtlCol="0" anchor="ctr">
            <a:normAutofit/>
          </a:bodyPr>
          <a:lstStyle/>
          <a:p>
            <a:pPr indent="0" marL="0">
              <a:buNone/>
            </a:pPr>
            <a:r>
              <a:rPr lang="en-US" sz="1180" b="1" dirty="0">
                <a:solidFill>
                  <a:srgbClr val="14273D"/>
                </a:solidFill>
                <a:latin typeface="Inter Display" pitchFamily="34" charset="0"/>
                <a:ea typeface="Inter Display" pitchFamily="34" charset="-122"/>
                <a:cs typeface="Inter Display" pitchFamily="34" charset="-120"/>
              </a:rPr>
              <a:t>REPAIR</a:t>
            </a:r>
            <a:endParaRPr lang="en-US" sz="1180" dirty="0"/>
          </a:p>
        </p:txBody>
      </p:sp>
      <p:sp>
        <p:nvSpPr>
          <p:cNvPr id="40" name="Shape 38"/>
          <p:cNvSpPr/>
          <p:nvPr/>
        </p:nvSpPr>
        <p:spPr>
          <a:xfrm>
            <a:off x="4800600" y="3172968"/>
            <a:ext cx="3063240" cy="804672"/>
          </a:xfrm>
          <a:prstGeom prst="roundRect">
            <a:avLst>
              <a:gd name="adj" fmla="val 9091"/>
            </a:avLst>
          </a:prstGeom>
          <a:solidFill>
            <a:srgbClr val="FFFDF8"/>
          </a:solidFill>
          <a:ln w="10160">
            <a:solidFill>
              <a:srgbClr val="FF7584"/>
            </a:solidFill>
            <a:prstDash val="solid"/>
          </a:ln>
        </p:spPr>
      </p:sp>
      <p:sp>
        <p:nvSpPr>
          <p:cNvPr id="41" name="Text 39"/>
          <p:cNvSpPr/>
          <p:nvPr/>
        </p:nvSpPr>
        <p:spPr>
          <a:xfrm>
            <a:off x="4956048" y="3300984"/>
            <a:ext cx="275234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DECISION</a:t>
            </a:r>
            <a:endParaRPr lang="en-US" sz="680" dirty="0"/>
          </a:p>
        </p:txBody>
      </p:sp>
      <p:sp>
        <p:nvSpPr>
          <p:cNvPr id="42" name="Text 40"/>
          <p:cNvSpPr/>
          <p:nvPr/>
        </p:nvSpPr>
        <p:spPr>
          <a:xfrm>
            <a:off x="4956048" y="3429000"/>
            <a:ext cx="2752344" cy="329184"/>
          </a:xfrm>
          <a:prstGeom prst="rect">
            <a:avLst/>
          </a:prstGeom>
          <a:noFill/>
          <a:ln/>
        </p:spPr>
        <p:txBody>
          <a:bodyPr wrap="square" lIns="0" tIns="0" rIns="0" bIns="0" rtlCol="0" anchor="ctr">
            <a:normAutofit/>
          </a:bodyPr>
          <a:lstStyle/>
          <a:p>
            <a:pPr indent="0" marL="0">
              <a:buNone/>
            </a:pPr>
            <a:r>
              <a:rPr lang="en-US" sz="1180" b="1" dirty="0">
                <a:solidFill>
                  <a:srgbClr val="14273D"/>
                </a:solidFill>
                <a:latin typeface="Inter Display" pitchFamily="34" charset="0"/>
                <a:ea typeface="Inter Display" pitchFamily="34" charset="-122"/>
                <a:cs typeface="Inter Display" pitchFamily="34" charset="-120"/>
              </a:rPr>
              <a:t>REJECT · PRESERVE EVIDENCE</a:t>
            </a:r>
            <a:endParaRPr lang="en-US" sz="1180" dirty="0"/>
          </a:p>
        </p:txBody>
      </p:sp>
      <p:sp>
        <p:nvSpPr>
          <p:cNvPr id="43" name="Shape 41"/>
          <p:cNvSpPr/>
          <p:nvPr/>
        </p:nvSpPr>
        <p:spPr>
          <a:xfrm>
            <a:off x="8138160" y="3172968"/>
            <a:ext cx="3063240" cy="804672"/>
          </a:xfrm>
          <a:prstGeom prst="roundRect">
            <a:avLst>
              <a:gd name="adj" fmla="val 9091"/>
            </a:avLst>
          </a:prstGeom>
          <a:solidFill>
            <a:srgbClr val="FFFDF8"/>
          </a:solidFill>
          <a:ln w="10160">
            <a:solidFill>
              <a:srgbClr val="6FB5FF"/>
            </a:solidFill>
            <a:prstDash val="solid"/>
          </a:ln>
        </p:spPr>
      </p:sp>
      <p:sp>
        <p:nvSpPr>
          <p:cNvPr id="44" name="Text 42"/>
          <p:cNvSpPr/>
          <p:nvPr/>
        </p:nvSpPr>
        <p:spPr>
          <a:xfrm>
            <a:off x="8293608" y="3300984"/>
            <a:ext cx="275234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DECISION</a:t>
            </a:r>
            <a:endParaRPr lang="en-US" sz="680" dirty="0"/>
          </a:p>
        </p:txBody>
      </p:sp>
      <p:sp>
        <p:nvSpPr>
          <p:cNvPr id="45" name="Text 43"/>
          <p:cNvSpPr/>
          <p:nvPr/>
        </p:nvSpPr>
        <p:spPr>
          <a:xfrm>
            <a:off x="8293608" y="3429000"/>
            <a:ext cx="2752344" cy="329184"/>
          </a:xfrm>
          <a:prstGeom prst="rect">
            <a:avLst/>
          </a:prstGeom>
          <a:noFill/>
          <a:ln/>
        </p:spPr>
        <p:txBody>
          <a:bodyPr wrap="square" lIns="0" tIns="0" rIns="0" bIns="0" rtlCol="0" anchor="ctr">
            <a:normAutofit/>
          </a:bodyPr>
          <a:lstStyle/>
          <a:p>
            <a:pPr indent="0" marL="0">
              <a:buNone/>
            </a:pPr>
            <a:r>
              <a:rPr lang="en-US" sz="1180" b="1" dirty="0">
                <a:solidFill>
                  <a:srgbClr val="14273D"/>
                </a:solidFill>
                <a:latin typeface="Inter Display" pitchFamily="34" charset="0"/>
                <a:ea typeface="Inter Display" pitchFamily="34" charset="-122"/>
                <a:cs typeface="Inter Display" pitchFamily="34" charset="-120"/>
              </a:rPr>
              <a:t>PASS · NO DURABLE MEMORY</a:t>
            </a:r>
            <a:endParaRPr lang="en-US" sz="1180" dirty="0"/>
          </a:p>
        </p:txBody>
      </p:sp>
      <p:sp>
        <p:nvSpPr>
          <p:cNvPr id="46" name="Shape 44"/>
          <p:cNvSpPr/>
          <p:nvPr/>
        </p:nvSpPr>
        <p:spPr>
          <a:xfrm>
            <a:off x="4800600" y="4197096"/>
            <a:ext cx="3063240" cy="804672"/>
          </a:xfrm>
          <a:prstGeom prst="roundRect">
            <a:avLst>
              <a:gd name="adj" fmla="val 9091"/>
            </a:avLst>
          </a:prstGeom>
          <a:solidFill>
            <a:srgbClr val="FFFDF8"/>
          </a:solidFill>
          <a:ln w="10160">
            <a:solidFill>
              <a:srgbClr val="A99CFF"/>
            </a:solidFill>
            <a:prstDash val="solid"/>
          </a:ln>
        </p:spPr>
      </p:sp>
      <p:sp>
        <p:nvSpPr>
          <p:cNvPr id="47" name="Text 45"/>
          <p:cNvSpPr/>
          <p:nvPr/>
        </p:nvSpPr>
        <p:spPr>
          <a:xfrm>
            <a:off x="4956048" y="4325112"/>
            <a:ext cx="275234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DECISION</a:t>
            </a:r>
            <a:endParaRPr lang="en-US" sz="680" dirty="0"/>
          </a:p>
        </p:txBody>
      </p:sp>
      <p:sp>
        <p:nvSpPr>
          <p:cNvPr id="48" name="Text 46"/>
          <p:cNvSpPr/>
          <p:nvPr/>
        </p:nvSpPr>
        <p:spPr>
          <a:xfrm>
            <a:off x="4956048" y="4453128"/>
            <a:ext cx="2752344" cy="329184"/>
          </a:xfrm>
          <a:prstGeom prst="rect">
            <a:avLst/>
          </a:prstGeom>
          <a:noFill/>
          <a:ln/>
        </p:spPr>
        <p:txBody>
          <a:bodyPr wrap="square" lIns="0" tIns="0" rIns="0" bIns="0" rtlCol="0" anchor="ctr">
            <a:normAutofit/>
          </a:bodyPr>
          <a:lstStyle/>
          <a:p>
            <a:pPr indent="0" marL="0">
              <a:buNone/>
            </a:pPr>
            <a:r>
              <a:rPr lang="en-US" sz="1180" b="1" dirty="0">
                <a:solidFill>
                  <a:srgbClr val="14273D"/>
                </a:solidFill>
                <a:latin typeface="Inter Display" pitchFamily="34" charset="0"/>
                <a:ea typeface="Inter Display" pitchFamily="34" charset="-122"/>
                <a:cs typeface="Inter Display" pitchFamily="34" charset="-120"/>
              </a:rPr>
              <a:t>QUARANTINE</a:t>
            </a:r>
            <a:endParaRPr lang="en-US" sz="1180" dirty="0"/>
          </a:p>
        </p:txBody>
      </p:sp>
      <p:sp>
        <p:nvSpPr>
          <p:cNvPr id="49" name="Shape 47"/>
          <p:cNvSpPr/>
          <p:nvPr/>
        </p:nvSpPr>
        <p:spPr>
          <a:xfrm>
            <a:off x="8138160" y="4197096"/>
            <a:ext cx="3063240" cy="804672"/>
          </a:xfrm>
          <a:prstGeom prst="roundRect">
            <a:avLst>
              <a:gd name="adj" fmla="val 9091"/>
            </a:avLst>
          </a:prstGeom>
          <a:solidFill>
            <a:srgbClr val="FFFDF8"/>
          </a:solidFill>
          <a:ln w="10160">
            <a:solidFill>
              <a:srgbClr val="7A8695"/>
            </a:solidFill>
            <a:prstDash val="solid"/>
          </a:ln>
        </p:spPr>
      </p:sp>
      <p:sp>
        <p:nvSpPr>
          <p:cNvPr id="50" name="Text 48"/>
          <p:cNvSpPr/>
          <p:nvPr/>
        </p:nvSpPr>
        <p:spPr>
          <a:xfrm>
            <a:off x="8293608" y="4325112"/>
            <a:ext cx="2752344" cy="146304"/>
          </a:xfrm>
          <a:prstGeom prst="rect">
            <a:avLst/>
          </a:prstGeom>
          <a:noFill/>
          <a:ln/>
        </p:spPr>
        <p:txBody>
          <a:bodyPr wrap="square" lIns="0" tIns="0" rIns="0" bIns="0" rtlCol="0" anchor="ctr"/>
          <a:lstStyle/>
          <a:p>
            <a:pPr indent="0" marL="0">
              <a:buNone/>
            </a:pPr>
            <a:r>
              <a:rPr lang="en-US" sz="680" b="1" spc="120" kern="0" dirty="0">
                <a:solidFill>
                  <a:srgbClr val="7A8695"/>
                </a:solidFill>
                <a:latin typeface="Inter" pitchFamily="34" charset="0"/>
                <a:ea typeface="Inter" pitchFamily="34" charset="-122"/>
                <a:cs typeface="Inter" pitchFamily="34" charset="-120"/>
              </a:rPr>
              <a:t>DECISION</a:t>
            </a:r>
            <a:endParaRPr lang="en-US" sz="680" dirty="0"/>
          </a:p>
        </p:txBody>
      </p:sp>
      <p:sp>
        <p:nvSpPr>
          <p:cNvPr id="51" name="Text 49"/>
          <p:cNvSpPr/>
          <p:nvPr/>
        </p:nvSpPr>
        <p:spPr>
          <a:xfrm>
            <a:off x="8293608" y="4453128"/>
            <a:ext cx="2752344" cy="329184"/>
          </a:xfrm>
          <a:prstGeom prst="rect">
            <a:avLst/>
          </a:prstGeom>
          <a:noFill/>
          <a:ln/>
        </p:spPr>
        <p:txBody>
          <a:bodyPr wrap="square" lIns="0" tIns="0" rIns="0" bIns="0" rtlCol="0" anchor="ctr">
            <a:normAutofit/>
          </a:bodyPr>
          <a:lstStyle/>
          <a:p>
            <a:pPr indent="0" marL="0">
              <a:buNone/>
            </a:pPr>
            <a:r>
              <a:rPr lang="en-US" sz="1180" b="1" dirty="0">
                <a:solidFill>
                  <a:srgbClr val="14273D"/>
                </a:solidFill>
                <a:latin typeface="Inter Display" pitchFamily="34" charset="0"/>
                <a:ea typeface="Inter Display" pitchFamily="34" charset="-122"/>
                <a:cs typeface="Inter Display" pitchFamily="34" charset="-120"/>
              </a:rPr>
              <a:t>SUPERSEDE · RETIRE · REVOKE</a:t>
            </a:r>
            <a:endParaRPr lang="en-US" sz="1180" dirty="0"/>
          </a:p>
        </p:txBody>
      </p:sp>
      <p:sp>
        <p:nvSpPr>
          <p:cNvPr id="52" name="Shape 50"/>
          <p:cNvSpPr/>
          <p:nvPr/>
        </p:nvSpPr>
        <p:spPr>
          <a:xfrm>
            <a:off x="4800600" y="5321808"/>
            <a:ext cx="6400800" cy="493776"/>
          </a:xfrm>
          <a:prstGeom prst="roundRect">
            <a:avLst>
              <a:gd name="adj" fmla="val 14815"/>
            </a:avLst>
          </a:prstGeom>
          <a:solidFill>
            <a:srgbClr val="FFFDF8"/>
          </a:solidFill>
          <a:ln w="10160">
            <a:solidFill>
              <a:srgbClr val="E7BD62"/>
            </a:solidFill>
            <a:prstDash val="solid"/>
          </a:ln>
        </p:spPr>
      </p:sp>
      <p:sp>
        <p:nvSpPr>
          <p:cNvPr id="53" name="Text 51"/>
          <p:cNvSpPr/>
          <p:nvPr/>
        </p:nvSpPr>
        <p:spPr>
          <a:xfrm>
            <a:off x="4956048" y="5449824"/>
            <a:ext cx="608990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GATE LAW</a:t>
            </a:r>
            <a:endParaRPr lang="en-US" sz="680" dirty="0"/>
          </a:p>
        </p:txBody>
      </p:sp>
      <p:sp>
        <p:nvSpPr>
          <p:cNvPr id="54" name="Text 52"/>
          <p:cNvSpPr/>
          <p:nvPr/>
        </p:nvSpPr>
        <p:spPr>
          <a:xfrm>
            <a:off x="4956048" y="5577840"/>
            <a:ext cx="6089904" cy="329184"/>
          </a:xfrm>
          <a:prstGeom prst="rect">
            <a:avLst/>
          </a:prstGeom>
          <a:noFill/>
          <a:ln/>
        </p:spPr>
        <p:txBody>
          <a:bodyPr wrap="square" lIns="0" tIns="0" rIns="0" bIns="0" rtlCol="0" anchor="ctr">
            <a:normAutofit/>
          </a:bodyPr>
          <a:lstStyle/>
          <a:p>
            <a:pPr indent="0" marL="0">
              <a:buNone/>
            </a:pPr>
            <a:r>
              <a:rPr lang="en-US" sz="1350" b="1" dirty="0">
                <a:solidFill>
                  <a:srgbClr val="14273D"/>
                </a:solidFill>
                <a:latin typeface="Inter Display" pitchFamily="34" charset="0"/>
                <a:ea typeface="Inter Display" pitchFamily="34" charset="-122"/>
                <a:cs typeface="Inter Display" pitchFamily="34" charset="-120"/>
              </a:rPr>
              <a:t>No Chronicle entry, no future-mission influence.</a:t>
            </a:r>
            <a:endParaRPr lang="en-US" sz="13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VALIDATED SKILL GRAPH</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800" b="1" dirty="0">
                <a:solidFill>
                  <a:srgbClr val="F7FBFF"/>
                </a:solidFill>
                <a:latin typeface="Inter Display" pitchFamily="34" charset="0"/>
                <a:ea typeface="Inter Display" pitchFamily="34" charset="-122"/>
                <a:cs typeface="Inter Display" pitchFamily="34" charset="-120"/>
              </a:rPr>
              <a:t>The durable asset is not the prompt. It is governed reusable capability.</a:t>
            </a:r>
            <a:endParaRPr lang="en-US" sz="28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A Validated Skill is scoped, evidenced, replayable, versioned, monitored, and rollbackable.</a:t>
            </a:r>
            <a:endParaRPr lang="en-US" sz="1450" dirty="0"/>
          </a:p>
        </p:txBody>
      </p:sp>
      <p:sp>
        <p:nvSpPr>
          <p:cNvPr id="30" name="Shape 28"/>
          <p:cNvSpPr/>
          <p:nvPr/>
        </p:nvSpPr>
        <p:spPr>
          <a:xfrm>
            <a:off x="640080" y="2057400"/>
            <a:ext cx="3657600" cy="3337560"/>
          </a:xfrm>
          <a:prstGeom prst="roundRect">
            <a:avLst>
              <a:gd name="adj" fmla="val 2192"/>
            </a:avLst>
          </a:prstGeom>
          <a:solidFill>
            <a:srgbClr val="102238"/>
          </a:solidFill>
          <a:ln w="10160">
            <a:solidFill>
              <a:srgbClr val="43D79B"/>
            </a:solidFill>
            <a:prstDash val="solid"/>
          </a:ln>
        </p:spPr>
      </p:sp>
      <p:sp>
        <p:nvSpPr>
          <p:cNvPr id="31" name="Text 29"/>
          <p:cNvSpPr/>
          <p:nvPr/>
        </p:nvSpPr>
        <p:spPr>
          <a:xfrm>
            <a:off x="795528" y="2185416"/>
            <a:ext cx="334670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VALIDATED SKILL PASSPORT</a:t>
            </a:r>
            <a:endParaRPr lang="en-US" sz="680" dirty="0"/>
          </a:p>
        </p:txBody>
      </p:sp>
      <p:sp>
        <p:nvSpPr>
          <p:cNvPr id="32" name="Text 30"/>
          <p:cNvSpPr/>
          <p:nvPr/>
        </p:nvSpPr>
        <p:spPr>
          <a:xfrm>
            <a:off x="795528" y="2313432"/>
            <a:ext cx="3346704" cy="329184"/>
          </a:xfrm>
          <a:prstGeom prst="rect">
            <a:avLst/>
          </a:prstGeom>
          <a:noFill/>
          <a:ln/>
        </p:spPr>
        <p:txBody>
          <a:bodyPr wrap="square" lIns="0" tIns="0" rIns="0" bIns="0" rtlCol="0" anchor="ctr">
            <a:normAutofit/>
          </a:bodyPr>
          <a:lstStyle/>
          <a:p>
            <a:pPr indent="0" marL="0">
              <a:buNone/>
            </a:pPr>
            <a:r>
              <a:rPr lang="en-US" sz="1700" b="1" dirty="0">
                <a:solidFill>
                  <a:srgbClr val="F7FBFF"/>
                </a:solidFill>
                <a:latin typeface="Inter Display" pitchFamily="34" charset="0"/>
                <a:ea typeface="Inter Display" pitchFamily="34" charset="-122"/>
                <a:cs typeface="Inter Display" pitchFamily="34" charset="-120"/>
              </a:rPr>
              <a:t>What this capability is allowed to do</a:t>
            </a:r>
            <a:endParaRPr lang="en-US" sz="1700" dirty="0"/>
          </a:p>
        </p:txBody>
      </p:sp>
      <p:sp>
        <p:nvSpPr>
          <p:cNvPr id="33" name="Text 31"/>
          <p:cNvSpPr/>
          <p:nvPr/>
        </p:nvSpPr>
        <p:spPr>
          <a:xfrm>
            <a:off x="795528" y="2715768"/>
            <a:ext cx="3346704" cy="2542032"/>
          </a:xfrm>
          <a:prstGeom prst="rect">
            <a:avLst/>
          </a:prstGeom>
          <a:noFill/>
          <a:ln/>
        </p:spPr>
        <p:txBody>
          <a:bodyPr wrap="square" lIns="0" tIns="0" rIns="0" bIns="0" rtlCol="0" anchor="t">
            <a:normAutofit/>
          </a:bodyPr>
          <a:lstStyle/>
          <a:p>
            <a:pPr indent="0" marL="0">
              <a:buNone/>
            </a:pPr>
            <a:r>
              <a:rPr lang="en-US" sz="1050" dirty="0">
                <a:solidFill>
                  <a:srgbClr val="B9C5D2"/>
                </a:solidFill>
                <a:latin typeface="Inter" pitchFamily="34" charset="0"/>
                <a:ea typeface="Inter" pitchFamily="34" charset="-122"/>
                <a:cs typeface="Inter" pitchFamily="34" charset="-120"/>
              </a:rPr>
              <a:t>Identity + version</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Scope + excluded uses</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Assumptions + method</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Tools + environment</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Evidence + tests</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Validators + proof level</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Failure modes + risk</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Freshness + monitoring</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Utility + lineage</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Rollback + revocation</a:t>
            </a:r>
            <a:endParaRPr lang="en-US" sz="1050" dirty="0"/>
          </a:p>
        </p:txBody>
      </p:sp>
      <p:sp>
        <p:nvSpPr>
          <p:cNvPr id="34" name="Shape 32"/>
          <p:cNvSpPr/>
          <p:nvPr/>
        </p:nvSpPr>
        <p:spPr>
          <a:xfrm>
            <a:off x="4754880" y="2167128"/>
            <a:ext cx="1920240" cy="283464"/>
          </a:xfrm>
          <a:prstGeom prst="roundRect">
            <a:avLst>
              <a:gd name="adj" fmla="val 38710"/>
            </a:avLst>
          </a:prstGeom>
          <a:solidFill>
            <a:srgbClr val="6FB5FF">
              <a:alpha val="13000"/>
            </a:srgbClr>
          </a:solidFill>
          <a:ln w="10160">
            <a:solidFill>
              <a:srgbClr val="6FB5FF">
                <a:alpha val="60000"/>
              </a:srgbClr>
            </a:solidFill>
            <a:prstDash val="solid"/>
          </a:ln>
        </p:spPr>
      </p:sp>
      <p:sp>
        <p:nvSpPr>
          <p:cNvPr id="35" name="Text 33"/>
          <p:cNvSpPr/>
          <p:nvPr/>
        </p:nvSpPr>
        <p:spPr>
          <a:xfrm>
            <a:off x="4809744" y="2244852"/>
            <a:ext cx="1810512" cy="109728"/>
          </a:xfrm>
          <a:prstGeom prst="rect">
            <a:avLst/>
          </a:prstGeom>
          <a:noFill/>
          <a:ln/>
        </p:spPr>
        <p:txBody>
          <a:bodyPr wrap="square" lIns="0" tIns="0" rIns="0" bIns="0" rtlCol="0" anchor="ctr"/>
          <a:lstStyle/>
          <a:p>
            <a:pPr algn="ctr" indent="0" marL="0">
              <a:buNone/>
            </a:pPr>
            <a:r>
              <a:rPr lang="en-US" sz="690" b="1" dirty="0">
                <a:solidFill>
                  <a:srgbClr val="6FB5FF"/>
                </a:solidFill>
                <a:latin typeface="Inter" pitchFamily="34" charset="0"/>
                <a:ea typeface="Inter" pitchFamily="34" charset="-122"/>
                <a:cs typeface="Inter" pitchFamily="34" charset="-120"/>
              </a:rPr>
              <a:t>Reuse</a:t>
            </a:r>
            <a:endParaRPr lang="en-US" sz="690" dirty="0"/>
          </a:p>
        </p:txBody>
      </p:sp>
      <p:sp>
        <p:nvSpPr>
          <p:cNvPr id="36" name="Shape 34"/>
          <p:cNvSpPr/>
          <p:nvPr/>
        </p:nvSpPr>
        <p:spPr>
          <a:xfrm>
            <a:off x="6903720" y="2167128"/>
            <a:ext cx="1920240" cy="283464"/>
          </a:xfrm>
          <a:prstGeom prst="roundRect">
            <a:avLst>
              <a:gd name="adj" fmla="val 38710"/>
            </a:avLst>
          </a:prstGeom>
          <a:solidFill>
            <a:srgbClr val="A99CFF">
              <a:alpha val="13000"/>
            </a:srgbClr>
          </a:solidFill>
          <a:ln w="10160">
            <a:solidFill>
              <a:srgbClr val="A99CFF">
                <a:alpha val="60000"/>
              </a:srgbClr>
            </a:solidFill>
            <a:prstDash val="solid"/>
          </a:ln>
        </p:spPr>
      </p:sp>
      <p:sp>
        <p:nvSpPr>
          <p:cNvPr id="37" name="Text 35"/>
          <p:cNvSpPr/>
          <p:nvPr/>
        </p:nvSpPr>
        <p:spPr>
          <a:xfrm>
            <a:off x="6958584" y="2244852"/>
            <a:ext cx="1810512" cy="109728"/>
          </a:xfrm>
          <a:prstGeom prst="rect">
            <a:avLst/>
          </a:prstGeom>
          <a:noFill/>
          <a:ln/>
        </p:spPr>
        <p:txBody>
          <a:bodyPr wrap="square" lIns="0" tIns="0" rIns="0" bIns="0" rtlCol="0" anchor="ctr"/>
          <a:lstStyle/>
          <a:p>
            <a:pPr algn="ctr" indent="0" marL="0">
              <a:buNone/>
            </a:pPr>
            <a:r>
              <a:rPr lang="en-US" sz="690" b="1" dirty="0">
                <a:solidFill>
                  <a:srgbClr val="A99CFF"/>
                </a:solidFill>
                <a:latin typeface="Inter" pitchFamily="34" charset="0"/>
                <a:ea typeface="Inter" pitchFamily="34" charset="-122"/>
                <a:cs typeface="Inter" pitchFamily="34" charset="-120"/>
              </a:rPr>
              <a:t>Compose</a:t>
            </a:r>
            <a:endParaRPr lang="en-US" sz="690" dirty="0"/>
          </a:p>
        </p:txBody>
      </p:sp>
      <p:sp>
        <p:nvSpPr>
          <p:cNvPr id="38" name="Shape 36"/>
          <p:cNvSpPr/>
          <p:nvPr/>
        </p:nvSpPr>
        <p:spPr>
          <a:xfrm>
            <a:off x="4754880" y="2788920"/>
            <a:ext cx="1920240" cy="283464"/>
          </a:xfrm>
          <a:prstGeom prst="roundRect">
            <a:avLst>
              <a:gd name="adj" fmla="val 38710"/>
            </a:avLst>
          </a:prstGeom>
          <a:solidFill>
            <a:srgbClr val="54D6D0">
              <a:alpha val="13000"/>
            </a:srgbClr>
          </a:solidFill>
          <a:ln w="10160">
            <a:solidFill>
              <a:srgbClr val="54D6D0">
                <a:alpha val="60000"/>
              </a:srgbClr>
            </a:solidFill>
            <a:prstDash val="solid"/>
          </a:ln>
        </p:spPr>
      </p:sp>
      <p:sp>
        <p:nvSpPr>
          <p:cNvPr id="39" name="Text 37"/>
          <p:cNvSpPr/>
          <p:nvPr/>
        </p:nvSpPr>
        <p:spPr>
          <a:xfrm>
            <a:off x="4809744" y="2866644"/>
            <a:ext cx="1810512" cy="109728"/>
          </a:xfrm>
          <a:prstGeom prst="rect">
            <a:avLst/>
          </a:prstGeom>
          <a:noFill/>
          <a:ln/>
        </p:spPr>
        <p:txBody>
          <a:bodyPr wrap="square" lIns="0" tIns="0" rIns="0" bIns="0" rtlCol="0" anchor="ctr"/>
          <a:lstStyle/>
          <a:p>
            <a:pPr algn="ctr" indent="0" marL="0">
              <a:buNone/>
            </a:pPr>
            <a:r>
              <a:rPr lang="en-US" sz="690" b="1" dirty="0">
                <a:solidFill>
                  <a:srgbClr val="54D6D0"/>
                </a:solidFill>
                <a:latin typeface="Inter" pitchFamily="34" charset="0"/>
                <a:ea typeface="Inter" pitchFamily="34" charset="-122"/>
                <a:cs typeface="Inter" pitchFamily="34" charset="-120"/>
              </a:rPr>
              <a:t>Teach</a:t>
            </a:r>
            <a:endParaRPr lang="en-US" sz="690" dirty="0"/>
          </a:p>
        </p:txBody>
      </p:sp>
      <p:sp>
        <p:nvSpPr>
          <p:cNvPr id="40" name="Shape 38"/>
          <p:cNvSpPr/>
          <p:nvPr/>
        </p:nvSpPr>
        <p:spPr>
          <a:xfrm>
            <a:off x="6903720" y="2788920"/>
            <a:ext cx="1920240" cy="283464"/>
          </a:xfrm>
          <a:prstGeom prst="roundRect">
            <a:avLst>
              <a:gd name="adj" fmla="val 38710"/>
            </a:avLst>
          </a:prstGeom>
          <a:solidFill>
            <a:srgbClr val="E7BD62">
              <a:alpha val="13000"/>
            </a:srgbClr>
          </a:solidFill>
          <a:ln w="10160">
            <a:solidFill>
              <a:srgbClr val="E7BD62">
                <a:alpha val="60000"/>
              </a:srgbClr>
            </a:solidFill>
            <a:prstDash val="solid"/>
          </a:ln>
        </p:spPr>
      </p:sp>
      <p:sp>
        <p:nvSpPr>
          <p:cNvPr id="41" name="Text 39"/>
          <p:cNvSpPr/>
          <p:nvPr/>
        </p:nvSpPr>
        <p:spPr>
          <a:xfrm>
            <a:off x="6958584" y="2866644"/>
            <a:ext cx="1810512" cy="109728"/>
          </a:xfrm>
          <a:prstGeom prst="rect">
            <a:avLst/>
          </a:prstGeom>
          <a:noFill/>
          <a:ln/>
        </p:spPr>
        <p:txBody>
          <a:bodyPr wrap="square" lIns="0" tIns="0" rIns="0" bIns="0" rtlCol="0" anchor="ctr"/>
          <a:lstStyle/>
          <a:p>
            <a:pPr algn="ctr" indent="0" marL="0">
              <a:buNone/>
            </a:pPr>
            <a:r>
              <a:rPr lang="en-US" sz="690" b="1" dirty="0">
                <a:solidFill>
                  <a:srgbClr val="E7BD62"/>
                </a:solidFill>
                <a:latin typeface="Inter" pitchFamily="34" charset="0"/>
                <a:ea typeface="Inter" pitchFamily="34" charset="-122"/>
                <a:cs typeface="Inter" pitchFamily="34" charset="-120"/>
              </a:rPr>
              <a:t>Package</a:t>
            </a:r>
            <a:endParaRPr lang="en-US" sz="690" dirty="0"/>
          </a:p>
        </p:txBody>
      </p:sp>
      <p:sp>
        <p:nvSpPr>
          <p:cNvPr id="42" name="Shape 40"/>
          <p:cNvSpPr/>
          <p:nvPr/>
        </p:nvSpPr>
        <p:spPr>
          <a:xfrm>
            <a:off x="4754880" y="3410712"/>
            <a:ext cx="1920240"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43" name="Text 41"/>
          <p:cNvSpPr/>
          <p:nvPr/>
        </p:nvSpPr>
        <p:spPr>
          <a:xfrm>
            <a:off x="4809744" y="3488436"/>
            <a:ext cx="1810512" cy="109728"/>
          </a:xfrm>
          <a:prstGeom prst="rect">
            <a:avLst/>
          </a:prstGeom>
          <a:noFill/>
          <a:ln/>
        </p:spPr>
        <p:txBody>
          <a:bodyPr wrap="square" lIns="0" tIns="0" rIns="0" bIns="0" rtlCol="0" anchor="ctr"/>
          <a:lstStyle/>
          <a:p>
            <a:pPr algn="ctr" indent="0" marL="0">
              <a:buNone/>
            </a:pPr>
            <a:r>
              <a:rPr lang="en-US" sz="690" b="1" dirty="0">
                <a:solidFill>
                  <a:srgbClr val="FF7584"/>
                </a:solidFill>
                <a:latin typeface="Inter" pitchFamily="34" charset="0"/>
                <a:ea typeface="Inter" pitchFamily="34" charset="-122"/>
                <a:cs typeface="Inter" pitchFamily="34" charset="-120"/>
              </a:rPr>
              <a:t>Audit</a:t>
            </a:r>
            <a:endParaRPr lang="en-US" sz="690" dirty="0"/>
          </a:p>
        </p:txBody>
      </p:sp>
      <p:sp>
        <p:nvSpPr>
          <p:cNvPr id="44" name="Shape 42"/>
          <p:cNvSpPr/>
          <p:nvPr/>
        </p:nvSpPr>
        <p:spPr>
          <a:xfrm>
            <a:off x="6903720" y="3410712"/>
            <a:ext cx="1920240" cy="283464"/>
          </a:xfrm>
          <a:prstGeom prst="roundRect">
            <a:avLst>
              <a:gd name="adj" fmla="val 38710"/>
            </a:avLst>
          </a:prstGeom>
          <a:solidFill>
            <a:srgbClr val="43D79B">
              <a:alpha val="13000"/>
            </a:srgbClr>
          </a:solidFill>
          <a:ln w="10160">
            <a:solidFill>
              <a:srgbClr val="43D79B">
                <a:alpha val="60000"/>
              </a:srgbClr>
            </a:solidFill>
            <a:prstDash val="solid"/>
          </a:ln>
        </p:spPr>
      </p:sp>
      <p:sp>
        <p:nvSpPr>
          <p:cNvPr id="45" name="Text 43"/>
          <p:cNvSpPr/>
          <p:nvPr/>
        </p:nvSpPr>
        <p:spPr>
          <a:xfrm>
            <a:off x="6958584" y="3488436"/>
            <a:ext cx="1810512" cy="109728"/>
          </a:xfrm>
          <a:prstGeom prst="rect">
            <a:avLst/>
          </a:prstGeom>
          <a:noFill/>
          <a:ln/>
        </p:spPr>
        <p:txBody>
          <a:bodyPr wrap="square" lIns="0" tIns="0" rIns="0" bIns="0" rtlCol="0" anchor="ctr"/>
          <a:lstStyle/>
          <a:p>
            <a:pPr algn="ctr" indent="0" marL="0">
              <a:buNone/>
            </a:pPr>
            <a:r>
              <a:rPr lang="en-US" sz="690" b="1" dirty="0">
                <a:solidFill>
                  <a:srgbClr val="43D79B"/>
                </a:solidFill>
                <a:latin typeface="Inter" pitchFamily="34" charset="0"/>
                <a:ea typeface="Inter" pitchFamily="34" charset="-122"/>
                <a:cs typeface="Inter" pitchFamily="34" charset="-120"/>
              </a:rPr>
              <a:t>Supersede</a:t>
            </a:r>
            <a:endParaRPr lang="en-US" sz="690" dirty="0"/>
          </a:p>
        </p:txBody>
      </p:sp>
      <p:sp>
        <p:nvSpPr>
          <p:cNvPr id="46" name="Shape 44"/>
          <p:cNvSpPr/>
          <p:nvPr/>
        </p:nvSpPr>
        <p:spPr>
          <a:xfrm>
            <a:off x="4754880" y="4032504"/>
            <a:ext cx="1920240" cy="283464"/>
          </a:xfrm>
          <a:prstGeom prst="roundRect">
            <a:avLst>
              <a:gd name="adj" fmla="val 38710"/>
            </a:avLst>
          </a:prstGeom>
          <a:solidFill>
            <a:srgbClr val="7A8695">
              <a:alpha val="13000"/>
            </a:srgbClr>
          </a:solidFill>
          <a:ln w="10160">
            <a:solidFill>
              <a:srgbClr val="7A8695">
                <a:alpha val="60000"/>
              </a:srgbClr>
            </a:solidFill>
            <a:prstDash val="solid"/>
          </a:ln>
        </p:spPr>
      </p:sp>
      <p:sp>
        <p:nvSpPr>
          <p:cNvPr id="47" name="Text 45"/>
          <p:cNvSpPr/>
          <p:nvPr/>
        </p:nvSpPr>
        <p:spPr>
          <a:xfrm>
            <a:off x="4809744" y="4110228"/>
            <a:ext cx="1810512" cy="109728"/>
          </a:xfrm>
          <a:prstGeom prst="rect">
            <a:avLst/>
          </a:prstGeom>
          <a:noFill/>
          <a:ln/>
        </p:spPr>
        <p:txBody>
          <a:bodyPr wrap="square" lIns="0" tIns="0" rIns="0" bIns="0" rtlCol="0" anchor="ctr"/>
          <a:lstStyle/>
          <a:p>
            <a:pPr algn="ctr" indent="0" marL="0">
              <a:buNone/>
            </a:pPr>
            <a:r>
              <a:rPr lang="en-US" sz="690" b="1" dirty="0">
                <a:solidFill>
                  <a:srgbClr val="7A8695"/>
                </a:solidFill>
                <a:latin typeface="Inter" pitchFamily="34" charset="0"/>
                <a:ea typeface="Inter" pitchFamily="34" charset="-122"/>
                <a:cs typeface="Inter" pitchFamily="34" charset="-120"/>
              </a:rPr>
              <a:t>Retire</a:t>
            </a:r>
            <a:endParaRPr lang="en-US" sz="690" dirty="0"/>
          </a:p>
        </p:txBody>
      </p:sp>
      <p:sp>
        <p:nvSpPr>
          <p:cNvPr id="48" name="Shape 46"/>
          <p:cNvSpPr/>
          <p:nvPr/>
        </p:nvSpPr>
        <p:spPr>
          <a:xfrm>
            <a:off x="6903720" y="4032504"/>
            <a:ext cx="1920240" cy="283464"/>
          </a:xfrm>
          <a:prstGeom prst="roundRect">
            <a:avLst>
              <a:gd name="adj" fmla="val 38710"/>
            </a:avLst>
          </a:prstGeom>
          <a:solidFill>
            <a:srgbClr val="F5C46B">
              <a:alpha val="13000"/>
            </a:srgbClr>
          </a:solidFill>
          <a:ln w="10160">
            <a:solidFill>
              <a:srgbClr val="F5C46B">
                <a:alpha val="60000"/>
              </a:srgbClr>
            </a:solidFill>
            <a:prstDash val="solid"/>
          </a:ln>
        </p:spPr>
      </p:sp>
      <p:sp>
        <p:nvSpPr>
          <p:cNvPr id="49" name="Text 47"/>
          <p:cNvSpPr/>
          <p:nvPr/>
        </p:nvSpPr>
        <p:spPr>
          <a:xfrm>
            <a:off x="6958584" y="4110228"/>
            <a:ext cx="1810512" cy="109728"/>
          </a:xfrm>
          <a:prstGeom prst="rect">
            <a:avLst/>
          </a:prstGeom>
          <a:noFill/>
          <a:ln/>
        </p:spPr>
        <p:txBody>
          <a:bodyPr wrap="square" lIns="0" tIns="0" rIns="0" bIns="0" rtlCol="0" anchor="ctr"/>
          <a:lstStyle/>
          <a:p>
            <a:pPr algn="ctr" indent="0" marL="0">
              <a:buNone/>
            </a:pPr>
            <a:r>
              <a:rPr lang="en-US" sz="690" b="1" dirty="0">
                <a:solidFill>
                  <a:srgbClr val="F5C46B"/>
                </a:solidFill>
                <a:latin typeface="Inter" pitchFamily="34" charset="0"/>
                <a:ea typeface="Inter" pitchFamily="34" charset="-122"/>
                <a:cs typeface="Inter" pitchFamily="34" charset="-120"/>
              </a:rPr>
              <a:t>Future prior</a:t>
            </a:r>
            <a:endParaRPr lang="en-US" sz="690" dirty="0"/>
          </a:p>
        </p:txBody>
      </p:sp>
      <p:sp>
        <p:nvSpPr>
          <p:cNvPr id="50" name="Shape 48"/>
          <p:cNvSpPr/>
          <p:nvPr/>
        </p:nvSpPr>
        <p:spPr>
          <a:xfrm>
            <a:off x="4663440" y="4800600"/>
            <a:ext cx="6766560" cy="658368"/>
          </a:xfrm>
          <a:prstGeom prst="roundRect">
            <a:avLst>
              <a:gd name="adj" fmla="val 11111"/>
            </a:avLst>
          </a:prstGeom>
          <a:solidFill>
            <a:srgbClr val="102238"/>
          </a:solidFill>
          <a:ln w="10160">
            <a:solidFill>
              <a:srgbClr val="E7BD62"/>
            </a:solidFill>
            <a:prstDash val="solid"/>
          </a:ln>
        </p:spPr>
      </p:sp>
      <p:sp>
        <p:nvSpPr>
          <p:cNvPr id="51" name="Text 49"/>
          <p:cNvSpPr/>
          <p:nvPr/>
        </p:nvSpPr>
        <p:spPr>
          <a:xfrm>
            <a:off x="4818888" y="4928616"/>
            <a:ext cx="64556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WORTH-KEEPING POLICY</a:t>
            </a:r>
            <a:endParaRPr lang="en-US" sz="680" dirty="0"/>
          </a:p>
        </p:txBody>
      </p:sp>
      <p:sp>
        <p:nvSpPr>
          <p:cNvPr id="52" name="Text 50"/>
          <p:cNvSpPr/>
          <p:nvPr/>
        </p:nvSpPr>
        <p:spPr>
          <a:xfrm>
            <a:off x="4818888" y="5056632"/>
            <a:ext cx="6455664" cy="329184"/>
          </a:xfrm>
          <a:prstGeom prst="rect">
            <a:avLst/>
          </a:prstGeom>
          <a:noFill/>
          <a:ln/>
        </p:spPr>
        <p:txBody>
          <a:bodyPr wrap="square" lIns="0" tIns="0" rIns="0" bIns="0" rtlCol="0" anchor="ctr">
            <a:normAutofit/>
          </a:bodyPr>
          <a:lstStyle/>
          <a:p>
            <a:pPr indent="0" marL="0">
              <a:buNone/>
            </a:pPr>
            <a:r>
              <a:rPr lang="en-US" sz="1160" b="1" dirty="0">
                <a:solidFill>
                  <a:srgbClr val="F7FBFF"/>
                </a:solidFill>
                <a:latin typeface="Inter Display" pitchFamily="34" charset="0"/>
                <a:ea typeface="Inter Display" pitchFamily="34" charset="-122"/>
                <a:cs typeface="Inter Display" pitchFamily="34" charset="-120"/>
              </a:rPr>
              <a:t>Admission proves a skill may be reused. Retention asks whether its expected reuse and value exceed maintenance, drift, and governance cost.</a:t>
            </a:r>
            <a:endParaRPr lang="en-US" sz="116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MERKLE-NATIVE MEMORY</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700" b="1" dirty="0">
                <a:solidFill>
                  <a:srgbClr val="14273D"/>
                </a:solidFill>
                <a:latin typeface="Inter Display" pitchFamily="34" charset="0"/>
                <a:ea typeface="Inter Display" pitchFamily="34" charset="-122"/>
                <a:cs typeface="Inter Display" pitchFamily="34" charset="-120"/>
              </a:rPr>
              <a:t>Merkle roots make admitted proof state compact, auditable, and difficult to rewrite silently.</a:t>
            </a:r>
            <a:endParaRPr lang="en-US" sz="27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Typed roots preserve reviewer interpretation while one graph epoch root binds the complete admitted state.</a:t>
            </a:r>
            <a:endParaRPr lang="en-US" sz="1450" dirty="0"/>
          </a:p>
        </p:txBody>
      </p:sp>
      <p:sp>
        <p:nvSpPr>
          <p:cNvPr id="30" name="Shape 28"/>
          <p:cNvSpPr/>
          <p:nvPr/>
        </p:nvSpPr>
        <p:spPr>
          <a:xfrm>
            <a:off x="594360" y="2331720"/>
            <a:ext cx="1234440" cy="960120"/>
          </a:xfrm>
          <a:prstGeom prst="roundRect">
            <a:avLst>
              <a:gd name="adj" fmla="val 7619"/>
            </a:avLst>
          </a:prstGeom>
          <a:solidFill>
            <a:srgbClr val="FFFDF8"/>
          </a:solidFill>
          <a:ln w="10160">
            <a:solidFill>
              <a:srgbClr val="43D79B"/>
            </a:solidFill>
            <a:prstDash val="solid"/>
          </a:ln>
        </p:spPr>
      </p:sp>
      <p:sp>
        <p:nvSpPr>
          <p:cNvPr id="31" name="Text 29"/>
          <p:cNvSpPr/>
          <p:nvPr/>
        </p:nvSpPr>
        <p:spPr>
          <a:xfrm>
            <a:off x="749808" y="2459736"/>
            <a:ext cx="92354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TYPED ROOT</a:t>
            </a:r>
            <a:endParaRPr lang="en-US" sz="680" dirty="0"/>
          </a:p>
        </p:txBody>
      </p:sp>
      <p:sp>
        <p:nvSpPr>
          <p:cNvPr id="32" name="Text 30"/>
          <p:cNvSpPr/>
          <p:nvPr/>
        </p:nvSpPr>
        <p:spPr>
          <a:xfrm>
            <a:off x="749808" y="2587752"/>
            <a:ext cx="923544" cy="329184"/>
          </a:xfrm>
          <a:prstGeom prst="rect">
            <a:avLst/>
          </a:prstGeom>
          <a:noFill/>
          <a:ln/>
        </p:spPr>
        <p:txBody>
          <a:bodyPr wrap="square" lIns="0" tIns="0" rIns="0" bIns="0" rtlCol="0" anchor="ctr">
            <a:normAutofit/>
          </a:bodyPr>
          <a:lstStyle/>
          <a:p>
            <a:pPr indent="0" marL="0">
              <a:buNone/>
            </a:pPr>
            <a:r>
              <a:rPr lang="en-US" sz="1050" b="1" dirty="0">
                <a:solidFill>
                  <a:srgbClr val="14273D"/>
                </a:solidFill>
                <a:latin typeface="Inter Display" pitchFamily="34" charset="0"/>
                <a:ea typeface="Inter Display" pitchFamily="34" charset="-122"/>
                <a:cs typeface="Inter Display" pitchFamily="34" charset="-120"/>
              </a:rPr>
              <a:t>Skills</a:t>
            </a:r>
            <a:endParaRPr lang="en-US" sz="1050" dirty="0"/>
          </a:p>
        </p:txBody>
      </p:sp>
      <p:sp>
        <p:nvSpPr>
          <p:cNvPr id="33" name="Shape 31"/>
          <p:cNvSpPr/>
          <p:nvPr/>
        </p:nvSpPr>
        <p:spPr>
          <a:xfrm>
            <a:off x="2011680" y="2331720"/>
            <a:ext cx="1234440" cy="960120"/>
          </a:xfrm>
          <a:prstGeom prst="roundRect">
            <a:avLst>
              <a:gd name="adj" fmla="val 7619"/>
            </a:avLst>
          </a:prstGeom>
          <a:solidFill>
            <a:srgbClr val="FFFDF8"/>
          </a:solidFill>
          <a:ln w="10160">
            <a:solidFill>
              <a:srgbClr val="6FB5FF"/>
            </a:solidFill>
            <a:prstDash val="solid"/>
          </a:ln>
        </p:spPr>
      </p:sp>
      <p:sp>
        <p:nvSpPr>
          <p:cNvPr id="34" name="Text 32"/>
          <p:cNvSpPr/>
          <p:nvPr/>
        </p:nvSpPr>
        <p:spPr>
          <a:xfrm>
            <a:off x="2167128" y="2459736"/>
            <a:ext cx="92354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TYPED ROOT</a:t>
            </a:r>
            <a:endParaRPr lang="en-US" sz="680" dirty="0"/>
          </a:p>
        </p:txBody>
      </p:sp>
      <p:sp>
        <p:nvSpPr>
          <p:cNvPr id="35" name="Text 33"/>
          <p:cNvSpPr/>
          <p:nvPr/>
        </p:nvSpPr>
        <p:spPr>
          <a:xfrm>
            <a:off x="2167128" y="2587752"/>
            <a:ext cx="923544" cy="329184"/>
          </a:xfrm>
          <a:prstGeom prst="rect">
            <a:avLst/>
          </a:prstGeom>
          <a:noFill/>
          <a:ln/>
        </p:spPr>
        <p:txBody>
          <a:bodyPr wrap="square" lIns="0" tIns="0" rIns="0" bIns="0" rtlCol="0" anchor="ctr">
            <a:normAutofit/>
          </a:bodyPr>
          <a:lstStyle/>
          <a:p>
            <a:pPr indent="0" marL="0">
              <a:buNone/>
            </a:pPr>
            <a:r>
              <a:rPr lang="en-US" sz="1050" b="1" dirty="0">
                <a:solidFill>
                  <a:srgbClr val="14273D"/>
                </a:solidFill>
                <a:latin typeface="Inter Display" pitchFamily="34" charset="0"/>
                <a:ea typeface="Inter Display" pitchFamily="34" charset="-122"/>
                <a:cs typeface="Inter Display" pitchFamily="34" charset="-120"/>
              </a:rPr>
              <a:t>Edges</a:t>
            </a:r>
            <a:endParaRPr lang="en-US" sz="1050" dirty="0"/>
          </a:p>
        </p:txBody>
      </p:sp>
      <p:sp>
        <p:nvSpPr>
          <p:cNvPr id="36" name="Shape 34"/>
          <p:cNvSpPr/>
          <p:nvPr/>
        </p:nvSpPr>
        <p:spPr>
          <a:xfrm>
            <a:off x="3429000" y="2331720"/>
            <a:ext cx="1234440" cy="960120"/>
          </a:xfrm>
          <a:prstGeom prst="roundRect">
            <a:avLst>
              <a:gd name="adj" fmla="val 7619"/>
            </a:avLst>
          </a:prstGeom>
          <a:solidFill>
            <a:srgbClr val="FFFDF8"/>
          </a:solidFill>
          <a:ln w="10160">
            <a:solidFill>
              <a:srgbClr val="E7BD62"/>
            </a:solidFill>
            <a:prstDash val="solid"/>
          </a:ln>
        </p:spPr>
      </p:sp>
      <p:sp>
        <p:nvSpPr>
          <p:cNvPr id="37" name="Text 35"/>
          <p:cNvSpPr/>
          <p:nvPr/>
        </p:nvSpPr>
        <p:spPr>
          <a:xfrm>
            <a:off x="3584448" y="2459736"/>
            <a:ext cx="92354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TYPED ROOT</a:t>
            </a:r>
            <a:endParaRPr lang="en-US" sz="680" dirty="0"/>
          </a:p>
        </p:txBody>
      </p:sp>
      <p:sp>
        <p:nvSpPr>
          <p:cNvPr id="38" name="Text 36"/>
          <p:cNvSpPr/>
          <p:nvPr/>
        </p:nvSpPr>
        <p:spPr>
          <a:xfrm>
            <a:off x="3584448" y="2587752"/>
            <a:ext cx="923544" cy="329184"/>
          </a:xfrm>
          <a:prstGeom prst="rect">
            <a:avLst/>
          </a:prstGeom>
          <a:noFill/>
          <a:ln/>
        </p:spPr>
        <p:txBody>
          <a:bodyPr wrap="square" lIns="0" tIns="0" rIns="0" bIns="0" rtlCol="0" anchor="ctr">
            <a:normAutofit/>
          </a:bodyPr>
          <a:lstStyle/>
          <a:p>
            <a:pPr indent="0" marL="0">
              <a:buNone/>
            </a:pPr>
            <a:r>
              <a:rPr lang="en-US" sz="1050" b="1" dirty="0">
                <a:solidFill>
                  <a:srgbClr val="14273D"/>
                </a:solidFill>
                <a:latin typeface="Inter Display" pitchFamily="34" charset="0"/>
                <a:ea typeface="Inter Display" pitchFamily="34" charset="-122"/>
                <a:cs typeface="Inter Display" pitchFamily="34" charset="-120"/>
              </a:rPr>
              <a:t>Dockets</a:t>
            </a:r>
            <a:endParaRPr lang="en-US" sz="1050" dirty="0"/>
          </a:p>
        </p:txBody>
      </p:sp>
      <p:sp>
        <p:nvSpPr>
          <p:cNvPr id="39" name="Shape 37"/>
          <p:cNvSpPr/>
          <p:nvPr/>
        </p:nvSpPr>
        <p:spPr>
          <a:xfrm>
            <a:off x="4846320" y="2331720"/>
            <a:ext cx="1234440" cy="960120"/>
          </a:xfrm>
          <a:prstGeom prst="roundRect">
            <a:avLst>
              <a:gd name="adj" fmla="val 7619"/>
            </a:avLst>
          </a:prstGeom>
          <a:solidFill>
            <a:srgbClr val="FFFDF8"/>
          </a:solidFill>
          <a:ln w="10160">
            <a:solidFill>
              <a:srgbClr val="54D6D0"/>
            </a:solidFill>
            <a:prstDash val="solid"/>
          </a:ln>
        </p:spPr>
      </p:sp>
      <p:sp>
        <p:nvSpPr>
          <p:cNvPr id="40" name="Text 38"/>
          <p:cNvSpPr/>
          <p:nvPr/>
        </p:nvSpPr>
        <p:spPr>
          <a:xfrm>
            <a:off x="5001768" y="2459736"/>
            <a:ext cx="92354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TYPED ROOT</a:t>
            </a:r>
            <a:endParaRPr lang="en-US" sz="680" dirty="0"/>
          </a:p>
        </p:txBody>
      </p:sp>
      <p:sp>
        <p:nvSpPr>
          <p:cNvPr id="41" name="Text 39"/>
          <p:cNvSpPr/>
          <p:nvPr/>
        </p:nvSpPr>
        <p:spPr>
          <a:xfrm>
            <a:off x="5001768" y="2587752"/>
            <a:ext cx="923544" cy="329184"/>
          </a:xfrm>
          <a:prstGeom prst="rect">
            <a:avLst/>
          </a:prstGeom>
          <a:noFill/>
          <a:ln/>
        </p:spPr>
        <p:txBody>
          <a:bodyPr wrap="square" lIns="0" tIns="0" rIns="0" bIns="0" rtlCol="0" anchor="ctr">
            <a:normAutofit/>
          </a:bodyPr>
          <a:lstStyle/>
          <a:p>
            <a:pPr indent="0" marL="0">
              <a:buNone/>
            </a:pPr>
            <a:r>
              <a:rPr lang="en-US" sz="1050" b="1" dirty="0">
                <a:solidFill>
                  <a:srgbClr val="14273D"/>
                </a:solidFill>
                <a:latin typeface="Inter Display" pitchFamily="34" charset="0"/>
                <a:ea typeface="Inter Display" pitchFamily="34" charset="-122"/>
                <a:cs typeface="Inter Display" pitchFamily="34" charset="-120"/>
              </a:rPr>
              <a:t>ProofBundles</a:t>
            </a:r>
            <a:endParaRPr lang="en-US" sz="1050" dirty="0"/>
          </a:p>
        </p:txBody>
      </p:sp>
      <p:sp>
        <p:nvSpPr>
          <p:cNvPr id="42" name="Shape 40"/>
          <p:cNvSpPr/>
          <p:nvPr/>
        </p:nvSpPr>
        <p:spPr>
          <a:xfrm>
            <a:off x="6263640" y="2331720"/>
            <a:ext cx="1234440" cy="960120"/>
          </a:xfrm>
          <a:prstGeom prst="roundRect">
            <a:avLst>
              <a:gd name="adj" fmla="val 7619"/>
            </a:avLst>
          </a:prstGeom>
          <a:solidFill>
            <a:srgbClr val="FFFDF8"/>
          </a:solidFill>
          <a:ln w="10160">
            <a:solidFill>
              <a:srgbClr val="A99CFF"/>
            </a:solidFill>
            <a:prstDash val="solid"/>
          </a:ln>
        </p:spPr>
      </p:sp>
      <p:sp>
        <p:nvSpPr>
          <p:cNvPr id="43" name="Text 41"/>
          <p:cNvSpPr/>
          <p:nvPr/>
        </p:nvSpPr>
        <p:spPr>
          <a:xfrm>
            <a:off x="6419088" y="2459736"/>
            <a:ext cx="92354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TYPED ROOT</a:t>
            </a:r>
            <a:endParaRPr lang="en-US" sz="680" dirty="0"/>
          </a:p>
        </p:txBody>
      </p:sp>
      <p:sp>
        <p:nvSpPr>
          <p:cNvPr id="44" name="Text 42"/>
          <p:cNvSpPr/>
          <p:nvPr/>
        </p:nvSpPr>
        <p:spPr>
          <a:xfrm>
            <a:off x="6419088" y="2587752"/>
            <a:ext cx="923544" cy="329184"/>
          </a:xfrm>
          <a:prstGeom prst="rect">
            <a:avLst/>
          </a:prstGeom>
          <a:noFill/>
          <a:ln/>
        </p:spPr>
        <p:txBody>
          <a:bodyPr wrap="square" lIns="0" tIns="0" rIns="0" bIns="0" rtlCol="0" anchor="ctr">
            <a:normAutofit/>
          </a:bodyPr>
          <a:lstStyle/>
          <a:p>
            <a:pPr indent="0" marL="0">
              <a:buNone/>
            </a:pPr>
            <a:r>
              <a:rPr lang="en-US" sz="1050" b="1" dirty="0">
                <a:solidFill>
                  <a:srgbClr val="14273D"/>
                </a:solidFill>
                <a:latin typeface="Inter Display" pitchFamily="34" charset="0"/>
                <a:ea typeface="Inter Display" pitchFamily="34" charset="-122"/>
                <a:cs typeface="Inter Display" pitchFamily="34" charset="-120"/>
              </a:rPr>
              <a:t>Policies</a:t>
            </a:r>
            <a:endParaRPr lang="en-US" sz="1050" dirty="0"/>
          </a:p>
        </p:txBody>
      </p:sp>
      <p:sp>
        <p:nvSpPr>
          <p:cNvPr id="45" name="Shape 43"/>
          <p:cNvSpPr/>
          <p:nvPr/>
        </p:nvSpPr>
        <p:spPr>
          <a:xfrm>
            <a:off x="7680960" y="2331720"/>
            <a:ext cx="1234440" cy="960120"/>
          </a:xfrm>
          <a:prstGeom prst="roundRect">
            <a:avLst>
              <a:gd name="adj" fmla="val 7619"/>
            </a:avLst>
          </a:prstGeom>
          <a:solidFill>
            <a:srgbClr val="FFFDF8"/>
          </a:solidFill>
          <a:ln w="10160">
            <a:solidFill>
              <a:srgbClr val="F5C46B"/>
            </a:solidFill>
            <a:prstDash val="solid"/>
          </a:ln>
        </p:spPr>
      </p:sp>
      <p:sp>
        <p:nvSpPr>
          <p:cNvPr id="46" name="Text 44"/>
          <p:cNvSpPr/>
          <p:nvPr/>
        </p:nvSpPr>
        <p:spPr>
          <a:xfrm>
            <a:off x="7836408" y="2459736"/>
            <a:ext cx="923544" cy="146304"/>
          </a:xfrm>
          <a:prstGeom prst="rect">
            <a:avLst/>
          </a:prstGeom>
          <a:noFill/>
          <a:ln/>
        </p:spPr>
        <p:txBody>
          <a:bodyPr wrap="square" lIns="0" tIns="0" rIns="0" bIns="0" rtlCol="0" anchor="ctr"/>
          <a:lstStyle/>
          <a:p>
            <a:pPr indent="0" marL="0">
              <a:buNone/>
            </a:pPr>
            <a:r>
              <a:rPr lang="en-US" sz="680" b="1" spc="120" kern="0" dirty="0">
                <a:solidFill>
                  <a:srgbClr val="F5C46B"/>
                </a:solidFill>
                <a:latin typeface="Inter" pitchFamily="34" charset="0"/>
                <a:ea typeface="Inter" pitchFamily="34" charset="-122"/>
                <a:cs typeface="Inter" pitchFamily="34" charset="-120"/>
              </a:rPr>
              <a:t>TYPED ROOT</a:t>
            </a:r>
            <a:endParaRPr lang="en-US" sz="680" dirty="0"/>
          </a:p>
        </p:txBody>
      </p:sp>
      <p:sp>
        <p:nvSpPr>
          <p:cNvPr id="47" name="Text 45"/>
          <p:cNvSpPr/>
          <p:nvPr/>
        </p:nvSpPr>
        <p:spPr>
          <a:xfrm>
            <a:off x="7836408" y="2587752"/>
            <a:ext cx="923544" cy="329184"/>
          </a:xfrm>
          <a:prstGeom prst="rect">
            <a:avLst/>
          </a:prstGeom>
          <a:noFill/>
          <a:ln/>
        </p:spPr>
        <p:txBody>
          <a:bodyPr wrap="square" lIns="0" tIns="0" rIns="0" bIns="0" rtlCol="0" anchor="ctr">
            <a:normAutofit/>
          </a:bodyPr>
          <a:lstStyle/>
          <a:p>
            <a:pPr indent="0" marL="0">
              <a:buNone/>
            </a:pPr>
            <a:r>
              <a:rPr lang="en-US" sz="1050" b="1" dirty="0">
                <a:solidFill>
                  <a:srgbClr val="14273D"/>
                </a:solidFill>
                <a:latin typeface="Inter Display" pitchFamily="34" charset="0"/>
                <a:ea typeface="Inter Display" pitchFamily="34" charset="-122"/>
                <a:cs typeface="Inter Display" pitchFamily="34" charset="-120"/>
              </a:rPr>
              <a:t>Attestations</a:t>
            </a:r>
            <a:endParaRPr lang="en-US" sz="1050" dirty="0"/>
          </a:p>
        </p:txBody>
      </p:sp>
      <p:sp>
        <p:nvSpPr>
          <p:cNvPr id="48" name="Shape 46"/>
          <p:cNvSpPr/>
          <p:nvPr/>
        </p:nvSpPr>
        <p:spPr>
          <a:xfrm>
            <a:off x="9098280" y="2331720"/>
            <a:ext cx="1234440" cy="960120"/>
          </a:xfrm>
          <a:prstGeom prst="roundRect">
            <a:avLst>
              <a:gd name="adj" fmla="val 7619"/>
            </a:avLst>
          </a:prstGeom>
          <a:solidFill>
            <a:srgbClr val="FFFDF8"/>
          </a:solidFill>
          <a:ln w="10160">
            <a:solidFill>
              <a:srgbClr val="FF7584"/>
            </a:solidFill>
            <a:prstDash val="solid"/>
          </a:ln>
        </p:spPr>
      </p:sp>
      <p:sp>
        <p:nvSpPr>
          <p:cNvPr id="49" name="Text 47"/>
          <p:cNvSpPr/>
          <p:nvPr/>
        </p:nvSpPr>
        <p:spPr>
          <a:xfrm>
            <a:off x="9253728" y="2459736"/>
            <a:ext cx="92354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TYPED ROOT</a:t>
            </a:r>
            <a:endParaRPr lang="en-US" sz="680" dirty="0"/>
          </a:p>
        </p:txBody>
      </p:sp>
      <p:sp>
        <p:nvSpPr>
          <p:cNvPr id="50" name="Text 48"/>
          <p:cNvSpPr/>
          <p:nvPr/>
        </p:nvSpPr>
        <p:spPr>
          <a:xfrm>
            <a:off x="9253728" y="2587752"/>
            <a:ext cx="923544" cy="329184"/>
          </a:xfrm>
          <a:prstGeom prst="rect">
            <a:avLst/>
          </a:prstGeom>
          <a:noFill/>
          <a:ln/>
        </p:spPr>
        <p:txBody>
          <a:bodyPr wrap="square" lIns="0" tIns="0" rIns="0" bIns="0" rtlCol="0" anchor="ctr">
            <a:normAutofit/>
          </a:bodyPr>
          <a:lstStyle/>
          <a:p>
            <a:pPr indent="0" marL="0">
              <a:buNone/>
            </a:pPr>
            <a:r>
              <a:rPr lang="en-US" sz="1050" b="1" dirty="0">
                <a:solidFill>
                  <a:srgbClr val="14273D"/>
                </a:solidFill>
                <a:latin typeface="Inter Display" pitchFamily="34" charset="0"/>
                <a:ea typeface="Inter Display" pitchFamily="34" charset="-122"/>
                <a:cs typeface="Inter Display" pitchFamily="34" charset="-120"/>
              </a:rPr>
              <a:t>Revocations</a:t>
            </a:r>
            <a:endParaRPr lang="en-US" sz="1050" dirty="0"/>
          </a:p>
        </p:txBody>
      </p:sp>
      <p:sp>
        <p:nvSpPr>
          <p:cNvPr id="51" name="Shape 49"/>
          <p:cNvSpPr/>
          <p:nvPr/>
        </p:nvSpPr>
        <p:spPr>
          <a:xfrm>
            <a:off x="10515600" y="2331720"/>
            <a:ext cx="1234440" cy="960120"/>
          </a:xfrm>
          <a:prstGeom prst="roundRect">
            <a:avLst>
              <a:gd name="adj" fmla="val 7619"/>
            </a:avLst>
          </a:prstGeom>
          <a:solidFill>
            <a:srgbClr val="FFFDF8"/>
          </a:solidFill>
          <a:ln w="10160">
            <a:solidFill>
              <a:srgbClr val="7A8695"/>
            </a:solidFill>
            <a:prstDash val="solid"/>
          </a:ln>
        </p:spPr>
      </p:sp>
      <p:sp>
        <p:nvSpPr>
          <p:cNvPr id="52" name="Text 50"/>
          <p:cNvSpPr/>
          <p:nvPr/>
        </p:nvSpPr>
        <p:spPr>
          <a:xfrm>
            <a:off x="10671048" y="2459736"/>
            <a:ext cx="923544" cy="146304"/>
          </a:xfrm>
          <a:prstGeom prst="rect">
            <a:avLst/>
          </a:prstGeom>
          <a:noFill/>
          <a:ln/>
        </p:spPr>
        <p:txBody>
          <a:bodyPr wrap="square" lIns="0" tIns="0" rIns="0" bIns="0" rtlCol="0" anchor="ctr"/>
          <a:lstStyle/>
          <a:p>
            <a:pPr indent="0" marL="0">
              <a:buNone/>
            </a:pPr>
            <a:r>
              <a:rPr lang="en-US" sz="680" b="1" spc="120" kern="0" dirty="0">
                <a:solidFill>
                  <a:srgbClr val="7A8695"/>
                </a:solidFill>
                <a:latin typeface="Inter" pitchFamily="34" charset="0"/>
                <a:ea typeface="Inter" pitchFamily="34" charset="-122"/>
                <a:cs typeface="Inter" pitchFamily="34" charset="-120"/>
              </a:rPr>
              <a:t>TYPED ROOT</a:t>
            </a:r>
            <a:endParaRPr lang="en-US" sz="680" dirty="0"/>
          </a:p>
        </p:txBody>
      </p:sp>
      <p:sp>
        <p:nvSpPr>
          <p:cNvPr id="53" name="Text 51"/>
          <p:cNvSpPr/>
          <p:nvPr/>
        </p:nvSpPr>
        <p:spPr>
          <a:xfrm>
            <a:off x="10671048" y="2587752"/>
            <a:ext cx="923544" cy="329184"/>
          </a:xfrm>
          <a:prstGeom prst="rect">
            <a:avLst/>
          </a:prstGeom>
          <a:noFill/>
          <a:ln/>
        </p:spPr>
        <p:txBody>
          <a:bodyPr wrap="square" lIns="0" tIns="0" rIns="0" bIns="0" rtlCol="0" anchor="ctr">
            <a:normAutofit/>
          </a:bodyPr>
          <a:lstStyle/>
          <a:p>
            <a:pPr indent="0" marL="0">
              <a:buNone/>
            </a:pPr>
            <a:r>
              <a:rPr lang="en-US" sz="1050" b="1" dirty="0">
                <a:solidFill>
                  <a:srgbClr val="14273D"/>
                </a:solidFill>
                <a:latin typeface="Inter Display" pitchFamily="34" charset="0"/>
                <a:ea typeface="Inter Display" pitchFamily="34" charset="-122"/>
                <a:cs typeface="Inter Display" pitchFamily="34" charset="-120"/>
              </a:rPr>
              <a:t>Metadata</a:t>
            </a:r>
            <a:endParaRPr lang="en-US" sz="1050" dirty="0"/>
          </a:p>
        </p:txBody>
      </p:sp>
      <p:sp>
        <p:nvSpPr>
          <p:cNvPr id="54" name="Shape 52"/>
          <p:cNvSpPr/>
          <p:nvPr/>
        </p:nvSpPr>
        <p:spPr>
          <a:xfrm>
            <a:off x="1216152" y="3291840"/>
            <a:ext cx="0" cy="594360"/>
          </a:xfrm>
          <a:prstGeom prst="line">
            <a:avLst/>
          </a:prstGeom>
          <a:noFill/>
          <a:ln w="12700">
            <a:solidFill>
              <a:srgbClr val="43D79B"/>
            </a:solidFill>
            <a:prstDash val="solid"/>
          </a:ln>
        </p:spPr>
      </p:sp>
      <p:sp>
        <p:nvSpPr>
          <p:cNvPr id="55" name="Shape 53"/>
          <p:cNvSpPr/>
          <p:nvPr/>
        </p:nvSpPr>
        <p:spPr>
          <a:xfrm>
            <a:off x="2633472" y="3291840"/>
            <a:ext cx="0" cy="594360"/>
          </a:xfrm>
          <a:prstGeom prst="line">
            <a:avLst/>
          </a:prstGeom>
          <a:noFill/>
          <a:ln w="12700">
            <a:solidFill>
              <a:srgbClr val="6FB5FF"/>
            </a:solidFill>
            <a:prstDash val="solid"/>
          </a:ln>
        </p:spPr>
      </p:sp>
      <p:sp>
        <p:nvSpPr>
          <p:cNvPr id="56" name="Shape 54"/>
          <p:cNvSpPr/>
          <p:nvPr/>
        </p:nvSpPr>
        <p:spPr>
          <a:xfrm>
            <a:off x="4050792" y="3291840"/>
            <a:ext cx="0" cy="594360"/>
          </a:xfrm>
          <a:prstGeom prst="line">
            <a:avLst/>
          </a:prstGeom>
          <a:noFill/>
          <a:ln w="12700">
            <a:solidFill>
              <a:srgbClr val="E7BD62"/>
            </a:solidFill>
            <a:prstDash val="solid"/>
          </a:ln>
        </p:spPr>
      </p:sp>
      <p:sp>
        <p:nvSpPr>
          <p:cNvPr id="57" name="Shape 55"/>
          <p:cNvSpPr/>
          <p:nvPr/>
        </p:nvSpPr>
        <p:spPr>
          <a:xfrm>
            <a:off x="5468112" y="3291840"/>
            <a:ext cx="0" cy="594360"/>
          </a:xfrm>
          <a:prstGeom prst="line">
            <a:avLst/>
          </a:prstGeom>
          <a:noFill/>
          <a:ln w="12700">
            <a:solidFill>
              <a:srgbClr val="54D6D0"/>
            </a:solidFill>
            <a:prstDash val="solid"/>
          </a:ln>
        </p:spPr>
      </p:sp>
      <p:sp>
        <p:nvSpPr>
          <p:cNvPr id="58" name="Shape 56"/>
          <p:cNvSpPr/>
          <p:nvPr/>
        </p:nvSpPr>
        <p:spPr>
          <a:xfrm>
            <a:off x="6885432" y="3291840"/>
            <a:ext cx="0" cy="594360"/>
          </a:xfrm>
          <a:prstGeom prst="line">
            <a:avLst/>
          </a:prstGeom>
          <a:noFill/>
          <a:ln w="12700">
            <a:solidFill>
              <a:srgbClr val="A99CFF"/>
            </a:solidFill>
            <a:prstDash val="solid"/>
          </a:ln>
        </p:spPr>
      </p:sp>
      <p:sp>
        <p:nvSpPr>
          <p:cNvPr id="59" name="Shape 57"/>
          <p:cNvSpPr/>
          <p:nvPr/>
        </p:nvSpPr>
        <p:spPr>
          <a:xfrm>
            <a:off x="8302752" y="3291840"/>
            <a:ext cx="0" cy="594360"/>
          </a:xfrm>
          <a:prstGeom prst="line">
            <a:avLst/>
          </a:prstGeom>
          <a:noFill/>
          <a:ln w="12700">
            <a:solidFill>
              <a:srgbClr val="F5C46B"/>
            </a:solidFill>
            <a:prstDash val="solid"/>
          </a:ln>
        </p:spPr>
      </p:sp>
      <p:sp>
        <p:nvSpPr>
          <p:cNvPr id="60" name="Shape 58"/>
          <p:cNvSpPr/>
          <p:nvPr/>
        </p:nvSpPr>
        <p:spPr>
          <a:xfrm>
            <a:off x="9720072" y="3291840"/>
            <a:ext cx="0" cy="594360"/>
          </a:xfrm>
          <a:prstGeom prst="line">
            <a:avLst/>
          </a:prstGeom>
          <a:noFill/>
          <a:ln w="12700">
            <a:solidFill>
              <a:srgbClr val="FF7584"/>
            </a:solidFill>
            <a:prstDash val="solid"/>
          </a:ln>
        </p:spPr>
      </p:sp>
      <p:sp>
        <p:nvSpPr>
          <p:cNvPr id="61" name="Shape 59"/>
          <p:cNvSpPr/>
          <p:nvPr/>
        </p:nvSpPr>
        <p:spPr>
          <a:xfrm>
            <a:off x="11137392" y="3291840"/>
            <a:ext cx="0" cy="594360"/>
          </a:xfrm>
          <a:prstGeom prst="line">
            <a:avLst/>
          </a:prstGeom>
          <a:noFill/>
          <a:ln w="12700">
            <a:solidFill>
              <a:srgbClr val="7A8695"/>
            </a:solidFill>
            <a:prstDash val="solid"/>
          </a:ln>
        </p:spPr>
      </p:sp>
      <p:sp>
        <p:nvSpPr>
          <p:cNvPr id="62" name="Shape 60"/>
          <p:cNvSpPr/>
          <p:nvPr/>
        </p:nvSpPr>
        <p:spPr>
          <a:xfrm>
            <a:off x="3429000" y="3886200"/>
            <a:ext cx="5303520" cy="841248"/>
          </a:xfrm>
          <a:prstGeom prst="roundRect">
            <a:avLst>
              <a:gd name="adj" fmla="val 8696"/>
            </a:avLst>
          </a:prstGeom>
          <a:solidFill>
            <a:srgbClr val="14273D"/>
          </a:solidFill>
          <a:ln w="15240">
            <a:solidFill>
              <a:srgbClr val="E7BD62"/>
            </a:solidFill>
            <a:prstDash val="solid"/>
          </a:ln>
        </p:spPr>
      </p:sp>
      <p:sp>
        <p:nvSpPr>
          <p:cNvPr id="63" name="Text 61"/>
          <p:cNvSpPr/>
          <p:nvPr/>
        </p:nvSpPr>
        <p:spPr>
          <a:xfrm>
            <a:off x="3776472" y="4114800"/>
            <a:ext cx="4617720" cy="201168"/>
          </a:xfrm>
          <a:prstGeom prst="rect">
            <a:avLst/>
          </a:prstGeom>
          <a:noFill/>
          <a:ln/>
        </p:spPr>
        <p:txBody>
          <a:bodyPr wrap="square" lIns="0" tIns="0" rIns="0" bIns="0" rtlCol="0" anchor="ctr"/>
          <a:lstStyle/>
          <a:p>
            <a:pPr algn="ctr" indent="0" marL="0">
              <a:buNone/>
            </a:pPr>
            <a:r>
              <a:rPr lang="en-US" sz="1600" b="1" dirty="0">
                <a:solidFill>
                  <a:srgbClr val="E7BD62"/>
                </a:solidFill>
                <a:latin typeface="Inter Display" pitchFamily="34" charset="0"/>
                <a:ea typeface="Inter Display" pitchFamily="34" charset="-122"/>
                <a:cs typeface="Inter Display" pitchFamily="34" charset="-120"/>
              </a:rPr>
              <a:t>GRAPH EPOCH ROOT</a:t>
            </a:r>
            <a:endParaRPr lang="en-US" sz="1600" dirty="0"/>
          </a:p>
        </p:txBody>
      </p:sp>
      <p:sp>
        <p:nvSpPr>
          <p:cNvPr id="64" name="Text 62"/>
          <p:cNvSpPr/>
          <p:nvPr/>
        </p:nvSpPr>
        <p:spPr>
          <a:xfrm>
            <a:off x="3639312" y="4956048"/>
            <a:ext cx="4892040" cy="310896"/>
          </a:xfrm>
          <a:prstGeom prst="rect">
            <a:avLst/>
          </a:prstGeom>
          <a:noFill/>
          <a:ln/>
        </p:spPr>
        <p:txBody>
          <a:bodyPr wrap="square" lIns="0" tIns="0" rIns="0" bIns="0" rtlCol="0" anchor="ctr">
            <a:normAutofit/>
          </a:bodyPr>
          <a:lstStyle/>
          <a:p>
            <a:pPr algn="ctr" indent="0" marL="0">
              <a:buNone/>
            </a:pPr>
            <a:r>
              <a:rPr lang="en-US" sz="850" dirty="0">
                <a:solidFill>
                  <a:srgbClr val="14273D"/>
                </a:solidFill>
                <a:latin typeface="Inter" pitchFamily="34" charset="0"/>
                <a:ea typeface="Inter" pitchFamily="34" charset="-122"/>
                <a:cs typeface="Inter" pitchFamily="34" charset="-120"/>
              </a:rPr>
              <a:t>chain · registry · agent · epoch · previous root · typed roots · policy · schema · proof level</a:t>
            </a:r>
            <a:endParaRPr lang="en-US" sz="850" dirty="0"/>
          </a:p>
        </p:txBody>
      </p:sp>
      <p:sp>
        <p:nvSpPr>
          <p:cNvPr id="65" name="Text 63"/>
          <p:cNvSpPr/>
          <p:nvPr/>
        </p:nvSpPr>
        <p:spPr>
          <a:xfrm>
            <a:off x="1371600" y="5623560"/>
            <a:ext cx="9509760" cy="320040"/>
          </a:xfrm>
          <a:prstGeom prst="rect">
            <a:avLst/>
          </a:prstGeom>
          <a:noFill/>
          <a:ln/>
        </p:spPr>
        <p:txBody>
          <a:bodyPr wrap="square" lIns="0" tIns="0" rIns="0" bIns="0" rtlCol="0" anchor="ctr"/>
          <a:lstStyle/>
          <a:p>
            <a:pPr algn="ctr" indent="0" marL="0">
              <a:buNone/>
            </a:pPr>
            <a:r>
              <a:rPr lang="en-US" sz="1130" b="1" dirty="0">
                <a:solidFill>
                  <a:srgbClr val="14273D"/>
                </a:solidFill>
                <a:latin typeface="Inter" pitchFamily="34" charset="0"/>
                <a:ea typeface="Inter" pitchFamily="34" charset="-122"/>
                <a:cs typeface="Inter" pitchFamily="34" charset="-120"/>
              </a:rPr>
              <a:t>One-bit change → different commitment. Previous-root continuity → append-auditable lineage.</a:t>
            </a:r>
            <a:endParaRPr lang="en-US" sz="113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COMMITMENT VS AUTHORITY</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 Merkle proof establishes membership—not truth.</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Keeping commitment and authority separate prevents hash inclusion from becoming accidental institutional trust.</a:t>
            </a:r>
            <a:endParaRPr lang="en-US" sz="1450" dirty="0"/>
          </a:p>
        </p:txBody>
      </p:sp>
      <p:sp>
        <p:nvSpPr>
          <p:cNvPr id="30" name="Shape 28"/>
          <p:cNvSpPr/>
          <p:nvPr/>
        </p:nvSpPr>
        <p:spPr>
          <a:xfrm>
            <a:off x="685800" y="2148840"/>
            <a:ext cx="5257800" cy="3063240"/>
          </a:xfrm>
          <a:prstGeom prst="roundRect">
            <a:avLst>
              <a:gd name="adj" fmla="val 2388"/>
            </a:avLst>
          </a:prstGeom>
          <a:solidFill>
            <a:srgbClr val="102238"/>
          </a:solidFill>
          <a:ln w="10160">
            <a:solidFill>
              <a:srgbClr val="43D79B"/>
            </a:solidFill>
            <a:prstDash val="solid"/>
          </a:ln>
        </p:spPr>
      </p:sp>
      <p:sp>
        <p:nvSpPr>
          <p:cNvPr id="31" name="Text 29"/>
          <p:cNvSpPr/>
          <p:nvPr/>
        </p:nvSpPr>
        <p:spPr>
          <a:xfrm>
            <a:off x="841248" y="2276856"/>
            <a:ext cx="494690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WHAT THE PROOF ESTABLISHES</a:t>
            </a:r>
            <a:endParaRPr lang="en-US" sz="680" dirty="0"/>
          </a:p>
        </p:txBody>
      </p:sp>
      <p:sp>
        <p:nvSpPr>
          <p:cNvPr id="32" name="Text 30"/>
          <p:cNvSpPr/>
          <p:nvPr/>
        </p:nvSpPr>
        <p:spPr>
          <a:xfrm>
            <a:off x="841248" y="2404872"/>
            <a:ext cx="494690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Committed state</a:t>
            </a:r>
            <a:endParaRPr lang="en-US" sz="1900" dirty="0"/>
          </a:p>
        </p:txBody>
      </p:sp>
      <p:sp>
        <p:nvSpPr>
          <p:cNvPr id="33" name="Text 31"/>
          <p:cNvSpPr/>
          <p:nvPr/>
        </p:nvSpPr>
        <p:spPr>
          <a:xfrm>
            <a:off x="841248" y="2807208"/>
            <a:ext cx="4946904" cy="2267712"/>
          </a:xfrm>
          <a:prstGeom prst="rect">
            <a:avLst/>
          </a:prstGeom>
          <a:noFill/>
          <a:ln/>
        </p:spPr>
        <p:txBody>
          <a:bodyPr wrap="square" lIns="0" tIns="0" rIns="0" bIns="0" rtlCol="0" anchor="t">
            <a:normAutofit/>
          </a:bodyPr>
          <a:lstStyle/>
          <a:p>
            <a:pPr indent="0" marL="0">
              <a:buNone/>
            </a:pPr>
            <a:r>
              <a:rPr lang="en-US" sz="1100" dirty="0">
                <a:solidFill>
                  <a:srgbClr val="B9C5D2"/>
                </a:solidFill>
                <a:latin typeface="Inter" pitchFamily="34" charset="0"/>
                <a:ea typeface="Inter" pitchFamily="34" charset="-122"/>
                <a:cs typeface="Inter" pitchFamily="34" charset="-120"/>
              </a:rPr>
              <a:t>• The exact canonical leaf is included in the typed root.</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The proof uses the committed tree policy.</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The root changes if bound state changes.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The epoch is linked to its previous root.</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Selective disclosure can verify membership without exposing the whole graph.</a:t>
            </a:r>
            <a:endParaRPr lang="en-US" sz="1100" dirty="0"/>
          </a:p>
        </p:txBody>
      </p:sp>
      <p:sp>
        <p:nvSpPr>
          <p:cNvPr id="34" name="Shape 32"/>
          <p:cNvSpPr/>
          <p:nvPr/>
        </p:nvSpPr>
        <p:spPr>
          <a:xfrm>
            <a:off x="6263640" y="2148840"/>
            <a:ext cx="5257800" cy="3063240"/>
          </a:xfrm>
          <a:prstGeom prst="roundRect">
            <a:avLst>
              <a:gd name="adj" fmla="val 2388"/>
            </a:avLst>
          </a:prstGeom>
          <a:solidFill>
            <a:srgbClr val="102238"/>
          </a:solidFill>
          <a:ln w="10160">
            <a:solidFill>
              <a:srgbClr val="FF7584"/>
            </a:solidFill>
            <a:prstDash val="solid"/>
          </a:ln>
        </p:spPr>
      </p:sp>
      <p:sp>
        <p:nvSpPr>
          <p:cNvPr id="35" name="Text 33"/>
          <p:cNvSpPr/>
          <p:nvPr/>
        </p:nvSpPr>
        <p:spPr>
          <a:xfrm>
            <a:off x="6419088" y="2276856"/>
            <a:ext cx="49469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WHAT IT DOES NOT ESTABLISH</a:t>
            </a:r>
            <a:endParaRPr lang="en-US" sz="680" dirty="0"/>
          </a:p>
        </p:txBody>
      </p:sp>
      <p:sp>
        <p:nvSpPr>
          <p:cNvPr id="36" name="Text 34"/>
          <p:cNvSpPr/>
          <p:nvPr/>
        </p:nvSpPr>
        <p:spPr>
          <a:xfrm>
            <a:off x="6419088" y="2404872"/>
            <a:ext cx="494690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Semantic authority</a:t>
            </a:r>
            <a:endParaRPr lang="en-US" sz="1900" dirty="0"/>
          </a:p>
        </p:txBody>
      </p:sp>
      <p:sp>
        <p:nvSpPr>
          <p:cNvPr id="37" name="Text 35"/>
          <p:cNvSpPr/>
          <p:nvPr/>
        </p:nvSpPr>
        <p:spPr>
          <a:xfrm>
            <a:off x="6419088" y="2807208"/>
            <a:ext cx="4946904" cy="2267712"/>
          </a:xfrm>
          <a:prstGeom prst="rect">
            <a:avLst/>
          </a:prstGeom>
          <a:noFill/>
          <a:ln/>
        </p:spPr>
        <p:txBody>
          <a:bodyPr wrap="square" lIns="0" tIns="0" rIns="0" bIns="0" rtlCol="0" anchor="t">
            <a:normAutofit/>
          </a:bodyPr>
          <a:lstStyle/>
          <a:p>
            <a:pPr indent="0" marL="0">
              <a:buNone/>
            </a:pPr>
            <a:r>
              <a:rPr lang="en-US" sz="1100" dirty="0">
                <a:solidFill>
                  <a:srgbClr val="B9C5D2"/>
                </a:solidFill>
                <a:latin typeface="Inter" pitchFamily="34" charset="0"/>
                <a:ea typeface="Inter" pitchFamily="34" charset="-122"/>
                <a:cs typeface="Inter" pitchFamily="34" charset="-120"/>
              </a:rPr>
              <a:t>• The underlying claim is true.</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The capability is safe or legal.</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The object is fresh or in scope.</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Validators are genuinely independent.</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Chronicle admitted the capability.</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The system is production authorized or live on-chain.</a:t>
            </a:r>
            <a:endParaRPr lang="en-US" sz="1100" dirty="0"/>
          </a:p>
        </p:txBody>
      </p:sp>
      <p:sp>
        <p:nvSpPr>
          <p:cNvPr id="38" name="Text 36"/>
          <p:cNvSpPr/>
          <p:nvPr/>
        </p:nvSpPr>
        <p:spPr>
          <a:xfrm>
            <a:off x="2148840" y="5632704"/>
            <a:ext cx="7955280" cy="365760"/>
          </a:xfrm>
          <a:prstGeom prst="rect">
            <a:avLst/>
          </a:prstGeom>
          <a:noFill/>
          <a:ln/>
        </p:spPr>
        <p:txBody>
          <a:bodyPr wrap="square" lIns="0" tIns="0" rIns="0" bIns="0" rtlCol="0" anchor="ctr"/>
          <a:lstStyle/>
          <a:p>
            <a:pPr algn="ctr" indent="0" marL="0">
              <a:buNone/>
            </a:pPr>
            <a:r>
              <a:rPr lang="en-US" sz="1700" i="1" dirty="0">
                <a:solidFill>
                  <a:srgbClr val="E7BD62"/>
                </a:solidFill>
                <a:latin typeface="Georgia" pitchFamily="34" charset="0"/>
                <a:ea typeface="Georgia" pitchFamily="34" charset="-122"/>
                <a:cs typeface="Georgia" pitchFamily="34" charset="-120"/>
              </a:rPr>
              <a:t>Chronicle decides authority. The root commits state.</a:t>
            </a:r>
            <a:endParaRPr lang="en-US" sz="17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PUBLIC / PRIVATE BOUNDARY</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800" b="1" dirty="0">
                <a:solidFill>
                  <a:srgbClr val="14273D"/>
                </a:solidFill>
                <a:latin typeface="Inter Display" pitchFamily="34" charset="0"/>
                <a:ea typeface="Inter Display" pitchFamily="34" charset="-122"/>
                <a:cs typeface="Inter Display" pitchFamily="34" charset="-120"/>
              </a:rPr>
              <a:t>Do not put intelligence on-chain. Put proof of intelligence on-chain.</a:t>
            </a:r>
            <a:endParaRPr lang="en-US" sz="28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Private execution stays controlled; the minimum public evidence required for coordination becomes verifiable.</a:t>
            </a:r>
            <a:endParaRPr lang="en-US" sz="1450" dirty="0"/>
          </a:p>
        </p:txBody>
      </p:sp>
      <p:sp>
        <p:nvSpPr>
          <p:cNvPr id="30" name="Shape 28"/>
          <p:cNvSpPr/>
          <p:nvPr/>
        </p:nvSpPr>
        <p:spPr>
          <a:xfrm>
            <a:off x="658368" y="2176272"/>
            <a:ext cx="5166360" cy="3017520"/>
          </a:xfrm>
          <a:prstGeom prst="roundRect">
            <a:avLst>
              <a:gd name="adj" fmla="val 2424"/>
            </a:avLst>
          </a:prstGeom>
          <a:solidFill>
            <a:srgbClr val="FFFDF8"/>
          </a:solidFill>
          <a:ln w="10160">
            <a:solidFill>
              <a:srgbClr val="6FB5FF"/>
            </a:solidFill>
            <a:prstDash val="solid"/>
          </a:ln>
        </p:spPr>
      </p:sp>
      <p:sp>
        <p:nvSpPr>
          <p:cNvPr id="31" name="Text 29"/>
          <p:cNvSpPr/>
          <p:nvPr/>
        </p:nvSpPr>
        <p:spPr>
          <a:xfrm>
            <a:off x="813816" y="2304288"/>
            <a:ext cx="48554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OFF-CHAIN PRIVATE INTELLIGENCE</a:t>
            </a:r>
            <a:endParaRPr lang="en-US" sz="680" dirty="0"/>
          </a:p>
        </p:txBody>
      </p:sp>
      <p:sp>
        <p:nvSpPr>
          <p:cNvPr id="32" name="Text 30"/>
          <p:cNvSpPr/>
          <p:nvPr/>
        </p:nvSpPr>
        <p:spPr>
          <a:xfrm>
            <a:off x="813816" y="2432304"/>
            <a:ext cx="4855464" cy="329184"/>
          </a:xfrm>
          <a:prstGeom prst="rect">
            <a:avLst/>
          </a:prstGeom>
          <a:noFill/>
          <a:ln/>
        </p:spPr>
        <p:txBody>
          <a:bodyPr wrap="square" lIns="0" tIns="0" rIns="0" bIns="0" rtlCol="0" anchor="ctr">
            <a:normAutofit/>
          </a:bodyPr>
          <a:lstStyle/>
          <a:p>
            <a:pPr indent="0" marL="0">
              <a:buNone/>
            </a:pPr>
            <a:r>
              <a:rPr lang="en-US" sz="1800" b="1" dirty="0">
                <a:solidFill>
                  <a:srgbClr val="14273D"/>
                </a:solidFill>
                <a:latin typeface="Inter Display" pitchFamily="34" charset="0"/>
                <a:ea typeface="Inter Display" pitchFamily="34" charset="-122"/>
                <a:cs typeface="Inter Display" pitchFamily="34" charset="-120"/>
              </a:rPr>
              <a:t>Protected execution context</a:t>
            </a:r>
            <a:endParaRPr lang="en-US" sz="1800" dirty="0"/>
          </a:p>
        </p:txBody>
      </p:sp>
      <p:sp>
        <p:nvSpPr>
          <p:cNvPr id="33" name="Text 31"/>
          <p:cNvSpPr/>
          <p:nvPr/>
        </p:nvSpPr>
        <p:spPr>
          <a:xfrm>
            <a:off x="813816" y="2834640"/>
            <a:ext cx="4855464" cy="2221992"/>
          </a:xfrm>
          <a:prstGeom prst="rect">
            <a:avLst/>
          </a:prstGeom>
          <a:noFill/>
          <a:ln/>
        </p:spPr>
        <p:txBody>
          <a:bodyPr wrap="square" lIns="0" tIns="0" rIns="0" bIns="0" rtlCol="0" anchor="t">
            <a:normAutofit/>
          </a:bodyPr>
          <a:lstStyle/>
          <a:p>
            <a:pPr indent="0" marL="0">
              <a:buNone/>
            </a:pPr>
            <a:r>
              <a:rPr lang="en-US" sz="1100" dirty="0">
                <a:solidFill>
                  <a:srgbClr val="43566A"/>
                </a:solidFill>
                <a:latin typeface="Inter" pitchFamily="34" charset="0"/>
                <a:ea typeface="Inter" pitchFamily="34" charset="-122"/>
                <a:cs typeface="Inter" pitchFamily="34" charset="-120"/>
              </a:rPr>
              <a:t>Private prompts and context</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Customer documents and raw data</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Long traces and internal workpapers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Proprietary methods and tools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Reviewer notes and privileged approvals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Secret values and security posture</a:t>
            </a:r>
            <a:endParaRPr lang="en-US" sz="1100" dirty="0"/>
          </a:p>
        </p:txBody>
      </p:sp>
      <p:sp>
        <p:nvSpPr>
          <p:cNvPr id="34" name="Shape 32"/>
          <p:cNvSpPr/>
          <p:nvPr/>
        </p:nvSpPr>
        <p:spPr>
          <a:xfrm>
            <a:off x="6355080" y="2176272"/>
            <a:ext cx="5166360" cy="3017520"/>
          </a:xfrm>
          <a:prstGeom prst="roundRect">
            <a:avLst>
              <a:gd name="adj" fmla="val 2424"/>
            </a:avLst>
          </a:prstGeom>
          <a:solidFill>
            <a:srgbClr val="FFFDF8"/>
          </a:solidFill>
          <a:ln w="10160">
            <a:solidFill>
              <a:srgbClr val="E7BD62"/>
            </a:solidFill>
            <a:prstDash val="solid"/>
          </a:ln>
        </p:spPr>
      </p:sp>
      <p:sp>
        <p:nvSpPr>
          <p:cNvPr id="35" name="Text 33"/>
          <p:cNvSpPr/>
          <p:nvPr/>
        </p:nvSpPr>
        <p:spPr>
          <a:xfrm>
            <a:off x="6510528" y="2304288"/>
            <a:ext cx="48554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PUBLIC-SAFE PROOF</a:t>
            </a:r>
            <a:endParaRPr lang="en-US" sz="680" dirty="0"/>
          </a:p>
        </p:txBody>
      </p:sp>
      <p:sp>
        <p:nvSpPr>
          <p:cNvPr id="36" name="Text 34"/>
          <p:cNvSpPr/>
          <p:nvPr/>
        </p:nvSpPr>
        <p:spPr>
          <a:xfrm>
            <a:off x="6510528" y="2432304"/>
            <a:ext cx="4855464" cy="329184"/>
          </a:xfrm>
          <a:prstGeom prst="rect">
            <a:avLst/>
          </a:prstGeom>
          <a:noFill/>
          <a:ln/>
        </p:spPr>
        <p:txBody>
          <a:bodyPr wrap="square" lIns="0" tIns="0" rIns="0" bIns="0" rtlCol="0" anchor="ctr">
            <a:normAutofit/>
          </a:bodyPr>
          <a:lstStyle/>
          <a:p>
            <a:pPr indent="0" marL="0">
              <a:buNone/>
            </a:pPr>
            <a:r>
              <a:rPr lang="en-US" sz="1800" b="1" dirty="0">
                <a:solidFill>
                  <a:srgbClr val="14273D"/>
                </a:solidFill>
                <a:latin typeface="Inter Display" pitchFamily="34" charset="0"/>
                <a:ea typeface="Inter Display" pitchFamily="34" charset="-122"/>
                <a:cs typeface="Inter Display" pitchFamily="34" charset="-120"/>
              </a:rPr>
              <a:t>Minimum coordination evidence</a:t>
            </a:r>
            <a:endParaRPr lang="en-US" sz="1800" dirty="0"/>
          </a:p>
        </p:txBody>
      </p:sp>
      <p:sp>
        <p:nvSpPr>
          <p:cNvPr id="37" name="Text 35"/>
          <p:cNvSpPr/>
          <p:nvPr/>
        </p:nvSpPr>
        <p:spPr>
          <a:xfrm>
            <a:off x="6510528" y="2834640"/>
            <a:ext cx="4855464" cy="2221992"/>
          </a:xfrm>
          <a:prstGeom prst="rect">
            <a:avLst/>
          </a:prstGeom>
          <a:noFill/>
          <a:ln/>
        </p:spPr>
        <p:txBody>
          <a:bodyPr wrap="square" lIns="0" tIns="0" rIns="0" bIns="0" rtlCol="0" anchor="t">
            <a:normAutofit/>
          </a:bodyPr>
          <a:lstStyle/>
          <a:p>
            <a:pPr indent="0" marL="0">
              <a:buNone/>
            </a:pPr>
            <a:r>
              <a:rPr lang="en-US" sz="1100" dirty="0">
                <a:solidFill>
                  <a:srgbClr val="43566A"/>
                </a:solidFill>
                <a:latin typeface="Inter" pitchFamily="34" charset="0"/>
                <a:ea typeface="Inter" pitchFamily="34" charset="-122"/>
                <a:cs typeface="Inter" pitchFamily="34" charset="-120"/>
              </a:rPr>
              <a:t>Content hashes and typed roots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Signatures and attestations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Policy and schema commitments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Selection, rollout, rollback receipts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Challenge and revocation state</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Content-addressed pointers and selective disclosure</a:t>
            </a:r>
            <a:endParaRPr lang="en-US" sz="1100" dirty="0"/>
          </a:p>
        </p:txBody>
      </p:sp>
      <p:sp>
        <p:nvSpPr>
          <p:cNvPr id="38" name="Shape 36"/>
          <p:cNvSpPr/>
          <p:nvPr/>
        </p:nvSpPr>
        <p:spPr>
          <a:xfrm>
            <a:off x="5852160" y="3502152"/>
            <a:ext cx="438912" cy="310896"/>
          </a:xfrm>
          <a:prstGeom prst="chevron">
            <a:avLst/>
          </a:prstGeom>
          <a:solidFill>
            <a:srgbClr val="E7BD62">
              <a:alpha val="90000"/>
            </a:srgbClr>
          </a:solidFill>
          <a:ln w="6350">
            <a:solidFill>
              <a:srgbClr val="E7BD62">
                <a:alpha val="40000"/>
              </a:srgbClr>
            </a:solidFill>
            <a:prstDash val="solid"/>
          </a:ln>
        </p:spPr>
      </p:sp>
      <p:sp>
        <p:nvSpPr>
          <p:cNvPr id="39" name="Text 37"/>
          <p:cNvSpPr/>
          <p:nvPr/>
        </p:nvSpPr>
        <p:spPr>
          <a:xfrm>
            <a:off x="1828800" y="5596128"/>
            <a:ext cx="8503920" cy="365760"/>
          </a:xfrm>
          <a:prstGeom prst="rect">
            <a:avLst/>
          </a:prstGeom>
          <a:noFill/>
          <a:ln/>
        </p:spPr>
        <p:txBody>
          <a:bodyPr wrap="square" lIns="0" tIns="0" rIns="0" bIns="0" rtlCol="0" anchor="ctr"/>
          <a:lstStyle/>
          <a:p>
            <a:pPr algn="ctr" indent="0" marL="0">
              <a:buNone/>
            </a:pPr>
            <a:r>
              <a:rPr lang="en-US" sz="1500" b="1" dirty="0">
                <a:solidFill>
                  <a:srgbClr val="14273D"/>
                </a:solidFill>
                <a:latin typeface="Inter Display" pitchFamily="34" charset="0"/>
                <a:ea typeface="Inter Display" pitchFamily="34" charset="-122"/>
                <a:cs typeface="Inter Display" pitchFamily="34" charset="-120"/>
              </a:rPr>
              <a:t>The blockchain coordinates proof. The institution protects intelligence.</a:t>
            </a:r>
            <a:endParaRPr lang="en-US" sz="15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UNTIL-DONE AUTONOMY</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650" b="1" dirty="0">
                <a:solidFill>
                  <a:srgbClr val="F7FBFF"/>
                </a:solidFill>
                <a:latin typeface="Inter Display" pitchFamily="34" charset="0"/>
                <a:ea typeface="Inter Display" pitchFamily="34" charset="-122"/>
                <a:cs typeface="Inter Display" pitchFamily="34" charset="-120"/>
              </a:rPr>
              <a:t>Autonomy runs until the evidence package is complete—not until the model sounds persuasive.</a:t>
            </a:r>
            <a:endParaRPr lang="en-US" sz="265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state machine advances, repairs, or blocks until every required artifact and gate is satisfied.</a:t>
            </a:r>
            <a:endParaRPr lang="en-US" sz="1450" dirty="0"/>
          </a:p>
        </p:txBody>
      </p:sp>
      <p:sp>
        <p:nvSpPr>
          <p:cNvPr id="30" name="Shape 28"/>
          <p:cNvSpPr/>
          <p:nvPr/>
        </p:nvSpPr>
        <p:spPr>
          <a:xfrm>
            <a:off x="530352" y="2514600"/>
            <a:ext cx="914400" cy="502920"/>
          </a:xfrm>
          <a:prstGeom prst="roundRect">
            <a:avLst>
              <a:gd name="adj" fmla="val 7273"/>
            </a:avLst>
          </a:prstGeom>
          <a:solidFill>
            <a:srgbClr val="102238"/>
          </a:solidFill>
          <a:ln w="12700">
            <a:solidFill>
              <a:srgbClr val="28415E"/>
            </a:solidFill>
            <a:prstDash val="solid"/>
          </a:ln>
        </p:spPr>
      </p:sp>
      <p:sp>
        <p:nvSpPr>
          <p:cNvPr id="31" name="Text 29"/>
          <p:cNvSpPr/>
          <p:nvPr/>
        </p:nvSpPr>
        <p:spPr>
          <a:xfrm>
            <a:off x="576072"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CREATED</a:t>
            </a:r>
            <a:endParaRPr lang="en-US" sz="580" dirty="0"/>
          </a:p>
        </p:txBody>
      </p:sp>
      <p:sp>
        <p:nvSpPr>
          <p:cNvPr id="32" name="Shape 30"/>
          <p:cNvSpPr/>
          <p:nvPr/>
        </p:nvSpPr>
        <p:spPr>
          <a:xfrm>
            <a:off x="1444752" y="2761488"/>
            <a:ext cx="109728" cy="0"/>
          </a:xfrm>
          <a:prstGeom prst="line">
            <a:avLst/>
          </a:prstGeom>
          <a:noFill/>
          <a:ln w="12700">
            <a:solidFill>
              <a:srgbClr val="E7BD62"/>
            </a:solidFill>
            <a:prstDash val="solid"/>
            <a:tailEnd type="triangle"/>
          </a:ln>
        </p:spPr>
      </p:sp>
      <p:sp>
        <p:nvSpPr>
          <p:cNvPr id="33" name="Shape 31"/>
          <p:cNvSpPr/>
          <p:nvPr/>
        </p:nvSpPr>
        <p:spPr>
          <a:xfrm>
            <a:off x="1554480" y="2514600"/>
            <a:ext cx="914400" cy="502920"/>
          </a:xfrm>
          <a:prstGeom prst="roundRect">
            <a:avLst>
              <a:gd name="adj" fmla="val 7273"/>
            </a:avLst>
          </a:prstGeom>
          <a:solidFill>
            <a:srgbClr val="102238"/>
          </a:solidFill>
          <a:ln w="12700">
            <a:solidFill>
              <a:srgbClr val="28415E"/>
            </a:solidFill>
            <a:prstDash val="solid"/>
          </a:ln>
        </p:spPr>
      </p:sp>
      <p:sp>
        <p:nvSpPr>
          <p:cNvPr id="34" name="Text 32"/>
          <p:cNvSpPr/>
          <p:nvPr/>
        </p:nvSpPr>
        <p:spPr>
          <a:xfrm>
            <a:off x="1600200"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CONTRACT</a:t>
            </a:r>
            <a:endParaRPr lang="en-US" sz="580" dirty="0"/>
          </a:p>
        </p:txBody>
      </p:sp>
      <p:sp>
        <p:nvSpPr>
          <p:cNvPr id="35" name="Shape 33"/>
          <p:cNvSpPr/>
          <p:nvPr/>
        </p:nvSpPr>
        <p:spPr>
          <a:xfrm>
            <a:off x="2468880" y="2761488"/>
            <a:ext cx="109728" cy="0"/>
          </a:xfrm>
          <a:prstGeom prst="line">
            <a:avLst/>
          </a:prstGeom>
          <a:noFill/>
          <a:ln w="12700">
            <a:solidFill>
              <a:srgbClr val="E7BD62"/>
            </a:solidFill>
            <a:prstDash val="solid"/>
            <a:tailEnd type="triangle"/>
          </a:ln>
        </p:spPr>
      </p:sp>
      <p:sp>
        <p:nvSpPr>
          <p:cNvPr id="36" name="Shape 34"/>
          <p:cNvSpPr/>
          <p:nvPr/>
        </p:nvSpPr>
        <p:spPr>
          <a:xfrm>
            <a:off x="2578608" y="2514600"/>
            <a:ext cx="914400" cy="502920"/>
          </a:xfrm>
          <a:prstGeom prst="roundRect">
            <a:avLst>
              <a:gd name="adj" fmla="val 7273"/>
            </a:avLst>
          </a:prstGeom>
          <a:solidFill>
            <a:srgbClr val="102238"/>
          </a:solidFill>
          <a:ln w="12700">
            <a:solidFill>
              <a:srgbClr val="28415E"/>
            </a:solidFill>
            <a:prstDash val="solid"/>
          </a:ln>
        </p:spPr>
      </p:sp>
      <p:sp>
        <p:nvSpPr>
          <p:cNvPr id="37" name="Text 35"/>
          <p:cNvSpPr/>
          <p:nvPr/>
        </p:nvSpPr>
        <p:spPr>
          <a:xfrm>
            <a:off x="2624328"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CLAIMS</a:t>
            </a:r>
            <a:endParaRPr lang="en-US" sz="580" dirty="0"/>
          </a:p>
        </p:txBody>
      </p:sp>
      <p:sp>
        <p:nvSpPr>
          <p:cNvPr id="38" name="Shape 36"/>
          <p:cNvSpPr/>
          <p:nvPr/>
        </p:nvSpPr>
        <p:spPr>
          <a:xfrm>
            <a:off x="3493008" y="2761488"/>
            <a:ext cx="109728" cy="0"/>
          </a:xfrm>
          <a:prstGeom prst="line">
            <a:avLst/>
          </a:prstGeom>
          <a:noFill/>
          <a:ln w="12700">
            <a:solidFill>
              <a:srgbClr val="E7BD62"/>
            </a:solidFill>
            <a:prstDash val="solid"/>
            <a:tailEnd type="triangle"/>
          </a:ln>
        </p:spPr>
      </p:sp>
      <p:sp>
        <p:nvSpPr>
          <p:cNvPr id="39" name="Shape 37"/>
          <p:cNvSpPr/>
          <p:nvPr/>
        </p:nvSpPr>
        <p:spPr>
          <a:xfrm>
            <a:off x="3602736" y="2514600"/>
            <a:ext cx="914400" cy="502920"/>
          </a:xfrm>
          <a:prstGeom prst="roundRect">
            <a:avLst>
              <a:gd name="adj" fmla="val 7273"/>
            </a:avLst>
          </a:prstGeom>
          <a:solidFill>
            <a:srgbClr val="102238"/>
          </a:solidFill>
          <a:ln w="12700">
            <a:solidFill>
              <a:srgbClr val="28415E"/>
            </a:solidFill>
            <a:prstDash val="solid"/>
          </a:ln>
        </p:spPr>
      </p:sp>
      <p:sp>
        <p:nvSpPr>
          <p:cNvPr id="40" name="Text 38"/>
          <p:cNvSpPr/>
          <p:nvPr/>
        </p:nvSpPr>
        <p:spPr>
          <a:xfrm>
            <a:off x="3648456"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PROOF WORK</a:t>
            </a:r>
            <a:endParaRPr lang="en-US" sz="580" dirty="0"/>
          </a:p>
        </p:txBody>
      </p:sp>
      <p:sp>
        <p:nvSpPr>
          <p:cNvPr id="41" name="Shape 39"/>
          <p:cNvSpPr/>
          <p:nvPr/>
        </p:nvSpPr>
        <p:spPr>
          <a:xfrm>
            <a:off x="4517136" y="2761488"/>
            <a:ext cx="109728" cy="0"/>
          </a:xfrm>
          <a:prstGeom prst="line">
            <a:avLst/>
          </a:prstGeom>
          <a:noFill/>
          <a:ln w="12700">
            <a:solidFill>
              <a:srgbClr val="E7BD62"/>
            </a:solidFill>
            <a:prstDash val="solid"/>
            <a:tailEnd type="triangle"/>
          </a:ln>
        </p:spPr>
      </p:sp>
      <p:sp>
        <p:nvSpPr>
          <p:cNvPr id="42" name="Shape 40"/>
          <p:cNvSpPr/>
          <p:nvPr/>
        </p:nvSpPr>
        <p:spPr>
          <a:xfrm>
            <a:off x="4626864" y="2514600"/>
            <a:ext cx="914400" cy="502920"/>
          </a:xfrm>
          <a:prstGeom prst="roundRect">
            <a:avLst>
              <a:gd name="adj" fmla="val 7273"/>
            </a:avLst>
          </a:prstGeom>
          <a:solidFill>
            <a:srgbClr val="102238"/>
          </a:solidFill>
          <a:ln w="12700">
            <a:solidFill>
              <a:srgbClr val="28415E"/>
            </a:solidFill>
            <a:prstDash val="solid"/>
          </a:ln>
        </p:spPr>
      </p:sp>
      <p:sp>
        <p:nvSpPr>
          <p:cNvPr id="43" name="Text 41"/>
          <p:cNvSpPr/>
          <p:nvPr/>
        </p:nvSpPr>
        <p:spPr>
          <a:xfrm>
            <a:off x="4672584"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DOCKET</a:t>
            </a:r>
            <a:endParaRPr lang="en-US" sz="580" dirty="0"/>
          </a:p>
        </p:txBody>
      </p:sp>
      <p:sp>
        <p:nvSpPr>
          <p:cNvPr id="44" name="Shape 42"/>
          <p:cNvSpPr/>
          <p:nvPr/>
        </p:nvSpPr>
        <p:spPr>
          <a:xfrm>
            <a:off x="5541264" y="2761488"/>
            <a:ext cx="109728" cy="0"/>
          </a:xfrm>
          <a:prstGeom prst="line">
            <a:avLst/>
          </a:prstGeom>
          <a:noFill/>
          <a:ln w="12700">
            <a:solidFill>
              <a:srgbClr val="E7BD62"/>
            </a:solidFill>
            <a:prstDash val="solid"/>
            <a:tailEnd type="triangle"/>
          </a:ln>
        </p:spPr>
      </p:sp>
      <p:sp>
        <p:nvSpPr>
          <p:cNvPr id="45" name="Shape 43"/>
          <p:cNvSpPr/>
          <p:nvPr/>
        </p:nvSpPr>
        <p:spPr>
          <a:xfrm>
            <a:off x="5650992" y="2514600"/>
            <a:ext cx="914400" cy="502920"/>
          </a:xfrm>
          <a:prstGeom prst="roundRect">
            <a:avLst>
              <a:gd name="adj" fmla="val 7273"/>
            </a:avLst>
          </a:prstGeom>
          <a:solidFill>
            <a:srgbClr val="102238"/>
          </a:solidFill>
          <a:ln w="12700">
            <a:solidFill>
              <a:srgbClr val="28415E"/>
            </a:solidFill>
            <a:prstDash val="solid"/>
          </a:ln>
        </p:spPr>
      </p:sp>
      <p:sp>
        <p:nvSpPr>
          <p:cNvPr id="46" name="Text 44"/>
          <p:cNvSpPr/>
          <p:nvPr/>
        </p:nvSpPr>
        <p:spPr>
          <a:xfrm>
            <a:off x="5696712"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VALIDATE</a:t>
            </a:r>
            <a:endParaRPr lang="en-US" sz="580" dirty="0"/>
          </a:p>
        </p:txBody>
      </p:sp>
      <p:sp>
        <p:nvSpPr>
          <p:cNvPr id="47" name="Shape 45"/>
          <p:cNvSpPr/>
          <p:nvPr/>
        </p:nvSpPr>
        <p:spPr>
          <a:xfrm>
            <a:off x="6565392" y="2761488"/>
            <a:ext cx="109728" cy="0"/>
          </a:xfrm>
          <a:prstGeom prst="line">
            <a:avLst/>
          </a:prstGeom>
          <a:noFill/>
          <a:ln w="12700">
            <a:solidFill>
              <a:srgbClr val="E7BD62"/>
            </a:solidFill>
            <a:prstDash val="solid"/>
            <a:tailEnd type="triangle"/>
          </a:ln>
        </p:spPr>
      </p:sp>
      <p:sp>
        <p:nvSpPr>
          <p:cNvPr id="48" name="Shape 46"/>
          <p:cNvSpPr/>
          <p:nvPr/>
        </p:nvSpPr>
        <p:spPr>
          <a:xfrm>
            <a:off x="6675120" y="2514600"/>
            <a:ext cx="914400" cy="502920"/>
          </a:xfrm>
          <a:prstGeom prst="roundRect">
            <a:avLst>
              <a:gd name="adj" fmla="val 7273"/>
            </a:avLst>
          </a:prstGeom>
          <a:solidFill>
            <a:srgbClr val="102238"/>
          </a:solidFill>
          <a:ln w="12700">
            <a:solidFill>
              <a:srgbClr val="28415E"/>
            </a:solidFill>
            <a:prstDash val="solid"/>
          </a:ln>
        </p:spPr>
      </p:sp>
      <p:sp>
        <p:nvSpPr>
          <p:cNvPr id="49" name="Text 47"/>
          <p:cNvSpPr/>
          <p:nvPr/>
        </p:nvSpPr>
        <p:spPr>
          <a:xfrm>
            <a:off x="6720840"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DECISION</a:t>
            </a:r>
            <a:endParaRPr lang="en-US" sz="580" dirty="0"/>
          </a:p>
        </p:txBody>
      </p:sp>
      <p:sp>
        <p:nvSpPr>
          <p:cNvPr id="50" name="Shape 48"/>
          <p:cNvSpPr/>
          <p:nvPr/>
        </p:nvSpPr>
        <p:spPr>
          <a:xfrm>
            <a:off x="7589520" y="2761488"/>
            <a:ext cx="109728" cy="0"/>
          </a:xfrm>
          <a:prstGeom prst="line">
            <a:avLst/>
          </a:prstGeom>
          <a:noFill/>
          <a:ln w="12700">
            <a:solidFill>
              <a:srgbClr val="E7BD62"/>
            </a:solidFill>
            <a:prstDash val="solid"/>
            <a:tailEnd type="triangle"/>
          </a:ln>
        </p:spPr>
      </p:sp>
      <p:sp>
        <p:nvSpPr>
          <p:cNvPr id="51" name="Shape 49"/>
          <p:cNvSpPr/>
          <p:nvPr/>
        </p:nvSpPr>
        <p:spPr>
          <a:xfrm>
            <a:off x="7699248" y="2514600"/>
            <a:ext cx="914400" cy="502920"/>
          </a:xfrm>
          <a:prstGeom prst="roundRect">
            <a:avLst>
              <a:gd name="adj" fmla="val 7273"/>
            </a:avLst>
          </a:prstGeom>
          <a:solidFill>
            <a:srgbClr val="102238"/>
          </a:solidFill>
          <a:ln w="12700">
            <a:solidFill>
              <a:srgbClr val="28415E"/>
            </a:solidFill>
            <a:prstDash val="solid"/>
          </a:ln>
        </p:spPr>
      </p:sp>
      <p:sp>
        <p:nvSpPr>
          <p:cNvPr id="52" name="Text 50"/>
          <p:cNvSpPr/>
          <p:nvPr/>
        </p:nvSpPr>
        <p:spPr>
          <a:xfrm>
            <a:off x="7744968"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ACTION</a:t>
            </a:r>
            <a:endParaRPr lang="en-US" sz="580" dirty="0"/>
          </a:p>
        </p:txBody>
      </p:sp>
      <p:sp>
        <p:nvSpPr>
          <p:cNvPr id="53" name="Shape 51"/>
          <p:cNvSpPr/>
          <p:nvPr/>
        </p:nvSpPr>
        <p:spPr>
          <a:xfrm>
            <a:off x="8613648" y="2761488"/>
            <a:ext cx="109728" cy="0"/>
          </a:xfrm>
          <a:prstGeom prst="line">
            <a:avLst/>
          </a:prstGeom>
          <a:noFill/>
          <a:ln w="12700">
            <a:solidFill>
              <a:srgbClr val="E7BD62"/>
            </a:solidFill>
            <a:prstDash val="solid"/>
            <a:tailEnd type="triangle"/>
          </a:ln>
        </p:spPr>
      </p:sp>
      <p:sp>
        <p:nvSpPr>
          <p:cNvPr id="54" name="Shape 52"/>
          <p:cNvSpPr/>
          <p:nvPr/>
        </p:nvSpPr>
        <p:spPr>
          <a:xfrm>
            <a:off x="8723376" y="2514600"/>
            <a:ext cx="914400" cy="502920"/>
          </a:xfrm>
          <a:prstGeom prst="roundRect">
            <a:avLst>
              <a:gd name="adj" fmla="val 7273"/>
            </a:avLst>
          </a:prstGeom>
          <a:solidFill>
            <a:srgbClr val="102238"/>
          </a:solidFill>
          <a:ln w="12700">
            <a:solidFill>
              <a:srgbClr val="28415E"/>
            </a:solidFill>
            <a:prstDash val="solid"/>
          </a:ln>
        </p:spPr>
      </p:sp>
      <p:sp>
        <p:nvSpPr>
          <p:cNvPr id="55" name="Text 53"/>
          <p:cNvSpPr/>
          <p:nvPr/>
        </p:nvSpPr>
        <p:spPr>
          <a:xfrm>
            <a:off x="8769096"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CHRONICLE</a:t>
            </a:r>
            <a:endParaRPr lang="en-US" sz="580" dirty="0"/>
          </a:p>
        </p:txBody>
      </p:sp>
      <p:sp>
        <p:nvSpPr>
          <p:cNvPr id="56" name="Shape 54"/>
          <p:cNvSpPr/>
          <p:nvPr/>
        </p:nvSpPr>
        <p:spPr>
          <a:xfrm>
            <a:off x="9637776" y="2761488"/>
            <a:ext cx="109728" cy="0"/>
          </a:xfrm>
          <a:prstGeom prst="line">
            <a:avLst/>
          </a:prstGeom>
          <a:noFill/>
          <a:ln w="12700">
            <a:solidFill>
              <a:srgbClr val="E7BD62"/>
            </a:solidFill>
            <a:prstDash val="solid"/>
            <a:tailEnd type="triangle"/>
          </a:ln>
        </p:spPr>
      </p:sp>
      <p:sp>
        <p:nvSpPr>
          <p:cNvPr id="57" name="Shape 55"/>
          <p:cNvSpPr/>
          <p:nvPr/>
        </p:nvSpPr>
        <p:spPr>
          <a:xfrm>
            <a:off x="9747504" y="2514600"/>
            <a:ext cx="914400" cy="502920"/>
          </a:xfrm>
          <a:prstGeom prst="roundRect">
            <a:avLst>
              <a:gd name="adj" fmla="val 7273"/>
            </a:avLst>
          </a:prstGeom>
          <a:solidFill>
            <a:srgbClr val="102238"/>
          </a:solidFill>
          <a:ln w="12700">
            <a:solidFill>
              <a:srgbClr val="28415E"/>
            </a:solidFill>
            <a:prstDash val="solid"/>
          </a:ln>
        </p:spPr>
      </p:sp>
      <p:sp>
        <p:nvSpPr>
          <p:cNvPr id="58" name="Text 56"/>
          <p:cNvSpPr/>
          <p:nvPr/>
        </p:nvSpPr>
        <p:spPr>
          <a:xfrm>
            <a:off x="9793224"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QA</a:t>
            </a:r>
            <a:endParaRPr lang="en-US" sz="580" dirty="0"/>
          </a:p>
        </p:txBody>
      </p:sp>
      <p:sp>
        <p:nvSpPr>
          <p:cNvPr id="59" name="Shape 57"/>
          <p:cNvSpPr/>
          <p:nvPr/>
        </p:nvSpPr>
        <p:spPr>
          <a:xfrm>
            <a:off x="10661904" y="2761488"/>
            <a:ext cx="109728" cy="0"/>
          </a:xfrm>
          <a:prstGeom prst="line">
            <a:avLst/>
          </a:prstGeom>
          <a:noFill/>
          <a:ln w="12700">
            <a:solidFill>
              <a:srgbClr val="E7BD62"/>
            </a:solidFill>
            <a:prstDash val="solid"/>
            <a:tailEnd type="triangle"/>
          </a:ln>
        </p:spPr>
      </p:sp>
      <p:sp>
        <p:nvSpPr>
          <p:cNvPr id="60" name="Shape 58"/>
          <p:cNvSpPr/>
          <p:nvPr/>
        </p:nvSpPr>
        <p:spPr>
          <a:xfrm>
            <a:off x="10771632" y="2514600"/>
            <a:ext cx="914400" cy="502920"/>
          </a:xfrm>
          <a:prstGeom prst="roundRect">
            <a:avLst>
              <a:gd name="adj" fmla="val 7273"/>
            </a:avLst>
          </a:prstGeom>
          <a:solidFill>
            <a:srgbClr val="43D79B"/>
          </a:solidFill>
          <a:ln w="12700">
            <a:solidFill>
              <a:srgbClr val="43D79B"/>
            </a:solidFill>
            <a:prstDash val="solid"/>
          </a:ln>
        </p:spPr>
      </p:sp>
      <p:sp>
        <p:nvSpPr>
          <p:cNvPr id="61" name="Text 59"/>
          <p:cNvSpPr/>
          <p:nvPr/>
        </p:nvSpPr>
        <p:spPr>
          <a:xfrm>
            <a:off x="10817352" y="2697480"/>
            <a:ext cx="822960" cy="91440"/>
          </a:xfrm>
          <a:prstGeom prst="rect">
            <a:avLst/>
          </a:prstGeom>
          <a:noFill/>
          <a:ln/>
        </p:spPr>
        <p:txBody>
          <a:bodyPr wrap="square" lIns="0" tIns="0" rIns="0" bIns="0" rtlCol="0" anchor="ctr">
            <a:normAutofit/>
          </a:bodyPr>
          <a:lstStyle/>
          <a:p>
            <a:pPr algn="ctr" indent="0" marL="0">
              <a:buNone/>
            </a:pPr>
            <a:r>
              <a:rPr lang="en-US" sz="580" b="1" dirty="0">
                <a:solidFill>
                  <a:srgbClr val="14273D"/>
                </a:solidFill>
                <a:latin typeface="Inter" pitchFamily="34" charset="0"/>
                <a:ea typeface="Inter" pitchFamily="34" charset="-122"/>
                <a:cs typeface="Inter" pitchFamily="34" charset="-120"/>
              </a:rPr>
              <a:t>DONE</a:t>
            </a:r>
            <a:endParaRPr lang="en-US" sz="580" dirty="0"/>
          </a:p>
        </p:txBody>
      </p:sp>
      <p:sp>
        <p:nvSpPr>
          <p:cNvPr id="62" name="Shape 60"/>
          <p:cNvSpPr/>
          <p:nvPr/>
        </p:nvSpPr>
        <p:spPr>
          <a:xfrm>
            <a:off x="777240" y="3749040"/>
            <a:ext cx="3429000" cy="1325880"/>
          </a:xfrm>
          <a:prstGeom prst="roundRect">
            <a:avLst>
              <a:gd name="adj" fmla="val 5517"/>
            </a:avLst>
          </a:prstGeom>
          <a:solidFill>
            <a:srgbClr val="102238"/>
          </a:solidFill>
          <a:ln w="10160">
            <a:solidFill>
              <a:srgbClr val="FF7584"/>
            </a:solidFill>
            <a:prstDash val="solid"/>
          </a:ln>
        </p:spPr>
      </p:sp>
      <p:sp>
        <p:nvSpPr>
          <p:cNvPr id="63" name="Text 61"/>
          <p:cNvSpPr/>
          <p:nvPr/>
        </p:nvSpPr>
        <p:spPr>
          <a:xfrm>
            <a:off x="932688" y="3877056"/>
            <a:ext cx="31181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IF A CLAIM LACKS EVIDENCE</a:t>
            </a:r>
            <a:endParaRPr lang="en-US" sz="680" dirty="0"/>
          </a:p>
        </p:txBody>
      </p:sp>
      <p:sp>
        <p:nvSpPr>
          <p:cNvPr id="64" name="Text 62"/>
          <p:cNvSpPr/>
          <p:nvPr/>
        </p:nvSpPr>
        <p:spPr>
          <a:xfrm>
            <a:off x="932688" y="4005072"/>
            <a:ext cx="3118104" cy="329184"/>
          </a:xfrm>
          <a:prstGeom prst="rect">
            <a:avLst/>
          </a:prstGeom>
          <a:noFill/>
          <a:ln/>
        </p:spPr>
        <p:txBody>
          <a:bodyPr wrap="square" lIns="0" tIns="0" rIns="0" bIns="0" rtlCol="0" anchor="ctr">
            <a:normAutofit/>
          </a:bodyPr>
          <a:lstStyle/>
          <a:p>
            <a:pPr indent="0" marL="0">
              <a:buNone/>
            </a:pPr>
            <a:r>
              <a:rPr lang="en-US" sz="1500" b="1" dirty="0">
                <a:solidFill>
                  <a:srgbClr val="F7FBFF"/>
                </a:solidFill>
                <a:latin typeface="Inter Display" pitchFamily="34" charset="0"/>
                <a:ea typeface="Inter Display" pitchFamily="34" charset="-122"/>
                <a:cs typeface="Inter Display" pitchFamily="34" charset="-120"/>
              </a:rPr>
              <a:t>Return to proof work</a:t>
            </a:r>
            <a:endParaRPr lang="en-US" sz="1500" dirty="0"/>
          </a:p>
        </p:txBody>
      </p:sp>
      <p:sp>
        <p:nvSpPr>
          <p:cNvPr id="65" name="Text 63"/>
          <p:cNvSpPr/>
          <p:nvPr/>
        </p:nvSpPr>
        <p:spPr>
          <a:xfrm>
            <a:off x="932688" y="4407408"/>
            <a:ext cx="3118104" cy="530352"/>
          </a:xfrm>
          <a:prstGeom prst="rect">
            <a:avLst/>
          </a:prstGeom>
          <a:noFill/>
          <a:ln/>
        </p:spPr>
        <p:txBody>
          <a:bodyPr wrap="square" lIns="0" tIns="0" rIns="0" bIns="0" rtlCol="0" anchor="t">
            <a:normAutofit/>
          </a:bodyPr>
          <a:lstStyle/>
          <a:p>
            <a:pPr indent="0" marL="0">
              <a:buNone/>
            </a:pPr>
            <a:r>
              <a:rPr lang="en-US" sz="930" dirty="0">
                <a:solidFill>
                  <a:srgbClr val="B9C5D2"/>
                </a:solidFill>
                <a:latin typeface="Inter" pitchFamily="34" charset="0"/>
                <a:ea typeface="Inter" pitchFamily="34" charset="-122"/>
                <a:cs typeface="Inter" pitchFamily="34" charset="-120"/>
              </a:rPr>
              <a:t>New jobs, new sources, replay, or explicit block.</a:t>
            </a:r>
            <a:endParaRPr lang="en-US" sz="930" dirty="0"/>
          </a:p>
        </p:txBody>
      </p:sp>
      <p:sp>
        <p:nvSpPr>
          <p:cNvPr id="66" name="Shape 64"/>
          <p:cNvSpPr/>
          <p:nvPr/>
        </p:nvSpPr>
        <p:spPr>
          <a:xfrm>
            <a:off x="4389120" y="3749040"/>
            <a:ext cx="3429000" cy="1325880"/>
          </a:xfrm>
          <a:prstGeom prst="roundRect">
            <a:avLst>
              <a:gd name="adj" fmla="val 5517"/>
            </a:avLst>
          </a:prstGeom>
          <a:solidFill>
            <a:srgbClr val="102238"/>
          </a:solidFill>
          <a:ln w="10160">
            <a:solidFill>
              <a:srgbClr val="F5C46B"/>
            </a:solidFill>
            <a:prstDash val="solid"/>
          </a:ln>
        </p:spPr>
      </p:sp>
      <p:sp>
        <p:nvSpPr>
          <p:cNvPr id="67" name="Text 65"/>
          <p:cNvSpPr/>
          <p:nvPr/>
        </p:nvSpPr>
        <p:spPr>
          <a:xfrm>
            <a:off x="4544568" y="3877056"/>
            <a:ext cx="3118104" cy="146304"/>
          </a:xfrm>
          <a:prstGeom prst="rect">
            <a:avLst/>
          </a:prstGeom>
          <a:noFill/>
          <a:ln/>
        </p:spPr>
        <p:txBody>
          <a:bodyPr wrap="square" lIns="0" tIns="0" rIns="0" bIns="0" rtlCol="0" anchor="ctr"/>
          <a:lstStyle/>
          <a:p>
            <a:pPr indent="0" marL="0">
              <a:buNone/>
            </a:pPr>
            <a:r>
              <a:rPr lang="en-US" sz="680" b="1" spc="120" kern="0" dirty="0">
                <a:solidFill>
                  <a:srgbClr val="F5C46B"/>
                </a:solidFill>
                <a:latin typeface="Inter" pitchFamily="34" charset="0"/>
                <a:ea typeface="Inter" pitchFamily="34" charset="-122"/>
                <a:cs typeface="Inter" pitchFamily="34" charset="-120"/>
              </a:rPr>
              <a:t>IF A BOUNDARY FAILS</a:t>
            </a:r>
            <a:endParaRPr lang="en-US" sz="680" dirty="0"/>
          </a:p>
        </p:txBody>
      </p:sp>
      <p:sp>
        <p:nvSpPr>
          <p:cNvPr id="68" name="Text 66"/>
          <p:cNvSpPr/>
          <p:nvPr/>
        </p:nvSpPr>
        <p:spPr>
          <a:xfrm>
            <a:off x="4544568" y="4005072"/>
            <a:ext cx="3118104" cy="329184"/>
          </a:xfrm>
          <a:prstGeom prst="rect">
            <a:avLst/>
          </a:prstGeom>
          <a:noFill/>
          <a:ln/>
        </p:spPr>
        <p:txBody>
          <a:bodyPr wrap="square" lIns="0" tIns="0" rIns="0" bIns="0" rtlCol="0" anchor="ctr">
            <a:normAutofit/>
          </a:bodyPr>
          <a:lstStyle/>
          <a:p>
            <a:pPr indent="0" marL="0">
              <a:buNone/>
            </a:pPr>
            <a:r>
              <a:rPr lang="en-US" sz="1500" b="1" dirty="0">
                <a:solidFill>
                  <a:srgbClr val="F7FBFF"/>
                </a:solidFill>
                <a:latin typeface="Inter Display" pitchFamily="34" charset="0"/>
                <a:ea typeface="Inter Display" pitchFamily="34" charset="-122"/>
                <a:cs typeface="Inter Display" pitchFamily="34" charset="-120"/>
              </a:rPr>
              <a:t>Revise or stop</a:t>
            </a:r>
            <a:endParaRPr lang="en-US" sz="1500" dirty="0"/>
          </a:p>
        </p:txBody>
      </p:sp>
      <p:sp>
        <p:nvSpPr>
          <p:cNvPr id="69" name="Text 67"/>
          <p:cNvSpPr/>
          <p:nvPr/>
        </p:nvSpPr>
        <p:spPr>
          <a:xfrm>
            <a:off x="4544568" y="4407408"/>
            <a:ext cx="3118104" cy="530352"/>
          </a:xfrm>
          <a:prstGeom prst="rect">
            <a:avLst/>
          </a:prstGeom>
          <a:noFill/>
          <a:ln/>
        </p:spPr>
        <p:txBody>
          <a:bodyPr wrap="square" lIns="0" tIns="0" rIns="0" bIns="0" rtlCol="0" anchor="t">
            <a:normAutofit/>
          </a:bodyPr>
          <a:lstStyle/>
          <a:p>
            <a:pPr indent="0" marL="0">
              <a:buNone/>
            </a:pPr>
            <a:r>
              <a:rPr lang="en-US" sz="930" dirty="0">
                <a:solidFill>
                  <a:srgbClr val="B9C5D2"/>
                </a:solidFill>
                <a:latin typeface="Inter" pitchFamily="34" charset="0"/>
                <a:ea typeface="Inter" pitchFamily="34" charset="-122"/>
                <a:cs typeface="Inter" pitchFamily="34" charset="-120"/>
              </a:rPr>
              <a:t>No live external action, settlement, or memory promotion.</a:t>
            </a:r>
            <a:endParaRPr lang="en-US" sz="930" dirty="0"/>
          </a:p>
        </p:txBody>
      </p:sp>
      <p:sp>
        <p:nvSpPr>
          <p:cNvPr id="70" name="Shape 68"/>
          <p:cNvSpPr/>
          <p:nvPr/>
        </p:nvSpPr>
        <p:spPr>
          <a:xfrm>
            <a:off x="8001000" y="3749040"/>
            <a:ext cx="3429000" cy="1325880"/>
          </a:xfrm>
          <a:prstGeom prst="roundRect">
            <a:avLst>
              <a:gd name="adj" fmla="val 5517"/>
            </a:avLst>
          </a:prstGeom>
          <a:solidFill>
            <a:srgbClr val="102238"/>
          </a:solidFill>
          <a:ln w="10160">
            <a:solidFill>
              <a:srgbClr val="43D79B"/>
            </a:solidFill>
            <a:prstDash val="solid"/>
          </a:ln>
        </p:spPr>
      </p:sp>
      <p:sp>
        <p:nvSpPr>
          <p:cNvPr id="71" name="Text 69"/>
          <p:cNvSpPr/>
          <p:nvPr/>
        </p:nvSpPr>
        <p:spPr>
          <a:xfrm>
            <a:off x="8156448" y="3877056"/>
            <a:ext cx="311810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IF ALL GATES PASS</a:t>
            </a:r>
            <a:endParaRPr lang="en-US" sz="680" dirty="0"/>
          </a:p>
        </p:txBody>
      </p:sp>
      <p:sp>
        <p:nvSpPr>
          <p:cNvPr id="72" name="Text 70"/>
          <p:cNvSpPr/>
          <p:nvPr/>
        </p:nvSpPr>
        <p:spPr>
          <a:xfrm>
            <a:off x="8156448" y="4005072"/>
            <a:ext cx="3118104" cy="329184"/>
          </a:xfrm>
          <a:prstGeom prst="rect">
            <a:avLst/>
          </a:prstGeom>
          <a:noFill/>
          <a:ln/>
        </p:spPr>
        <p:txBody>
          <a:bodyPr wrap="square" lIns="0" tIns="0" rIns="0" bIns="0" rtlCol="0" anchor="ctr">
            <a:normAutofit/>
          </a:bodyPr>
          <a:lstStyle/>
          <a:p>
            <a:pPr indent="0" marL="0">
              <a:buNone/>
            </a:pPr>
            <a:r>
              <a:rPr lang="en-US" sz="1500" b="1" dirty="0">
                <a:solidFill>
                  <a:srgbClr val="F7FBFF"/>
                </a:solidFill>
                <a:latin typeface="Inter Display" pitchFamily="34" charset="0"/>
                <a:ea typeface="Inter Display" pitchFamily="34" charset="-122"/>
                <a:cs typeface="Inter Display" pitchFamily="34" charset="-120"/>
              </a:rPr>
              <a:t>Emit a reviewable state</a:t>
            </a:r>
            <a:endParaRPr lang="en-US" sz="1500" dirty="0"/>
          </a:p>
        </p:txBody>
      </p:sp>
      <p:sp>
        <p:nvSpPr>
          <p:cNvPr id="73" name="Text 71"/>
          <p:cNvSpPr/>
          <p:nvPr/>
        </p:nvSpPr>
        <p:spPr>
          <a:xfrm>
            <a:off x="8156448" y="4407408"/>
            <a:ext cx="3118104" cy="530352"/>
          </a:xfrm>
          <a:prstGeom prst="rect">
            <a:avLst/>
          </a:prstGeom>
          <a:noFill/>
          <a:ln/>
        </p:spPr>
        <p:txBody>
          <a:bodyPr wrap="square" lIns="0" tIns="0" rIns="0" bIns="0" rtlCol="0" anchor="t">
            <a:normAutofit/>
          </a:bodyPr>
          <a:lstStyle/>
          <a:p>
            <a:pPr indent="0" marL="0">
              <a:buNone/>
            </a:pPr>
            <a:r>
              <a:rPr lang="en-US" sz="930" dirty="0">
                <a:solidFill>
                  <a:srgbClr val="B9C5D2"/>
                </a:solidFill>
                <a:latin typeface="Inter" pitchFamily="34" charset="0"/>
                <a:ea typeface="Inter" pitchFamily="34" charset="-122"/>
                <a:cs typeface="Inter" pitchFamily="34" charset="-120"/>
              </a:rPr>
              <a:t>Decision, Action Graph, Chronicle record, and capability candidate.</a:t>
            </a:r>
            <a:endParaRPr lang="en-US" sz="930" dirty="0"/>
          </a:p>
        </p:txBody>
      </p:sp>
      <p:sp>
        <p:nvSpPr>
          <p:cNvPr id="74" name="Text 72"/>
          <p:cNvSpPr/>
          <p:nvPr/>
        </p:nvSpPr>
        <p:spPr>
          <a:xfrm>
            <a:off x="1097280" y="5605272"/>
            <a:ext cx="10012680" cy="320040"/>
          </a:xfrm>
          <a:prstGeom prst="rect">
            <a:avLst/>
          </a:prstGeom>
          <a:noFill/>
          <a:ln/>
        </p:spPr>
        <p:txBody>
          <a:bodyPr wrap="square" lIns="0" tIns="0" rIns="0" bIns="0" rtlCol="0" anchor="ctr"/>
          <a:lstStyle/>
          <a:p>
            <a:pPr algn="ctr" indent="0" marL="0">
              <a:buNone/>
            </a:pPr>
            <a:r>
              <a:rPr lang="en-US" sz="1400" b="1" dirty="0">
                <a:solidFill>
                  <a:srgbClr val="E7BD62"/>
                </a:solidFill>
                <a:latin typeface="Inter Display" pitchFamily="34" charset="0"/>
                <a:ea typeface="Inter Display" pitchFamily="34" charset="-122"/>
                <a:cs typeface="Inter Display" pitchFamily="34" charset="-120"/>
              </a:rPr>
              <a:t>No proof, no evolution. No evaluation, no propagation. No rollback, no release.</a:t>
            </a:r>
            <a:endParaRPr lang="en-US" sz="14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GOVERNED DECISION STATE</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750" b="1" dirty="0">
                <a:solidFill>
                  <a:srgbClr val="14273D"/>
                </a:solidFill>
                <a:latin typeface="Inter Display" pitchFamily="34" charset="0"/>
                <a:ea typeface="Inter Display" pitchFamily="34" charset="-122"/>
                <a:cs typeface="Inter Display" pitchFamily="34" charset="-120"/>
              </a:rPr>
              <a:t>The flagship deliverable is not a document. It is a governed decision state.</a:t>
            </a:r>
            <a:endParaRPr lang="en-US" sz="275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Inspectable, challengeable, operational, and connected to the next action and future capability.</a:t>
            </a:r>
            <a:endParaRPr lang="en-US" sz="1450" dirty="0"/>
          </a:p>
        </p:txBody>
      </p:sp>
      <p:sp>
        <p:nvSpPr>
          <p:cNvPr id="30" name="Shape 28"/>
          <p:cNvSpPr/>
          <p:nvPr/>
        </p:nvSpPr>
        <p:spPr>
          <a:xfrm>
            <a:off x="658368" y="2148840"/>
            <a:ext cx="2542032" cy="283464"/>
          </a:xfrm>
          <a:prstGeom prst="roundRect">
            <a:avLst>
              <a:gd name="adj" fmla="val 38710"/>
            </a:avLst>
          </a:prstGeom>
          <a:solidFill>
            <a:srgbClr val="6FB5FF">
              <a:alpha val="13000"/>
            </a:srgbClr>
          </a:solidFill>
          <a:ln w="10160">
            <a:solidFill>
              <a:srgbClr val="6FB5FF">
                <a:alpha val="60000"/>
              </a:srgbClr>
            </a:solidFill>
            <a:prstDash val="solid"/>
          </a:ln>
        </p:spPr>
      </p:sp>
      <p:sp>
        <p:nvSpPr>
          <p:cNvPr id="31" name="Text 29"/>
          <p:cNvSpPr/>
          <p:nvPr/>
        </p:nvSpPr>
        <p:spPr>
          <a:xfrm>
            <a:off x="713232" y="22265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Mission Contract</a:t>
            </a:r>
            <a:endParaRPr lang="en-US" sz="690" dirty="0"/>
          </a:p>
        </p:txBody>
      </p:sp>
      <p:sp>
        <p:nvSpPr>
          <p:cNvPr id="32" name="Shape 30"/>
          <p:cNvSpPr/>
          <p:nvPr/>
        </p:nvSpPr>
        <p:spPr>
          <a:xfrm>
            <a:off x="3493008" y="2148840"/>
            <a:ext cx="2542032" cy="283464"/>
          </a:xfrm>
          <a:prstGeom prst="roundRect">
            <a:avLst>
              <a:gd name="adj" fmla="val 38710"/>
            </a:avLst>
          </a:prstGeom>
          <a:solidFill>
            <a:srgbClr val="E7BD62">
              <a:alpha val="13000"/>
            </a:srgbClr>
          </a:solidFill>
          <a:ln w="10160">
            <a:solidFill>
              <a:srgbClr val="E7BD62">
                <a:alpha val="60000"/>
              </a:srgbClr>
            </a:solidFill>
            <a:prstDash val="solid"/>
          </a:ln>
        </p:spPr>
      </p:sp>
      <p:sp>
        <p:nvSpPr>
          <p:cNvPr id="33" name="Text 31"/>
          <p:cNvSpPr/>
          <p:nvPr/>
        </p:nvSpPr>
        <p:spPr>
          <a:xfrm>
            <a:off x="3547872" y="22265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Claims Matrix</a:t>
            </a:r>
            <a:endParaRPr lang="en-US" sz="690" dirty="0"/>
          </a:p>
        </p:txBody>
      </p:sp>
      <p:sp>
        <p:nvSpPr>
          <p:cNvPr id="34" name="Shape 32"/>
          <p:cNvSpPr/>
          <p:nvPr/>
        </p:nvSpPr>
        <p:spPr>
          <a:xfrm>
            <a:off x="6327648" y="2148840"/>
            <a:ext cx="2542032" cy="283464"/>
          </a:xfrm>
          <a:prstGeom prst="roundRect">
            <a:avLst>
              <a:gd name="adj" fmla="val 38710"/>
            </a:avLst>
          </a:prstGeom>
          <a:solidFill>
            <a:srgbClr val="54D6D0">
              <a:alpha val="13000"/>
            </a:srgbClr>
          </a:solidFill>
          <a:ln w="10160">
            <a:solidFill>
              <a:srgbClr val="54D6D0">
                <a:alpha val="60000"/>
              </a:srgbClr>
            </a:solidFill>
            <a:prstDash val="solid"/>
          </a:ln>
        </p:spPr>
      </p:sp>
      <p:sp>
        <p:nvSpPr>
          <p:cNvPr id="35" name="Text 33"/>
          <p:cNvSpPr/>
          <p:nvPr/>
        </p:nvSpPr>
        <p:spPr>
          <a:xfrm>
            <a:off x="6382512" y="22265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Source Provenance</a:t>
            </a:r>
            <a:endParaRPr lang="en-US" sz="690" dirty="0"/>
          </a:p>
        </p:txBody>
      </p:sp>
      <p:sp>
        <p:nvSpPr>
          <p:cNvPr id="36" name="Shape 34"/>
          <p:cNvSpPr/>
          <p:nvPr/>
        </p:nvSpPr>
        <p:spPr>
          <a:xfrm>
            <a:off x="9162288" y="2148840"/>
            <a:ext cx="2542032"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37" name="Text 35"/>
          <p:cNvSpPr/>
          <p:nvPr/>
        </p:nvSpPr>
        <p:spPr>
          <a:xfrm>
            <a:off x="9217152" y="22265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Contradiction Register</a:t>
            </a:r>
            <a:endParaRPr lang="en-US" sz="690" dirty="0"/>
          </a:p>
        </p:txBody>
      </p:sp>
      <p:sp>
        <p:nvSpPr>
          <p:cNvPr id="38" name="Shape 36"/>
          <p:cNvSpPr/>
          <p:nvPr/>
        </p:nvSpPr>
        <p:spPr>
          <a:xfrm>
            <a:off x="658368" y="2834640"/>
            <a:ext cx="2542032" cy="283464"/>
          </a:xfrm>
          <a:prstGeom prst="roundRect">
            <a:avLst>
              <a:gd name="adj" fmla="val 38710"/>
            </a:avLst>
          </a:prstGeom>
          <a:solidFill>
            <a:srgbClr val="43D79B">
              <a:alpha val="13000"/>
            </a:srgbClr>
          </a:solidFill>
          <a:ln w="10160">
            <a:solidFill>
              <a:srgbClr val="43D79B">
                <a:alpha val="60000"/>
              </a:srgbClr>
            </a:solidFill>
            <a:prstDash val="solid"/>
          </a:ln>
        </p:spPr>
      </p:sp>
      <p:sp>
        <p:nvSpPr>
          <p:cNvPr id="39" name="Text 37"/>
          <p:cNvSpPr/>
          <p:nvPr/>
        </p:nvSpPr>
        <p:spPr>
          <a:xfrm>
            <a:off x="713232" y="29123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Evidence Docket</a:t>
            </a:r>
            <a:endParaRPr lang="en-US" sz="690" dirty="0"/>
          </a:p>
        </p:txBody>
      </p:sp>
      <p:sp>
        <p:nvSpPr>
          <p:cNvPr id="40" name="Shape 38"/>
          <p:cNvSpPr/>
          <p:nvPr/>
        </p:nvSpPr>
        <p:spPr>
          <a:xfrm>
            <a:off x="3493008" y="2834640"/>
            <a:ext cx="2542032" cy="283464"/>
          </a:xfrm>
          <a:prstGeom prst="roundRect">
            <a:avLst>
              <a:gd name="adj" fmla="val 38710"/>
            </a:avLst>
          </a:prstGeom>
          <a:solidFill>
            <a:srgbClr val="A99CFF">
              <a:alpha val="13000"/>
            </a:srgbClr>
          </a:solidFill>
          <a:ln w="10160">
            <a:solidFill>
              <a:srgbClr val="A99CFF">
                <a:alpha val="60000"/>
              </a:srgbClr>
            </a:solidFill>
            <a:prstDash val="solid"/>
          </a:ln>
        </p:spPr>
      </p:sp>
      <p:sp>
        <p:nvSpPr>
          <p:cNvPr id="41" name="Text 39"/>
          <p:cNvSpPr/>
          <p:nvPr/>
        </p:nvSpPr>
        <p:spPr>
          <a:xfrm>
            <a:off x="3547872" y="29123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Verifier Report</a:t>
            </a:r>
            <a:endParaRPr lang="en-US" sz="690" dirty="0"/>
          </a:p>
        </p:txBody>
      </p:sp>
      <p:sp>
        <p:nvSpPr>
          <p:cNvPr id="42" name="Shape 40"/>
          <p:cNvSpPr/>
          <p:nvPr/>
        </p:nvSpPr>
        <p:spPr>
          <a:xfrm>
            <a:off x="6327648" y="2834640"/>
            <a:ext cx="2542032" cy="283464"/>
          </a:xfrm>
          <a:prstGeom prst="roundRect">
            <a:avLst>
              <a:gd name="adj" fmla="val 38710"/>
            </a:avLst>
          </a:prstGeom>
          <a:solidFill>
            <a:srgbClr val="F5C46B">
              <a:alpha val="13000"/>
            </a:srgbClr>
          </a:solidFill>
          <a:ln w="10160">
            <a:solidFill>
              <a:srgbClr val="F5C46B">
                <a:alpha val="60000"/>
              </a:srgbClr>
            </a:solidFill>
            <a:prstDash val="solid"/>
          </a:ln>
        </p:spPr>
      </p:sp>
      <p:sp>
        <p:nvSpPr>
          <p:cNvPr id="43" name="Text 41"/>
          <p:cNvSpPr/>
          <p:nvPr/>
        </p:nvSpPr>
        <p:spPr>
          <a:xfrm>
            <a:off x="6382512" y="29123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Risk + Cost Ledgers</a:t>
            </a:r>
            <a:endParaRPr lang="en-US" sz="690" dirty="0"/>
          </a:p>
        </p:txBody>
      </p:sp>
      <p:sp>
        <p:nvSpPr>
          <p:cNvPr id="44" name="Shape 42"/>
          <p:cNvSpPr/>
          <p:nvPr/>
        </p:nvSpPr>
        <p:spPr>
          <a:xfrm>
            <a:off x="9162288" y="2834640"/>
            <a:ext cx="2542032" cy="283464"/>
          </a:xfrm>
          <a:prstGeom prst="roundRect">
            <a:avLst>
              <a:gd name="adj" fmla="val 38710"/>
            </a:avLst>
          </a:prstGeom>
          <a:solidFill>
            <a:srgbClr val="6FB5FF">
              <a:alpha val="13000"/>
            </a:srgbClr>
          </a:solidFill>
          <a:ln w="10160">
            <a:solidFill>
              <a:srgbClr val="6FB5FF">
                <a:alpha val="60000"/>
              </a:srgbClr>
            </a:solidFill>
            <a:prstDash val="solid"/>
          </a:ln>
        </p:spPr>
      </p:sp>
      <p:sp>
        <p:nvSpPr>
          <p:cNvPr id="45" name="Text 43"/>
          <p:cNvSpPr/>
          <p:nvPr/>
        </p:nvSpPr>
        <p:spPr>
          <a:xfrm>
            <a:off x="9217152" y="29123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Executive Brief</a:t>
            </a:r>
            <a:endParaRPr lang="en-US" sz="690" dirty="0"/>
          </a:p>
        </p:txBody>
      </p:sp>
      <p:sp>
        <p:nvSpPr>
          <p:cNvPr id="46" name="Shape 44"/>
          <p:cNvSpPr/>
          <p:nvPr/>
        </p:nvSpPr>
        <p:spPr>
          <a:xfrm>
            <a:off x="658368" y="3520440"/>
            <a:ext cx="2542032" cy="283464"/>
          </a:xfrm>
          <a:prstGeom prst="roundRect">
            <a:avLst>
              <a:gd name="adj" fmla="val 38710"/>
            </a:avLst>
          </a:prstGeom>
          <a:solidFill>
            <a:srgbClr val="E7BD62">
              <a:alpha val="13000"/>
            </a:srgbClr>
          </a:solidFill>
          <a:ln w="10160">
            <a:solidFill>
              <a:srgbClr val="E7BD62">
                <a:alpha val="60000"/>
              </a:srgbClr>
            </a:solidFill>
            <a:prstDash val="solid"/>
          </a:ln>
        </p:spPr>
      </p:sp>
      <p:sp>
        <p:nvSpPr>
          <p:cNvPr id="47" name="Text 45"/>
          <p:cNvSpPr/>
          <p:nvPr/>
        </p:nvSpPr>
        <p:spPr>
          <a:xfrm>
            <a:off x="713232" y="35981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Decision Deck</a:t>
            </a:r>
            <a:endParaRPr lang="en-US" sz="690" dirty="0"/>
          </a:p>
        </p:txBody>
      </p:sp>
      <p:sp>
        <p:nvSpPr>
          <p:cNvPr id="48" name="Shape 46"/>
          <p:cNvSpPr/>
          <p:nvPr/>
        </p:nvSpPr>
        <p:spPr>
          <a:xfrm>
            <a:off x="3493008" y="3520440"/>
            <a:ext cx="2542032" cy="283464"/>
          </a:xfrm>
          <a:prstGeom prst="roundRect">
            <a:avLst>
              <a:gd name="adj" fmla="val 38710"/>
            </a:avLst>
          </a:prstGeom>
          <a:solidFill>
            <a:srgbClr val="43D79B">
              <a:alpha val="13000"/>
            </a:srgbClr>
          </a:solidFill>
          <a:ln w="10160">
            <a:solidFill>
              <a:srgbClr val="43D79B">
                <a:alpha val="60000"/>
              </a:srgbClr>
            </a:solidFill>
            <a:prstDash val="solid"/>
          </a:ln>
        </p:spPr>
      </p:sp>
      <p:sp>
        <p:nvSpPr>
          <p:cNvPr id="49" name="Text 47"/>
          <p:cNvSpPr/>
          <p:nvPr/>
        </p:nvSpPr>
        <p:spPr>
          <a:xfrm>
            <a:off x="3547872" y="35981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Action Graph</a:t>
            </a:r>
            <a:endParaRPr lang="en-US" sz="690" dirty="0"/>
          </a:p>
        </p:txBody>
      </p:sp>
      <p:sp>
        <p:nvSpPr>
          <p:cNvPr id="50" name="Shape 48"/>
          <p:cNvSpPr/>
          <p:nvPr/>
        </p:nvSpPr>
        <p:spPr>
          <a:xfrm>
            <a:off x="6327648" y="3520440"/>
            <a:ext cx="2542032" cy="283464"/>
          </a:xfrm>
          <a:prstGeom prst="roundRect">
            <a:avLst>
              <a:gd name="adj" fmla="val 38710"/>
            </a:avLst>
          </a:prstGeom>
          <a:solidFill>
            <a:srgbClr val="A99CFF">
              <a:alpha val="13000"/>
            </a:srgbClr>
          </a:solidFill>
          <a:ln w="10160">
            <a:solidFill>
              <a:srgbClr val="A99CFF">
                <a:alpha val="60000"/>
              </a:srgbClr>
            </a:solidFill>
            <a:prstDash val="solid"/>
          </a:ln>
        </p:spPr>
      </p:sp>
      <p:sp>
        <p:nvSpPr>
          <p:cNvPr id="51" name="Text 49"/>
          <p:cNvSpPr/>
          <p:nvPr/>
        </p:nvSpPr>
        <p:spPr>
          <a:xfrm>
            <a:off x="6382512" y="35981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Chronicle Entry</a:t>
            </a:r>
            <a:endParaRPr lang="en-US" sz="690" dirty="0"/>
          </a:p>
        </p:txBody>
      </p:sp>
      <p:sp>
        <p:nvSpPr>
          <p:cNvPr id="52" name="Shape 50"/>
          <p:cNvSpPr/>
          <p:nvPr/>
        </p:nvSpPr>
        <p:spPr>
          <a:xfrm>
            <a:off x="9162288" y="3520440"/>
            <a:ext cx="2542032" cy="283464"/>
          </a:xfrm>
          <a:prstGeom prst="roundRect">
            <a:avLst>
              <a:gd name="adj" fmla="val 38710"/>
            </a:avLst>
          </a:prstGeom>
          <a:solidFill>
            <a:srgbClr val="54D6D0">
              <a:alpha val="13000"/>
            </a:srgbClr>
          </a:solidFill>
          <a:ln w="10160">
            <a:solidFill>
              <a:srgbClr val="54D6D0">
                <a:alpha val="60000"/>
              </a:srgbClr>
            </a:solidFill>
            <a:prstDash val="solid"/>
          </a:ln>
        </p:spPr>
      </p:sp>
      <p:sp>
        <p:nvSpPr>
          <p:cNvPr id="53" name="Text 51"/>
          <p:cNvSpPr/>
          <p:nvPr/>
        </p:nvSpPr>
        <p:spPr>
          <a:xfrm>
            <a:off x="9217152" y="3598164"/>
            <a:ext cx="2432304"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Capability Package</a:t>
            </a:r>
            <a:endParaRPr lang="en-US" sz="690" dirty="0"/>
          </a:p>
        </p:txBody>
      </p:sp>
      <p:sp>
        <p:nvSpPr>
          <p:cNvPr id="54" name="Shape 52"/>
          <p:cNvSpPr/>
          <p:nvPr/>
        </p:nvSpPr>
        <p:spPr>
          <a:xfrm>
            <a:off x="1965960" y="4663440"/>
            <a:ext cx="8275320" cy="960120"/>
          </a:xfrm>
          <a:prstGeom prst="roundRect">
            <a:avLst>
              <a:gd name="adj" fmla="val 7619"/>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55" name="Text 53"/>
          <p:cNvSpPr/>
          <p:nvPr/>
        </p:nvSpPr>
        <p:spPr>
          <a:xfrm>
            <a:off x="2121408" y="4791456"/>
            <a:ext cx="796442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USER-FACING TRANSLATION</a:t>
            </a:r>
            <a:endParaRPr lang="en-US" sz="680" dirty="0"/>
          </a:p>
        </p:txBody>
      </p:sp>
      <p:sp>
        <p:nvSpPr>
          <p:cNvPr id="56" name="Text 54"/>
          <p:cNvSpPr/>
          <p:nvPr/>
        </p:nvSpPr>
        <p:spPr>
          <a:xfrm>
            <a:off x="2121408" y="4919472"/>
            <a:ext cx="7964424" cy="329184"/>
          </a:xfrm>
          <a:prstGeom prst="rect">
            <a:avLst/>
          </a:prstGeom>
          <a:noFill/>
          <a:ln/>
        </p:spPr>
        <p:txBody>
          <a:bodyPr wrap="square" lIns="0" tIns="0" rIns="0" bIns="0" rtlCol="0" anchor="ctr">
            <a:normAutofit/>
          </a:bodyPr>
          <a:lstStyle/>
          <a:p>
            <a:pPr indent="0" marL="0">
              <a:buNone/>
            </a:pPr>
            <a:r>
              <a:rPr lang="en-US" sz="2000" b="1" dirty="0">
                <a:solidFill>
                  <a:srgbClr val="14273D"/>
                </a:solidFill>
                <a:latin typeface="Inter Display" pitchFamily="34" charset="0"/>
                <a:ea typeface="Inter Display" pitchFamily="34" charset="-122"/>
                <a:cs typeface="Inter Display" pitchFamily="34" charset="-120"/>
              </a:rPr>
              <a:t>Move one objective from uncertainty to justified action.</a:t>
            </a:r>
            <a:endParaRPr lang="en-US" sz="2000" dirty="0"/>
          </a:p>
        </p:txBody>
      </p:sp>
      <p:sp>
        <p:nvSpPr>
          <p:cNvPr id="57" name="Text 55"/>
          <p:cNvSpPr/>
          <p:nvPr/>
        </p:nvSpPr>
        <p:spPr>
          <a:xfrm>
            <a:off x="2121408" y="5321808"/>
            <a:ext cx="7964424" cy="164592"/>
          </a:xfrm>
          <a:prstGeom prst="rect">
            <a:avLst/>
          </a:prstGeom>
          <a:noFill/>
          <a:ln/>
        </p:spPr>
        <p:txBody>
          <a:bodyPr wrap="square" lIns="0" tIns="0" rIns="0" bIns="0" rtlCol="0" anchor="t">
            <a:normAutofit/>
          </a:bodyPr>
          <a:lstStyle/>
          <a:p>
            <a:pPr indent="0" marL="0">
              <a:buNone/>
            </a:pPr>
            <a:r>
              <a:rPr lang="en-US" sz="920" dirty="0">
                <a:solidFill>
                  <a:srgbClr val="43566A"/>
                </a:solidFill>
                <a:latin typeface="Inter" pitchFamily="34" charset="0"/>
                <a:ea typeface="Inter" pitchFamily="34" charset="-122"/>
                <a:cs typeface="Inter" pitchFamily="34" charset="-120"/>
              </a:rPr>
              <a:t>The recommendation remains traceable to evidence, bounded by risk, assigned to owners, and paired with approvals, dependencies, proof requirements, and rollback.</a:t>
            </a:r>
            <a:endParaRPr lang="en-US" sz="92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BUSINESS VALUE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GoalOS optimizes mission value—not report length.</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best output is the shortest governed path from uncertainty to justified action and reusable capability.</a:t>
            </a:r>
            <a:endParaRPr lang="en-US" sz="1450" dirty="0"/>
          </a:p>
        </p:txBody>
      </p:sp>
      <p:sp>
        <p:nvSpPr>
          <p:cNvPr id="30" name="Text 28"/>
          <p:cNvSpPr/>
          <p:nvPr/>
        </p:nvSpPr>
        <p:spPr>
          <a:xfrm>
            <a:off x="914400" y="2212848"/>
            <a:ext cx="10332720" cy="475488"/>
          </a:xfrm>
          <a:prstGeom prst="rect">
            <a:avLst/>
          </a:prstGeom>
          <a:noFill/>
          <a:ln/>
        </p:spPr>
        <p:txBody>
          <a:bodyPr wrap="square" lIns="0" tIns="0" rIns="0" bIns="0" rtlCol="0" anchor="ctr">
            <a:normAutofit/>
          </a:bodyPr>
          <a:lstStyle/>
          <a:p>
            <a:pPr algn="ctr" indent="0" marL="0">
              <a:buNone/>
            </a:pPr>
            <a:r>
              <a:rPr lang="en-US" sz="2400" b="1" dirty="0">
                <a:solidFill>
                  <a:srgbClr val="43D79B"/>
                </a:solidFill>
                <a:latin typeface="Inter Display" pitchFamily="34" charset="0"/>
                <a:ea typeface="Inter Display" pitchFamily="34" charset="-122"/>
                <a:cs typeface="Inter Display" pitchFamily="34" charset="-120"/>
              </a:rPr>
              <a:t>Decision Impact × Proof Integrity × Actionability × Reuse</a:t>
            </a:r>
            <a:endParaRPr lang="en-US" sz="2400" dirty="0"/>
          </a:p>
        </p:txBody>
      </p:sp>
      <p:sp>
        <p:nvSpPr>
          <p:cNvPr id="31" name="Shape 29"/>
          <p:cNvSpPr/>
          <p:nvPr/>
        </p:nvSpPr>
        <p:spPr>
          <a:xfrm>
            <a:off x="1920240" y="2834640"/>
            <a:ext cx="8366760" cy="0"/>
          </a:xfrm>
          <a:prstGeom prst="line">
            <a:avLst/>
          </a:prstGeom>
          <a:noFill/>
          <a:ln w="25400">
            <a:solidFill>
              <a:srgbClr val="E7BD62"/>
            </a:solidFill>
            <a:prstDash val="solid"/>
          </a:ln>
        </p:spPr>
      </p:sp>
      <p:sp>
        <p:nvSpPr>
          <p:cNvPr id="32" name="Text 30"/>
          <p:cNvSpPr/>
          <p:nvPr/>
        </p:nvSpPr>
        <p:spPr>
          <a:xfrm>
            <a:off x="2194560" y="2999232"/>
            <a:ext cx="7818120" cy="457200"/>
          </a:xfrm>
          <a:prstGeom prst="rect">
            <a:avLst/>
          </a:prstGeom>
          <a:noFill/>
          <a:ln/>
        </p:spPr>
        <p:txBody>
          <a:bodyPr wrap="square" lIns="0" tIns="0" rIns="0" bIns="0" rtlCol="0" anchor="ctr">
            <a:normAutofit/>
          </a:bodyPr>
          <a:lstStyle/>
          <a:p>
            <a:pPr algn="ctr" indent="0" marL="0">
              <a:buNone/>
            </a:pPr>
            <a:r>
              <a:rPr lang="en-US" sz="2100" b="1" dirty="0">
                <a:solidFill>
                  <a:srgbClr val="FF7584"/>
                </a:solidFill>
                <a:latin typeface="Inter Display" pitchFamily="34" charset="0"/>
                <a:ea typeface="Inter Display" pitchFamily="34" charset="-122"/>
                <a:cs typeface="Inter Display" pitchFamily="34" charset="-120"/>
              </a:rPr>
              <a:t>Cost + Risk + Latency + Proof Debt</a:t>
            </a:r>
            <a:endParaRPr lang="en-US" sz="2100" dirty="0"/>
          </a:p>
        </p:txBody>
      </p:sp>
      <p:sp>
        <p:nvSpPr>
          <p:cNvPr id="33" name="Shape 31"/>
          <p:cNvSpPr/>
          <p:nvPr/>
        </p:nvSpPr>
        <p:spPr>
          <a:xfrm>
            <a:off x="658368" y="3977640"/>
            <a:ext cx="2542032" cy="1325880"/>
          </a:xfrm>
          <a:prstGeom prst="roundRect">
            <a:avLst>
              <a:gd name="adj" fmla="val 5517"/>
            </a:avLst>
          </a:prstGeom>
          <a:solidFill>
            <a:srgbClr val="102238"/>
          </a:solidFill>
          <a:ln w="10160">
            <a:solidFill>
              <a:srgbClr val="6FB5FF"/>
            </a:solidFill>
            <a:prstDash val="solid"/>
          </a:ln>
        </p:spPr>
      </p:sp>
      <p:sp>
        <p:nvSpPr>
          <p:cNvPr id="34" name="Text 32"/>
          <p:cNvSpPr/>
          <p:nvPr/>
        </p:nvSpPr>
        <p:spPr>
          <a:xfrm>
            <a:off x="813816" y="4105656"/>
            <a:ext cx="223113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VALUE DRIVER</a:t>
            </a:r>
            <a:endParaRPr lang="en-US" sz="680" dirty="0"/>
          </a:p>
        </p:txBody>
      </p:sp>
      <p:sp>
        <p:nvSpPr>
          <p:cNvPr id="35" name="Text 33"/>
          <p:cNvSpPr/>
          <p:nvPr/>
        </p:nvSpPr>
        <p:spPr>
          <a:xfrm>
            <a:off x="813816" y="4233672"/>
            <a:ext cx="2231136" cy="329184"/>
          </a:xfrm>
          <a:prstGeom prst="rect">
            <a:avLst/>
          </a:prstGeom>
          <a:noFill/>
          <a:ln/>
        </p:spPr>
        <p:txBody>
          <a:bodyPr wrap="square" lIns="0" tIns="0" rIns="0" bIns="0" rtlCol="0" anchor="ctr">
            <a:normAutofit/>
          </a:bodyPr>
          <a:lstStyle/>
          <a:p>
            <a:pPr indent="0" marL="0">
              <a:buNone/>
            </a:pPr>
            <a:r>
              <a:rPr lang="en-US" sz="1400" b="1" dirty="0">
                <a:solidFill>
                  <a:srgbClr val="F7FBFF"/>
                </a:solidFill>
                <a:latin typeface="Inter Display" pitchFamily="34" charset="0"/>
                <a:ea typeface="Inter Display" pitchFamily="34" charset="-122"/>
                <a:cs typeface="Inter Display" pitchFamily="34" charset="-120"/>
              </a:rPr>
              <a:t>Faster decision cycles</a:t>
            </a:r>
            <a:endParaRPr lang="en-US" sz="1400" dirty="0"/>
          </a:p>
        </p:txBody>
      </p:sp>
      <p:sp>
        <p:nvSpPr>
          <p:cNvPr id="36" name="Text 34"/>
          <p:cNvSpPr/>
          <p:nvPr/>
        </p:nvSpPr>
        <p:spPr>
          <a:xfrm>
            <a:off x="813816" y="4636008"/>
            <a:ext cx="2231136" cy="530352"/>
          </a:xfrm>
          <a:prstGeom prst="rect">
            <a:avLst/>
          </a:prstGeom>
          <a:noFill/>
          <a:ln/>
        </p:spPr>
        <p:txBody>
          <a:bodyPr wrap="square" lIns="0" tIns="0" rIns="0" bIns="0" rtlCol="0" anchor="t">
            <a:normAutofit/>
          </a:bodyPr>
          <a:lstStyle/>
          <a:p>
            <a:pPr indent="0" marL="0">
              <a:buNone/>
            </a:pPr>
            <a:r>
              <a:rPr lang="en-US" sz="820" dirty="0">
                <a:solidFill>
                  <a:srgbClr val="B9C5D2"/>
                </a:solidFill>
                <a:latin typeface="Inter" pitchFamily="34" charset="0"/>
                <a:ea typeface="Inter" pitchFamily="34" charset="-122"/>
                <a:cs typeface="Inter" pitchFamily="34" charset="-120"/>
              </a:rPr>
              <a:t>Less time spent reconciling unsupported output</a:t>
            </a:r>
            <a:endParaRPr lang="en-US" sz="820" dirty="0"/>
          </a:p>
        </p:txBody>
      </p:sp>
      <p:sp>
        <p:nvSpPr>
          <p:cNvPr id="37" name="Shape 35"/>
          <p:cNvSpPr/>
          <p:nvPr/>
        </p:nvSpPr>
        <p:spPr>
          <a:xfrm>
            <a:off x="3511296" y="3977640"/>
            <a:ext cx="2542032" cy="1325880"/>
          </a:xfrm>
          <a:prstGeom prst="roundRect">
            <a:avLst>
              <a:gd name="adj" fmla="val 5517"/>
            </a:avLst>
          </a:prstGeom>
          <a:solidFill>
            <a:srgbClr val="102238"/>
          </a:solidFill>
          <a:ln w="10160">
            <a:solidFill>
              <a:srgbClr val="54D6D0"/>
            </a:solidFill>
            <a:prstDash val="solid"/>
          </a:ln>
        </p:spPr>
      </p:sp>
      <p:sp>
        <p:nvSpPr>
          <p:cNvPr id="38" name="Text 36"/>
          <p:cNvSpPr/>
          <p:nvPr/>
        </p:nvSpPr>
        <p:spPr>
          <a:xfrm>
            <a:off x="3666744" y="4105656"/>
            <a:ext cx="2231136"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VALUE DRIVER</a:t>
            </a:r>
            <a:endParaRPr lang="en-US" sz="680" dirty="0"/>
          </a:p>
        </p:txBody>
      </p:sp>
      <p:sp>
        <p:nvSpPr>
          <p:cNvPr id="39" name="Text 37"/>
          <p:cNvSpPr/>
          <p:nvPr/>
        </p:nvSpPr>
        <p:spPr>
          <a:xfrm>
            <a:off x="3666744" y="4233672"/>
            <a:ext cx="2231136" cy="329184"/>
          </a:xfrm>
          <a:prstGeom prst="rect">
            <a:avLst/>
          </a:prstGeom>
          <a:noFill/>
          <a:ln/>
        </p:spPr>
        <p:txBody>
          <a:bodyPr wrap="square" lIns="0" tIns="0" rIns="0" bIns="0" rtlCol="0" anchor="ctr">
            <a:normAutofit/>
          </a:bodyPr>
          <a:lstStyle/>
          <a:p>
            <a:pPr indent="0" marL="0">
              <a:buNone/>
            </a:pPr>
            <a:r>
              <a:rPr lang="en-US" sz="1400" b="1" dirty="0">
                <a:solidFill>
                  <a:srgbClr val="F7FBFF"/>
                </a:solidFill>
                <a:latin typeface="Inter Display" pitchFamily="34" charset="0"/>
                <a:ea typeface="Inter Display" pitchFamily="34" charset="-122"/>
                <a:cs typeface="Inter Display" pitchFamily="34" charset="-120"/>
              </a:rPr>
              <a:t>Lower review burden</a:t>
            </a:r>
            <a:endParaRPr lang="en-US" sz="1400" dirty="0"/>
          </a:p>
        </p:txBody>
      </p:sp>
      <p:sp>
        <p:nvSpPr>
          <p:cNvPr id="40" name="Text 38"/>
          <p:cNvSpPr/>
          <p:nvPr/>
        </p:nvSpPr>
        <p:spPr>
          <a:xfrm>
            <a:off x="3666744" y="4636008"/>
            <a:ext cx="2231136" cy="530352"/>
          </a:xfrm>
          <a:prstGeom prst="rect">
            <a:avLst/>
          </a:prstGeom>
          <a:noFill/>
          <a:ln/>
        </p:spPr>
        <p:txBody>
          <a:bodyPr wrap="square" lIns="0" tIns="0" rIns="0" bIns="0" rtlCol="0" anchor="t">
            <a:normAutofit/>
          </a:bodyPr>
          <a:lstStyle/>
          <a:p>
            <a:pPr indent="0" marL="0">
              <a:buNone/>
            </a:pPr>
            <a:r>
              <a:rPr lang="en-US" sz="820" dirty="0">
                <a:solidFill>
                  <a:srgbClr val="B9C5D2"/>
                </a:solidFill>
                <a:latin typeface="Inter" pitchFamily="34" charset="0"/>
                <a:ea typeface="Inter" pitchFamily="34" charset="-122"/>
                <a:cs typeface="Inter" pitchFamily="34" charset="-120"/>
              </a:rPr>
              <a:t>Evidence is organized around claims and gates</a:t>
            </a:r>
            <a:endParaRPr lang="en-US" sz="820" dirty="0"/>
          </a:p>
        </p:txBody>
      </p:sp>
      <p:sp>
        <p:nvSpPr>
          <p:cNvPr id="41" name="Shape 39"/>
          <p:cNvSpPr/>
          <p:nvPr/>
        </p:nvSpPr>
        <p:spPr>
          <a:xfrm>
            <a:off x="6364224" y="3977640"/>
            <a:ext cx="2542032" cy="1325880"/>
          </a:xfrm>
          <a:prstGeom prst="roundRect">
            <a:avLst>
              <a:gd name="adj" fmla="val 5517"/>
            </a:avLst>
          </a:prstGeom>
          <a:solidFill>
            <a:srgbClr val="102238"/>
          </a:solidFill>
          <a:ln w="10160">
            <a:solidFill>
              <a:srgbClr val="FF7584"/>
            </a:solidFill>
            <a:prstDash val="solid"/>
          </a:ln>
        </p:spPr>
      </p:sp>
      <p:sp>
        <p:nvSpPr>
          <p:cNvPr id="42" name="Text 40"/>
          <p:cNvSpPr/>
          <p:nvPr/>
        </p:nvSpPr>
        <p:spPr>
          <a:xfrm>
            <a:off x="6519672" y="4105656"/>
            <a:ext cx="223113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VALUE DRIVER</a:t>
            </a:r>
            <a:endParaRPr lang="en-US" sz="680" dirty="0"/>
          </a:p>
        </p:txBody>
      </p:sp>
      <p:sp>
        <p:nvSpPr>
          <p:cNvPr id="43" name="Text 41"/>
          <p:cNvSpPr/>
          <p:nvPr/>
        </p:nvSpPr>
        <p:spPr>
          <a:xfrm>
            <a:off x="6519672" y="4233672"/>
            <a:ext cx="2231136" cy="329184"/>
          </a:xfrm>
          <a:prstGeom prst="rect">
            <a:avLst/>
          </a:prstGeom>
          <a:noFill/>
          <a:ln/>
        </p:spPr>
        <p:txBody>
          <a:bodyPr wrap="square" lIns="0" tIns="0" rIns="0" bIns="0" rtlCol="0" anchor="ctr">
            <a:normAutofit/>
          </a:bodyPr>
          <a:lstStyle/>
          <a:p>
            <a:pPr indent="0" marL="0">
              <a:buNone/>
            </a:pPr>
            <a:r>
              <a:rPr lang="en-US" sz="1400" b="1" dirty="0">
                <a:solidFill>
                  <a:srgbClr val="F7FBFF"/>
                </a:solidFill>
                <a:latin typeface="Inter Display" pitchFamily="34" charset="0"/>
                <a:ea typeface="Inter Display" pitchFamily="34" charset="-122"/>
                <a:cs typeface="Inter Display" pitchFamily="34" charset="-120"/>
              </a:rPr>
              <a:t>Reduced authority leakage</a:t>
            </a:r>
            <a:endParaRPr lang="en-US" sz="1400" dirty="0"/>
          </a:p>
        </p:txBody>
      </p:sp>
      <p:sp>
        <p:nvSpPr>
          <p:cNvPr id="44" name="Text 42"/>
          <p:cNvSpPr/>
          <p:nvPr/>
        </p:nvSpPr>
        <p:spPr>
          <a:xfrm>
            <a:off x="6519672" y="4636008"/>
            <a:ext cx="2231136" cy="530352"/>
          </a:xfrm>
          <a:prstGeom prst="rect">
            <a:avLst/>
          </a:prstGeom>
          <a:noFill/>
          <a:ln/>
        </p:spPr>
        <p:txBody>
          <a:bodyPr wrap="square" lIns="0" tIns="0" rIns="0" bIns="0" rtlCol="0" anchor="t">
            <a:normAutofit/>
          </a:bodyPr>
          <a:lstStyle/>
          <a:p>
            <a:pPr indent="0" marL="0">
              <a:buNone/>
            </a:pPr>
            <a:r>
              <a:rPr lang="en-US" sz="820" dirty="0">
                <a:solidFill>
                  <a:srgbClr val="B9C5D2"/>
                </a:solidFill>
                <a:latin typeface="Inter" pitchFamily="34" charset="0"/>
                <a:ea typeface="Inter" pitchFamily="34" charset="-122"/>
                <a:cs typeface="Inter" pitchFamily="34" charset="-120"/>
              </a:rPr>
              <a:t>Unsupported claims remain blocked or explicit</a:t>
            </a:r>
            <a:endParaRPr lang="en-US" sz="820" dirty="0"/>
          </a:p>
        </p:txBody>
      </p:sp>
      <p:sp>
        <p:nvSpPr>
          <p:cNvPr id="45" name="Shape 43"/>
          <p:cNvSpPr/>
          <p:nvPr/>
        </p:nvSpPr>
        <p:spPr>
          <a:xfrm>
            <a:off x="9217152" y="3977640"/>
            <a:ext cx="2542032" cy="1325880"/>
          </a:xfrm>
          <a:prstGeom prst="roundRect">
            <a:avLst>
              <a:gd name="adj" fmla="val 5517"/>
            </a:avLst>
          </a:prstGeom>
          <a:solidFill>
            <a:srgbClr val="102238"/>
          </a:solidFill>
          <a:ln w="10160">
            <a:solidFill>
              <a:srgbClr val="43D79B"/>
            </a:solidFill>
            <a:prstDash val="solid"/>
          </a:ln>
        </p:spPr>
      </p:sp>
      <p:sp>
        <p:nvSpPr>
          <p:cNvPr id="46" name="Text 44"/>
          <p:cNvSpPr/>
          <p:nvPr/>
        </p:nvSpPr>
        <p:spPr>
          <a:xfrm>
            <a:off x="9372600" y="4105656"/>
            <a:ext cx="223113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VALUE DRIVER</a:t>
            </a:r>
            <a:endParaRPr lang="en-US" sz="680" dirty="0"/>
          </a:p>
        </p:txBody>
      </p:sp>
      <p:sp>
        <p:nvSpPr>
          <p:cNvPr id="47" name="Text 45"/>
          <p:cNvSpPr/>
          <p:nvPr/>
        </p:nvSpPr>
        <p:spPr>
          <a:xfrm>
            <a:off x="9372600" y="4233672"/>
            <a:ext cx="2231136" cy="329184"/>
          </a:xfrm>
          <a:prstGeom prst="rect">
            <a:avLst/>
          </a:prstGeom>
          <a:noFill/>
          <a:ln/>
        </p:spPr>
        <p:txBody>
          <a:bodyPr wrap="square" lIns="0" tIns="0" rIns="0" bIns="0" rtlCol="0" anchor="ctr">
            <a:normAutofit/>
          </a:bodyPr>
          <a:lstStyle/>
          <a:p>
            <a:pPr indent="0" marL="0">
              <a:buNone/>
            </a:pPr>
            <a:r>
              <a:rPr lang="en-US" sz="1400" b="1" dirty="0">
                <a:solidFill>
                  <a:srgbClr val="F7FBFF"/>
                </a:solidFill>
                <a:latin typeface="Inter Display" pitchFamily="34" charset="0"/>
                <a:ea typeface="Inter Display" pitchFamily="34" charset="-122"/>
                <a:cs typeface="Inter Display" pitchFamily="34" charset="-120"/>
              </a:rPr>
              <a:t>Reusable capability</a:t>
            </a:r>
            <a:endParaRPr lang="en-US" sz="1400" dirty="0"/>
          </a:p>
        </p:txBody>
      </p:sp>
      <p:sp>
        <p:nvSpPr>
          <p:cNvPr id="48" name="Text 46"/>
          <p:cNvSpPr/>
          <p:nvPr/>
        </p:nvSpPr>
        <p:spPr>
          <a:xfrm>
            <a:off x="9372600" y="4636008"/>
            <a:ext cx="2231136" cy="530352"/>
          </a:xfrm>
          <a:prstGeom prst="rect">
            <a:avLst/>
          </a:prstGeom>
          <a:noFill/>
          <a:ln/>
        </p:spPr>
        <p:txBody>
          <a:bodyPr wrap="square" lIns="0" tIns="0" rIns="0" bIns="0" rtlCol="0" anchor="t">
            <a:normAutofit/>
          </a:bodyPr>
          <a:lstStyle/>
          <a:p>
            <a:pPr indent="0" marL="0">
              <a:buNone/>
            </a:pPr>
            <a:r>
              <a:rPr lang="en-US" sz="820" dirty="0">
                <a:solidFill>
                  <a:srgbClr val="B9C5D2"/>
                </a:solidFill>
                <a:latin typeface="Inter" pitchFamily="34" charset="0"/>
                <a:ea typeface="Inter" pitchFamily="34" charset="-122"/>
                <a:cs typeface="Inter" pitchFamily="34" charset="-120"/>
              </a:rPr>
              <a:t>Accepted work can improve future missions</a:t>
            </a:r>
            <a:endParaRPr lang="en-US" sz="82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THE RSI LAYER</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Masterclass module divider</a:t>
            </a:r>
            <a:endParaRPr lang="en-US" sz="640" dirty="0"/>
          </a:p>
        </p:txBody>
      </p:sp>
      <p:sp>
        <p:nvSpPr>
          <p:cNvPr id="28" name="Text 26"/>
          <p:cNvSpPr/>
          <p:nvPr/>
        </p:nvSpPr>
        <p:spPr>
          <a:xfrm>
            <a:off x="640080" y="1097280"/>
            <a:ext cx="1828800" cy="1097280"/>
          </a:xfrm>
          <a:prstGeom prst="rect">
            <a:avLst/>
          </a:prstGeom>
          <a:noFill/>
          <a:ln/>
        </p:spPr>
        <p:txBody>
          <a:bodyPr wrap="square" lIns="0" tIns="0" rIns="0" bIns="0" rtlCol="0" anchor="ctr"/>
          <a:lstStyle/>
          <a:p>
            <a:pPr indent="0" marL="0">
              <a:buNone/>
            </a:pPr>
            <a:r>
              <a:rPr lang="en-US" sz="5800" b="1" dirty="0">
                <a:solidFill>
                  <a:srgbClr val="A99CFF">
                    <a:alpha val="95000"/>
                  </a:srgbClr>
                </a:solidFill>
                <a:latin typeface="Inter Display" pitchFamily="34" charset="0"/>
                <a:ea typeface="Inter Display" pitchFamily="34" charset="-122"/>
                <a:cs typeface="Inter Display" pitchFamily="34" charset="-120"/>
              </a:rPr>
              <a:t>02</a:t>
            </a:r>
            <a:endParaRPr lang="en-US" sz="5800" dirty="0"/>
          </a:p>
        </p:txBody>
      </p:sp>
      <p:sp>
        <p:nvSpPr>
          <p:cNvPr id="29" name="Shape 27"/>
          <p:cNvSpPr/>
          <p:nvPr/>
        </p:nvSpPr>
        <p:spPr>
          <a:xfrm>
            <a:off x="2743200" y="1234440"/>
            <a:ext cx="2560320" cy="301752"/>
          </a:xfrm>
          <a:prstGeom prst="roundRect">
            <a:avLst>
              <a:gd name="adj" fmla="val 24242"/>
            </a:avLst>
          </a:prstGeom>
          <a:solidFill>
            <a:srgbClr val="A99CFF">
              <a:alpha val="12000"/>
            </a:srgbClr>
          </a:solidFill>
          <a:ln w="10160">
            <a:solidFill>
              <a:srgbClr val="A99CFF">
                <a:alpha val="65000"/>
              </a:srgbClr>
            </a:solidFill>
            <a:prstDash val="solid"/>
          </a:ln>
        </p:spPr>
      </p:sp>
      <p:sp>
        <p:nvSpPr>
          <p:cNvPr id="30" name="Text 28"/>
          <p:cNvSpPr/>
          <p:nvPr/>
        </p:nvSpPr>
        <p:spPr>
          <a:xfrm>
            <a:off x="2825496" y="1316736"/>
            <a:ext cx="2395728" cy="109728"/>
          </a:xfrm>
          <a:prstGeom prst="rect">
            <a:avLst/>
          </a:prstGeom>
          <a:noFill/>
          <a:ln/>
        </p:spPr>
        <p:txBody>
          <a:bodyPr wrap="square" lIns="0" tIns="0" rIns="0" bIns="0" rtlCol="0" anchor="ctr"/>
          <a:lstStyle/>
          <a:p>
            <a:pPr algn="ctr" indent="0" marL="0">
              <a:buNone/>
            </a:pPr>
            <a:r>
              <a:rPr lang="en-US" sz="720" b="1" spc="130" kern="0" dirty="0">
                <a:solidFill>
                  <a:srgbClr val="A99CFF"/>
                </a:solidFill>
                <a:latin typeface="Inter" pitchFamily="34" charset="0"/>
                <a:ea typeface="Inter" pitchFamily="34" charset="-122"/>
                <a:cs typeface="Inter" pitchFamily="34" charset="-120"/>
              </a:rPr>
              <a:t>THE RSI LAYER</a:t>
            </a:r>
            <a:endParaRPr lang="en-US" sz="720" dirty="0"/>
          </a:p>
        </p:txBody>
      </p:sp>
      <p:sp>
        <p:nvSpPr>
          <p:cNvPr id="31" name="Text 29"/>
          <p:cNvSpPr/>
          <p:nvPr/>
        </p:nvSpPr>
        <p:spPr>
          <a:xfrm>
            <a:off x="2743200" y="1828800"/>
            <a:ext cx="8412480" cy="1188720"/>
          </a:xfrm>
          <a:prstGeom prst="rect">
            <a:avLst/>
          </a:prstGeom>
          <a:noFill/>
          <a:ln/>
        </p:spPr>
        <p:txBody>
          <a:bodyPr wrap="square" lIns="0" tIns="0" rIns="0" bIns="0" rtlCol="0" anchor="ctr">
            <a:normAutofit/>
          </a:bodyPr>
          <a:lstStyle/>
          <a:p>
            <a:pPr indent="0" marL="0">
              <a:buNone/>
            </a:pPr>
            <a:r>
              <a:rPr lang="en-US" sz="3700" b="1" dirty="0">
                <a:solidFill>
                  <a:srgbClr val="F7FBFF"/>
                </a:solidFill>
                <a:latin typeface="Inter Display" pitchFamily="34" charset="0"/>
                <a:ea typeface="Inter Display" pitchFamily="34" charset="-122"/>
                <a:cs typeface="Inter Display" pitchFamily="34" charset="-120"/>
              </a:rPr>
              <a:t>Recursive self-improvement that earns authority.</a:t>
            </a:r>
            <a:endParaRPr lang="en-US" sz="3700" dirty="0"/>
          </a:p>
        </p:txBody>
      </p:sp>
      <p:sp>
        <p:nvSpPr>
          <p:cNvPr id="32" name="Text 30"/>
          <p:cNvSpPr/>
          <p:nvPr/>
        </p:nvSpPr>
        <p:spPr>
          <a:xfrm>
            <a:off x="2770632" y="3246120"/>
            <a:ext cx="8046720" cy="822960"/>
          </a:xfrm>
          <a:prstGeom prst="rect">
            <a:avLst/>
          </a:prstGeom>
          <a:noFill/>
          <a:ln/>
        </p:spPr>
        <p:txBody>
          <a:bodyPr wrap="square" lIns="0" tIns="0" rIns="0" bIns="0" rtlCol="0" anchor="ctr">
            <a:normAutofit/>
          </a:bodyPr>
          <a:lstStyle/>
          <a:p>
            <a:pPr indent="0" marL="0">
              <a:buNone/>
            </a:pPr>
            <a:r>
              <a:rPr lang="en-US" sz="1600" dirty="0">
                <a:solidFill>
                  <a:srgbClr val="B9C5D2"/>
                </a:solidFill>
                <a:latin typeface="Inter" pitchFamily="34" charset="0"/>
                <a:ea typeface="Inter" pitchFamily="34" charset="-122"/>
                <a:cs typeface="Inter" pitchFamily="34" charset="-120"/>
              </a:rPr>
              <a:t>How open-ended exploration, deterministic replay, evidence contact, baselines, stress tests, and rollback turn improvement from a story into an audited state transition.</a:t>
            </a:r>
            <a:endParaRPr lang="en-US" sz="1600" dirty="0"/>
          </a:p>
        </p:txBody>
      </p:sp>
      <p:sp>
        <p:nvSpPr>
          <p:cNvPr id="33" name="Shape 31"/>
          <p:cNvSpPr/>
          <p:nvPr/>
        </p:nvSpPr>
        <p:spPr>
          <a:xfrm>
            <a:off x="2761488" y="4279392"/>
            <a:ext cx="7132320" cy="0"/>
          </a:xfrm>
          <a:prstGeom prst="line">
            <a:avLst/>
          </a:prstGeom>
          <a:noFill/>
          <a:ln w="25400">
            <a:solidFill>
              <a:srgbClr val="A99CFF"/>
            </a:solidFill>
            <a:prstDash val="solid"/>
          </a:ln>
        </p:spPr>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DYNAMIC AI ROLES</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800" b="1" dirty="0">
                <a:solidFill>
                  <a:srgbClr val="14273D"/>
                </a:solidFill>
                <a:latin typeface="Inter Display" pitchFamily="34" charset="0"/>
                <a:ea typeface="Inter Display" pitchFamily="34" charset="-122"/>
                <a:cs typeface="Inter Display" pitchFamily="34" charset="-120"/>
              </a:rPr>
              <a:t>Dynamic AI is useful when roles are specialized and authority is separated.</a:t>
            </a:r>
            <a:endParaRPr lang="en-US" sz="28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system may generate, route, execute, inspect, critique, replay, and propose—but no single role owns the full authority path.</a:t>
            </a:r>
            <a:endParaRPr lang="en-US" sz="1450" dirty="0"/>
          </a:p>
        </p:txBody>
      </p:sp>
      <p:sp>
        <p:nvSpPr>
          <p:cNvPr id="30" name="Shape 28"/>
          <p:cNvSpPr/>
          <p:nvPr/>
        </p:nvSpPr>
        <p:spPr>
          <a:xfrm>
            <a:off x="621792" y="2148840"/>
            <a:ext cx="3566160" cy="1243584"/>
          </a:xfrm>
          <a:prstGeom prst="roundRect">
            <a:avLst>
              <a:gd name="adj" fmla="val 5882"/>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777240" y="2276856"/>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SPONSOR</a:t>
            </a:r>
            <a:endParaRPr lang="en-US" sz="680" dirty="0"/>
          </a:p>
        </p:txBody>
      </p:sp>
      <p:sp>
        <p:nvSpPr>
          <p:cNvPr id="32" name="Text 30"/>
          <p:cNvSpPr/>
          <p:nvPr/>
        </p:nvSpPr>
        <p:spPr>
          <a:xfrm>
            <a:off x="777240" y="2404872"/>
            <a:ext cx="3255264" cy="329184"/>
          </a:xfrm>
          <a:prstGeom prst="rect">
            <a:avLst/>
          </a:prstGeom>
          <a:noFill/>
          <a:ln/>
        </p:spPr>
        <p:txBody>
          <a:bodyPr wrap="square" lIns="0" tIns="0" rIns="0" bIns="0" rtlCol="0" anchor="ctr">
            <a:normAutofit/>
          </a:bodyPr>
          <a:lstStyle/>
          <a:p>
            <a:pPr indent="0" marL="0">
              <a:buNone/>
            </a:pPr>
            <a:r>
              <a:rPr lang="en-US" sz="1360" b="1" dirty="0">
                <a:solidFill>
                  <a:srgbClr val="14273D"/>
                </a:solidFill>
                <a:latin typeface="Inter Display" pitchFamily="34" charset="0"/>
                <a:ea typeface="Inter Display" pitchFamily="34" charset="-122"/>
                <a:cs typeface="Inter Display" pitchFamily="34" charset="-120"/>
              </a:rPr>
              <a:t>Defines objective, value, constraints</a:t>
            </a:r>
            <a:endParaRPr lang="en-US" sz="1360" dirty="0"/>
          </a:p>
        </p:txBody>
      </p:sp>
      <p:sp>
        <p:nvSpPr>
          <p:cNvPr id="33" name="Text 31"/>
          <p:cNvSpPr/>
          <p:nvPr/>
        </p:nvSpPr>
        <p:spPr>
          <a:xfrm>
            <a:off x="777240" y="2807208"/>
            <a:ext cx="3255264" cy="448056"/>
          </a:xfrm>
          <a:prstGeom prst="rect">
            <a:avLst/>
          </a:prstGeom>
          <a:noFill/>
          <a:ln/>
        </p:spPr>
        <p:txBody>
          <a:bodyPr wrap="square" lIns="0" tIns="0" rIns="0" bIns="0" rtlCol="0" anchor="t">
            <a:normAutofit/>
          </a:bodyPr>
          <a:lstStyle/>
          <a:p>
            <a:pPr indent="0" marL="0">
              <a:buNone/>
            </a:pPr>
            <a:r>
              <a:rPr lang="en-US" sz="810" dirty="0">
                <a:solidFill>
                  <a:srgbClr val="43566A"/>
                </a:solidFill>
                <a:latin typeface="Inter" pitchFamily="34" charset="0"/>
                <a:ea typeface="Inter" pitchFamily="34" charset="-122"/>
                <a:cs typeface="Inter" pitchFamily="34" charset="-120"/>
              </a:rPr>
              <a:t>Authority is explicit and attributable.</a:t>
            </a:r>
            <a:endParaRPr lang="en-US" sz="810" dirty="0"/>
          </a:p>
        </p:txBody>
      </p:sp>
      <p:sp>
        <p:nvSpPr>
          <p:cNvPr id="34" name="Shape 32"/>
          <p:cNvSpPr/>
          <p:nvPr/>
        </p:nvSpPr>
        <p:spPr>
          <a:xfrm>
            <a:off x="4443984" y="2148840"/>
            <a:ext cx="3566160" cy="1243584"/>
          </a:xfrm>
          <a:prstGeom prst="roundRect">
            <a:avLst>
              <a:gd name="adj" fmla="val 5882"/>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4599432" y="2276856"/>
            <a:ext cx="32552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MISSION ARCHITECT</a:t>
            </a:r>
            <a:endParaRPr lang="en-US" sz="680" dirty="0"/>
          </a:p>
        </p:txBody>
      </p:sp>
      <p:sp>
        <p:nvSpPr>
          <p:cNvPr id="36" name="Text 34"/>
          <p:cNvSpPr/>
          <p:nvPr/>
        </p:nvSpPr>
        <p:spPr>
          <a:xfrm>
            <a:off x="4599432" y="2404872"/>
            <a:ext cx="3255264" cy="329184"/>
          </a:xfrm>
          <a:prstGeom prst="rect">
            <a:avLst/>
          </a:prstGeom>
          <a:noFill/>
          <a:ln/>
        </p:spPr>
        <p:txBody>
          <a:bodyPr wrap="square" lIns="0" tIns="0" rIns="0" bIns="0" rtlCol="0" anchor="ctr">
            <a:normAutofit/>
          </a:bodyPr>
          <a:lstStyle/>
          <a:p>
            <a:pPr indent="0" marL="0">
              <a:buNone/>
            </a:pPr>
            <a:r>
              <a:rPr lang="en-US" sz="1360" b="1" dirty="0">
                <a:solidFill>
                  <a:srgbClr val="14273D"/>
                </a:solidFill>
                <a:latin typeface="Inter Display" pitchFamily="34" charset="0"/>
                <a:ea typeface="Inter Display" pitchFamily="34" charset="-122"/>
                <a:cs typeface="Inter Display" pitchFamily="34" charset="-120"/>
              </a:rPr>
              <a:t>Freezes contract and proof level</a:t>
            </a:r>
            <a:endParaRPr lang="en-US" sz="1360" dirty="0"/>
          </a:p>
        </p:txBody>
      </p:sp>
      <p:sp>
        <p:nvSpPr>
          <p:cNvPr id="37" name="Text 35"/>
          <p:cNvSpPr/>
          <p:nvPr/>
        </p:nvSpPr>
        <p:spPr>
          <a:xfrm>
            <a:off x="4599432" y="2807208"/>
            <a:ext cx="3255264" cy="448056"/>
          </a:xfrm>
          <a:prstGeom prst="rect">
            <a:avLst/>
          </a:prstGeom>
          <a:noFill/>
          <a:ln/>
        </p:spPr>
        <p:txBody>
          <a:bodyPr wrap="square" lIns="0" tIns="0" rIns="0" bIns="0" rtlCol="0" anchor="t">
            <a:normAutofit/>
          </a:bodyPr>
          <a:lstStyle/>
          <a:p>
            <a:pPr indent="0" marL="0">
              <a:buNone/>
            </a:pPr>
            <a:r>
              <a:rPr lang="en-US" sz="810" dirty="0">
                <a:solidFill>
                  <a:srgbClr val="43566A"/>
                </a:solidFill>
                <a:latin typeface="Inter" pitchFamily="34" charset="0"/>
                <a:ea typeface="Inter" pitchFamily="34" charset="-122"/>
                <a:cs typeface="Inter" pitchFamily="34" charset="-120"/>
              </a:rPr>
              <a:t>Authority is explicit and attributable.</a:t>
            </a:r>
            <a:endParaRPr lang="en-US" sz="810" dirty="0"/>
          </a:p>
        </p:txBody>
      </p:sp>
      <p:sp>
        <p:nvSpPr>
          <p:cNvPr id="38" name="Shape 36"/>
          <p:cNvSpPr/>
          <p:nvPr/>
        </p:nvSpPr>
        <p:spPr>
          <a:xfrm>
            <a:off x="8266176" y="2148840"/>
            <a:ext cx="3566160" cy="1243584"/>
          </a:xfrm>
          <a:prstGeom prst="roundRect">
            <a:avLst>
              <a:gd name="adj" fmla="val 5882"/>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8421624" y="2276856"/>
            <a:ext cx="325526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WORKER AGENTS</a:t>
            </a:r>
            <a:endParaRPr lang="en-US" sz="680" dirty="0"/>
          </a:p>
        </p:txBody>
      </p:sp>
      <p:sp>
        <p:nvSpPr>
          <p:cNvPr id="40" name="Text 38"/>
          <p:cNvSpPr/>
          <p:nvPr/>
        </p:nvSpPr>
        <p:spPr>
          <a:xfrm>
            <a:off x="8421624" y="2404872"/>
            <a:ext cx="3255264" cy="329184"/>
          </a:xfrm>
          <a:prstGeom prst="rect">
            <a:avLst/>
          </a:prstGeom>
          <a:noFill/>
          <a:ln/>
        </p:spPr>
        <p:txBody>
          <a:bodyPr wrap="square" lIns="0" tIns="0" rIns="0" bIns="0" rtlCol="0" anchor="ctr">
            <a:normAutofit/>
          </a:bodyPr>
          <a:lstStyle/>
          <a:p>
            <a:pPr indent="0" marL="0">
              <a:buNone/>
            </a:pPr>
            <a:r>
              <a:rPr lang="en-US" sz="1360" b="1" dirty="0">
                <a:solidFill>
                  <a:srgbClr val="14273D"/>
                </a:solidFill>
                <a:latin typeface="Inter Display" pitchFamily="34" charset="0"/>
                <a:ea typeface="Inter Display" pitchFamily="34" charset="-122"/>
                <a:cs typeface="Inter Display" pitchFamily="34" charset="-120"/>
              </a:rPr>
              <a:t>Produce candidate work and ProofBundles</a:t>
            </a:r>
            <a:endParaRPr lang="en-US" sz="1360" dirty="0"/>
          </a:p>
        </p:txBody>
      </p:sp>
      <p:sp>
        <p:nvSpPr>
          <p:cNvPr id="41" name="Text 39"/>
          <p:cNvSpPr/>
          <p:nvPr/>
        </p:nvSpPr>
        <p:spPr>
          <a:xfrm>
            <a:off x="8421624" y="2807208"/>
            <a:ext cx="3255264" cy="448056"/>
          </a:xfrm>
          <a:prstGeom prst="rect">
            <a:avLst/>
          </a:prstGeom>
          <a:noFill/>
          <a:ln/>
        </p:spPr>
        <p:txBody>
          <a:bodyPr wrap="square" lIns="0" tIns="0" rIns="0" bIns="0" rtlCol="0" anchor="t">
            <a:normAutofit/>
          </a:bodyPr>
          <a:lstStyle/>
          <a:p>
            <a:pPr indent="0" marL="0">
              <a:buNone/>
            </a:pPr>
            <a:r>
              <a:rPr lang="en-US" sz="810" dirty="0">
                <a:solidFill>
                  <a:srgbClr val="43566A"/>
                </a:solidFill>
                <a:latin typeface="Inter" pitchFamily="34" charset="0"/>
                <a:ea typeface="Inter" pitchFamily="34" charset="-122"/>
                <a:cs typeface="Inter" pitchFamily="34" charset="-120"/>
              </a:rPr>
              <a:t>Authority is explicit and attributable.</a:t>
            </a:r>
            <a:endParaRPr lang="en-US" sz="810" dirty="0"/>
          </a:p>
        </p:txBody>
      </p:sp>
      <p:sp>
        <p:nvSpPr>
          <p:cNvPr id="42" name="Shape 40"/>
          <p:cNvSpPr/>
          <p:nvPr/>
        </p:nvSpPr>
        <p:spPr>
          <a:xfrm>
            <a:off x="621792" y="3666744"/>
            <a:ext cx="3566160" cy="1243584"/>
          </a:xfrm>
          <a:prstGeom prst="roundRect">
            <a:avLst>
              <a:gd name="adj" fmla="val 5882"/>
            </a:avLst>
          </a:prstGeom>
          <a:solidFill>
            <a:srgbClr val="FFFDF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43" name="Text 41"/>
          <p:cNvSpPr/>
          <p:nvPr/>
        </p:nvSpPr>
        <p:spPr>
          <a:xfrm>
            <a:off x="777240" y="3794760"/>
            <a:ext cx="32552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VERIFIER AGENTS</a:t>
            </a:r>
            <a:endParaRPr lang="en-US" sz="680" dirty="0"/>
          </a:p>
        </p:txBody>
      </p:sp>
      <p:sp>
        <p:nvSpPr>
          <p:cNvPr id="44" name="Text 42"/>
          <p:cNvSpPr/>
          <p:nvPr/>
        </p:nvSpPr>
        <p:spPr>
          <a:xfrm>
            <a:off x="777240" y="3922776"/>
            <a:ext cx="3255264" cy="329184"/>
          </a:xfrm>
          <a:prstGeom prst="rect">
            <a:avLst/>
          </a:prstGeom>
          <a:noFill/>
          <a:ln/>
        </p:spPr>
        <p:txBody>
          <a:bodyPr wrap="square" lIns="0" tIns="0" rIns="0" bIns="0" rtlCol="0" anchor="ctr">
            <a:normAutofit/>
          </a:bodyPr>
          <a:lstStyle/>
          <a:p>
            <a:pPr indent="0" marL="0">
              <a:buNone/>
            </a:pPr>
            <a:r>
              <a:rPr lang="en-US" sz="1360" b="1" dirty="0">
                <a:solidFill>
                  <a:srgbClr val="14273D"/>
                </a:solidFill>
                <a:latin typeface="Inter Display" pitchFamily="34" charset="0"/>
                <a:ea typeface="Inter Display" pitchFamily="34" charset="-122"/>
                <a:cs typeface="Inter Display" pitchFamily="34" charset="-120"/>
              </a:rPr>
              <a:t>Test support, replay, contradictions, boundaries</a:t>
            </a:r>
            <a:endParaRPr lang="en-US" sz="1360" dirty="0"/>
          </a:p>
        </p:txBody>
      </p:sp>
      <p:sp>
        <p:nvSpPr>
          <p:cNvPr id="45" name="Text 43"/>
          <p:cNvSpPr/>
          <p:nvPr/>
        </p:nvSpPr>
        <p:spPr>
          <a:xfrm>
            <a:off x="777240" y="4325112"/>
            <a:ext cx="3255264" cy="448056"/>
          </a:xfrm>
          <a:prstGeom prst="rect">
            <a:avLst/>
          </a:prstGeom>
          <a:noFill/>
          <a:ln/>
        </p:spPr>
        <p:txBody>
          <a:bodyPr wrap="square" lIns="0" tIns="0" rIns="0" bIns="0" rtlCol="0" anchor="t">
            <a:normAutofit/>
          </a:bodyPr>
          <a:lstStyle/>
          <a:p>
            <a:pPr indent="0" marL="0">
              <a:buNone/>
            </a:pPr>
            <a:r>
              <a:rPr lang="en-US" sz="810" dirty="0">
                <a:solidFill>
                  <a:srgbClr val="43566A"/>
                </a:solidFill>
                <a:latin typeface="Inter" pitchFamily="34" charset="0"/>
                <a:ea typeface="Inter" pitchFamily="34" charset="-122"/>
                <a:cs typeface="Inter" pitchFamily="34" charset="-120"/>
              </a:rPr>
              <a:t>Authority is explicit and attributable.</a:t>
            </a:r>
            <a:endParaRPr lang="en-US" sz="810" dirty="0"/>
          </a:p>
        </p:txBody>
      </p:sp>
      <p:sp>
        <p:nvSpPr>
          <p:cNvPr id="46" name="Shape 44"/>
          <p:cNvSpPr/>
          <p:nvPr/>
        </p:nvSpPr>
        <p:spPr>
          <a:xfrm>
            <a:off x="4443984" y="3666744"/>
            <a:ext cx="3566160" cy="1243584"/>
          </a:xfrm>
          <a:prstGeom prst="roundRect">
            <a:avLst>
              <a:gd name="adj" fmla="val 5882"/>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47" name="Text 45"/>
          <p:cNvSpPr/>
          <p:nvPr/>
        </p:nvSpPr>
        <p:spPr>
          <a:xfrm>
            <a:off x="4599432" y="3794760"/>
            <a:ext cx="32552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SENTINELS</a:t>
            </a:r>
            <a:endParaRPr lang="en-US" sz="680" dirty="0"/>
          </a:p>
        </p:txBody>
      </p:sp>
      <p:sp>
        <p:nvSpPr>
          <p:cNvPr id="48" name="Text 46"/>
          <p:cNvSpPr/>
          <p:nvPr/>
        </p:nvSpPr>
        <p:spPr>
          <a:xfrm>
            <a:off x="4599432" y="3922776"/>
            <a:ext cx="3255264" cy="329184"/>
          </a:xfrm>
          <a:prstGeom prst="rect">
            <a:avLst/>
          </a:prstGeom>
          <a:noFill/>
          <a:ln/>
        </p:spPr>
        <p:txBody>
          <a:bodyPr wrap="square" lIns="0" tIns="0" rIns="0" bIns="0" rtlCol="0" anchor="ctr">
            <a:normAutofit/>
          </a:bodyPr>
          <a:lstStyle/>
          <a:p>
            <a:pPr indent="0" marL="0">
              <a:buNone/>
            </a:pPr>
            <a:r>
              <a:rPr lang="en-US" sz="1360" b="1" dirty="0">
                <a:solidFill>
                  <a:srgbClr val="14273D"/>
                </a:solidFill>
                <a:latin typeface="Inter Display" pitchFamily="34" charset="0"/>
                <a:ea typeface="Inter Display" pitchFamily="34" charset="-122"/>
                <a:cs typeface="Inter Display" pitchFamily="34" charset="-120"/>
              </a:rPr>
              <a:t>Monitor privacy, risk, drift, permissions</a:t>
            </a:r>
            <a:endParaRPr lang="en-US" sz="1360" dirty="0"/>
          </a:p>
        </p:txBody>
      </p:sp>
      <p:sp>
        <p:nvSpPr>
          <p:cNvPr id="49" name="Text 47"/>
          <p:cNvSpPr/>
          <p:nvPr/>
        </p:nvSpPr>
        <p:spPr>
          <a:xfrm>
            <a:off x="4599432" y="4325112"/>
            <a:ext cx="3255264" cy="448056"/>
          </a:xfrm>
          <a:prstGeom prst="rect">
            <a:avLst/>
          </a:prstGeom>
          <a:noFill/>
          <a:ln/>
        </p:spPr>
        <p:txBody>
          <a:bodyPr wrap="square" lIns="0" tIns="0" rIns="0" bIns="0" rtlCol="0" anchor="t">
            <a:normAutofit/>
          </a:bodyPr>
          <a:lstStyle/>
          <a:p>
            <a:pPr indent="0" marL="0">
              <a:buNone/>
            </a:pPr>
            <a:r>
              <a:rPr lang="en-US" sz="810" dirty="0">
                <a:solidFill>
                  <a:srgbClr val="43566A"/>
                </a:solidFill>
                <a:latin typeface="Inter" pitchFamily="34" charset="0"/>
                <a:ea typeface="Inter" pitchFamily="34" charset="-122"/>
                <a:cs typeface="Inter" pitchFamily="34" charset="-120"/>
              </a:rPr>
              <a:t>Authority is explicit and attributable.</a:t>
            </a:r>
            <a:endParaRPr lang="en-US" sz="810" dirty="0"/>
          </a:p>
        </p:txBody>
      </p:sp>
      <p:sp>
        <p:nvSpPr>
          <p:cNvPr id="50" name="Shape 48"/>
          <p:cNvSpPr/>
          <p:nvPr/>
        </p:nvSpPr>
        <p:spPr>
          <a:xfrm>
            <a:off x="8266176" y="3666744"/>
            <a:ext cx="3566160" cy="1243584"/>
          </a:xfrm>
          <a:prstGeom prst="roundRect">
            <a:avLst>
              <a:gd name="adj" fmla="val 5882"/>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51" name="Text 49"/>
          <p:cNvSpPr/>
          <p:nvPr/>
        </p:nvSpPr>
        <p:spPr>
          <a:xfrm>
            <a:off x="8421624" y="3794760"/>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CHRONICLE / REVIEWER</a:t>
            </a:r>
            <a:endParaRPr lang="en-US" sz="680" dirty="0"/>
          </a:p>
        </p:txBody>
      </p:sp>
      <p:sp>
        <p:nvSpPr>
          <p:cNvPr id="52" name="Text 50"/>
          <p:cNvSpPr/>
          <p:nvPr/>
        </p:nvSpPr>
        <p:spPr>
          <a:xfrm>
            <a:off x="8421624" y="3922776"/>
            <a:ext cx="3255264" cy="329184"/>
          </a:xfrm>
          <a:prstGeom prst="rect">
            <a:avLst/>
          </a:prstGeom>
          <a:noFill/>
          <a:ln/>
        </p:spPr>
        <p:txBody>
          <a:bodyPr wrap="square" lIns="0" tIns="0" rIns="0" bIns="0" rtlCol="0" anchor="ctr">
            <a:normAutofit/>
          </a:bodyPr>
          <a:lstStyle/>
          <a:p>
            <a:pPr indent="0" marL="0">
              <a:buNone/>
            </a:pPr>
            <a:r>
              <a:rPr lang="en-US" sz="1360" b="1" dirty="0">
                <a:solidFill>
                  <a:srgbClr val="14273D"/>
                </a:solidFill>
                <a:latin typeface="Inter Display" pitchFamily="34" charset="0"/>
                <a:ea typeface="Inter Display" pitchFamily="34" charset="-122"/>
                <a:cs typeface="Inter Display" pitchFamily="34" charset="-120"/>
              </a:rPr>
              <a:t>Decides memory, scope, rollback, challenge</a:t>
            </a:r>
            <a:endParaRPr lang="en-US" sz="1360" dirty="0"/>
          </a:p>
        </p:txBody>
      </p:sp>
      <p:sp>
        <p:nvSpPr>
          <p:cNvPr id="53" name="Text 51"/>
          <p:cNvSpPr/>
          <p:nvPr/>
        </p:nvSpPr>
        <p:spPr>
          <a:xfrm>
            <a:off x="8421624" y="4325112"/>
            <a:ext cx="3255264" cy="448056"/>
          </a:xfrm>
          <a:prstGeom prst="rect">
            <a:avLst/>
          </a:prstGeom>
          <a:noFill/>
          <a:ln/>
        </p:spPr>
        <p:txBody>
          <a:bodyPr wrap="square" lIns="0" tIns="0" rIns="0" bIns="0" rtlCol="0" anchor="t">
            <a:normAutofit/>
          </a:bodyPr>
          <a:lstStyle/>
          <a:p>
            <a:pPr indent="0" marL="0">
              <a:buNone/>
            </a:pPr>
            <a:r>
              <a:rPr lang="en-US" sz="810" dirty="0">
                <a:solidFill>
                  <a:srgbClr val="43566A"/>
                </a:solidFill>
                <a:latin typeface="Inter" pitchFamily="34" charset="0"/>
                <a:ea typeface="Inter" pitchFamily="34" charset="-122"/>
                <a:cs typeface="Inter" pitchFamily="34" charset="-120"/>
              </a:rPr>
              <a:t>Authority is explicit and attributable.</a:t>
            </a:r>
            <a:endParaRPr lang="en-US" sz="810" dirty="0"/>
          </a:p>
        </p:txBody>
      </p:sp>
      <p:sp>
        <p:nvSpPr>
          <p:cNvPr id="54" name="Text 52"/>
          <p:cNvSpPr/>
          <p:nvPr/>
        </p:nvSpPr>
        <p:spPr>
          <a:xfrm>
            <a:off x="1143000" y="5440680"/>
            <a:ext cx="9921240" cy="356616"/>
          </a:xfrm>
          <a:prstGeom prst="rect">
            <a:avLst/>
          </a:prstGeom>
          <a:noFill/>
          <a:ln/>
        </p:spPr>
        <p:txBody>
          <a:bodyPr wrap="square" lIns="0" tIns="0" rIns="0" bIns="0" rtlCol="0" anchor="ctr">
            <a:normAutofit/>
          </a:bodyPr>
          <a:lstStyle/>
          <a:p>
            <a:pPr algn="ctr" indent="0" marL="0">
              <a:buNone/>
            </a:pPr>
            <a:r>
              <a:rPr lang="en-US" sz="1300" b="1" dirty="0">
                <a:solidFill>
                  <a:srgbClr val="14273D"/>
                </a:solidFill>
                <a:latin typeface="Inter Display" pitchFamily="34" charset="0"/>
                <a:ea typeface="Inter Display" pitchFamily="34" charset="-122"/>
                <a:cs typeface="Inter Display" pitchFamily="34" charset="-120"/>
              </a:rPr>
              <a:t>Model neutrality: stronger models improve candidate work; proof gates determine what earns institutional authority.</a:t>
            </a:r>
            <a:endParaRPr lang="en-US" sz="13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WHY RSI NEEDS GOVERNANCE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 system that improves itself can compound value—or compound error.</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Recursive self-improvement becomes credible only when every proposed upgrade is replayable, comparative, challengeable, and rollbackable.</a:t>
            </a:r>
            <a:endParaRPr lang="en-US" sz="1450" dirty="0"/>
          </a:p>
        </p:txBody>
      </p:sp>
      <p:sp>
        <p:nvSpPr>
          <p:cNvPr id="30" name="Shape 28"/>
          <p:cNvSpPr/>
          <p:nvPr/>
        </p:nvSpPr>
        <p:spPr>
          <a:xfrm>
            <a:off x="658368" y="2176272"/>
            <a:ext cx="5257800" cy="3017520"/>
          </a:xfrm>
          <a:prstGeom prst="roundRect">
            <a:avLst>
              <a:gd name="adj" fmla="val 2424"/>
            </a:avLst>
          </a:prstGeom>
          <a:solidFill>
            <a:srgbClr val="102238"/>
          </a:solidFill>
          <a:ln w="10160">
            <a:solidFill>
              <a:srgbClr val="FF7584"/>
            </a:solidFill>
            <a:prstDash val="solid"/>
          </a:ln>
        </p:spPr>
      </p:sp>
      <p:sp>
        <p:nvSpPr>
          <p:cNvPr id="31" name="Text 29"/>
          <p:cNvSpPr/>
          <p:nvPr/>
        </p:nvSpPr>
        <p:spPr>
          <a:xfrm>
            <a:off x="813816" y="2304288"/>
            <a:ext cx="49469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UNGOVERNED RSI</a:t>
            </a:r>
            <a:endParaRPr lang="en-US" sz="680" dirty="0"/>
          </a:p>
        </p:txBody>
      </p:sp>
      <p:sp>
        <p:nvSpPr>
          <p:cNvPr id="32" name="Text 30"/>
          <p:cNvSpPr/>
          <p:nvPr/>
        </p:nvSpPr>
        <p:spPr>
          <a:xfrm>
            <a:off x="813816" y="2432304"/>
            <a:ext cx="494690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Narrative compounding</a:t>
            </a:r>
            <a:endParaRPr lang="en-US" sz="1900" dirty="0"/>
          </a:p>
        </p:txBody>
      </p:sp>
      <p:sp>
        <p:nvSpPr>
          <p:cNvPr id="33" name="Text 31"/>
          <p:cNvSpPr/>
          <p:nvPr/>
        </p:nvSpPr>
        <p:spPr>
          <a:xfrm>
            <a:off x="813816" y="2834640"/>
            <a:ext cx="4946904" cy="2221992"/>
          </a:xfrm>
          <a:prstGeom prst="rect">
            <a:avLst/>
          </a:prstGeom>
          <a:noFill/>
          <a:ln/>
        </p:spPr>
        <p:txBody>
          <a:bodyPr wrap="square" lIns="0" tIns="0" rIns="0" bIns="0" rtlCol="0" anchor="t">
            <a:normAutofit/>
          </a:bodyPr>
          <a:lstStyle/>
          <a:p>
            <a:pPr indent="0" marL="0">
              <a:buNone/>
            </a:pPr>
            <a:r>
              <a:rPr lang="en-US" sz="1100" dirty="0">
                <a:solidFill>
                  <a:srgbClr val="B9C5D2"/>
                </a:solidFill>
                <a:latin typeface="Inter" pitchFamily="34" charset="0"/>
                <a:ea typeface="Inter" pitchFamily="34" charset="-122"/>
                <a:cs typeface="Inter" pitchFamily="34" charset="-120"/>
              </a:rPr>
              <a:t>• Novelty mistaken for progress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Self-scored improvements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Silent prompt and policy drift</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No baseline discipline</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Memory contamination</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Irreversible propagation</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Confidence inflation from simulated evidence</a:t>
            </a:r>
            <a:endParaRPr lang="en-US" sz="1100" dirty="0"/>
          </a:p>
        </p:txBody>
      </p:sp>
      <p:sp>
        <p:nvSpPr>
          <p:cNvPr id="34" name="Shape 32"/>
          <p:cNvSpPr/>
          <p:nvPr/>
        </p:nvSpPr>
        <p:spPr>
          <a:xfrm>
            <a:off x="6263640" y="2176272"/>
            <a:ext cx="5257800" cy="3017520"/>
          </a:xfrm>
          <a:prstGeom prst="roundRect">
            <a:avLst>
              <a:gd name="adj" fmla="val 2424"/>
            </a:avLst>
          </a:prstGeom>
          <a:solidFill>
            <a:srgbClr val="102238"/>
          </a:solidFill>
          <a:ln w="10160">
            <a:solidFill>
              <a:srgbClr val="43D79B"/>
            </a:solidFill>
            <a:prstDash val="solid"/>
          </a:ln>
        </p:spPr>
      </p:sp>
      <p:sp>
        <p:nvSpPr>
          <p:cNvPr id="35" name="Text 33"/>
          <p:cNvSpPr/>
          <p:nvPr/>
        </p:nvSpPr>
        <p:spPr>
          <a:xfrm>
            <a:off x="6419088" y="2304288"/>
            <a:ext cx="494690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GOALOS / AGI ALPHA RSI</a:t>
            </a:r>
            <a:endParaRPr lang="en-US" sz="680" dirty="0"/>
          </a:p>
        </p:txBody>
      </p:sp>
      <p:sp>
        <p:nvSpPr>
          <p:cNvPr id="36" name="Text 34"/>
          <p:cNvSpPr/>
          <p:nvPr/>
        </p:nvSpPr>
        <p:spPr>
          <a:xfrm>
            <a:off x="6419088" y="2432304"/>
            <a:ext cx="494690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Audited state transitions</a:t>
            </a:r>
            <a:endParaRPr lang="en-US" sz="1900" dirty="0"/>
          </a:p>
        </p:txBody>
      </p:sp>
      <p:sp>
        <p:nvSpPr>
          <p:cNvPr id="37" name="Text 35"/>
          <p:cNvSpPr/>
          <p:nvPr/>
        </p:nvSpPr>
        <p:spPr>
          <a:xfrm>
            <a:off x="6419088" y="2834640"/>
            <a:ext cx="4946904" cy="2221992"/>
          </a:xfrm>
          <a:prstGeom prst="rect">
            <a:avLst/>
          </a:prstGeom>
          <a:noFill/>
          <a:ln/>
        </p:spPr>
        <p:txBody>
          <a:bodyPr wrap="square" lIns="0" tIns="0" rIns="0" bIns="0" rtlCol="0" anchor="t">
            <a:normAutofit/>
          </a:bodyPr>
          <a:lstStyle/>
          <a:p>
            <a:pPr indent="0" marL="0">
              <a:buNone/>
            </a:pPr>
            <a:r>
              <a:rPr lang="en-US" sz="1100" dirty="0">
                <a:solidFill>
                  <a:srgbClr val="B9C5D2"/>
                </a:solidFill>
                <a:latin typeface="Inter" pitchFamily="34" charset="0"/>
                <a:ea typeface="Inter" pitchFamily="34" charset="-122"/>
                <a:cs typeface="Inter" pitchFamily="34" charset="-120"/>
              </a:rPr>
              <a:t>• Deterministic manifests and replay</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Schema-bound artifacts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Baseline-comparative evaluation</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Evidence Contact Index</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Move-37 reproduction and stress testing</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Append-only state and drift sentinel</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Promotion, canary, monitoring, rollback</a:t>
            </a:r>
            <a:endParaRPr lang="en-US" sz="1100" dirty="0"/>
          </a:p>
        </p:txBody>
      </p:sp>
      <p:sp>
        <p:nvSpPr>
          <p:cNvPr id="38" name="Text 36"/>
          <p:cNvSpPr/>
          <p:nvPr/>
        </p:nvSpPr>
        <p:spPr>
          <a:xfrm>
            <a:off x="2103120" y="5577840"/>
            <a:ext cx="8001000" cy="384048"/>
          </a:xfrm>
          <a:prstGeom prst="rect">
            <a:avLst/>
          </a:prstGeom>
          <a:noFill/>
          <a:ln/>
        </p:spPr>
        <p:txBody>
          <a:bodyPr wrap="square" lIns="0" tIns="0" rIns="0" bIns="0" rtlCol="0" anchor="ctr"/>
          <a:lstStyle/>
          <a:p>
            <a:pPr algn="ctr" indent="0" marL="0">
              <a:buNone/>
            </a:pPr>
            <a:r>
              <a:rPr lang="en-US" sz="1750" i="1" dirty="0">
                <a:solidFill>
                  <a:srgbClr val="E7BD62"/>
                </a:solidFill>
                <a:latin typeface="Georgia" pitchFamily="34" charset="0"/>
                <a:ea typeface="Georgia" pitchFamily="34" charset="-122"/>
                <a:cs typeface="Georgia" pitchFamily="34" charset="-120"/>
              </a:rPr>
              <a:t>Exploration is allowed. Outcome authority is mechanical.</a:t>
            </a:r>
            <a:endParaRPr lang="en-US" sz="17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RSI CONTROL PLANE</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450" b="1" dirty="0">
                <a:solidFill>
                  <a:srgbClr val="14273D"/>
                </a:solidFill>
                <a:latin typeface="Inter Display" pitchFamily="34" charset="0"/>
                <a:ea typeface="Inter Display" pitchFamily="34" charset="-122"/>
                <a:cs typeface="Inter Display" pitchFamily="34" charset="-120"/>
              </a:rPr>
              <a:t>The deterministic invention loop: TARGET → EMIT → FILTER → ATLAS → TEST → EVAL → INSERT → PROMOTE.</a:t>
            </a:r>
            <a:endParaRPr lang="en-US" sz="245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Search is open-ended. Promotion remains proof-gated.</a:t>
            </a:r>
            <a:endParaRPr lang="en-US" sz="1450" dirty="0"/>
          </a:p>
        </p:txBody>
      </p:sp>
      <p:sp>
        <p:nvSpPr>
          <p:cNvPr id="30" name="Shape 28"/>
          <p:cNvSpPr/>
          <p:nvPr/>
        </p:nvSpPr>
        <p:spPr>
          <a:xfrm>
            <a:off x="502920" y="2331720"/>
            <a:ext cx="1298448" cy="1143000"/>
          </a:xfrm>
          <a:prstGeom prst="roundRect">
            <a:avLst>
              <a:gd name="adj" fmla="val 6400"/>
            </a:avLst>
          </a:prstGeom>
          <a:solidFill>
            <a:srgbClr val="FFFDF8"/>
          </a:solidFill>
          <a:ln w="10160">
            <a:solidFill>
              <a:srgbClr val="6FB5FF"/>
            </a:solidFill>
            <a:prstDash val="solid"/>
          </a:ln>
        </p:spPr>
      </p:sp>
      <p:sp>
        <p:nvSpPr>
          <p:cNvPr id="31" name="Text 29"/>
          <p:cNvSpPr/>
          <p:nvPr/>
        </p:nvSpPr>
        <p:spPr>
          <a:xfrm>
            <a:off x="658368" y="2459736"/>
            <a:ext cx="987552"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01</a:t>
            </a:r>
            <a:endParaRPr lang="en-US" sz="680" dirty="0"/>
          </a:p>
        </p:txBody>
      </p:sp>
      <p:sp>
        <p:nvSpPr>
          <p:cNvPr id="32" name="Text 30"/>
          <p:cNvSpPr/>
          <p:nvPr/>
        </p:nvSpPr>
        <p:spPr>
          <a:xfrm>
            <a:off x="658368" y="2587752"/>
            <a:ext cx="987552"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TARGET</a:t>
            </a:r>
            <a:endParaRPr lang="en-US" sz="1080" dirty="0"/>
          </a:p>
        </p:txBody>
      </p:sp>
      <p:sp>
        <p:nvSpPr>
          <p:cNvPr id="33" name="Text 31"/>
          <p:cNvSpPr/>
          <p:nvPr/>
        </p:nvSpPr>
        <p:spPr>
          <a:xfrm>
            <a:off x="658368" y="2990088"/>
            <a:ext cx="987552" cy="347472"/>
          </a:xfrm>
          <a:prstGeom prst="rect">
            <a:avLst/>
          </a:prstGeom>
          <a:noFill/>
          <a:ln/>
        </p:spPr>
        <p:txBody>
          <a:bodyPr wrap="square" lIns="0" tIns="0" rIns="0" bIns="0" rtlCol="0" anchor="t">
            <a:normAutofit/>
          </a:bodyPr>
          <a:lstStyle/>
          <a:p>
            <a:pPr indent="0" marL="0">
              <a:buNone/>
            </a:pPr>
            <a:r>
              <a:rPr lang="en-US" sz="680" dirty="0">
                <a:solidFill>
                  <a:srgbClr val="43566A"/>
                </a:solidFill>
                <a:latin typeface="Inter" pitchFamily="34" charset="0"/>
                <a:ea typeface="Inter" pitchFamily="34" charset="-122"/>
                <a:cs typeface="Inter" pitchFamily="34" charset="-120"/>
              </a:rPr>
              <a:t>Allocate exploration</a:t>
            </a:r>
            <a:endParaRPr lang="en-US" sz="680" dirty="0"/>
          </a:p>
        </p:txBody>
      </p:sp>
      <p:sp>
        <p:nvSpPr>
          <p:cNvPr id="34" name="Shape 32"/>
          <p:cNvSpPr/>
          <p:nvPr/>
        </p:nvSpPr>
        <p:spPr>
          <a:xfrm>
            <a:off x="1801368" y="2898648"/>
            <a:ext cx="146304" cy="0"/>
          </a:xfrm>
          <a:prstGeom prst="line">
            <a:avLst/>
          </a:prstGeom>
          <a:noFill/>
          <a:ln w="12700">
            <a:solidFill>
              <a:srgbClr val="E7BD62"/>
            </a:solidFill>
            <a:prstDash val="solid"/>
            <a:tailEnd type="triangle"/>
          </a:ln>
        </p:spPr>
      </p:sp>
      <p:sp>
        <p:nvSpPr>
          <p:cNvPr id="35" name="Shape 33"/>
          <p:cNvSpPr/>
          <p:nvPr/>
        </p:nvSpPr>
        <p:spPr>
          <a:xfrm>
            <a:off x="1947672" y="2331720"/>
            <a:ext cx="1298448" cy="1143000"/>
          </a:xfrm>
          <a:prstGeom prst="roundRect">
            <a:avLst>
              <a:gd name="adj" fmla="val 6400"/>
            </a:avLst>
          </a:prstGeom>
          <a:solidFill>
            <a:srgbClr val="FFFDF8"/>
          </a:solidFill>
          <a:ln w="10160">
            <a:solidFill>
              <a:srgbClr val="6FB5FF"/>
            </a:solidFill>
            <a:prstDash val="solid"/>
          </a:ln>
        </p:spPr>
      </p:sp>
      <p:sp>
        <p:nvSpPr>
          <p:cNvPr id="36" name="Text 34"/>
          <p:cNvSpPr/>
          <p:nvPr/>
        </p:nvSpPr>
        <p:spPr>
          <a:xfrm>
            <a:off x="2103120" y="2459736"/>
            <a:ext cx="987552"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02</a:t>
            </a:r>
            <a:endParaRPr lang="en-US" sz="680" dirty="0"/>
          </a:p>
        </p:txBody>
      </p:sp>
      <p:sp>
        <p:nvSpPr>
          <p:cNvPr id="37" name="Text 35"/>
          <p:cNvSpPr/>
          <p:nvPr/>
        </p:nvSpPr>
        <p:spPr>
          <a:xfrm>
            <a:off x="2103120" y="2587752"/>
            <a:ext cx="987552"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EMIT</a:t>
            </a:r>
            <a:endParaRPr lang="en-US" sz="1080" dirty="0"/>
          </a:p>
        </p:txBody>
      </p:sp>
      <p:sp>
        <p:nvSpPr>
          <p:cNvPr id="38" name="Text 36"/>
          <p:cNvSpPr/>
          <p:nvPr/>
        </p:nvSpPr>
        <p:spPr>
          <a:xfrm>
            <a:off x="2103120" y="2990088"/>
            <a:ext cx="987552" cy="347472"/>
          </a:xfrm>
          <a:prstGeom prst="rect">
            <a:avLst/>
          </a:prstGeom>
          <a:noFill/>
          <a:ln/>
        </p:spPr>
        <p:txBody>
          <a:bodyPr wrap="square" lIns="0" tIns="0" rIns="0" bIns="0" rtlCol="0" anchor="t">
            <a:normAutofit/>
          </a:bodyPr>
          <a:lstStyle/>
          <a:p>
            <a:pPr indent="0" marL="0">
              <a:buNone/>
            </a:pPr>
            <a:r>
              <a:rPr lang="en-US" sz="680" dirty="0">
                <a:solidFill>
                  <a:srgbClr val="43566A"/>
                </a:solidFill>
                <a:latin typeface="Inter" pitchFamily="34" charset="0"/>
                <a:ea typeface="Inter" pitchFamily="34" charset="-122"/>
                <a:cs typeface="Inter" pitchFamily="34" charset="-120"/>
              </a:rPr>
              <a:t>Generate candidates</a:t>
            </a:r>
            <a:endParaRPr lang="en-US" sz="680" dirty="0"/>
          </a:p>
        </p:txBody>
      </p:sp>
      <p:sp>
        <p:nvSpPr>
          <p:cNvPr id="39" name="Shape 37"/>
          <p:cNvSpPr/>
          <p:nvPr/>
        </p:nvSpPr>
        <p:spPr>
          <a:xfrm>
            <a:off x="3246120" y="2898648"/>
            <a:ext cx="146304" cy="0"/>
          </a:xfrm>
          <a:prstGeom prst="line">
            <a:avLst/>
          </a:prstGeom>
          <a:noFill/>
          <a:ln w="12700">
            <a:solidFill>
              <a:srgbClr val="E7BD62"/>
            </a:solidFill>
            <a:prstDash val="solid"/>
            <a:tailEnd type="triangle"/>
          </a:ln>
        </p:spPr>
      </p:sp>
      <p:sp>
        <p:nvSpPr>
          <p:cNvPr id="40" name="Shape 38"/>
          <p:cNvSpPr/>
          <p:nvPr/>
        </p:nvSpPr>
        <p:spPr>
          <a:xfrm>
            <a:off x="3392424" y="2331720"/>
            <a:ext cx="1298448" cy="1143000"/>
          </a:xfrm>
          <a:prstGeom prst="roundRect">
            <a:avLst>
              <a:gd name="adj" fmla="val 6400"/>
            </a:avLst>
          </a:prstGeom>
          <a:solidFill>
            <a:srgbClr val="FFFDF8"/>
          </a:solidFill>
          <a:ln w="10160">
            <a:solidFill>
              <a:srgbClr val="A99CFF"/>
            </a:solidFill>
            <a:prstDash val="solid"/>
          </a:ln>
        </p:spPr>
      </p:sp>
      <p:sp>
        <p:nvSpPr>
          <p:cNvPr id="41" name="Text 39"/>
          <p:cNvSpPr/>
          <p:nvPr/>
        </p:nvSpPr>
        <p:spPr>
          <a:xfrm>
            <a:off x="3547872" y="2459736"/>
            <a:ext cx="987552"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03</a:t>
            </a:r>
            <a:endParaRPr lang="en-US" sz="680" dirty="0"/>
          </a:p>
        </p:txBody>
      </p:sp>
      <p:sp>
        <p:nvSpPr>
          <p:cNvPr id="42" name="Text 40"/>
          <p:cNvSpPr/>
          <p:nvPr/>
        </p:nvSpPr>
        <p:spPr>
          <a:xfrm>
            <a:off x="3547872" y="2587752"/>
            <a:ext cx="987552"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FILTER</a:t>
            </a:r>
            <a:endParaRPr lang="en-US" sz="1080" dirty="0"/>
          </a:p>
        </p:txBody>
      </p:sp>
      <p:sp>
        <p:nvSpPr>
          <p:cNvPr id="43" name="Text 41"/>
          <p:cNvSpPr/>
          <p:nvPr/>
        </p:nvSpPr>
        <p:spPr>
          <a:xfrm>
            <a:off x="3547872" y="2990088"/>
            <a:ext cx="987552" cy="347472"/>
          </a:xfrm>
          <a:prstGeom prst="rect">
            <a:avLst/>
          </a:prstGeom>
          <a:noFill/>
          <a:ln/>
        </p:spPr>
        <p:txBody>
          <a:bodyPr wrap="square" lIns="0" tIns="0" rIns="0" bIns="0" rtlCol="0" anchor="t">
            <a:normAutofit/>
          </a:bodyPr>
          <a:lstStyle/>
          <a:p>
            <a:pPr indent="0" marL="0">
              <a:buNone/>
            </a:pPr>
            <a:r>
              <a:rPr lang="en-US" sz="680" dirty="0">
                <a:solidFill>
                  <a:srgbClr val="43566A"/>
                </a:solidFill>
                <a:latin typeface="Inter" pitchFamily="34" charset="0"/>
                <a:ea typeface="Inter" pitchFamily="34" charset="-122"/>
                <a:cs typeface="Inter" pitchFamily="34" charset="-120"/>
              </a:rPr>
              <a:t>Risk + interestingness</a:t>
            </a:r>
            <a:endParaRPr lang="en-US" sz="680" dirty="0"/>
          </a:p>
        </p:txBody>
      </p:sp>
      <p:sp>
        <p:nvSpPr>
          <p:cNvPr id="44" name="Shape 42"/>
          <p:cNvSpPr/>
          <p:nvPr/>
        </p:nvSpPr>
        <p:spPr>
          <a:xfrm>
            <a:off x="4690872" y="2898648"/>
            <a:ext cx="146304" cy="0"/>
          </a:xfrm>
          <a:prstGeom prst="line">
            <a:avLst/>
          </a:prstGeom>
          <a:noFill/>
          <a:ln w="12700">
            <a:solidFill>
              <a:srgbClr val="E7BD62"/>
            </a:solidFill>
            <a:prstDash val="solid"/>
            <a:tailEnd type="triangle"/>
          </a:ln>
        </p:spPr>
      </p:sp>
      <p:sp>
        <p:nvSpPr>
          <p:cNvPr id="45" name="Shape 43"/>
          <p:cNvSpPr/>
          <p:nvPr/>
        </p:nvSpPr>
        <p:spPr>
          <a:xfrm>
            <a:off x="4837176" y="2331720"/>
            <a:ext cx="1298448" cy="1143000"/>
          </a:xfrm>
          <a:prstGeom prst="roundRect">
            <a:avLst>
              <a:gd name="adj" fmla="val 6400"/>
            </a:avLst>
          </a:prstGeom>
          <a:solidFill>
            <a:srgbClr val="FFFDF8"/>
          </a:solidFill>
          <a:ln w="10160">
            <a:solidFill>
              <a:srgbClr val="A99CFF"/>
            </a:solidFill>
            <a:prstDash val="solid"/>
          </a:ln>
        </p:spPr>
      </p:sp>
      <p:sp>
        <p:nvSpPr>
          <p:cNvPr id="46" name="Text 44"/>
          <p:cNvSpPr/>
          <p:nvPr/>
        </p:nvSpPr>
        <p:spPr>
          <a:xfrm>
            <a:off x="4992624" y="2459736"/>
            <a:ext cx="987552"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04</a:t>
            </a:r>
            <a:endParaRPr lang="en-US" sz="680" dirty="0"/>
          </a:p>
        </p:txBody>
      </p:sp>
      <p:sp>
        <p:nvSpPr>
          <p:cNvPr id="47" name="Text 45"/>
          <p:cNvSpPr/>
          <p:nvPr/>
        </p:nvSpPr>
        <p:spPr>
          <a:xfrm>
            <a:off x="4992624" y="2587752"/>
            <a:ext cx="987552"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ATLAS</a:t>
            </a:r>
            <a:endParaRPr lang="en-US" sz="1080" dirty="0"/>
          </a:p>
        </p:txBody>
      </p:sp>
      <p:sp>
        <p:nvSpPr>
          <p:cNvPr id="48" name="Text 46"/>
          <p:cNvSpPr/>
          <p:nvPr/>
        </p:nvSpPr>
        <p:spPr>
          <a:xfrm>
            <a:off x="4992624" y="2990088"/>
            <a:ext cx="987552" cy="347472"/>
          </a:xfrm>
          <a:prstGeom prst="rect">
            <a:avLst/>
          </a:prstGeom>
          <a:noFill/>
          <a:ln/>
        </p:spPr>
        <p:txBody>
          <a:bodyPr wrap="square" lIns="0" tIns="0" rIns="0" bIns="0" rtlCol="0" anchor="t">
            <a:normAutofit/>
          </a:bodyPr>
          <a:lstStyle/>
          <a:p>
            <a:pPr indent="0" marL="0">
              <a:buNone/>
            </a:pPr>
            <a:r>
              <a:rPr lang="en-US" sz="680" dirty="0">
                <a:solidFill>
                  <a:srgbClr val="43566A"/>
                </a:solidFill>
                <a:latin typeface="Inter" pitchFamily="34" charset="0"/>
                <a:ea typeface="Inter" pitchFamily="34" charset="-122"/>
                <a:cs typeface="Inter" pitchFamily="34" charset="-120"/>
              </a:rPr>
              <a:t>Mechanism and causal links</a:t>
            </a:r>
            <a:endParaRPr lang="en-US" sz="680" dirty="0"/>
          </a:p>
        </p:txBody>
      </p:sp>
      <p:sp>
        <p:nvSpPr>
          <p:cNvPr id="49" name="Shape 47"/>
          <p:cNvSpPr/>
          <p:nvPr/>
        </p:nvSpPr>
        <p:spPr>
          <a:xfrm>
            <a:off x="6135624" y="2898648"/>
            <a:ext cx="146304" cy="0"/>
          </a:xfrm>
          <a:prstGeom prst="line">
            <a:avLst/>
          </a:prstGeom>
          <a:noFill/>
          <a:ln w="12700">
            <a:solidFill>
              <a:srgbClr val="E7BD62"/>
            </a:solidFill>
            <a:prstDash val="solid"/>
            <a:tailEnd type="triangle"/>
          </a:ln>
        </p:spPr>
      </p:sp>
      <p:sp>
        <p:nvSpPr>
          <p:cNvPr id="50" name="Shape 48"/>
          <p:cNvSpPr/>
          <p:nvPr/>
        </p:nvSpPr>
        <p:spPr>
          <a:xfrm>
            <a:off x="6281928" y="2331720"/>
            <a:ext cx="1298448" cy="1143000"/>
          </a:xfrm>
          <a:prstGeom prst="roundRect">
            <a:avLst>
              <a:gd name="adj" fmla="val 6400"/>
            </a:avLst>
          </a:prstGeom>
          <a:solidFill>
            <a:srgbClr val="FFFDF8"/>
          </a:solidFill>
          <a:ln w="10160">
            <a:solidFill>
              <a:srgbClr val="E7BD62"/>
            </a:solidFill>
            <a:prstDash val="solid"/>
          </a:ln>
        </p:spPr>
      </p:sp>
      <p:sp>
        <p:nvSpPr>
          <p:cNvPr id="51" name="Text 49"/>
          <p:cNvSpPr/>
          <p:nvPr/>
        </p:nvSpPr>
        <p:spPr>
          <a:xfrm>
            <a:off x="6437376" y="2459736"/>
            <a:ext cx="987552"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05</a:t>
            </a:r>
            <a:endParaRPr lang="en-US" sz="680" dirty="0"/>
          </a:p>
        </p:txBody>
      </p:sp>
      <p:sp>
        <p:nvSpPr>
          <p:cNvPr id="52" name="Text 50"/>
          <p:cNvSpPr/>
          <p:nvPr/>
        </p:nvSpPr>
        <p:spPr>
          <a:xfrm>
            <a:off x="6437376" y="2587752"/>
            <a:ext cx="987552"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TEST-PLAN</a:t>
            </a:r>
            <a:endParaRPr lang="en-US" sz="1080" dirty="0"/>
          </a:p>
        </p:txBody>
      </p:sp>
      <p:sp>
        <p:nvSpPr>
          <p:cNvPr id="53" name="Text 51"/>
          <p:cNvSpPr/>
          <p:nvPr/>
        </p:nvSpPr>
        <p:spPr>
          <a:xfrm>
            <a:off x="6437376" y="2990088"/>
            <a:ext cx="987552" cy="347472"/>
          </a:xfrm>
          <a:prstGeom prst="rect">
            <a:avLst/>
          </a:prstGeom>
          <a:noFill/>
          <a:ln/>
        </p:spPr>
        <p:txBody>
          <a:bodyPr wrap="square" lIns="0" tIns="0" rIns="0" bIns="0" rtlCol="0" anchor="t">
            <a:normAutofit/>
          </a:bodyPr>
          <a:lstStyle/>
          <a:p>
            <a:pPr indent="0" marL="0">
              <a:buNone/>
            </a:pPr>
            <a:r>
              <a:rPr lang="en-US" sz="680" dirty="0">
                <a:solidFill>
                  <a:srgbClr val="43566A"/>
                </a:solidFill>
                <a:latin typeface="Inter" pitchFamily="34" charset="0"/>
                <a:ea typeface="Inter" pitchFamily="34" charset="-122"/>
                <a:cs typeface="Inter" pitchFamily="34" charset="-120"/>
              </a:rPr>
              <a:t>Falsification ladders</a:t>
            </a:r>
            <a:endParaRPr lang="en-US" sz="680" dirty="0"/>
          </a:p>
        </p:txBody>
      </p:sp>
      <p:sp>
        <p:nvSpPr>
          <p:cNvPr id="54" name="Shape 52"/>
          <p:cNvSpPr/>
          <p:nvPr/>
        </p:nvSpPr>
        <p:spPr>
          <a:xfrm>
            <a:off x="7580376" y="2898648"/>
            <a:ext cx="146304" cy="0"/>
          </a:xfrm>
          <a:prstGeom prst="line">
            <a:avLst/>
          </a:prstGeom>
          <a:noFill/>
          <a:ln w="12700">
            <a:solidFill>
              <a:srgbClr val="E7BD62"/>
            </a:solidFill>
            <a:prstDash val="solid"/>
            <a:tailEnd type="triangle"/>
          </a:ln>
        </p:spPr>
      </p:sp>
      <p:sp>
        <p:nvSpPr>
          <p:cNvPr id="55" name="Shape 53"/>
          <p:cNvSpPr/>
          <p:nvPr/>
        </p:nvSpPr>
        <p:spPr>
          <a:xfrm>
            <a:off x="7726680" y="2331720"/>
            <a:ext cx="1298448" cy="1143000"/>
          </a:xfrm>
          <a:prstGeom prst="roundRect">
            <a:avLst>
              <a:gd name="adj" fmla="val 6400"/>
            </a:avLst>
          </a:prstGeom>
          <a:solidFill>
            <a:srgbClr val="FFFDF8"/>
          </a:solidFill>
          <a:ln w="10160">
            <a:solidFill>
              <a:srgbClr val="E7BD62"/>
            </a:solidFill>
            <a:prstDash val="solid"/>
          </a:ln>
        </p:spPr>
      </p:sp>
      <p:sp>
        <p:nvSpPr>
          <p:cNvPr id="56" name="Text 54"/>
          <p:cNvSpPr/>
          <p:nvPr/>
        </p:nvSpPr>
        <p:spPr>
          <a:xfrm>
            <a:off x="7882128" y="2459736"/>
            <a:ext cx="987552"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06</a:t>
            </a:r>
            <a:endParaRPr lang="en-US" sz="680" dirty="0"/>
          </a:p>
        </p:txBody>
      </p:sp>
      <p:sp>
        <p:nvSpPr>
          <p:cNvPr id="57" name="Text 55"/>
          <p:cNvSpPr/>
          <p:nvPr/>
        </p:nvSpPr>
        <p:spPr>
          <a:xfrm>
            <a:off x="7882128" y="2587752"/>
            <a:ext cx="987552"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EVAL</a:t>
            </a:r>
            <a:endParaRPr lang="en-US" sz="1080" dirty="0"/>
          </a:p>
        </p:txBody>
      </p:sp>
      <p:sp>
        <p:nvSpPr>
          <p:cNvPr id="58" name="Text 56"/>
          <p:cNvSpPr/>
          <p:nvPr/>
        </p:nvSpPr>
        <p:spPr>
          <a:xfrm>
            <a:off x="7882128" y="2990088"/>
            <a:ext cx="987552" cy="347472"/>
          </a:xfrm>
          <a:prstGeom prst="rect">
            <a:avLst/>
          </a:prstGeom>
          <a:noFill/>
          <a:ln/>
        </p:spPr>
        <p:txBody>
          <a:bodyPr wrap="square" lIns="0" tIns="0" rIns="0" bIns="0" rtlCol="0" anchor="t">
            <a:normAutofit/>
          </a:bodyPr>
          <a:lstStyle/>
          <a:p>
            <a:pPr indent="0" marL="0">
              <a:buNone/>
            </a:pPr>
            <a:r>
              <a:rPr lang="en-US" sz="680" dirty="0">
                <a:solidFill>
                  <a:srgbClr val="43566A"/>
                </a:solidFill>
                <a:latin typeface="Inter" pitchFamily="34" charset="0"/>
                <a:ea typeface="Inter" pitchFamily="34" charset="-122"/>
                <a:cs typeface="Inter" pitchFamily="34" charset="-120"/>
              </a:rPr>
              <a:t>Executed comparative evidence</a:t>
            </a:r>
            <a:endParaRPr lang="en-US" sz="680" dirty="0"/>
          </a:p>
        </p:txBody>
      </p:sp>
      <p:sp>
        <p:nvSpPr>
          <p:cNvPr id="59" name="Shape 57"/>
          <p:cNvSpPr/>
          <p:nvPr/>
        </p:nvSpPr>
        <p:spPr>
          <a:xfrm>
            <a:off x="9025128" y="2898648"/>
            <a:ext cx="146304" cy="0"/>
          </a:xfrm>
          <a:prstGeom prst="line">
            <a:avLst/>
          </a:prstGeom>
          <a:noFill/>
          <a:ln w="12700">
            <a:solidFill>
              <a:srgbClr val="E7BD62"/>
            </a:solidFill>
            <a:prstDash val="solid"/>
            <a:tailEnd type="triangle"/>
          </a:ln>
        </p:spPr>
      </p:sp>
      <p:sp>
        <p:nvSpPr>
          <p:cNvPr id="60" name="Shape 58"/>
          <p:cNvSpPr/>
          <p:nvPr/>
        </p:nvSpPr>
        <p:spPr>
          <a:xfrm>
            <a:off x="9171432" y="2331720"/>
            <a:ext cx="1298448" cy="1143000"/>
          </a:xfrm>
          <a:prstGeom prst="roundRect">
            <a:avLst>
              <a:gd name="adj" fmla="val 6400"/>
            </a:avLst>
          </a:prstGeom>
          <a:solidFill>
            <a:srgbClr val="FFFDF8"/>
          </a:solidFill>
          <a:ln w="10160">
            <a:solidFill>
              <a:srgbClr val="43D79B"/>
            </a:solidFill>
            <a:prstDash val="solid"/>
          </a:ln>
        </p:spPr>
      </p:sp>
      <p:sp>
        <p:nvSpPr>
          <p:cNvPr id="61" name="Text 59"/>
          <p:cNvSpPr/>
          <p:nvPr/>
        </p:nvSpPr>
        <p:spPr>
          <a:xfrm>
            <a:off x="9326880" y="2459736"/>
            <a:ext cx="987552"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07</a:t>
            </a:r>
            <a:endParaRPr lang="en-US" sz="680" dirty="0"/>
          </a:p>
        </p:txBody>
      </p:sp>
      <p:sp>
        <p:nvSpPr>
          <p:cNvPr id="62" name="Text 60"/>
          <p:cNvSpPr/>
          <p:nvPr/>
        </p:nvSpPr>
        <p:spPr>
          <a:xfrm>
            <a:off x="9326880" y="2587752"/>
            <a:ext cx="987552"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INSERT</a:t>
            </a:r>
            <a:endParaRPr lang="en-US" sz="1080" dirty="0"/>
          </a:p>
        </p:txBody>
      </p:sp>
      <p:sp>
        <p:nvSpPr>
          <p:cNvPr id="63" name="Text 61"/>
          <p:cNvSpPr/>
          <p:nvPr/>
        </p:nvSpPr>
        <p:spPr>
          <a:xfrm>
            <a:off x="9326880" y="2990088"/>
            <a:ext cx="987552" cy="347472"/>
          </a:xfrm>
          <a:prstGeom prst="rect">
            <a:avLst/>
          </a:prstGeom>
          <a:noFill/>
          <a:ln/>
        </p:spPr>
        <p:txBody>
          <a:bodyPr wrap="square" lIns="0" tIns="0" rIns="0" bIns="0" rtlCol="0" anchor="t">
            <a:normAutofit/>
          </a:bodyPr>
          <a:lstStyle/>
          <a:p>
            <a:pPr indent="0" marL="0">
              <a:buNone/>
            </a:pPr>
            <a:r>
              <a:rPr lang="en-US" sz="680" dirty="0">
                <a:solidFill>
                  <a:srgbClr val="43566A"/>
                </a:solidFill>
                <a:latin typeface="Inter" pitchFamily="34" charset="0"/>
                <a:ea typeface="Inter" pitchFamily="34" charset="-122"/>
                <a:cs typeface="Inter" pitchFamily="34" charset="-120"/>
              </a:rPr>
              <a:t>Append-only archive</a:t>
            </a:r>
            <a:endParaRPr lang="en-US" sz="680" dirty="0"/>
          </a:p>
        </p:txBody>
      </p:sp>
      <p:sp>
        <p:nvSpPr>
          <p:cNvPr id="64" name="Shape 62"/>
          <p:cNvSpPr/>
          <p:nvPr/>
        </p:nvSpPr>
        <p:spPr>
          <a:xfrm>
            <a:off x="10469880" y="2898648"/>
            <a:ext cx="146304" cy="0"/>
          </a:xfrm>
          <a:prstGeom prst="line">
            <a:avLst/>
          </a:prstGeom>
          <a:noFill/>
          <a:ln w="12700">
            <a:solidFill>
              <a:srgbClr val="E7BD62"/>
            </a:solidFill>
            <a:prstDash val="solid"/>
            <a:tailEnd type="triangle"/>
          </a:ln>
        </p:spPr>
      </p:sp>
      <p:sp>
        <p:nvSpPr>
          <p:cNvPr id="65" name="Shape 63"/>
          <p:cNvSpPr/>
          <p:nvPr/>
        </p:nvSpPr>
        <p:spPr>
          <a:xfrm>
            <a:off x="10616184" y="2331720"/>
            <a:ext cx="1298448" cy="1143000"/>
          </a:xfrm>
          <a:prstGeom prst="roundRect">
            <a:avLst>
              <a:gd name="adj" fmla="val 6400"/>
            </a:avLst>
          </a:prstGeom>
          <a:solidFill>
            <a:srgbClr val="FFFDF8"/>
          </a:solidFill>
          <a:ln w="10160">
            <a:solidFill>
              <a:srgbClr val="43D79B"/>
            </a:solidFill>
            <a:prstDash val="solid"/>
          </a:ln>
        </p:spPr>
      </p:sp>
      <p:sp>
        <p:nvSpPr>
          <p:cNvPr id="66" name="Text 64"/>
          <p:cNvSpPr/>
          <p:nvPr/>
        </p:nvSpPr>
        <p:spPr>
          <a:xfrm>
            <a:off x="10771632" y="2459736"/>
            <a:ext cx="987552"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08</a:t>
            </a:r>
            <a:endParaRPr lang="en-US" sz="680" dirty="0"/>
          </a:p>
        </p:txBody>
      </p:sp>
      <p:sp>
        <p:nvSpPr>
          <p:cNvPr id="67" name="Text 65"/>
          <p:cNvSpPr/>
          <p:nvPr/>
        </p:nvSpPr>
        <p:spPr>
          <a:xfrm>
            <a:off x="10771632" y="2587752"/>
            <a:ext cx="987552"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PROMOTE</a:t>
            </a:r>
            <a:endParaRPr lang="en-US" sz="1080" dirty="0"/>
          </a:p>
        </p:txBody>
      </p:sp>
      <p:sp>
        <p:nvSpPr>
          <p:cNvPr id="68" name="Text 66"/>
          <p:cNvSpPr/>
          <p:nvPr/>
        </p:nvSpPr>
        <p:spPr>
          <a:xfrm>
            <a:off x="10771632" y="2990088"/>
            <a:ext cx="987552" cy="347472"/>
          </a:xfrm>
          <a:prstGeom prst="rect">
            <a:avLst/>
          </a:prstGeom>
          <a:noFill/>
          <a:ln/>
        </p:spPr>
        <p:txBody>
          <a:bodyPr wrap="square" lIns="0" tIns="0" rIns="0" bIns="0" rtlCol="0" anchor="t">
            <a:normAutofit/>
          </a:bodyPr>
          <a:lstStyle/>
          <a:p>
            <a:pPr indent="0" marL="0">
              <a:buNone/>
            </a:pPr>
            <a:r>
              <a:rPr lang="en-US" sz="680" dirty="0">
                <a:solidFill>
                  <a:srgbClr val="43566A"/>
                </a:solidFill>
                <a:latin typeface="Inter" pitchFamily="34" charset="0"/>
                <a:ea typeface="Inter" pitchFamily="34" charset="-122"/>
                <a:cs typeface="Inter" pitchFamily="34" charset="-120"/>
              </a:rPr>
              <a:t>Dossier + gate</a:t>
            </a:r>
            <a:endParaRPr lang="en-US" sz="680" dirty="0"/>
          </a:p>
        </p:txBody>
      </p:sp>
      <p:sp>
        <p:nvSpPr>
          <p:cNvPr id="69" name="Shape 67"/>
          <p:cNvSpPr/>
          <p:nvPr/>
        </p:nvSpPr>
        <p:spPr>
          <a:xfrm>
            <a:off x="731520" y="3886200"/>
            <a:ext cx="3337560" cy="1161288"/>
          </a:xfrm>
          <a:prstGeom prst="roundRect">
            <a:avLst>
              <a:gd name="adj" fmla="val 6299"/>
            </a:avLst>
          </a:prstGeom>
          <a:solidFill>
            <a:srgbClr val="FFFDF8"/>
          </a:solidFill>
          <a:ln w="10160">
            <a:solidFill>
              <a:srgbClr val="54D6D0"/>
            </a:solidFill>
            <a:prstDash val="solid"/>
          </a:ln>
        </p:spPr>
      </p:sp>
      <p:sp>
        <p:nvSpPr>
          <p:cNvPr id="70" name="Text 68"/>
          <p:cNvSpPr/>
          <p:nvPr/>
        </p:nvSpPr>
        <p:spPr>
          <a:xfrm>
            <a:off x="886968" y="4014216"/>
            <a:ext cx="30266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REPLAY INTEGRITY</a:t>
            </a:r>
            <a:endParaRPr lang="en-US" sz="680" dirty="0"/>
          </a:p>
        </p:txBody>
      </p:sp>
      <p:sp>
        <p:nvSpPr>
          <p:cNvPr id="71" name="Text 69"/>
          <p:cNvSpPr/>
          <p:nvPr/>
        </p:nvSpPr>
        <p:spPr>
          <a:xfrm>
            <a:off x="886968" y="4142232"/>
            <a:ext cx="3026664" cy="329184"/>
          </a:xfrm>
          <a:prstGeom prst="rect">
            <a:avLst/>
          </a:prstGeom>
          <a:noFill/>
          <a:ln/>
        </p:spPr>
        <p:txBody>
          <a:bodyPr wrap="square" lIns="0" tIns="0" rIns="0" bIns="0" rtlCol="0" anchor="ctr">
            <a:normAutofit/>
          </a:bodyPr>
          <a:lstStyle/>
          <a:p>
            <a:pPr indent="0" marL="0">
              <a:buNone/>
            </a:pPr>
            <a:r>
              <a:rPr lang="en-US" sz="1400" b="1" dirty="0">
                <a:solidFill>
                  <a:srgbClr val="14273D"/>
                </a:solidFill>
                <a:latin typeface="Inter Display" pitchFamily="34" charset="0"/>
                <a:ea typeface="Inter Display" pitchFamily="34" charset="-122"/>
                <a:cs typeface="Inter Display" pitchFamily="34" charset="-120"/>
              </a:rPr>
              <a:t>Hashes, schemas, seeds, cycle continuity</a:t>
            </a:r>
            <a:endParaRPr lang="en-US" sz="1400" dirty="0"/>
          </a:p>
        </p:txBody>
      </p:sp>
      <p:sp>
        <p:nvSpPr>
          <p:cNvPr id="72" name="Text 70"/>
          <p:cNvSpPr/>
          <p:nvPr/>
        </p:nvSpPr>
        <p:spPr>
          <a:xfrm>
            <a:off x="886968" y="4544568"/>
            <a:ext cx="3026664" cy="365760"/>
          </a:xfrm>
          <a:prstGeom prst="rect">
            <a:avLst/>
          </a:prstGeom>
          <a:noFill/>
          <a:ln/>
        </p:spPr>
        <p:txBody>
          <a:bodyPr wrap="square" lIns="0" tIns="0" rIns="0" bIns="0" rtlCol="0" anchor="t">
            <a:normAutofit/>
          </a:bodyPr>
          <a:lstStyle/>
          <a:p>
            <a:pPr indent="0" marL="0">
              <a:buNone/>
            </a:pPr>
            <a:r>
              <a:rPr lang="en-US" sz="850" dirty="0">
                <a:solidFill>
                  <a:srgbClr val="43566A"/>
                </a:solidFill>
                <a:latin typeface="Inter" pitchFamily="34" charset="0"/>
                <a:ea typeface="Inter" pitchFamily="34" charset="-122"/>
                <a:cs typeface="Inter" pitchFamily="34" charset="-120"/>
              </a:rPr>
              <a:t>Unexplained drift hard-fails.</a:t>
            </a:r>
            <a:endParaRPr lang="en-US" sz="850" dirty="0"/>
          </a:p>
        </p:txBody>
      </p:sp>
      <p:sp>
        <p:nvSpPr>
          <p:cNvPr id="73" name="Shape 71"/>
          <p:cNvSpPr/>
          <p:nvPr/>
        </p:nvSpPr>
        <p:spPr>
          <a:xfrm>
            <a:off x="4407408" y="3886200"/>
            <a:ext cx="3337560" cy="1161288"/>
          </a:xfrm>
          <a:prstGeom prst="roundRect">
            <a:avLst>
              <a:gd name="adj" fmla="val 6299"/>
            </a:avLst>
          </a:prstGeom>
          <a:solidFill>
            <a:srgbClr val="FFFDF8"/>
          </a:solidFill>
          <a:ln w="10160">
            <a:solidFill>
              <a:srgbClr val="E7BD62"/>
            </a:solidFill>
            <a:prstDash val="solid"/>
          </a:ln>
        </p:spPr>
      </p:sp>
      <p:sp>
        <p:nvSpPr>
          <p:cNvPr id="74" name="Text 72"/>
          <p:cNvSpPr/>
          <p:nvPr/>
        </p:nvSpPr>
        <p:spPr>
          <a:xfrm>
            <a:off x="4562856" y="4014216"/>
            <a:ext cx="30266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EVIDENCE DISCIPLINE</a:t>
            </a:r>
            <a:endParaRPr lang="en-US" sz="680" dirty="0"/>
          </a:p>
        </p:txBody>
      </p:sp>
      <p:sp>
        <p:nvSpPr>
          <p:cNvPr id="75" name="Text 73"/>
          <p:cNvSpPr/>
          <p:nvPr/>
        </p:nvSpPr>
        <p:spPr>
          <a:xfrm>
            <a:off x="4562856" y="4142232"/>
            <a:ext cx="3026664" cy="329184"/>
          </a:xfrm>
          <a:prstGeom prst="rect">
            <a:avLst/>
          </a:prstGeom>
          <a:noFill/>
          <a:ln/>
        </p:spPr>
        <p:txBody>
          <a:bodyPr wrap="square" lIns="0" tIns="0" rIns="0" bIns="0" rtlCol="0" anchor="ctr">
            <a:normAutofit/>
          </a:bodyPr>
          <a:lstStyle/>
          <a:p>
            <a:pPr indent="0" marL="0">
              <a:buNone/>
            </a:pPr>
            <a:r>
              <a:rPr lang="en-US" sz="1280" b="1" dirty="0">
                <a:solidFill>
                  <a:srgbClr val="14273D"/>
                </a:solidFill>
                <a:latin typeface="Inter Display" pitchFamily="34" charset="0"/>
                <a:ea typeface="Inter Display" pitchFamily="34" charset="-122"/>
                <a:cs typeface="Inter Display" pitchFamily="34" charset="-120"/>
              </a:rPr>
              <a:t>Simulated → probed → executed → replayed → stress-tested → external</a:t>
            </a:r>
            <a:endParaRPr lang="en-US" sz="1280" dirty="0"/>
          </a:p>
        </p:txBody>
      </p:sp>
      <p:sp>
        <p:nvSpPr>
          <p:cNvPr id="76" name="Text 74"/>
          <p:cNvSpPr/>
          <p:nvPr/>
        </p:nvSpPr>
        <p:spPr>
          <a:xfrm>
            <a:off x="4562856" y="4544568"/>
            <a:ext cx="3026664" cy="365760"/>
          </a:xfrm>
          <a:prstGeom prst="rect">
            <a:avLst/>
          </a:prstGeom>
          <a:noFill/>
          <a:ln/>
        </p:spPr>
        <p:txBody>
          <a:bodyPr wrap="square" lIns="0" tIns="0" rIns="0" bIns="0" rtlCol="0" anchor="t">
            <a:normAutofit/>
          </a:bodyPr>
          <a:lstStyle/>
          <a:p>
            <a:pPr indent="0" marL="0">
              <a:buNone/>
            </a:pPr>
            <a:r>
              <a:rPr lang="en-US" sz="820" dirty="0">
                <a:solidFill>
                  <a:srgbClr val="43566A"/>
                </a:solidFill>
                <a:latin typeface="Inter" pitchFamily="34" charset="0"/>
                <a:ea typeface="Inter" pitchFamily="34" charset="-122"/>
                <a:cs typeface="Inter" pitchFamily="34" charset="-120"/>
              </a:rPr>
              <a:t>Confidence cannot inflate without contact.</a:t>
            </a:r>
            <a:endParaRPr lang="en-US" sz="820" dirty="0"/>
          </a:p>
        </p:txBody>
      </p:sp>
      <p:sp>
        <p:nvSpPr>
          <p:cNvPr id="77" name="Shape 75"/>
          <p:cNvSpPr/>
          <p:nvPr/>
        </p:nvSpPr>
        <p:spPr>
          <a:xfrm>
            <a:off x="8092440" y="3886200"/>
            <a:ext cx="3337560" cy="1161288"/>
          </a:xfrm>
          <a:prstGeom prst="roundRect">
            <a:avLst>
              <a:gd name="adj" fmla="val 6299"/>
            </a:avLst>
          </a:prstGeom>
          <a:solidFill>
            <a:srgbClr val="FFFDF8"/>
          </a:solidFill>
          <a:ln w="10160">
            <a:solidFill>
              <a:srgbClr val="FF7584"/>
            </a:solidFill>
            <a:prstDash val="solid"/>
          </a:ln>
        </p:spPr>
      </p:sp>
      <p:sp>
        <p:nvSpPr>
          <p:cNvPr id="78" name="Text 76"/>
          <p:cNvSpPr/>
          <p:nvPr/>
        </p:nvSpPr>
        <p:spPr>
          <a:xfrm>
            <a:off x="8247888" y="4014216"/>
            <a:ext cx="30266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OUTCOME AUTHORITY</a:t>
            </a:r>
            <a:endParaRPr lang="en-US" sz="680" dirty="0"/>
          </a:p>
        </p:txBody>
      </p:sp>
      <p:sp>
        <p:nvSpPr>
          <p:cNvPr id="79" name="Text 77"/>
          <p:cNvSpPr/>
          <p:nvPr/>
        </p:nvSpPr>
        <p:spPr>
          <a:xfrm>
            <a:off x="8247888" y="4142232"/>
            <a:ext cx="3026664" cy="329184"/>
          </a:xfrm>
          <a:prstGeom prst="rect">
            <a:avLst/>
          </a:prstGeom>
          <a:noFill/>
          <a:ln/>
        </p:spPr>
        <p:txBody>
          <a:bodyPr wrap="square" lIns="0" tIns="0" rIns="0" bIns="0" rtlCol="0" anchor="ctr">
            <a:normAutofit/>
          </a:bodyPr>
          <a:lstStyle/>
          <a:p>
            <a:pPr indent="0" marL="0">
              <a:buNone/>
            </a:pPr>
            <a:r>
              <a:rPr lang="en-US" sz="1260" b="1" dirty="0">
                <a:solidFill>
                  <a:srgbClr val="14273D"/>
                </a:solidFill>
                <a:latin typeface="Inter Display" pitchFamily="34" charset="0"/>
                <a:ea typeface="Inter Display" pitchFamily="34" charset="-122"/>
                <a:cs typeface="Inter Display" pitchFamily="34" charset="-120"/>
              </a:rPr>
              <a:t>Risk + evidence + baseline + persistence + validator gates</a:t>
            </a:r>
            <a:endParaRPr lang="en-US" sz="1260" dirty="0"/>
          </a:p>
        </p:txBody>
      </p:sp>
      <p:sp>
        <p:nvSpPr>
          <p:cNvPr id="80" name="Text 78"/>
          <p:cNvSpPr/>
          <p:nvPr/>
        </p:nvSpPr>
        <p:spPr>
          <a:xfrm>
            <a:off x="8247888" y="4544568"/>
            <a:ext cx="3026664" cy="365760"/>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Interestingness does not promote.</a:t>
            </a:r>
            <a:endParaRPr lang="en-US" sz="8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OMNI</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Search control ≠ outcome authority.</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OMNI-style interestingness can improve where the system explores next. It may not decide what is true, safe, settled, or deployable.</a:t>
            </a:r>
            <a:endParaRPr lang="en-US" sz="1450" dirty="0"/>
          </a:p>
        </p:txBody>
      </p:sp>
      <p:sp>
        <p:nvSpPr>
          <p:cNvPr id="30" name="Shape 28"/>
          <p:cNvSpPr/>
          <p:nvPr/>
        </p:nvSpPr>
        <p:spPr>
          <a:xfrm>
            <a:off x="658368" y="2176272"/>
            <a:ext cx="5257800" cy="3063240"/>
          </a:xfrm>
          <a:prstGeom prst="roundRect">
            <a:avLst>
              <a:gd name="adj" fmla="val 2388"/>
            </a:avLst>
          </a:prstGeom>
          <a:solidFill>
            <a:srgbClr val="102238"/>
          </a:solidFill>
          <a:ln w="10160">
            <a:solidFill>
              <a:srgbClr val="A99CFF"/>
            </a:solidFill>
            <a:prstDash val="solid"/>
          </a:ln>
        </p:spPr>
      </p:sp>
      <p:sp>
        <p:nvSpPr>
          <p:cNvPr id="31" name="Text 29"/>
          <p:cNvSpPr/>
          <p:nvPr/>
        </p:nvSpPr>
        <p:spPr>
          <a:xfrm>
            <a:off x="813816" y="2304288"/>
            <a:ext cx="494690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OMNI MAY</a:t>
            </a:r>
            <a:endParaRPr lang="en-US" sz="680" dirty="0"/>
          </a:p>
        </p:txBody>
      </p:sp>
      <p:sp>
        <p:nvSpPr>
          <p:cNvPr id="32" name="Text 30"/>
          <p:cNvSpPr/>
          <p:nvPr/>
        </p:nvSpPr>
        <p:spPr>
          <a:xfrm>
            <a:off x="813816" y="2432304"/>
            <a:ext cx="494690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Allocate exploration</a:t>
            </a:r>
            <a:endParaRPr lang="en-US" sz="1900" dirty="0"/>
          </a:p>
        </p:txBody>
      </p:sp>
      <p:sp>
        <p:nvSpPr>
          <p:cNvPr id="33" name="Text 31"/>
          <p:cNvSpPr/>
          <p:nvPr/>
        </p:nvSpPr>
        <p:spPr>
          <a:xfrm>
            <a:off x="813816" y="2834640"/>
            <a:ext cx="4946904" cy="2267712"/>
          </a:xfrm>
          <a:prstGeom prst="rect">
            <a:avLst/>
          </a:prstGeom>
          <a:noFill/>
          <a:ln/>
        </p:spPr>
        <p:txBody>
          <a:bodyPr wrap="square" lIns="0" tIns="0" rIns="0" bIns="0" rtlCol="0" anchor="t">
            <a:normAutofit/>
          </a:bodyPr>
          <a:lstStyle/>
          <a:p>
            <a:pPr indent="0" marL="0">
              <a:buNone/>
            </a:pPr>
            <a:r>
              <a:rPr lang="en-US" sz="1100" dirty="0">
                <a:solidFill>
                  <a:srgbClr val="B9C5D2"/>
                </a:solidFill>
                <a:latin typeface="Inter" pitchFamily="34" charset="0"/>
                <a:ea typeface="Inter" pitchFamily="34" charset="-122"/>
                <a:cs typeface="Inter" pitchFamily="34" charset="-120"/>
              </a:rPr>
              <a:t>• Prioritize underexplored archive cells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Propose bridge targets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Identify boring or redundant candidates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Recommend probe-first work</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Adjust mutation pressure</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Improve interestingness per cost</a:t>
            </a:r>
            <a:endParaRPr lang="en-US" sz="1100" dirty="0"/>
          </a:p>
        </p:txBody>
      </p:sp>
      <p:sp>
        <p:nvSpPr>
          <p:cNvPr id="34" name="Shape 32"/>
          <p:cNvSpPr/>
          <p:nvPr/>
        </p:nvSpPr>
        <p:spPr>
          <a:xfrm>
            <a:off x="6263640" y="2176272"/>
            <a:ext cx="5257800" cy="3063240"/>
          </a:xfrm>
          <a:prstGeom prst="roundRect">
            <a:avLst>
              <a:gd name="adj" fmla="val 2388"/>
            </a:avLst>
          </a:prstGeom>
          <a:solidFill>
            <a:srgbClr val="102238"/>
          </a:solidFill>
          <a:ln w="10160">
            <a:solidFill>
              <a:srgbClr val="FF7584"/>
            </a:solidFill>
            <a:prstDash val="solid"/>
          </a:ln>
        </p:spPr>
      </p:sp>
      <p:sp>
        <p:nvSpPr>
          <p:cNvPr id="35" name="Text 33"/>
          <p:cNvSpPr/>
          <p:nvPr/>
        </p:nvSpPr>
        <p:spPr>
          <a:xfrm>
            <a:off x="6419088" y="2304288"/>
            <a:ext cx="49469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OMNI MAY NOT</a:t>
            </a:r>
            <a:endParaRPr lang="en-US" sz="680" dirty="0"/>
          </a:p>
        </p:txBody>
      </p:sp>
      <p:sp>
        <p:nvSpPr>
          <p:cNvPr id="36" name="Text 34"/>
          <p:cNvSpPr/>
          <p:nvPr/>
        </p:nvSpPr>
        <p:spPr>
          <a:xfrm>
            <a:off x="6419088" y="2432304"/>
            <a:ext cx="494690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Confer authority</a:t>
            </a:r>
            <a:endParaRPr lang="en-US" sz="1900" dirty="0"/>
          </a:p>
        </p:txBody>
      </p:sp>
      <p:sp>
        <p:nvSpPr>
          <p:cNvPr id="37" name="Text 35"/>
          <p:cNvSpPr/>
          <p:nvPr/>
        </p:nvSpPr>
        <p:spPr>
          <a:xfrm>
            <a:off x="6419088" y="2834640"/>
            <a:ext cx="4946904" cy="2267712"/>
          </a:xfrm>
          <a:prstGeom prst="rect">
            <a:avLst/>
          </a:prstGeom>
          <a:noFill/>
          <a:ln/>
        </p:spPr>
        <p:txBody>
          <a:bodyPr wrap="square" lIns="0" tIns="0" rIns="0" bIns="0" rtlCol="0" anchor="t">
            <a:normAutofit/>
          </a:bodyPr>
          <a:lstStyle/>
          <a:p>
            <a:pPr indent="0" marL="0">
              <a:buNone/>
            </a:pPr>
            <a:r>
              <a:rPr lang="en-US" sz="1100" dirty="0">
                <a:solidFill>
                  <a:srgbClr val="B9C5D2"/>
                </a:solidFill>
                <a:latin typeface="Inter" pitchFamily="34" charset="0"/>
                <a:ea typeface="Inter" pitchFamily="34" charset="-122"/>
                <a:cs typeface="Inter" pitchFamily="34" charset="-120"/>
              </a:rPr>
              <a:t>• Insert directly into durable memory</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Bypass risk filters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Inflate evidence contact</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Approve settlement</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Override baselines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Promote high-novelty candidates</a:t>
            </a:r>
            <a:endParaRPr lang="en-US" sz="1100" dirty="0"/>
          </a:p>
          <a:p>
            <a:pPr indent="0" marL="0">
              <a:buNone/>
            </a:pPr>
            <a:r>
              <a:rPr lang="en-US" sz="1100" dirty="0">
                <a:solidFill>
                  <a:srgbClr val="B9C5D2"/>
                </a:solidFill>
                <a:latin typeface="Inter" pitchFamily="34" charset="0"/>
                <a:ea typeface="Inter" pitchFamily="34" charset="-122"/>
                <a:cs typeface="Inter" pitchFamily="34" charset="-120"/>
              </a:rPr>
              <a:t>• Authorize deployment</a:t>
            </a:r>
            <a:endParaRPr lang="en-US" sz="1100" dirty="0"/>
          </a:p>
        </p:txBody>
      </p:sp>
      <p:sp>
        <p:nvSpPr>
          <p:cNvPr id="38" name="Text 36"/>
          <p:cNvSpPr/>
          <p:nvPr/>
        </p:nvSpPr>
        <p:spPr>
          <a:xfrm>
            <a:off x="2057400" y="5577840"/>
            <a:ext cx="8138160" cy="384048"/>
          </a:xfrm>
          <a:prstGeom prst="rect">
            <a:avLst/>
          </a:prstGeom>
          <a:noFill/>
          <a:ln/>
        </p:spPr>
        <p:txBody>
          <a:bodyPr wrap="square" lIns="0" tIns="0" rIns="0" bIns="0" rtlCol="0" anchor="ctr"/>
          <a:lstStyle/>
          <a:p>
            <a:pPr algn="ctr" indent="0" marL="0">
              <a:buNone/>
            </a:pPr>
            <a:r>
              <a:rPr lang="en-US" sz="1600" b="1" dirty="0">
                <a:solidFill>
                  <a:srgbClr val="E7BD62"/>
                </a:solidFill>
                <a:latin typeface="Inter Display" pitchFamily="34" charset="0"/>
                <a:ea typeface="Inter Display" pitchFamily="34" charset="-122"/>
                <a:cs typeface="Inter Display" pitchFamily="34" charset="-120"/>
              </a:rPr>
              <a:t>Interestingness guides attention. Evidence governs promotion.</a:t>
            </a:r>
            <a:endParaRPr lang="en-US" sz="16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EVIDENCE CONTACT INDEX</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Confidence cannot inflate without execution.</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Evidence Contact Index distinguishes reasoning about reality from actual contact with reality.</a:t>
            </a:r>
            <a:endParaRPr lang="en-US" sz="1450" dirty="0"/>
          </a:p>
        </p:txBody>
      </p:sp>
      <p:sp>
        <p:nvSpPr>
          <p:cNvPr id="30" name="Shape 28"/>
          <p:cNvSpPr/>
          <p:nvPr/>
        </p:nvSpPr>
        <p:spPr>
          <a:xfrm>
            <a:off x="685800" y="1965960"/>
            <a:ext cx="10835640" cy="457200"/>
          </a:xfrm>
          <a:prstGeom prst="roundRect">
            <a:avLst>
              <a:gd name="adj" fmla="val 6000"/>
            </a:avLst>
          </a:prstGeom>
          <a:solidFill>
            <a:srgbClr val="FFFDF8"/>
          </a:solidFill>
          <a:ln w="12700">
            <a:solidFill>
              <a:srgbClr val="FF7584"/>
            </a:solidFill>
            <a:prstDash val="solid"/>
          </a:ln>
        </p:spPr>
      </p:sp>
      <p:sp>
        <p:nvSpPr>
          <p:cNvPr id="31" name="Text 29"/>
          <p:cNvSpPr/>
          <p:nvPr/>
        </p:nvSpPr>
        <p:spPr>
          <a:xfrm>
            <a:off x="841248" y="2075688"/>
            <a:ext cx="320040" cy="118872"/>
          </a:xfrm>
          <a:prstGeom prst="rect">
            <a:avLst/>
          </a:prstGeom>
          <a:noFill/>
          <a:ln/>
        </p:spPr>
        <p:txBody>
          <a:bodyPr wrap="square" lIns="0" tIns="0" rIns="0" bIns="0" rtlCol="0" anchor="ctr"/>
          <a:lstStyle/>
          <a:p>
            <a:pPr indent="0" marL="0">
              <a:buNone/>
            </a:pPr>
            <a:r>
              <a:rPr lang="en-US" sz="820" b="1" dirty="0">
                <a:solidFill>
                  <a:srgbClr val="FF7584"/>
                </a:solidFill>
                <a:latin typeface="Inter Display" pitchFamily="34" charset="0"/>
                <a:ea typeface="Inter Display" pitchFamily="34" charset="-122"/>
                <a:cs typeface="Inter Display" pitchFamily="34" charset="-120"/>
              </a:rPr>
              <a:t>E0</a:t>
            </a:r>
            <a:endParaRPr lang="en-US" sz="820" dirty="0"/>
          </a:p>
        </p:txBody>
      </p:sp>
      <p:sp>
        <p:nvSpPr>
          <p:cNvPr id="32" name="Text 30"/>
          <p:cNvSpPr/>
          <p:nvPr/>
        </p:nvSpPr>
        <p:spPr>
          <a:xfrm>
            <a:off x="1298448" y="2066544"/>
            <a:ext cx="1508760" cy="128016"/>
          </a:xfrm>
          <a:prstGeom prst="rect">
            <a:avLst/>
          </a:prstGeom>
          <a:noFill/>
          <a:ln/>
        </p:spPr>
        <p:txBody>
          <a:bodyPr wrap="square" lIns="0" tIns="0" rIns="0" bIns="0" rtlCol="0" anchor="ctr"/>
          <a:lstStyle/>
          <a:p>
            <a:pPr indent="0" marL="0">
              <a:buNone/>
            </a:pPr>
            <a:r>
              <a:rPr lang="en-US" sz="770" b="1" dirty="0">
                <a:solidFill>
                  <a:srgbClr val="14273D"/>
                </a:solidFill>
                <a:latin typeface="Inter" pitchFamily="34" charset="0"/>
                <a:ea typeface="Inter" pitchFamily="34" charset="-122"/>
                <a:cs typeface="Inter" pitchFamily="34" charset="-120"/>
              </a:rPr>
              <a:t>SIMULATED</a:t>
            </a:r>
            <a:endParaRPr lang="en-US" sz="770" dirty="0"/>
          </a:p>
        </p:txBody>
      </p:sp>
      <p:sp>
        <p:nvSpPr>
          <p:cNvPr id="33" name="Text 31"/>
          <p:cNvSpPr/>
          <p:nvPr/>
        </p:nvSpPr>
        <p:spPr>
          <a:xfrm>
            <a:off x="2880360" y="2057400"/>
            <a:ext cx="5166360" cy="146304"/>
          </a:xfrm>
          <a:prstGeom prst="rect">
            <a:avLst/>
          </a:prstGeom>
          <a:noFill/>
          <a:ln/>
        </p:spPr>
        <p:txBody>
          <a:bodyPr wrap="square" lIns="0" tIns="0" rIns="0" bIns="0" rtlCol="0" anchor="ctr">
            <a:normAutofit/>
          </a:bodyPr>
          <a:lstStyle/>
          <a:p>
            <a:pPr indent="0" marL="0">
              <a:buNone/>
            </a:pPr>
            <a:r>
              <a:rPr lang="en-US" sz="740" dirty="0">
                <a:solidFill>
                  <a:srgbClr val="4A5B6B"/>
                </a:solidFill>
                <a:latin typeface="Inter" pitchFamily="34" charset="0"/>
                <a:ea typeface="Inter" pitchFamily="34" charset="-122"/>
                <a:cs typeface="Inter" pitchFamily="34" charset="-120"/>
              </a:rPr>
              <a:t>LLM-only reasoning or internal judgment</a:t>
            </a:r>
            <a:endParaRPr lang="en-US" sz="740" dirty="0"/>
          </a:p>
        </p:txBody>
      </p:sp>
      <p:sp>
        <p:nvSpPr>
          <p:cNvPr id="34" name="Text 32"/>
          <p:cNvSpPr/>
          <p:nvPr/>
        </p:nvSpPr>
        <p:spPr>
          <a:xfrm>
            <a:off x="8275320" y="2057400"/>
            <a:ext cx="2926080" cy="146304"/>
          </a:xfrm>
          <a:prstGeom prst="rect">
            <a:avLst/>
          </a:prstGeom>
          <a:noFill/>
          <a:ln/>
        </p:spPr>
        <p:txBody>
          <a:bodyPr wrap="square" lIns="0" tIns="0" rIns="0" bIns="0" rtlCol="0" anchor="ctr">
            <a:normAutofit/>
          </a:bodyPr>
          <a:lstStyle/>
          <a:p>
            <a:pPr indent="0" marL="0">
              <a:buNone/>
            </a:pPr>
            <a:r>
              <a:rPr lang="en-US" sz="740" b="1" dirty="0">
                <a:solidFill>
                  <a:srgbClr val="FF7584"/>
                </a:solidFill>
                <a:latin typeface="Inter" pitchFamily="34" charset="0"/>
                <a:ea typeface="Inter" pitchFamily="34" charset="-122"/>
                <a:cs typeface="Inter" pitchFamily="34" charset="-120"/>
              </a:rPr>
              <a:t>Cannot support strong promotion</a:t>
            </a:r>
            <a:endParaRPr lang="en-US" sz="740" dirty="0"/>
          </a:p>
        </p:txBody>
      </p:sp>
      <p:sp>
        <p:nvSpPr>
          <p:cNvPr id="35" name="Shape 33"/>
          <p:cNvSpPr/>
          <p:nvPr/>
        </p:nvSpPr>
        <p:spPr>
          <a:xfrm>
            <a:off x="685800" y="2587752"/>
            <a:ext cx="10835640" cy="457200"/>
          </a:xfrm>
          <a:prstGeom prst="roundRect">
            <a:avLst>
              <a:gd name="adj" fmla="val 6000"/>
            </a:avLst>
          </a:prstGeom>
          <a:solidFill>
            <a:srgbClr val="FFFDF8"/>
          </a:solidFill>
          <a:ln w="12700">
            <a:solidFill>
              <a:srgbClr val="F5C46B"/>
            </a:solidFill>
            <a:prstDash val="solid"/>
          </a:ln>
        </p:spPr>
      </p:sp>
      <p:sp>
        <p:nvSpPr>
          <p:cNvPr id="36" name="Text 34"/>
          <p:cNvSpPr/>
          <p:nvPr/>
        </p:nvSpPr>
        <p:spPr>
          <a:xfrm>
            <a:off x="841248" y="2697480"/>
            <a:ext cx="320040" cy="118872"/>
          </a:xfrm>
          <a:prstGeom prst="rect">
            <a:avLst/>
          </a:prstGeom>
          <a:noFill/>
          <a:ln/>
        </p:spPr>
        <p:txBody>
          <a:bodyPr wrap="square" lIns="0" tIns="0" rIns="0" bIns="0" rtlCol="0" anchor="ctr"/>
          <a:lstStyle/>
          <a:p>
            <a:pPr indent="0" marL="0">
              <a:buNone/>
            </a:pPr>
            <a:r>
              <a:rPr lang="en-US" sz="820" b="1" dirty="0">
                <a:solidFill>
                  <a:srgbClr val="F5C46B"/>
                </a:solidFill>
                <a:latin typeface="Inter Display" pitchFamily="34" charset="0"/>
                <a:ea typeface="Inter Display" pitchFamily="34" charset="-122"/>
                <a:cs typeface="Inter Display" pitchFamily="34" charset="-120"/>
              </a:rPr>
              <a:t>E1</a:t>
            </a:r>
            <a:endParaRPr lang="en-US" sz="820" dirty="0"/>
          </a:p>
        </p:txBody>
      </p:sp>
      <p:sp>
        <p:nvSpPr>
          <p:cNvPr id="37" name="Text 35"/>
          <p:cNvSpPr/>
          <p:nvPr/>
        </p:nvSpPr>
        <p:spPr>
          <a:xfrm>
            <a:off x="1298448" y="2688336"/>
            <a:ext cx="1508760" cy="128016"/>
          </a:xfrm>
          <a:prstGeom prst="rect">
            <a:avLst/>
          </a:prstGeom>
          <a:noFill/>
          <a:ln/>
        </p:spPr>
        <p:txBody>
          <a:bodyPr wrap="square" lIns="0" tIns="0" rIns="0" bIns="0" rtlCol="0" anchor="ctr"/>
          <a:lstStyle/>
          <a:p>
            <a:pPr indent="0" marL="0">
              <a:buNone/>
            </a:pPr>
            <a:r>
              <a:rPr lang="en-US" sz="770" b="1" dirty="0">
                <a:solidFill>
                  <a:srgbClr val="14273D"/>
                </a:solidFill>
                <a:latin typeface="Inter" pitchFamily="34" charset="0"/>
                <a:ea typeface="Inter" pitchFamily="34" charset="-122"/>
                <a:cs typeface="Inter" pitchFamily="34" charset="-120"/>
              </a:rPr>
              <a:t>PROBED</a:t>
            </a:r>
            <a:endParaRPr lang="en-US" sz="770" dirty="0"/>
          </a:p>
        </p:txBody>
      </p:sp>
      <p:sp>
        <p:nvSpPr>
          <p:cNvPr id="38" name="Text 36"/>
          <p:cNvSpPr/>
          <p:nvPr/>
        </p:nvSpPr>
        <p:spPr>
          <a:xfrm>
            <a:off x="2880360" y="2679192"/>
            <a:ext cx="5166360" cy="146304"/>
          </a:xfrm>
          <a:prstGeom prst="rect">
            <a:avLst/>
          </a:prstGeom>
          <a:noFill/>
          <a:ln/>
        </p:spPr>
        <p:txBody>
          <a:bodyPr wrap="square" lIns="0" tIns="0" rIns="0" bIns="0" rtlCol="0" anchor="ctr">
            <a:normAutofit/>
          </a:bodyPr>
          <a:lstStyle/>
          <a:p>
            <a:pPr indent="0" marL="0">
              <a:buNone/>
            </a:pPr>
            <a:r>
              <a:rPr lang="en-US" sz="740" dirty="0">
                <a:solidFill>
                  <a:srgbClr val="4A5B6B"/>
                </a:solidFill>
                <a:latin typeface="Inter" pitchFamily="34" charset="0"/>
                <a:ea typeface="Inter" pitchFamily="34" charset="-122"/>
                <a:cs typeface="Inter" pitchFamily="34" charset="-120"/>
              </a:rPr>
              <a:t>Static check, schema, cheap microbench</a:t>
            </a:r>
            <a:endParaRPr lang="en-US" sz="740" dirty="0"/>
          </a:p>
        </p:txBody>
      </p:sp>
      <p:sp>
        <p:nvSpPr>
          <p:cNvPr id="39" name="Text 37"/>
          <p:cNvSpPr/>
          <p:nvPr/>
        </p:nvSpPr>
        <p:spPr>
          <a:xfrm>
            <a:off x="8275320" y="2679192"/>
            <a:ext cx="2926080" cy="146304"/>
          </a:xfrm>
          <a:prstGeom prst="rect">
            <a:avLst/>
          </a:prstGeom>
          <a:noFill/>
          <a:ln/>
        </p:spPr>
        <p:txBody>
          <a:bodyPr wrap="square" lIns="0" tIns="0" rIns="0" bIns="0" rtlCol="0" anchor="ctr">
            <a:normAutofit/>
          </a:bodyPr>
          <a:lstStyle/>
          <a:p>
            <a:pPr indent="0" marL="0">
              <a:buNone/>
            </a:pPr>
            <a:r>
              <a:rPr lang="en-US" sz="740" b="1" dirty="0">
                <a:solidFill>
                  <a:srgbClr val="F5C46B"/>
                </a:solidFill>
                <a:latin typeface="Inter" pitchFamily="34" charset="0"/>
                <a:ea typeface="Inter" pitchFamily="34" charset="-122"/>
                <a:cs typeface="Inter" pitchFamily="34" charset="-120"/>
              </a:rPr>
              <a:t>Probe status only</a:t>
            </a:r>
            <a:endParaRPr lang="en-US" sz="740" dirty="0"/>
          </a:p>
        </p:txBody>
      </p:sp>
      <p:sp>
        <p:nvSpPr>
          <p:cNvPr id="40" name="Shape 38"/>
          <p:cNvSpPr/>
          <p:nvPr/>
        </p:nvSpPr>
        <p:spPr>
          <a:xfrm>
            <a:off x="685800" y="3209544"/>
            <a:ext cx="10835640" cy="457200"/>
          </a:xfrm>
          <a:prstGeom prst="roundRect">
            <a:avLst>
              <a:gd name="adj" fmla="val 6000"/>
            </a:avLst>
          </a:prstGeom>
          <a:solidFill>
            <a:srgbClr val="FFFDF8"/>
          </a:solidFill>
          <a:ln w="12700">
            <a:solidFill>
              <a:srgbClr val="6FB5FF"/>
            </a:solidFill>
            <a:prstDash val="solid"/>
          </a:ln>
        </p:spPr>
      </p:sp>
      <p:sp>
        <p:nvSpPr>
          <p:cNvPr id="41" name="Text 39"/>
          <p:cNvSpPr/>
          <p:nvPr/>
        </p:nvSpPr>
        <p:spPr>
          <a:xfrm>
            <a:off x="841248" y="3319272"/>
            <a:ext cx="320040" cy="118872"/>
          </a:xfrm>
          <a:prstGeom prst="rect">
            <a:avLst/>
          </a:prstGeom>
          <a:noFill/>
          <a:ln/>
        </p:spPr>
        <p:txBody>
          <a:bodyPr wrap="square" lIns="0" tIns="0" rIns="0" bIns="0" rtlCol="0" anchor="ctr"/>
          <a:lstStyle/>
          <a:p>
            <a:pPr indent="0" marL="0">
              <a:buNone/>
            </a:pPr>
            <a:r>
              <a:rPr lang="en-US" sz="820" b="1" dirty="0">
                <a:solidFill>
                  <a:srgbClr val="6FB5FF"/>
                </a:solidFill>
                <a:latin typeface="Inter Display" pitchFamily="34" charset="0"/>
                <a:ea typeface="Inter Display" pitchFamily="34" charset="-122"/>
                <a:cs typeface="Inter Display" pitchFamily="34" charset="-120"/>
              </a:rPr>
              <a:t>E2</a:t>
            </a:r>
            <a:endParaRPr lang="en-US" sz="820" dirty="0"/>
          </a:p>
        </p:txBody>
      </p:sp>
      <p:sp>
        <p:nvSpPr>
          <p:cNvPr id="42" name="Text 40"/>
          <p:cNvSpPr/>
          <p:nvPr/>
        </p:nvSpPr>
        <p:spPr>
          <a:xfrm>
            <a:off x="1298448" y="3310128"/>
            <a:ext cx="1508760" cy="128016"/>
          </a:xfrm>
          <a:prstGeom prst="rect">
            <a:avLst/>
          </a:prstGeom>
          <a:noFill/>
          <a:ln/>
        </p:spPr>
        <p:txBody>
          <a:bodyPr wrap="square" lIns="0" tIns="0" rIns="0" bIns="0" rtlCol="0" anchor="ctr"/>
          <a:lstStyle/>
          <a:p>
            <a:pPr indent="0" marL="0">
              <a:buNone/>
            </a:pPr>
            <a:r>
              <a:rPr lang="en-US" sz="770" b="1" dirty="0">
                <a:solidFill>
                  <a:srgbClr val="14273D"/>
                </a:solidFill>
                <a:latin typeface="Inter" pitchFamily="34" charset="0"/>
                <a:ea typeface="Inter" pitchFamily="34" charset="-122"/>
                <a:cs typeface="Inter" pitchFamily="34" charset="-120"/>
              </a:rPr>
              <a:t>EXECUTED</a:t>
            </a:r>
            <a:endParaRPr lang="en-US" sz="770" dirty="0"/>
          </a:p>
        </p:txBody>
      </p:sp>
      <p:sp>
        <p:nvSpPr>
          <p:cNvPr id="43" name="Text 41"/>
          <p:cNvSpPr/>
          <p:nvPr/>
        </p:nvSpPr>
        <p:spPr>
          <a:xfrm>
            <a:off x="2880360" y="3300984"/>
            <a:ext cx="5166360" cy="146304"/>
          </a:xfrm>
          <a:prstGeom prst="rect">
            <a:avLst/>
          </a:prstGeom>
          <a:noFill/>
          <a:ln/>
        </p:spPr>
        <p:txBody>
          <a:bodyPr wrap="square" lIns="0" tIns="0" rIns="0" bIns="0" rtlCol="0" anchor="ctr">
            <a:normAutofit/>
          </a:bodyPr>
          <a:lstStyle/>
          <a:p>
            <a:pPr indent="0" marL="0">
              <a:buNone/>
            </a:pPr>
            <a:r>
              <a:rPr lang="en-US" sz="740" dirty="0">
                <a:solidFill>
                  <a:srgbClr val="4A5B6B"/>
                </a:solidFill>
                <a:latin typeface="Inter" pitchFamily="34" charset="0"/>
                <a:ea typeface="Inter" pitchFamily="34" charset="-122"/>
                <a:cs typeface="Inter" pitchFamily="34" charset="-120"/>
              </a:rPr>
              <a:t>Sandbox, test harness, tool environment</a:t>
            </a:r>
            <a:endParaRPr lang="en-US" sz="740" dirty="0"/>
          </a:p>
        </p:txBody>
      </p:sp>
      <p:sp>
        <p:nvSpPr>
          <p:cNvPr id="44" name="Text 42"/>
          <p:cNvSpPr/>
          <p:nvPr/>
        </p:nvSpPr>
        <p:spPr>
          <a:xfrm>
            <a:off x="8275320" y="3300984"/>
            <a:ext cx="2926080" cy="146304"/>
          </a:xfrm>
          <a:prstGeom prst="rect">
            <a:avLst/>
          </a:prstGeom>
          <a:noFill/>
          <a:ln/>
        </p:spPr>
        <p:txBody>
          <a:bodyPr wrap="square" lIns="0" tIns="0" rIns="0" bIns="0" rtlCol="0" anchor="ctr">
            <a:normAutofit/>
          </a:bodyPr>
          <a:lstStyle/>
          <a:p>
            <a:pPr indent="0" marL="0">
              <a:buNone/>
            </a:pPr>
            <a:r>
              <a:rPr lang="en-US" sz="740" b="1" dirty="0">
                <a:solidFill>
                  <a:srgbClr val="6FB5FF"/>
                </a:solidFill>
                <a:latin typeface="Inter" pitchFamily="34" charset="0"/>
                <a:ea typeface="Inter" pitchFamily="34" charset="-122"/>
                <a:cs typeface="Inter" pitchFamily="34" charset="-120"/>
              </a:rPr>
              <a:t>Required beyond probe</a:t>
            </a:r>
            <a:endParaRPr lang="en-US" sz="740" dirty="0"/>
          </a:p>
        </p:txBody>
      </p:sp>
      <p:sp>
        <p:nvSpPr>
          <p:cNvPr id="45" name="Shape 43"/>
          <p:cNvSpPr/>
          <p:nvPr/>
        </p:nvSpPr>
        <p:spPr>
          <a:xfrm>
            <a:off x="685800" y="3831336"/>
            <a:ext cx="10835640" cy="457200"/>
          </a:xfrm>
          <a:prstGeom prst="roundRect">
            <a:avLst>
              <a:gd name="adj" fmla="val 6000"/>
            </a:avLst>
          </a:prstGeom>
          <a:solidFill>
            <a:srgbClr val="FFFDF8"/>
          </a:solidFill>
          <a:ln w="12700">
            <a:solidFill>
              <a:srgbClr val="54D6D0"/>
            </a:solidFill>
            <a:prstDash val="solid"/>
          </a:ln>
        </p:spPr>
      </p:sp>
      <p:sp>
        <p:nvSpPr>
          <p:cNvPr id="46" name="Text 44"/>
          <p:cNvSpPr/>
          <p:nvPr/>
        </p:nvSpPr>
        <p:spPr>
          <a:xfrm>
            <a:off x="841248" y="3941064"/>
            <a:ext cx="320040" cy="118872"/>
          </a:xfrm>
          <a:prstGeom prst="rect">
            <a:avLst/>
          </a:prstGeom>
          <a:noFill/>
          <a:ln/>
        </p:spPr>
        <p:txBody>
          <a:bodyPr wrap="square" lIns="0" tIns="0" rIns="0" bIns="0" rtlCol="0" anchor="ctr"/>
          <a:lstStyle/>
          <a:p>
            <a:pPr indent="0" marL="0">
              <a:buNone/>
            </a:pPr>
            <a:r>
              <a:rPr lang="en-US" sz="820" b="1" dirty="0">
                <a:solidFill>
                  <a:srgbClr val="54D6D0"/>
                </a:solidFill>
                <a:latin typeface="Inter Display" pitchFamily="34" charset="0"/>
                <a:ea typeface="Inter Display" pitchFamily="34" charset="-122"/>
                <a:cs typeface="Inter Display" pitchFamily="34" charset="-120"/>
              </a:rPr>
              <a:t>E3</a:t>
            </a:r>
            <a:endParaRPr lang="en-US" sz="820" dirty="0"/>
          </a:p>
        </p:txBody>
      </p:sp>
      <p:sp>
        <p:nvSpPr>
          <p:cNvPr id="47" name="Text 45"/>
          <p:cNvSpPr/>
          <p:nvPr/>
        </p:nvSpPr>
        <p:spPr>
          <a:xfrm>
            <a:off x="1298448" y="3931920"/>
            <a:ext cx="1508760" cy="128016"/>
          </a:xfrm>
          <a:prstGeom prst="rect">
            <a:avLst/>
          </a:prstGeom>
          <a:noFill/>
          <a:ln/>
        </p:spPr>
        <p:txBody>
          <a:bodyPr wrap="square" lIns="0" tIns="0" rIns="0" bIns="0" rtlCol="0" anchor="ctr"/>
          <a:lstStyle/>
          <a:p>
            <a:pPr indent="0" marL="0">
              <a:buNone/>
            </a:pPr>
            <a:r>
              <a:rPr lang="en-US" sz="770" b="1" dirty="0">
                <a:solidFill>
                  <a:srgbClr val="14273D"/>
                </a:solidFill>
                <a:latin typeface="Inter" pitchFamily="34" charset="0"/>
                <a:ea typeface="Inter" pitchFamily="34" charset="-122"/>
                <a:cs typeface="Inter" pitchFamily="34" charset="-120"/>
              </a:rPr>
              <a:t>REPLAYED</a:t>
            </a:r>
            <a:endParaRPr lang="en-US" sz="770" dirty="0"/>
          </a:p>
        </p:txBody>
      </p:sp>
      <p:sp>
        <p:nvSpPr>
          <p:cNvPr id="48" name="Text 46"/>
          <p:cNvSpPr/>
          <p:nvPr/>
        </p:nvSpPr>
        <p:spPr>
          <a:xfrm>
            <a:off x="2880360" y="3922776"/>
            <a:ext cx="5166360" cy="146304"/>
          </a:xfrm>
          <a:prstGeom prst="rect">
            <a:avLst/>
          </a:prstGeom>
          <a:noFill/>
          <a:ln/>
        </p:spPr>
        <p:txBody>
          <a:bodyPr wrap="square" lIns="0" tIns="0" rIns="0" bIns="0" rtlCol="0" anchor="ctr">
            <a:normAutofit/>
          </a:bodyPr>
          <a:lstStyle/>
          <a:p>
            <a:pPr indent="0" marL="0">
              <a:buNone/>
            </a:pPr>
            <a:r>
              <a:rPr lang="en-US" sz="740" dirty="0">
                <a:solidFill>
                  <a:srgbClr val="4A5B6B"/>
                </a:solidFill>
                <a:latin typeface="Inter" pitchFamily="34" charset="0"/>
                <a:ea typeface="Inter" pitchFamily="34" charset="-122"/>
                <a:cs typeface="Inter" pitchFamily="34" charset="-120"/>
              </a:rPr>
              <a:t>Independent reproduction from pins and manifests</a:t>
            </a:r>
            <a:endParaRPr lang="en-US" sz="740" dirty="0"/>
          </a:p>
        </p:txBody>
      </p:sp>
      <p:sp>
        <p:nvSpPr>
          <p:cNvPr id="49" name="Text 47"/>
          <p:cNvSpPr/>
          <p:nvPr/>
        </p:nvSpPr>
        <p:spPr>
          <a:xfrm>
            <a:off x="8275320" y="3922776"/>
            <a:ext cx="2926080" cy="146304"/>
          </a:xfrm>
          <a:prstGeom prst="rect">
            <a:avLst/>
          </a:prstGeom>
          <a:noFill/>
          <a:ln/>
        </p:spPr>
        <p:txBody>
          <a:bodyPr wrap="square" lIns="0" tIns="0" rIns="0" bIns="0" rtlCol="0" anchor="ctr">
            <a:normAutofit/>
          </a:bodyPr>
          <a:lstStyle/>
          <a:p>
            <a:pPr indent="0" marL="0">
              <a:buNone/>
            </a:pPr>
            <a:r>
              <a:rPr lang="en-US" sz="740" b="1" dirty="0">
                <a:solidFill>
                  <a:srgbClr val="54D6D0"/>
                </a:solidFill>
                <a:latin typeface="Inter" pitchFamily="34" charset="0"/>
                <a:ea typeface="Inter" pitchFamily="34" charset="-122"/>
                <a:cs typeface="Inter" pitchFamily="34" charset="-120"/>
              </a:rPr>
              <a:t>Settlement-grade claims</a:t>
            </a:r>
            <a:endParaRPr lang="en-US" sz="740" dirty="0"/>
          </a:p>
        </p:txBody>
      </p:sp>
      <p:sp>
        <p:nvSpPr>
          <p:cNvPr id="50" name="Shape 48"/>
          <p:cNvSpPr/>
          <p:nvPr/>
        </p:nvSpPr>
        <p:spPr>
          <a:xfrm>
            <a:off x="685800" y="4453128"/>
            <a:ext cx="10835640" cy="457200"/>
          </a:xfrm>
          <a:prstGeom prst="roundRect">
            <a:avLst>
              <a:gd name="adj" fmla="val 6000"/>
            </a:avLst>
          </a:prstGeom>
          <a:solidFill>
            <a:srgbClr val="FFFDF8"/>
          </a:solidFill>
          <a:ln w="12700">
            <a:solidFill>
              <a:srgbClr val="A99CFF"/>
            </a:solidFill>
            <a:prstDash val="solid"/>
          </a:ln>
        </p:spPr>
      </p:sp>
      <p:sp>
        <p:nvSpPr>
          <p:cNvPr id="51" name="Text 49"/>
          <p:cNvSpPr/>
          <p:nvPr/>
        </p:nvSpPr>
        <p:spPr>
          <a:xfrm>
            <a:off x="841248" y="4562856"/>
            <a:ext cx="320040" cy="118872"/>
          </a:xfrm>
          <a:prstGeom prst="rect">
            <a:avLst/>
          </a:prstGeom>
          <a:noFill/>
          <a:ln/>
        </p:spPr>
        <p:txBody>
          <a:bodyPr wrap="square" lIns="0" tIns="0" rIns="0" bIns="0" rtlCol="0" anchor="ctr"/>
          <a:lstStyle/>
          <a:p>
            <a:pPr indent="0" marL="0">
              <a:buNone/>
            </a:pPr>
            <a:r>
              <a:rPr lang="en-US" sz="820" b="1" dirty="0">
                <a:solidFill>
                  <a:srgbClr val="A99CFF"/>
                </a:solidFill>
                <a:latin typeface="Inter Display" pitchFamily="34" charset="0"/>
                <a:ea typeface="Inter Display" pitchFamily="34" charset="-122"/>
                <a:cs typeface="Inter Display" pitchFamily="34" charset="-120"/>
              </a:rPr>
              <a:t>E4</a:t>
            </a:r>
            <a:endParaRPr lang="en-US" sz="820" dirty="0"/>
          </a:p>
        </p:txBody>
      </p:sp>
      <p:sp>
        <p:nvSpPr>
          <p:cNvPr id="52" name="Text 50"/>
          <p:cNvSpPr/>
          <p:nvPr/>
        </p:nvSpPr>
        <p:spPr>
          <a:xfrm>
            <a:off x="1298448" y="4553712"/>
            <a:ext cx="1508760" cy="128016"/>
          </a:xfrm>
          <a:prstGeom prst="rect">
            <a:avLst/>
          </a:prstGeom>
          <a:noFill/>
          <a:ln/>
        </p:spPr>
        <p:txBody>
          <a:bodyPr wrap="square" lIns="0" tIns="0" rIns="0" bIns="0" rtlCol="0" anchor="ctr"/>
          <a:lstStyle/>
          <a:p>
            <a:pPr indent="0" marL="0">
              <a:buNone/>
            </a:pPr>
            <a:r>
              <a:rPr lang="en-US" sz="770" b="1" dirty="0">
                <a:solidFill>
                  <a:srgbClr val="14273D"/>
                </a:solidFill>
                <a:latin typeface="Inter" pitchFamily="34" charset="0"/>
                <a:ea typeface="Inter" pitchFamily="34" charset="-122"/>
                <a:cs typeface="Inter" pitchFamily="34" charset="-120"/>
              </a:rPr>
              <a:t>STRESS-TESTED</a:t>
            </a:r>
            <a:endParaRPr lang="en-US" sz="770" dirty="0"/>
          </a:p>
        </p:txBody>
      </p:sp>
      <p:sp>
        <p:nvSpPr>
          <p:cNvPr id="53" name="Text 51"/>
          <p:cNvSpPr/>
          <p:nvPr/>
        </p:nvSpPr>
        <p:spPr>
          <a:xfrm>
            <a:off x="2880360" y="4544568"/>
            <a:ext cx="5166360" cy="146304"/>
          </a:xfrm>
          <a:prstGeom prst="rect">
            <a:avLst/>
          </a:prstGeom>
          <a:noFill/>
          <a:ln/>
        </p:spPr>
        <p:txBody>
          <a:bodyPr wrap="square" lIns="0" tIns="0" rIns="0" bIns="0" rtlCol="0" anchor="ctr">
            <a:normAutofit/>
          </a:bodyPr>
          <a:lstStyle/>
          <a:p>
            <a:pPr indent="0" marL="0">
              <a:buNone/>
            </a:pPr>
            <a:r>
              <a:rPr lang="en-US" sz="740" dirty="0">
                <a:solidFill>
                  <a:srgbClr val="4A5B6B"/>
                </a:solidFill>
                <a:latin typeface="Inter" pitchFamily="34" charset="0"/>
                <a:ea typeface="Inter" pitchFamily="34" charset="-122"/>
                <a:cs typeface="Inter" pitchFamily="34" charset="-120"/>
              </a:rPr>
              <a:t>Policy shocks, perturbations, alternative seeds</a:t>
            </a:r>
            <a:endParaRPr lang="en-US" sz="740" dirty="0"/>
          </a:p>
        </p:txBody>
      </p:sp>
      <p:sp>
        <p:nvSpPr>
          <p:cNvPr id="54" name="Text 52"/>
          <p:cNvSpPr/>
          <p:nvPr/>
        </p:nvSpPr>
        <p:spPr>
          <a:xfrm>
            <a:off x="8275320" y="4544568"/>
            <a:ext cx="2926080" cy="146304"/>
          </a:xfrm>
          <a:prstGeom prst="rect">
            <a:avLst/>
          </a:prstGeom>
          <a:noFill/>
          <a:ln/>
        </p:spPr>
        <p:txBody>
          <a:bodyPr wrap="square" lIns="0" tIns="0" rIns="0" bIns="0" rtlCol="0" anchor="ctr">
            <a:normAutofit/>
          </a:bodyPr>
          <a:lstStyle/>
          <a:p>
            <a:pPr indent="0" marL="0">
              <a:buNone/>
            </a:pPr>
            <a:r>
              <a:rPr lang="en-US" sz="740" b="1" dirty="0">
                <a:solidFill>
                  <a:srgbClr val="A99CFF"/>
                </a:solidFill>
                <a:latin typeface="Inter" pitchFamily="34" charset="0"/>
                <a:ea typeface="Inter" pitchFamily="34" charset="-122"/>
                <a:cs typeface="Inter" pitchFamily="34" charset="-120"/>
              </a:rPr>
              <a:t>High-novelty requirement</a:t>
            </a:r>
            <a:endParaRPr lang="en-US" sz="740" dirty="0"/>
          </a:p>
        </p:txBody>
      </p:sp>
      <p:sp>
        <p:nvSpPr>
          <p:cNvPr id="55" name="Shape 53"/>
          <p:cNvSpPr/>
          <p:nvPr/>
        </p:nvSpPr>
        <p:spPr>
          <a:xfrm>
            <a:off x="685800" y="5074920"/>
            <a:ext cx="10835640" cy="457200"/>
          </a:xfrm>
          <a:prstGeom prst="roundRect">
            <a:avLst>
              <a:gd name="adj" fmla="val 6000"/>
            </a:avLst>
          </a:prstGeom>
          <a:solidFill>
            <a:srgbClr val="FFFDF8"/>
          </a:solidFill>
          <a:ln w="12700">
            <a:solidFill>
              <a:srgbClr val="43D79B"/>
            </a:solidFill>
            <a:prstDash val="solid"/>
          </a:ln>
        </p:spPr>
      </p:sp>
      <p:sp>
        <p:nvSpPr>
          <p:cNvPr id="56" name="Text 54"/>
          <p:cNvSpPr/>
          <p:nvPr/>
        </p:nvSpPr>
        <p:spPr>
          <a:xfrm>
            <a:off x="841248" y="5184648"/>
            <a:ext cx="320040" cy="118872"/>
          </a:xfrm>
          <a:prstGeom prst="rect">
            <a:avLst/>
          </a:prstGeom>
          <a:noFill/>
          <a:ln/>
        </p:spPr>
        <p:txBody>
          <a:bodyPr wrap="square" lIns="0" tIns="0" rIns="0" bIns="0" rtlCol="0" anchor="ctr"/>
          <a:lstStyle/>
          <a:p>
            <a:pPr indent="0" marL="0">
              <a:buNone/>
            </a:pPr>
            <a:r>
              <a:rPr lang="en-US" sz="820" b="1" dirty="0">
                <a:solidFill>
                  <a:srgbClr val="43D79B"/>
                </a:solidFill>
                <a:latin typeface="Inter Display" pitchFamily="34" charset="0"/>
                <a:ea typeface="Inter Display" pitchFamily="34" charset="-122"/>
                <a:cs typeface="Inter Display" pitchFamily="34" charset="-120"/>
              </a:rPr>
              <a:t>E5</a:t>
            </a:r>
            <a:endParaRPr lang="en-US" sz="820" dirty="0"/>
          </a:p>
        </p:txBody>
      </p:sp>
      <p:sp>
        <p:nvSpPr>
          <p:cNvPr id="57" name="Text 55"/>
          <p:cNvSpPr/>
          <p:nvPr/>
        </p:nvSpPr>
        <p:spPr>
          <a:xfrm>
            <a:off x="1298448" y="5175504"/>
            <a:ext cx="1508760" cy="128016"/>
          </a:xfrm>
          <a:prstGeom prst="rect">
            <a:avLst/>
          </a:prstGeom>
          <a:noFill/>
          <a:ln/>
        </p:spPr>
        <p:txBody>
          <a:bodyPr wrap="square" lIns="0" tIns="0" rIns="0" bIns="0" rtlCol="0" anchor="ctr"/>
          <a:lstStyle/>
          <a:p>
            <a:pPr indent="0" marL="0">
              <a:buNone/>
            </a:pPr>
            <a:r>
              <a:rPr lang="en-US" sz="770" b="1" dirty="0">
                <a:solidFill>
                  <a:srgbClr val="14273D"/>
                </a:solidFill>
                <a:latin typeface="Inter" pitchFamily="34" charset="0"/>
                <a:ea typeface="Inter" pitchFamily="34" charset="-122"/>
                <a:cs typeface="Inter" pitchFamily="34" charset="-120"/>
              </a:rPr>
              <a:t>EXTERNALLY VALIDATED</a:t>
            </a:r>
            <a:endParaRPr lang="en-US" sz="770" dirty="0"/>
          </a:p>
        </p:txBody>
      </p:sp>
      <p:sp>
        <p:nvSpPr>
          <p:cNvPr id="58" name="Text 56"/>
          <p:cNvSpPr/>
          <p:nvPr/>
        </p:nvSpPr>
        <p:spPr>
          <a:xfrm>
            <a:off x="2880360" y="5166360"/>
            <a:ext cx="5166360" cy="146304"/>
          </a:xfrm>
          <a:prstGeom prst="rect">
            <a:avLst/>
          </a:prstGeom>
          <a:noFill/>
          <a:ln/>
        </p:spPr>
        <p:txBody>
          <a:bodyPr wrap="square" lIns="0" tIns="0" rIns="0" bIns="0" rtlCol="0" anchor="ctr">
            <a:normAutofit/>
          </a:bodyPr>
          <a:lstStyle/>
          <a:p>
            <a:pPr indent="0" marL="0">
              <a:buNone/>
            </a:pPr>
            <a:r>
              <a:rPr lang="en-US" sz="740" dirty="0">
                <a:solidFill>
                  <a:srgbClr val="4A5B6B"/>
                </a:solidFill>
                <a:latin typeface="Inter" pitchFamily="34" charset="0"/>
                <a:ea typeface="Inter" pitchFamily="34" charset="-122"/>
                <a:cs typeface="Inter" pitchFamily="34" charset="-120"/>
              </a:rPr>
              <a:t>External reviewer, field outcome, independent lab</a:t>
            </a:r>
            <a:endParaRPr lang="en-US" sz="740" dirty="0"/>
          </a:p>
        </p:txBody>
      </p:sp>
      <p:sp>
        <p:nvSpPr>
          <p:cNvPr id="59" name="Text 57"/>
          <p:cNvSpPr/>
          <p:nvPr/>
        </p:nvSpPr>
        <p:spPr>
          <a:xfrm>
            <a:off x="8275320" y="5166360"/>
            <a:ext cx="2926080" cy="146304"/>
          </a:xfrm>
          <a:prstGeom prst="rect">
            <a:avLst/>
          </a:prstGeom>
          <a:noFill/>
          <a:ln/>
        </p:spPr>
        <p:txBody>
          <a:bodyPr wrap="square" lIns="0" tIns="0" rIns="0" bIns="0" rtlCol="0" anchor="ctr">
            <a:normAutofit/>
          </a:bodyPr>
          <a:lstStyle/>
          <a:p>
            <a:pPr indent="0" marL="0">
              <a:buNone/>
            </a:pPr>
            <a:r>
              <a:rPr lang="en-US" sz="740" b="1" dirty="0">
                <a:solidFill>
                  <a:srgbClr val="43D79B"/>
                </a:solidFill>
                <a:latin typeface="Inter" pitchFamily="34" charset="0"/>
                <a:ea typeface="Inter" pitchFamily="34" charset="-122"/>
                <a:cs typeface="Inter" pitchFamily="34" charset="-120"/>
              </a:rPr>
              <a:t>Strong empirical claims</a:t>
            </a:r>
            <a:endParaRPr lang="en-US" sz="740" dirty="0"/>
          </a:p>
        </p:txBody>
      </p:sp>
      <p:sp>
        <p:nvSpPr>
          <p:cNvPr id="60" name="Text 58"/>
          <p:cNvSpPr/>
          <p:nvPr/>
        </p:nvSpPr>
        <p:spPr>
          <a:xfrm>
            <a:off x="960120" y="5815584"/>
            <a:ext cx="10287000" cy="320040"/>
          </a:xfrm>
          <a:prstGeom prst="rect">
            <a:avLst/>
          </a:prstGeom>
          <a:noFill/>
          <a:ln/>
        </p:spPr>
        <p:txBody>
          <a:bodyPr wrap="square" lIns="0" tIns="0" rIns="0" bIns="0" rtlCol="0" anchor="ctr">
            <a:normAutofit/>
          </a:bodyPr>
          <a:lstStyle/>
          <a:p>
            <a:pPr algn="ctr" indent="0" marL="0">
              <a:buNone/>
            </a:pPr>
            <a:r>
              <a:rPr lang="en-US" sz="1060" b="1" dirty="0">
                <a:solidFill>
                  <a:srgbClr val="14273D"/>
                </a:solidFill>
                <a:latin typeface="Inter" pitchFamily="34" charset="0"/>
                <a:ea typeface="Inter" pitchFamily="34" charset="-122"/>
                <a:cs typeface="Inter" pitchFamily="34" charset="-120"/>
              </a:rPr>
              <a:t>Evidence level is not a decorative label. It limits what the system may claim and what authority the artifact may earn.</a:t>
            </a:r>
            <a:endParaRPr lang="en-US" sz="106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BASELINE DISCIPLINE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No advantage without comparators.</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An improvement claim is meaningless unless the candidate beats relevant alternatives under equal constraints.</a:t>
            </a:r>
            <a:endParaRPr lang="en-US" sz="1450" dirty="0"/>
          </a:p>
        </p:txBody>
      </p:sp>
      <p:sp>
        <p:nvSpPr>
          <p:cNvPr id="30" name="Shape 28"/>
          <p:cNvSpPr/>
          <p:nvPr/>
        </p:nvSpPr>
        <p:spPr>
          <a:xfrm>
            <a:off x="621792" y="2103120"/>
            <a:ext cx="3566160" cy="1161288"/>
          </a:xfrm>
          <a:prstGeom prst="roundRect">
            <a:avLst>
              <a:gd name="adj" fmla="val 6299"/>
            </a:avLst>
          </a:prstGeom>
          <a:solidFill>
            <a:srgbClr val="102238"/>
          </a:solidFill>
          <a:ln w="10160">
            <a:solidFill>
              <a:srgbClr val="FF7584"/>
            </a:solidFill>
            <a:prstDash val="solid"/>
          </a:ln>
        </p:spPr>
      </p:sp>
      <p:sp>
        <p:nvSpPr>
          <p:cNvPr id="31" name="Text 29"/>
          <p:cNvSpPr/>
          <p:nvPr/>
        </p:nvSpPr>
        <p:spPr>
          <a:xfrm>
            <a:off x="777240" y="2231136"/>
            <a:ext cx="32552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B0 · NULL</a:t>
            </a:r>
            <a:endParaRPr lang="en-US" sz="680" dirty="0"/>
          </a:p>
        </p:txBody>
      </p:sp>
      <p:sp>
        <p:nvSpPr>
          <p:cNvPr id="32" name="Text 30"/>
          <p:cNvSpPr/>
          <p:nvPr/>
        </p:nvSpPr>
        <p:spPr>
          <a:xfrm>
            <a:off x="777240" y="2359152"/>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No intervention or trivial policy</a:t>
            </a:r>
            <a:endParaRPr lang="en-US" sz="1320" dirty="0"/>
          </a:p>
        </p:txBody>
      </p:sp>
      <p:sp>
        <p:nvSpPr>
          <p:cNvPr id="33" name="Text 31"/>
          <p:cNvSpPr/>
          <p:nvPr/>
        </p:nvSpPr>
        <p:spPr>
          <a:xfrm>
            <a:off x="777240" y="2761488"/>
            <a:ext cx="3255264" cy="365760"/>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Same tasks · same budget · same tools · same stopping rule.</a:t>
            </a:r>
            <a:endParaRPr lang="en-US" sz="780" dirty="0"/>
          </a:p>
        </p:txBody>
      </p:sp>
      <p:sp>
        <p:nvSpPr>
          <p:cNvPr id="34" name="Shape 32"/>
          <p:cNvSpPr/>
          <p:nvPr/>
        </p:nvSpPr>
        <p:spPr>
          <a:xfrm>
            <a:off x="4443984" y="2103120"/>
            <a:ext cx="3566160" cy="1161288"/>
          </a:xfrm>
          <a:prstGeom prst="roundRect">
            <a:avLst>
              <a:gd name="adj" fmla="val 6299"/>
            </a:avLst>
          </a:prstGeom>
          <a:solidFill>
            <a:srgbClr val="102238"/>
          </a:solidFill>
          <a:ln w="10160">
            <a:solidFill>
              <a:srgbClr val="E7BD62"/>
            </a:solidFill>
            <a:prstDash val="solid"/>
          </a:ln>
        </p:spPr>
      </p:sp>
      <p:sp>
        <p:nvSpPr>
          <p:cNvPr id="35" name="Text 33"/>
          <p:cNvSpPr/>
          <p:nvPr/>
        </p:nvSpPr>
        <p:spPr>
          <a:xfrm>
            <a:off x="4599432" y="2231136"/>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B1 · INCUMBENT</a:t>
            </a:r>
            <a:endParaRPr lang="en-US" sz="680" dirty="0"/>
          </a:p>
        </p:txBody>
      </p:sp>
      <p:sp>
        <p:nvSpPr>
          <p:cNvPr id="36" name="Text 34"/>
          <p:cNvSpPr/>
          <p:nvPr/>
        </p:nvSpPr>
        <p:spPr>
          <a:xfrm>
            <a:off x="4599432" y="2359152"/>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Current best validated artifact</a:t>
            </a:r>
            <a:endParaRPr lang="en-US" sz="1320" dirty="0"/>
          </a:p>
        </p:txBody>
      </p:sp>
      <p:sp>
        <p:nvSpPr>
          <p:cNvPr id="37" name="Text 35"/>
          <p:cNvSpPr/>
          <p:nvPr/>
        </p:nvSpPr>
        <p:spPr>
          <a:xfrm>
            <a:off x="4599432" y="2761488"/>
            <a:ext cx="3255264" cy="365760"/>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Same tasks · same budget · same tools · same stopping rule.</a:t>
            </a:r>
            <a:endParaRPr lang="en-US" sz="780" dirty="0"/>
          </a:p>
        </p:txBody>
      </p:sp>
      <p:sp>
        <p:nvSpPr>
          <p:cNvPr id="38" name="Shape 36"/>
          <p:cNvSpPr/>
          <p:nvPr/>
        </p:nvSpPr>
        <p:spPr>
          <a:xfrm>
            <a:off x="8266176" y="2103120"/>
            <a:ext cx="3566160" cy="1161288"/>
          </a:xfrm>
          <a:prstGeom prst="roundRect">
            <a:avLst>
              <a:gd name="adj" fmla="val 6299"/>
            </a:avLst>
          </a:prstGeom>
          <a:solidFill>
            <a:srgbClr val="102238"/>
          </a:solidFill>
          <a:ln w="10160">
            <a:solidFill>
              <a:srgbClr val="6FB5FF"/>
            </a:solidFill>
            <a:prstDash val="solid"/>
          </a:ln>
        </p:spPr>
      </p:sp>
      <p:sp>
        <p:nvSpPr>
          <p:cNvPr id="39" name="Text 37"/>
          <p:cNvSpPr/>
          <p:nvPr/>
        </p:nvSpPr>
        <p:spPr>
          <a:xfrm>
            <a:off x="8421624" y="2231136"/>
            <a:ext cx="32552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B2 · NEAREST NEIGHBOR</a:t>
            </a:r>
            <a:endParaRPr lang="en-US" sz="680" dirty="0"/>
          </a:p>
        </p:txBody>
      </p:sp>
      <p:sp>
        <p:nvSpPr>
          <p:cNvPr id="40" name="Text 38"/>
          <p:cNvSpPr/>
          <p:nvPr/>
        </p:nvSpPr>
        <p:spPr>
          <a:xfrm>
            <a:off x="8421624" y="2359152"/>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Best adjacent archive cell</a:t>
            </a:r>
            <a:endParaRPr lang="en-US" sz="1320" dirty="0"/>
          </a:p>
        </p:txBody>
      </p:sp>
      <p:sp>
        <p:nvSpPr>
          <p:cNvPr id="41" name="Text 39"/>
          <p:cNvSpPr/>
          <p:nvPr/>
        </p:nvSpPr>
        <p:spPr>
          <a:xfrm>
            <a:off x="8421624" y="2761488"/>
            <a:ext cx="3255264" cy="365760"/>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Same tasks · same budget · same tools · same stopping rule.</a:t>
            </a:r>
            <a:endParaRPr lang="en-US" sz="780" dirty="0"/>
          </a:p>
        </p:txBody>
      </p:sp>
      <p:sp>
        <p:nvSpPr>
          <p:cNvPr id="42" name="Shape 40"/>
          <p:cNvSpPr/>
          <p:nvPr/>
        </p:nvSpPr>
        <p:spPr>
          <a:xfrm>
            <a:off x="621792" y="3538728"/>
            <a:ext cx="3566160" cy="1161288"/>
          </a:xfrm>
          <a:prstGeom prst="roundRect">
            <a:avLst>
              <a:gd name="adj" fmla="val 6299"/>
            </a:avLst>
          </a:prstGeom>
          <a:solidFill>
            <a:srgbClr val="102238"/>
          </a:solidFill>
          <a:ln w="10160">
            <a:solidFill>
              <a:srgbClr val="54D6D0"/>
            </a:solidFill>
            <a:prstDash val="solid"/>
          </a:ln>
        </p:spPr>
      </p:sp>
      <p:sp>
        <p:nvSpPr>
          <p:cNvPr id="43" name="Text 41"/>
          <p:cNvSpPr/>
          <p:nvPr/>
        </p:nvSpPr>
        <p:spPr>
          <a:xfrm>
            <a:off x="777240" y="3666744"/>
            <a:ext cx="32552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B3 · STATIC WORKFLOW</a:t>
            </a:r>
            <a:endParaRPr lang="en-US" sz="680" dirty="0"/>
          </a:p>
        </p:txBody>
      </p:sp>
      <p:sp>
        <p:nvSpPr>
          <p:cNvPr id="44" name="Text 42"/>
          <p:cNvSpPr/>
          <p:nvPr/>
        </p:nvSpPr>
        <p:spPr>
          <a:xfrm>
            <a:off x="777240" y="3794760"/>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Hand-designed or fixed process</a:t>
            </a:r>
            <a:endParaRPr lang="en-US" sz="1320" dirty="0"/>
          </a:p>
        </p:txBody>
      </p:sp>
      <p:sp>
        <p:nvSpPr>
          <p:cNvPr id="45" name="Text 43"/>
          <p:cNvSpPr/>
          <p:nvPr/>
        </p:nvSpPr>
        <p:spPr>
          <a:xfrm>
            <a:off x="777240" y="4197096"/>
            <a:ext cx="3255264" cy="365760"/>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Same tasks · same budget · same tools · same stopping rule.</a:t>
            </a:r>
            <a:endParaRPr lang="en-US" sz="780" dirty="0"/>
          </a:p>
        </p:txBody>
      </p:sp>
      <p:sp>
        <p:nvSpPr>
          <p:cNvPr id="46" name="Shape 44"/>
          <p:cNvSpPr/>
          <p:nvPr/>
        </p:nvSpPr>
        <p:spPr>
          <a:xfrm>
            <a:off x="4443984" y="3538728"/>
            <a:ext cx="3566160" cy="1161288"/>
          </a:xfrm>
          <a:prstGeom prst="roundRect">
            <a:avLst>
              <a:gd name="adj" fmla="val 6299"/>
            </a:avLst>
          </a:prstGeom>
          <a:solidFill>
            <a:srgbClr val="102238"/>
          </a:solidFill>
          <a:ln w="10160">
            <a:solidFill>
              <a:srgbClr val="A99CFF"/>
            </a:solidFill>
            <a:prstDash val="solid"/>
          </a:ln>
        </p:spPr>
      </p:sp>
      <p:sp>
        <p:nvSpPr>
          <p:cNvPr id="47" name="Text 45"/>
          <p:cNvSpPr/>
          <p:nvPr/>
        </p:nvSpPr>
        <p:spPr>
          <a:xfrm>
            <a:off x="4599432" y="3666744"/>
            <a:ext cx="325526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B4 · STRONGEST SINGLE AGENT</a:t>
            </a:r>
            <a:endParaRPr lang="en-US" sz="680" dirty="0"/>
          </a:p>
        </p:txBody>
      </p:sp>
      <p:sp>
        <p:nvSpPr>
          <p:cNvPr id="48" name="Text 46"/>
          <p:cNvSpPr/>
          <p:nvPr/>
        </p:nvSpPr>
        <p:spPr>
          <a:xfrm>
            <a:off x="4599432" y="3794760"/>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One-model / one-agent baseline</a:t>
            </a:r>
            <a:endParaRPr lang="en-US" sz="1320" dirty="0"/>
          </a:p>
        </p:txBody>
      </p:sp>
      <p:sp>
        <p:nvSpPr>
          <p:cNvPr id="49" name="Text 47"/>
          <p:cNvSpPr/>
          <p:nvPr/>
        </p:nvSpPr>
        <p:spPr>
          <a:xfrm>
            <a:off x="4599432" y="4197096"/>
            <a:ext cx="3255264" cy="365760"/>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Same tasks · same budget · same tools · same stopping rule.</a:t>
            </a:r>
            <a:endParaRPr lang="en-US" sz="780" dirty="0"/>
          </a:p>
        </p:txBody>
      </p:sp>
      <p:sp>
        <p:nvSpPr>
          <p:cNvPr id="50" name="Shape 48"/>
          <p:cNvSpPr/>
          <p:nvPr/>
        </p:nvSpPr>
        <p:spPr>
          <a:xfrm>
            <a:off x="8266176" y="3538728"/>
            <a:ext cx="3566160" cy="1161288"/>
          </a:xfrm>
          <a:prstGeom prst="roundRect">
            <a:avLst>
              <a:gd name="adj" fmla="val 6299"/>
            </a:avLst>
          </a:prstGeom>
          <a:solidFill>
            <a:srgbClr val="102238"/>
          </a:solidFill>
          <a:ln w="10160">
            <a:solidFill>
              <a:srgbClr val="43D79B"/>
            </a:solidFill>
            <a:prstDash val="solid"/>
          </a:ln>
        </p:spPr>
      </p:sp>
      <p:sp>
        <p:nvSpPr>
          <p:cNvPr id="51" name="Text 49"/>
          <p:cNvSpPr/>
          <p:nvPr/>
        </p:nvSpPr>
        <p:spPr>
          <a:xfrm>
            <a:off x="8421624" y="3666744"/>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B5 · CURRENT STACK</a:t>
            </a:r>
            <a:endParaRPr lang="en-US" sz="680" dirty="0"/>
          </a:p>
        </p:txBody>
      </p:sp>
      <p:sp>
        <p:nvSpPr>
          <p:cNvPr id="52" name="Text 50"/>
          <p:cNvSpPr/>
          <p:nvPr/>
        </p:nvSpPr>
        <p:spPr>
          <a:xfrm>
            <a:off x="8421624" y="3794760"/>
            <a:ext cx="3255264" cy="329184"/>
          </a:xfrm>
          <a:prstGeom prst="rect">
            <a:avLst/>
          </a:prstGeom>
          <a:noFill/>
          <a:ln/>
        </p:spPr>
        <p:txBody>
          <a:bodyPr wrap="square" lIns="0" tIns="0" rIns="0" bIns="0" rtlCol="0" anchor="ctr">
            <a:normAutofit/>
          </a:bodyPr>
          <a:lstStyle/>
          <a:p>
            <a:pPr indent="0" marL="0">
              <a:buNone/>
            </a:pPr>
            <a:r>
              <a:rPr lang="en-US" sz="1320" b="1" dirty="0">
                <a:solidFill>
                  <a:srgbClr val="F7FBFF"/>
                </a:solidFill>
                <a:latin typeface="Inter Display" pitchFamily="34" charset="0"/>
                <a:ea typeface="Inter Display" pitchFamily="34" charset="-122"/>
                <a:cs typeface="Inter Display" pitchFamily="34" charset="-120"/>
              </a:rPr>
              <a:t>Existing routed, validator-gated system</a:t>
            </a:r>
            <a:endParaRPr lang="en-US" sz="1320" dirty="0"/>
          </a:p>
        </p:txBody>
      </p:sp>
      <p:sp>
        <p:nvSpPr>
          <p:cNvPr id="53" name="Text 51"/>
          <p:cNvSpPr/>
          <p:nvPr/>
        </p:nvSpPr>
        <p:spPr>
          <a:xfrm>
            <a:off x="8421624" y="4197096"/>
            <a:ext cx="3255264" cy="365760"/>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Same tasks · same budget · same tools · same stopping rule.</a:t>
            </a:r>
            <a:endParaRPr lang="en-US" sz="780" dirty="0"/>
          </a:p>
        </p:txBody>
      </p:sp>
      <p:sp>
        <p:nvSpPr>
          <p:cNvPr id="54" name="Text 52"/>
          <p:cNvSpPr/>
          <p:nvPr/>
        </p:nvSpPr>
        <p:spPr>
          <a:xfrm>
            <a:off x="1143000" y="5303520"/>
            <a:ext cx="9921240" cy="365760"/>
          </a:xfrm>
          <a:prstGeom prst="rect">
            <a:avLst/>
          </a:prstGeom>
          <a:noFill/>
          <a:ln/>
        </p:spPr>
        <p:txBody>
          <a:bodyPr wrap="square" lIns="0" tIns="0" rIns="0" bIns="0" rtlCol="0" anchor="ctr">
            <a:normAutofit/>
          </a:bodyPr>
          <a:lstStyle/>
          <a:p>
            <a:pPr algn="ctr" indent="0" marL="0">
              <a:buNone/>
            </a:pPr>
            <a:r>
              <a:rPr lang="en-US" sz="1500" b="1" dirty="0">
                <a:solidFill>
                  <a:srgbClr val="E7BD62"/>
                </a:solidFill>
                <a:latin typeface="Inter Display" pitchFamily="34" charset="0"/>
                <a:ea typeface="Inter Display" pitchFamily="34" charset="-122"/>
                <a:cs typeface="Inter Display" pitchFamily="34" charset="-120"/>
              </a:rPr>
              <a:t>Advantage = verified value gain − cost delta − risk delta − coordination overhead.</a:t>
            </a:r>
            <a:endParaRPr lang="en-US" sz="15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MOVE-37 HANDLING</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700" b="1" dirty="0">
                <a:solidFill>
                  <a:srgbClr val="14273D"/>
                </a:solidFill>
                <a:latin typeface="Inter Display" pitchFamily="34" charset="0"/>
                <a:ea typeface="Inter Display" pitchFamily="34" charset="-122"/>
                <a:cs typeface="Inter Display" pitchFamily="34" charset="-120"/>
              </a:rPr>
              <a:t>High novelty increases skepticism. It does not lower the burden of proof.</a:t>
            </a:r>
            <a:endParaRPr lang="en-US" sz="27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A breakthrough is admitted as a deterministic state transition—not a narrative.</a:t>
            </a:r>
            <a:endParaRPr lang="en-US" sz="1450" dirty="0"/>
          </a:p>
        </p:txBody>
      </p:sp>
      <p:sp>
        <p:nvSpPr>
          <p:cNvPr id="30" name="Shape 28"/>
          <p:cNvSpPr/>
          <p:nvPr/>
        </p:nvSpPr>
        <p:spPr>
          <a:xfrm>
            <a:off x="685800" y="2240280"/>
            <a:ext cx="2029968" cy="1965960"/>
          </a:xfrm>
          <a:prstGeom prst="roundRect">
            <a:avLst>
              <a:gd name="adj" fmla="val 3721"/>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841248" y="2368296"/>
            <a:ext cx="1719072"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1 · RECOGNIZE</a:t>
            </a:r>
            <a:endParaRPr lang="en-US" sz="680" dirty="0"/>
          </a:p>
        </p:txBody>
      </p:sp>
      <p:sp>
        <p:nvSpPr>
          <p:cNvPr id="32" name="Text 30"/>
          <p:cNvSpPr/>
          <p:nvPr/>
        </p:nvSpPr>
        <p:spPr>
          <a:xfrm>
            <a:off x="841248" y="2496312"/>
            <a:ext cx="1719072" cy="329184"/>
          </a:xfrm>
          <a:prstGeom prst="rect">
            <a:avLst/>
          </a:prstGeom>
          <a:noFill/>
          <a:ln/>
        </p:spPr>
        <p:txBody>
          <a:bodyPr wrap="square" lIns="0" tIns="0" rIns="0" bIns="0" rtlCol="0" anchor="ctr">
            <a:normAutofit/>
          </a:bodyPr>
          <a:lstStyle/>
          <a:p>
            <a:pPr indent="0" marL="0">
              <a:buNone/>
            </a:pPr>
            <a:r>
              <a:rPr lang="en-US" sz="1300" b="1" dirty="0">
                <a:solidFill>
                  <a:srgbClr val="14273D"/>
                </a:solidFill>
                <a:latin typeface="Inter Display" pitchFamily="34" charset="0"/>
                <a:ea typeface="Inter Display" pitchFamily="34" charset="-122"/>
                <a:cs typeface="Inter Display" pitchFamily="34" charset="-120"/>
              </a:rPr>
              <a:t>Novelty + advantage + risk + ECI gates</a:t>
            </a:r>
            <a:endParaRPr lang="en-US" sz="1300" dirty="0"/>
          </a:p>
        </p:txBody>
      </p:sp>
      <p:sp>
        <p:nvSpPr>
          <p:cNvPr id="33" name="Text 31"/>
          <p:cNvSpPr/>
          <p:nvPr/>
        </p:nvSpPr>
        <p:spPr>
          <a:xfrm>
            <a:off x="841248" y="2898648"/>
            <a:ext cx="1719072" cy="1170432"/>
          </a:xfrm>
          <a:prstGeom prst="rect">
            <a:avLst/>
          </a:prstGeom>
          <a:noFill/>
          <a:ln/>
        </p:spPr>
        <p:txBody>
          <a:bodyPr wrap="square" lIns="0" tIns="0" rIns="0" bIns="0" rtlCol="0" anchor="t">
            <a:normAutofit/>
          </a:bodyPr>
          <a:lstStyle/>
          <a:p>
            <a:pPr indent="0" marL="0">
              <a:buNone/>
            </a:pPr>
            <a:r>
              <a:rPr lang="en-US" sz="840" dirty="0">
                <a:solidFill>
                  <a:srgbClr val="43566A"/>
                </a:solidFill>
                <a:latin typeface="Inter" pitchFamily="34" charset="0"/>
                <a:ea typeface="Inter" pitchFamily="34" charset="-122"/>
                <a:cs typeface="Inter" pitchFamily="34" charset="-120"/>
              </a:rPr>
              <a:t>Mandatory before strategic promotion.</a:t>
            </a:r>
            <a:endParaRPr lang="en-US" sz="840" dirty="0"/>
          </a:p>
        </p:txBody>
      </p:sp>
      <p:sp>
        <p:nvSpPr>
          <p:cNvPr id="34" name="Shape 32"/>
          <p:cNvSpPr/>
          <p:nvPr/>
        </p:nvSpPr>
        <p:spPr>
          <a:xfrm>
            <a:off x="2715768" y="3218688"/>
            <a:ext cx="237744" cy="0"/>
          </a:xfrm>
          <a:prstGeom prst="line">
            <a:avLst/>
          </a:prstGeom>
          <a:noFill/>
          <a:ln w="12700">
            <a:solidFill>
              <a:srgbClr val="E7BD62"/>
            </a:solidFill>
            <a:prstDash val="solid"/>
            <a:tailEnd type="triangle"/>
          </a:ln>
        </p:spPr>
      </p:sp>
      <p:sp>
        <p:nvSpPr>
          <p:cNvPr id="35" name="Shape 33"/>
          <p:cNvSpPr/>
          <p:nvPr/>
        </p:nvSpPr>
        <p:spPr>
          <a:xfrm>
            <a:off x="2953512" y="2240280"/>
            <a:ext cx="2029968" cy="1965960"/>
          </a:xfrm>
          <a:prstGeom prst="roundRect">
            <a:avLst>
              <a:gd name="adj" fmla="val 3721"/>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6" name="Text 34"/>
          <p:cNvSpPr/>
          <p:nvPr/>
        </p:nvSpPr>
        <p:spPr>
          <a:xfrm>
            <a:off x="3108960" y="2368296"/>
            <a:ext cx="1719072"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2 · REPRODUCE</a:t>
            </a:r>
            <a:endParaRPr lang="en-US" sz="680" dirty="0"/>
          </a:p>
        </p:txBody>
      </p:sp>
      <p:sp>
        <p:nvSpPr>
          <p:cNvPr id="37" name="Text 35"/>
          <p:cNvSpPr/>
          <p:nvPr/>
        </p:nvSpPr>
        <p:spPr>
          <a:xfrm>
            <a:off x="3108960" y="2496312"/>
            <a:ext cx="1719072" cy="329184"/>
          </a:xfrm>
          <a:prstGeom prst="rect">
            <a:avLst/>
          </a:prstGeom>
          <a:noFill/>
          <a:ln/>
        </p:spPr>
        <p:txBody>
          <a:bodyPr wrap="square" lIns="0" tIns="0" rIns="0" bIns="0" rtlCol="0" anchor="ctr">
            <a:normAutofit/>
          </a:bodyPr>
          <a:lstStyle/>
          <a:p>
            <a:pPr indent="0" marL="0">
              <a:buNone/>
            </a:pPr>
            <a:r>
              <a:rPr lang="en-US" sz="1300" b="1" dirty="0">
                <a:solidFill>
                  <a:srgbClr val="14273D"/>
                </a:solidFill>
                <a:latin typeface="Inter Display" pitchFamily="34" charset="0"/>
                <a:ea typeface="Inter Display" pitchFamily="34" charset="-122"/>
                <a:cs typeface="Inter Display" pitchFamily="34" charset="-120"/>
              </a:rPr>
              <a:t>Rerun candidate and baselines with fixed seeds</a:t>
            </a:r>
            <a:endParaRPr lang="en-US" sz="1300" dirty="0"/>
          </a:p>
        </p:txBody>
      </p:sp>
      <p:sp>
        <p:nvSpPr>
          <p:cNvPr id="38" name="Text 36"/>
          <p:cNvSpPr/>
          <p:nvPr/>
        </p:nvSpPr>
        <p:spPr>
          <a:xfrm>
            <a:off x="3108960" y="2898648"/>
            <a:ext cx="1719072" cy="1170432"/>
          </a:xfrm>
          <a:prstGeom prst="rect">
            <a:avLst/>
          </a:prstGeom>
          <a:noFill/>
          <a:ln/>
        </p:spPr>
        <p:txBody>
          <a:bodyPr wrap="square" lIns="0" tIns="0" rIns="0" bIns="0" rtlCol="0" anchor="t">
            <a:normAutofit/>
          </a:bodyPr>
          <a:lstStyle/>
          <a:p>
            <a:pPr indent="0" marL="0">
              <a:buNone/>
            </a:pPr>
            <a:r>
              <a:rPr lang="en-US" sz="840" dirty="0">
                <a:solidFill>
                  <a:srgbClr val="43566A"/>
                </a:solidFill>
                <a:latin typeface="Inter" pitchFamily="34" charset="0"/>
                <a:ea typeface="Inter" pitchFamily="34" charset="-122"/>
                <a:cs typeface="Inter" pitchFamily="34" charset="-120"/>
              </a:rPr>
              <a:t>Mandatory before strategic promotion.</a:t>
            </a:r>
            <a:endParaRPr lang="en-US" sz="840" dirty="0"/>
          </a:p>
        </p:txBody>
      </p:sp>
      <p:sp>
        <p:nvSpPr>
          <p:cNvPr id="39" name="Shape 37"/>
          <p:cNvSpPr/>
          <p:nvPr/>
        </p:nvSpPr>
        <p:spPr>
          <a:xfrm>
            <a:off x="4983480" y="3218688"/>
            <a:ext cx="237744" cy="0"/>
          </a:xfrm>
          <a:prstGeom prst="line">
            <a:avLst/>
          </a:prstGeom>
          <a:noFill/>
          <a:ln w="12700">
            <a:solidFill>
              <a:srgbClr val="E7BD62"/>
            </a:solidFill>
            <a:prstDash val="solid"/>
            <a:tailEnd type="triangle"/>
          </a:ln>
        </p:spPr>
      </p:sp>
      <p:sp>
        <p:nvSpPr>
          <p:cNvPr id="40" name="Shape 38"/>
          <p:cNvSpPr/>
          <p:nvPr/>
        </p:nvSpPr>
        <p:spPr>
          <a:xfrm>
            <a:off x="5221224" y="2240280"/>
            <a:ext cx="2029968" cy="1965960"/>
          </a:xfrm>
          <a:prstGeom prst="roundRect">
            <a:avLst>
              <a:gd name="adj" fmla="val 3721"/>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41" name="Text 39"/>
          <p:cNvSpPr/>
          <p:nvPr/>
        </p:nvSpPr>
        <p:spPr>
          <a:xfrm>
            <a:off x="5376672" y="2368296"/>
            <a:ext cx="1719072"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3 · STRESS-TEST</a:t>
            </a:r>
            <a:endParaRPr lang="en-US" sz="680" dirty="0"/>
          </a:p>
        </p:txBody>
      </p:sp>
      <p:sp>
        <p:nvSpPr>
          <p:cNvPr id="42" name="Text 40"/>
          <p:cNvSpPr/>
          <p:nvPr/>
        </p:nvSpPr>
        <p:spPr>
          <a:xfrm>
            <a:off x="5376672" y="2496312"/>
            <a:ext cx="1719072" cy="329184"/>
          </a:xfrm>
          <a:prstGeom prst="rect">
            <a:avLst/>
          </a:prstGeom>
          <a:noFill/>
          <a:ln/>
        </p:spPr>
        <p:txBody>
          <a:bodyPr wrap="square" lIns="0" tIns="0" rIns="0" bIns="0" rtlCol="0" anchor="ctr">
            <a:normAutofit/>
          </a:bodyPr>
          <a:lstStyle/>
          <a:p>
            <a:pPr indent="0" marL="0">
              <a:buNone/>
            </a:pPr>
            <a:r>
              <a:rPr lang="en-US" sz="1300" b="1" dirty="0">
                <a:solidFill>
                  <a:srgbClr val="14273D"/>
                </a:solidFill>
                <a:latin typeface="Inter Display" pitchFamily="34" charset="0"/>
                <a:ea typeface="Inter Display" pitchFamily="34" charset="-122"/>
                <a:cs typeface="Inter Display" pitchFamily="34" charset="-120"/>
              </a:rPr>
              <a:t>Policy shocks, adversarial probes, side effects</a:t>
            </a:r>
            <a:endParaRPr lang="en-US" sz="1300" dirty="0"/>
          </a:p>
        </p:txBody>
      </p:sp>
      <p:sp>
        <p:nvSpPr>
          <p:cNvPr id="43" name="Text 41"/>
          <p:cNvSpPr/>
          <p:nvPr/>
        </p:nvSpPr>
        <p:spPr>
          <a:xfrm>
            <a:off x="5376672" y="2898648"/>
            <a:ext cx="1719072" cy="1170432"/>
          </a:xfrm>
          <a:prstGeom prst="rect">
            <a:avLst/>
          </a:prstGeom>
          <a:noFill/>
          <a:ln/>
        </p:spPr>
        <p:txBody>
          <a:bodyPr wrap="square" lIns="0" tIns="0" rIns="0" bIns="0" rtlCol="0" anchor="t">
            <a:normAutofit/>
          </a:bodyPr>
          <a:lstStyle/>
          <a:p>
            <a:pPr indent="0" marL="0">
              <a:buNone/>
            </a:pPr>
            <a:r>
              <a:rPr lang="en-US" sz="840" dirty="0">
                <a:solidFill>
                  <a:srgbClr val="43566A"/>
                </a:solidFill>
                <a:latin typeface="Inter" pitchFamily="34" charset="0"/>
                <a:ea typeface="Inter" pitchFamily="34" charset="-122"/>
                <a:cs typeface="Inter" pitchFamily="34" charset="-120"/>
              </a:rPr>
              <a:t>Mandatory before strategic promotion.</a:t>
            </a:r>
            <a:endParaRPr lang="en-US" sz="840" dirty="0"/>
          </a:p>
        </p:txBody>
      </p:sp>
      <p:sp>
        <p:nvSpPr>
          <p:cNvPr id="44" name="Shape 42"/>
          <p:cNvSpPr/>
          <p:nvPr/>
        </p:nvSpPr>
        <p:spPr>
          <a:xfrm>
            <a:off x="7251192" y="3218688"/>
            <a:ext cx="237744" cy="0"/>
          </a:xfrm>
          <a:prstGeom prst="line">
            <a:avLst/>
          </a:prstGeom>
          <a:noFill/>
          <a:ln w="12700">
            <a:solidFill>
              <a:srgbClr val="E7BD62"/>
            </a:solidFill>
            <a:prstDash val="solid"/>
            <a:tailEnd type="triangle"/>
          </a:ln>
        </p:spPr>
      </p:sp>
      <p:sp>
        <p:nvSpPr>
          <p:cNvPr id="45" name="Shape 43"/>
          <p:cNvSpPr/>
          <p:nvPr/>
        </p:nvSpPr>
        <p:spPr>
          <a:xfrm>
            <a:off x="7488936" y="2240280"/>
            <a:ext cx="2029968" cy="1965960"/>
          </a:xfrm>
          <a:prstGeom prst="roundRect">
            <a:avLst>
              <a:gd name="adj" fmla="val 3721"/>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46" name="Text 44"/>
          <p:cNvSpPr/>
          <p:nvPr/>
        </p:nvSpPr>
        <p:spPr>
          <a:xfrm>
            <a:off x="7644384" y="2368296"/>
            <a:ext cx="1719072"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4 · PERSISTENCE</a:t>
            </a:r>
            <a:endParaRPr lang="en-US" sz="680" dirty="0"/>
          </a:p>
        </p:txBody>
      </p:sp>
      <p:sp>
        <p:nvSpPr>
          <p:cNvPr id="47" name="Text 45"/>
          <p:cNvSpPr/>
          <p:nvPr/>
        </p:nvSpPr>
        <p:spPr>
          <a:xfrm>
            <a:off x="7644384" y="2496312"/>
            <a:ext cx="1719072" cy="329184"/>
          </a:xfrm>
          <a:prstGeom prst="rect">
            <a:avLst/>
          </a:prstGeom>
          <a:noFill/>
          <a:ln/>
        </p:spPr>
        <p:txBody>
          <a:bodyPr wrap="square" lIns="0" tIns="0" rIns="0" bIns="0" rtlCol="0" anchor="ctr">
            <a:normAutofit/>
          </a:bodyPr>
          <a:lstStyle/>
          <a:p>
            <a:pPr indent="0" marL="0">
              <a:buNone/>
            </a:pPr>
            <a:r>
              <a:rPr lang="en-US" sz="1300" b="1" dirty="0">
                <a:solidFill>
                  <a:srgbClr val="14273D"/>
                </a:solidFill>
                <a:latin typeface="Inter Display" pitchFamily="34" charset="0"/>
                <a:ea typeface="Inter Display" pitchFamily="34" charset="-122"/>
                <a:cs typeface="Inter Display" pitchFamily="34" charset="-120"/>
              </a:rPr>
              <a:t>Require positive advantage under minimum shocks</a:t>
            </a:r>
            <a:endParaRPr lang="en-US" sz="1300" dirty="0"/>
          </a:p>
        </p:txBody>
      </p:sp>
      <p:sp>
        <p:nvSpPr>
          <p:cNvPr id="48" name="Text 46"/>
          <p:cNvSpPr/>
          <p:nvPr/>
        </p:nvSpPr>
        <p:spPr>
          <a:xfrm>
            <a:off x="7644384" y="2898648"/>
            <a:ext cx="1719072" cy="1170432"/>
          </a:xfrm>
          <a:prstGeom prst="rect">
            <a:avLst/>
          </a:prstGeom>
          <a:noFill/>
          <a:ln/>
        </p:spPr>
        <p:txBody>
          <a:bodyPr wrap="square" lIns="0" tIns="0" rIns="0" bIns="0" rtlCol="0" anchor="t">
            <a:normAutofit/>
          </a:bodyPr>
          <a:lstStyle/>
          <a:p>
            <a:pPr indent="0" marL="0">
              <a:buNone/>
            </a:pPr>
            <a:r>
              <a:rPr lang="en-US" sz="840" dirty="0">
                <a:solidFill>
                  <a:srgbClr val="43566A"/>
                </a:solidFill>
                <a:latin typeface="Inter" pitchFamily="34" charset="0"/>
                <a:ea typeface="Inter" pitchFamily="34" charset="-122"/>
                <a:cs typeface="Inter" pitchFamily="34" charset="-120"/>
              </a:rPr>
              <a:t>Mandatory before strategic promotion.</a:t>
            </a:r>
            <a:endParaRPr lang="en-US" sz="840" dirty="0"/>
          </a:p>
        </p:txBody>
      </p:sp>
      <p:sp>
        <p:nvSpPr>
          <p:cNvPr id="49" name="Shape 47"/>
          <p:cNvSpPr/>
          <p:nvPr/>
        </p:nvSpPr>
        <p:spPr>
          <a:xfrm>
            <a:off x="9518904" y="3218688"/>
            <a:ext cx="237744" cy="0"/>
          </a:xfrm>
          <a:prstGeom prst="line">
            <a:avLst/>
          </a:prstGeom>
          <a:noFill/>
          <a:ln w="12700">
            <a:solidFill>
              <a:srgbClr val="E7BD62"/>
            </a:solidFill>
            <a:prstDash val="solid"/>
            <a:tailEnd type="triangle"/>
          </a:ln>
        </p:spPr>
      </p:sp>
      <p:sp>
        <p:nvSpPr>
          <p:cNvPr id="50" name="Shape 48"/>
          <p:cNvSpPr/>
          <p:nvPr/>
        </p:nvSpPr>
        <p:spPr>
          <a:xfrm>
            <a:off x="9756648" y="2240280"/>
            <a:ext cx="2029968" cy="1965960"/>
          </a:xfrm>
          <a:prstGeom prst="roundRect">
            <a:avLst>
              <a:gd name="adj" fmla="val 3721"/>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51" name="Text 49"/>
          <p:cNvSpPr/>
          <p:nvPr/>
        </p:nvSpPr>
        <p:spPr>
          <a:xfrm>
            <a:off x="9912096" y="2368296"/>
            <a:ext cx="1719072"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5 · PACKAGE</a:t>
            </a:r>
            <a:endParaRPr lang="en-US" sz="680" dirty="0"/>
          </a:p>
        </p:txBody>
      </p:sp>
      <p:sp>
        <p:nvSpPr>
          <p:cNvPr id="52" name="Text 50"/>
          <p:cNvSpPr/>
          <p:nvPr/>
        </p:nvSpPr>
        <p:spPr>
          <a:xfrm>
            <a:off x="9912096" y="2496312"/>
            <a:ext cx="1719072" cy="329184"/>
          </a:xfrm>
          <a:prstGeom prst="rect">
            <a:avLst/>
          </a:prstGeom>
          <a:noFill/>
          <a:ln/>
        </p:spPr>
        <p:txBody>
          <a:bodyPr wrap="square" lIns="0" tIns="0" rIns="0" bIns="0" rtlCol="0" anchor="ctr">
            <a:normAutofit/>
          </a:bodyPr>
          <a:lstStyle/>
          <a:p>
            <a:pPr indent="0" marL="0">
              <a:buNone/>
            </a:pPr>
            <a:r>
              <a:rPr lang="en-US" sz="1300" b="1" dirty="0">
                <a:solidFill>
                  <a:srgbClr val="14273D"/>
                </a:solidFill>
                <a:latin typeface="Inter Display" pitchFamily="34" charset="0"/>
                <a:ea typeface="Inter Display" pitchFamily="34" charset="-122"/>
                <a:cs typeface="Inter Display" pitchFamily="34" charset="-120"/>
              </a:rPr>
              <a:t>Dossier, manifests, evidence, decision note</a:t>
            </a:r>
            <a:endParaRPr lang="en-US" sz="1300" dirty="0"/>
          </a:p>
        </p:txBody>
      </p:sp>
      <p:sp>
        <p:nvSpPr>
          <p:cNvPr id="53" name="Text 51"/>
          <p:cNvSpPr/>
          <p:nvPr/>
        </p:nvSpPr>
        <p:spPr>
          <a:xfrm>
            <a:off x="9912096" y="2898648"/>
            <a:ext cx="1719072" cy="1170432"/>
          </a:xfrm>
          <a:prstGeom prst="rect">
            <a:avLst/>
          </a:prstGeom>
          <a:noFill/>
          <a:ln/>
        </p:spPr>
        <p:txBody>
          <a:bodyPr wrap="square" lIns="0" tIns="0" rIns="0" bIns="0" rtlCol="0" anchor="t">
            <a:normAutofit/>
          </a:bodyPr>
          <a:lstStyle/>
          <a:p>
            <a:pPr indent="0" marL="0">
              <a:buNone/>
            </a:pPr>
            <a:r>
              <a:rPr lang="en-US" sz="840" dirty="0">
                <a:solidFill>
                  <a:srgbClr val="43566A"/>
                </a:solidFill>
                <a:latin typeface="Inter" pitchFamily="34" charset="0"/>
                <a:ea typeface="Inter" pitchFamily="34" charset="-122"/>
                <a:cs typeface="Inter" pitchFamily="34" charset="-120"/>
              </a:rPr>
              <a:t>Mandatory before strategic promotion.</a:t>
            </a:r>
            <a:endParaRPr lang="en-US" sz="840" dirty="0"/>
          </a:p>
        </p:txBody>
      </p:sp>
      <p:sp>
        <p:nvSpPr>
          <p:cNvPr id="54" name="Shape 52"/>
          <p:cNvSpPr/>
          <p:nvPr/>
        </p:nvSpPr>
        <p:spPr>
          <a:xfrm>
            <a:off x="2057400" y="4800600"/>
            <a:ext cx="8092440" cy="713232"/>
          </a:xfrm>
          <a:prstGeom prst="roundRect">
            <a:avLst>
              <a:gd name="adj" fmla="val 10256"/>
            </a:avLst>
          </a:prstGeom>
          <a:solidFill>
            <a:srgbClr val="FFFDF8"/>
          </a:solidFill>
          <a:ln w="10160">
            <a:solidFill>
              <a:srgbClr val="FF7584"/>
            </a:solidFill>
            <a:prstDash val="solid"/>
          </a:ln>
        </p:spPr>
      </p:sp>
      <p:sp>
        <p:nvSpPr>
          <p:cNvPr id="55" name="Text 53"/>
          <p:cNvSpPr/>
          <p:nvPr/>
        </p:nvSpPr>
        <p:spPr>
          <a:xfrm>
            <a:off x="2212848" y="4928616"/>
            <a:ext cx="778154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MOVE-37 LAW</a:t>
            </a:r>
            <a:endParaRPr lang="en-US" sz="680" dirty="0"/>
          </a:p>
        </p:txBody>
      </p:sp>
      <p:sp>
        <p:nvSpPr>
          <p:cNvPr id="56" name="Text 54"/>
          <p:cNvSpPr/>
          <p:nvPr/>
        </p:nvSpPr>
        <p:spPr>
          <a:xfrm>
            <a:off x="2212848" y="5056632"/>
            <a:ext cx="7781544" cy="329184"/>
          </a:xfrm>
          <a:prstGeom prst="rect">
            <a:avLst/>
          </a:prstGeom>
          <a:noFill/>
          <a:ln/>
        </p:spPr>
        <p:txBody>
          <a:bodyPr wrap="square" lIns="0" tIns="0" rIns="0" bIns="0" rtlCol="0" anchor="ctr">
            <a:normAutofit/>
          </a:bodyPr>
          <a:lstStyle/>
          <a:p>
            <a:pPr indent="0" marL="0">
              <a:buNone/>
            </a:pPr>
            <a:r>
              <a:rPr lang="en-US" sz="1450" b="1" dirty="0">
                <a:solidFill>
                  <a:srgbClr val="14273D"/>
                </a:solidFill>
                <a:latin typeface="Inter Display" pitchFamily="34" charset="0"/>
                <a:ea typeface="Inter Display" pitchFamily="34" charset="-122"/>
                <a:cs typeface="Inter Display" pitchFamily="34" charset="-120"/>
              </a:rPr>
              <a:t>No breakthrough claim without reproduction, stress, persistence, and a replayable dossier.</a:t>
            </a:r>
            <a:endParaRPr lang="en-US" sz="14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DRIFT SENTINEL</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 recursively improving system must refuse silent drift.</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Prompt packs, runner configuration, state payload, cycle index, archive, causal atlas, and evidence ledger remain hash-bound and append-only.</a:t>
            </a:r>
            <a:endParaRPr lang="en-US" sz="1450" dirty="0"/>
          </a:p>
        </p:txBody>
      </p:sp>
      <p:sp>
        <p:nvSpPr>
          <p:cNvPr id="30" name="Shape 28"/>
          <p:cNvSpPr/>
          <p:nvPr/>
        </p:nvSpPr>
        <p:spPr>
          <a:xfrm>
            <a:off x="658368" y="2148840"/>
            <a:ext cx="3401568" cy="2514600"/>
          </a:xfrm>
          <a:prstGeom prst="roundRect">
            <a:avLst>
              <a:gd name="adj" fmla="val 2909"/>
            </a:avLst>
          </a:prstGeom>
          <a:solidFill>
            <a:srgbClr val="102238"/>
          </a:solidFill>
          <a:ln w="10160">
            <a:solidFill>
              <a:srgbClr val="54D6D0"/>
            </a:solidFill>
            <a:prstDash val="solid"/>
          </a:ln>
        </p:spPr>
      </p:sp>
      <p:sp>
        <p:nvSpPr>
          <p:cNvPr id="31" name="Text 29"/>
          <p:cNvSpPr/>
          <p:nvPr/>
        </p:nvSpPr>
        <p:spPr>
          <a:xfrm>
            <a:off x="813816" y="2276856"/>
            <a:ext cx="3090672"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HASH-BOUND INPUTS</a:t>
            </a:r>
            <a:endParaRPr lang="en-US" sz="680" dirty="0"/>
          </a:p>
        </p:txBody>
      </p:sp>
      <p:sp>
        <p:nvSpPr>
          <p:cNvPr id="32" name="Text 30"/>
          <p:cNvSpPr/>
          <p:nvPr/>
        </p:nvSpPr>
        <p:spPr>
          <a:xfrm>
            <a:off x="813816" y="2404872"/>
            <a:ext cx="3090672" cy="329184"/>
          </a:xfrm>
          <a:prstGeom prst="rect">
            <a:avLst/>
          </a:prstGeom>
          <a:noFill/>
          <a:ln/>
        </p:spPr>
        <p:txBody>
          <a:bodyPr wrap="square" lIns="0" tIns="0" rIns="0" bIns="0" rtlCol="0" anchor="ctr">
            <a:normAutofit/>
          </a:bodyPr>
          <a:lstStyle/>
          <a:p>
            <a:pPr indent="0" marL="0">
              <a:buNone/>
            </a:pPr>
            <a:r>
              <a:rPr lang="en-US" sz="1800" b="1" dirty="0">
                <a:solidFill>
                  <a:srgbClr val="F7FBFF"/>
                </a:solidFill>
                <a:latin typeface="Inter Display" pitchFamily="34" charset="0"/>
                <a:ea typeface="Inter Display" pitchFamily="34" charset="-122"/>
                <a:cs typeface="Inter Display" pitchFamily="34" charset="-120"/>
              </a:rPr>
              <a:t>Before every cycle</a:t>
            </a:r>
            <a:endParaRPr lang="en-US" sz="1800" dirty="0"/>
          </a:p>
        </p:txBody>
      </p:sp>
      <p:sp>
        <p:nvSpPr>
          <p:cNvPr id="33" name="Text 31"/>
          <p:cNvSpPr/>
          <p:nvPr/>
        </p:nvSpPr>
        <p:spPr>
          <a:xfrm>
            <a:off x="813816" y="2807208"/>
            <a:ext cx="3090672" cy="1719072"/>
          </a:xfrm>
          <a:prstGeom prst="rect">
            <a:avLst/>
          </a:prstGeom>
          <a:noFill/>
          <a:ln/>
        </p:spPr>
        <p:txBody>
          <a:bodyPr wrap="square" lIns="0" tIns="0" rIns="0" bIns="0" rtlCol="0" anchor="t">
            <a:normAutofit/>
          </a:bodyPr>
          <a:lstStyle/>
          <a:p>
            <a:pPr indent="0" marL="0">
              <a:buNone/>
            </a:pPr>
            <a:r>
              <a:rPr lang="en-US" sz="1050" dirty="0">
                <a:solidFill>
                  <a:srgbClr val="B9C5D2"/>
                </a:solidFill>
                <a:latin typeface="Inter" pitchFamily="34" charset="0"/>
                <a:ea typeface="Inter" pitchFamily="34" charset="-122"/>
                <a:cs typeface="Inter" pitchFamily="34" charset="-120"/>
              </a:rPr>
              <a:t>Prompt pack hash</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Runner configuration hash</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State payload hash</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Schema + scoring versions</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Previous cycle index</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Authorized drift override</a:t>
            </a:r>
            <a:endParaRPr lang="en-US" sz="1050" dirty="0"/>
          </a:p>
        </p:txBody>
      </p:sp>
      <p:sp>
        <p:nvSpPr>
          <p:cNvPr id="34" name="Shape 32"/>
          <p:cNvSpPr/>
          <p:nvPr/>
        </p:nvSpPr>
        <p:spPr>
          <a:xfrm>
            <a:off x="4389120" y="2148840"/>
            <a:ext cx="3401568" cy="2514600"/>
          </a:xfrm>
          <a:prstGeom prst="roundRect">
            <a:avLst>
              <a:gd name="adj" fmla="val 2909"/>
            </a:avLst>
          </a:prstGeom>
          <a:solidFill>
            <a:srgbClr val="102238"/>
          </a:solidFill>
          <a:ln w="10160">
            <a:solidFill>
              <a:srgbClr val="FF7584"/>
            </a:solidFill>
            <a:prstDash val="solid"/>
          </a:ln>
        </p:spPr>
      </p:sp>
      <p:sp>
        <p:nvSpPr>
          <p:cNvPr id="35" name="Text 33"/>
          <p:cNvSpPr/>
          <p:nvPr/>
        </p:nvSpPr>
        <p:spPr>
          <a:xfrm>
            <a:off x="4544568" y="2276856"/>
            <a:ext cx="3090672"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HARD-FAIL CONDITIONS</a:t>
            </a:r>
            <a:endParaRPr lang="en-US" sz="680" dirty="0"/>
          </a:p>
        </p:txBody>
      </p:sp>
      <p:sp>
        <p:nvSpPr>
          <p:cNvPr id="36" name="Text 34"/>
          <p:cNvSpPr/>
          <p:nvPr/>
        </p:nvSpPr>
        <p:spPr>
          <a:xfrm>
            <a:off x="4544568" y="2404872"/>
            <a:ext cx="3090672" cy="329184"/>
          </a:xfrm>
          <a:prstGeom prst="rect">
            <a:avLst/>
          </a:prstGeom>
          <a:noFill/>
          <a:ln/>
        </p:spPr>
        <p:txBody>
          <a:bodyPr wrap="square" lIns="0" tIns="0" rIns="0" bIns="0" rtlCol="0" anchor="ctr">
            <a:normAutofit/>
          </a:bodyPr>
          <a:lstStyle/>
          <a:p>
            <a:pPr indent="0" marL="0">
              <a:buNone/>
            </a:pPr>
            <a:r>
              <a:rPr lang="en-US" sz="1800" b="1" dirty="0">
                <a:solidFill>
                  <a:srgbClr val="F7FBFF"/>
                </a:solidFill>
                <a:latin typeface="Inter Display" pitchFamily="34" charset="0"/>
                <a:ea typeface="Inter Display" pitchFamily="34" charset="-122"/>
                <a:cs typeface="Inter Display" pitchFamily="34" charset="-120"/>
              </a:rPr>
              <a:t>Do not continue</a:t>
            </a:r>
            <a:endParaRPr lang="en-US" sz="1800" dirty="0"/>
          </a:p>
        </p:txBody>
      </p:sp>
      <p:sp>
        <p:nvSpPr>
          <p:cNvPr id="37" name="Text 35"/>
          <p:cNvSpPr/>
          <p:nvPr/>
        </p:nvSpPr>
        <p:spPr>
          <a:xfrm>
            <a:off x="4544568" y="2807208"/>
            <a:ext cx="3090672" cy="1719072"/>
          </a:xfrm>
          <a:prstGeom prst="rect">
            <a:avLst/>
          </a:prstGeom>
          <a:noFill/>
          <a:ln/>
        </p:spPr>
        <p:txBody>
          <a:bodyPr wrap="square" lIns="0" tIns="0" rIns="0" bIns="0" rtlCol="0" anchor="t">
            <a:normAutofit/>
          </a:bodyPr>
          <a:lstStyle/>
          <a:p>
            <a:pPr indent="0" marL="0">
              <a:buNone/>
            </a:pPr>
            <a:r>
              <a:rPr lang="en-US" sz="1050" dirty="0">
                <a:solidFill>
                  <a:srgbClr val="B9C5D2"/>
                </a:solidFill>
                <a:latin typeface="Inter" pitchFamily="34" charset="0"/>
                <a:ea typeface="Inter" pitchFamily="34" charset="-122"/>
                <a:cs typeface="Inter" pitchFamily="34" charset="-120"/>
              </a:rPr>
              <a:t>Unexplained prompt drift</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Config drift</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State corruption</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Cycle reset</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Archive or ledger shrinkage</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Silent scoring change</a:t>
            </a:r>
            <a:endParaRPr lang="en-US" sz="1050" dirty="0"/>
          </a:p>
        </p:txBody>
      </p:sp>
      <p:sp>
        <p:nvSpPr>
          <p:cNvPr id="38" name="Shape 36"/>
          <p:cNvSpPr/>
          <p:nvPr/>
        </p:nvSpPr>
        <p:spPr>
          <a:xfrm>
            <a:off x="8119872" y="2148840"/>
            <a:ext cx="3401568" cy="2514600"/>
          </a:xfrm>
          <a:prstGeom prst="roundRect">
            <a:avLst>
              <a:gd name="adj" fmla="val 2909"/>
            </a:avLst>
          </a:prstGeom>
          <a:solidFill>
            <a:srgbClr val="102238"/>
          </a:solidFill>
          <a:ln w="10160">
            <a:solidFill>
              <a:srgbClr val="43D79B"/>
            </a:solidFill>
            <a:prstDash val="solid"/>
          </a:ln>
        </p:spPr>
      </p:sp>
      <p:sp>
        <p:nvSpPr>
          <p:cNvPr id="39" name="Text 37"/>
          <p:cNvSpPr/>
          <p:nvPr/>
        </p:nvSpPr>
        <p:spPr>
          <a:xfrm>
            <a:off x="8275320" y="2276856"/>
            <a:ext cx="3090672"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PERSISTENCE INVARIANTS</a:t>
            </a:r>
            <a:endParaRPr lang="en-US" sz="680" dirty="0"/>
          </a:p>
        </p:txBody>
      </p:sp>
      <p:sp>
        <p:nvSpPr>
          <p:cNvPr id="40" name="Text 38"/>
          <p:cNvSpPr/>
          <p:nvPr/>
        </p:nvSpPr>
        <p:spPr>
          <a:xfrm>
            <a:off x="8275320" y="2404872"/>
            <a:ext cx="3090672" cy="329184"/>
          </a:xfrm>
          <a:prstGeom prst="rect">
            <a:avLst/>
          </a:prstGeom>
          <a:noFill/>
          <a:ln/>
        </p:spPr>
        <p:txBody>
          <a:bodyPr wrap="square" lIns="0" tIns="0" rIns="0" bIns="0" rtlCol="0" anchor="ctr">
            <a:normAutofit/>
          </a:bodyPr>
          <a:lstStyle/>
          <a:p>
            <a:pPr indent="0" marL="0">
              <a:buNone/>
            </a:pPr>
            <a:r>
              <a:rPr lang="en-US" sz="1800" b="1" dirty="0">
                <a:solidFill>
                  <a:srgbClr val="F7FBFF"/>
                </a:solidFill>
                <a:latin typeface="Inter Display" pitchFamily="34" charset="0"/>
                <a:ea typeface="Inter Display" pitchFamily="34" charset="-122"/>
                <a:cs typeface="Inter Display" pitchFamily="34" charset="-120"/>
              </a:rPr>
              <a:t>What must remain monotonic</a:t>
            </a:r>
            <a:endParaRPr lang="en-US" sz="1800" dirty="0"/>
          </a:p>
        </p:txBody>
      </p:sp>
      <p:sp>
        <p:nvSpPr>
          <p:cNvPr id="41" name="Text 39"/>
          <p:cNvSpPr/>
          <p:nvPr/>
        </p:nvSpPr>
        <p:spPr>
          <a:xfrm>
            <a:off x="8275320" y="2807208"/>
            <a:ext cx="3090672" cy="1719072"/>
          </a:xfrm>
          <a:prstGeom prst="rect">
            <a:avLst/>
          </a:prstGeom>
          <a:noFill/>
          <a:ln/>
        </p:spPr>
        <p:txBody>
          <a:bodyPr wrap="square" lIns="0" tIns="0" rIns="0" bIns="0" rtlCol="0" anchor="t">
            <a:normAutofit/>
          </a:bodyPr>
          <a:lstStyle/>
          <a:p>
            <a:pPr indent="0" marL="0">
              <a:buNone/>
            </a:pPr>
            <a:r>
              <a:rPr lang="en-US" sz="1050" dirty="0">
                <a:solidFill>
                  <a:srgbClr val="B9C5D2"/>
                </a:solidFill>
                <a:latin typeface="Inter" pitchFamily="34" charset="0"/>
                <a:ea typeface="Inter" pitchFamily="34" charset="-122"/>
                <a:cs typeface="Inter" pitchFamily="34" charset="-120"/>
              </a:rPr>
              <a:t>Candidate archive</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Scaffold lineage</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Causal atlas</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ECI ledger</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ProofBundle history</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Governance state</a:t>
            </a:r>
            <a:endParaRPr lang="en-US" sz="1050" dirty="0"/>
          </a:p>
        </p:txBody>
      </p:sp>
      <p:sp>
        <p:nvSpPr>
          <p:cNvPr id="42" name="Text 40"/>
          <p:cNvSpPr/>
          <p:nvPr/>
        </p:nvSpPr>
        <p:spPr>
          <a:xfrm>
            <a:off x="2011680" y="5285232"/>
            <a:ext cx="8183880" cy="411480"/>
          </a:xfrm>
          <a:prstGeom prst="rect">
            <a:avLst/>
          </a:prstGeom>
          <a:noFill/>
          <a:ln/>
        </p:spPr>
        <p:txBody>
          <a:bodyPr wrap="square" lIns="0" tIns="0" rIns="0" bIns="0" rtlCol="0" anchor="ctr"/>
          <a:lstStyle/>
          <a:p>
            <a:pPr algn="ctr" indent="0" marL="0">
              <a:buNone/>
            </a:pPr>
            <a:r>
              <a:rPr lang="en-US" sz="1750" i="1" dirty="0">
                <a:solidFill>
                  <a:srgbClr val="E7BD62"/>
                </a:solidFill>
                <a:latin typeface="Georgia" pitchFamily="34" charset="0"/>
                <a:ea typeface="Georgia" pitchFamily="34" charset="-122"/>
                <a:cs typeface="Georgia" pitchFamily="34" charset="-120"/>
              </a:rPr>
              <a:t>If state cannot be verified, halt rather than continue.</a:t>
            </a:r>
            <a:endParaRPr lang="en-US" sz="17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PROOF GRADIENT</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Scores are advisory. Gates are mandatory.</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An attractive metric cannot bypass proof validity, evaluation, scope, risk, rollback, canary readiness, or challenge finality.</a:t>
            </a:r>
            <a:endParaRPr lang="en-US" sz="1450" dirty="0"/>
          </a:p>
        </p:txBody>
      </p:sp>
      <p:sp>
        <p:nvSpPr>
          <p:cNvPr id="30" name="Shape 28"/>
          <p:cNvSpPr/>
          <p:nvPr/>
        </p:nvSpPr>
        <p:spPr>
          <a:xfrm>
            <a:off x="1051560" y="2103120"/>
            <a:ext cx="10058400" cy="301752"/>
          </a:xfrm>
          <a:prstGeom prst="roundRect">
            <a:avLst>
              <a:gd name="adj" fmla="val 18182"/>
            </a:avLst>
          </a:prstGeom>
          <a:solidFill>
            <a:srgbClr val="6FB5FF">
              <a:alpha val="82000"/>
            </a:srgbClr>
          </a:solidFill>
          <a:ln w="8890">
            <a:solidFill>
              <a:srgbClr val="6FB5FF"/>
            </a:solidFill>
            <a:prstDash val="solid"/>
          </a:ln>
        </p:spPr>
      </p:sp>
      <p:sp>
        <p:nvSpPr>
          <p:cNvPr id="31" name="Text 29"/>
          <p:cNvSpPr/>
          <p:nvPr/>
        </p:nvSpPr>
        <p:spPr>
          <a:xfrm>
            <a:off x="1234440" y="2194560"/>
            <a:ext cx="9692640" cy="91440"/>
          </a:xfrm>
          <a:prstGeom prst="rect">
            <a:avLst/>
          </a:prstGeom>
          <a:noFill/>
          <a:ln/>
        </p:spPr>
        <p:txBody>
          <a:bodyPr wrap="square" lIns="0" tIns="0" rIns="0" bIns="0" rtlCol="0" anchor="ctr"/>
          <a:lstStyle/>
          <a:p>
            <a:pPr indent="0" marL="0">
              <a:buNone/>
            </a:pPr>
            <a:r>
              <a:rPr lang="en-US" sz="750" b="1" dirty="0">
                <a:solidFill>
                  <a:srgbClr val="14273D"/>
                </a:solidFill>
                <a:latin typeface="Inter" pitchFamily="34" charset="0"/>
                <a:ea typeface="Inter" pitchFamily="34" charset="-122"/>
                <a:cs typeface="Inter" pitchFamily="34" charset="-120"/>
              </a:rPr>
              <a:t>Proof valid</a:t>
            </a:r>
            <a:endParaRPr lang="en-US" sz="750" dirty="0"/>
          </a:p>
        </p:txBody>
      </p:sp>
      <p:sp>
        <p:nvSpPr>
          <p:cNvPr id="32" name="Shape 30"/>
          <p:cNvSpPr/>
          <p:nvPr/>
        </p:nvSpPr>
        <p:spPr>
          <a:xfrm>
            <a:off x="1335024" y="2542032"/>
            <a:ext cx="9491472" cy="301752"/>
          </a:xfrm>
          <a:prstGeom prst="roundRect">
            <a:avLst>
              <a:gd name="adj" fmla="val 18182"/>
            </a:avLst>
          </a:prstGeom>
          <a:solidFill>
            <a:srgbClr val="54D6D0">
              <a:alpha val="82000"/>
            </a:srgbClr>
          </a:solidFill>
          <a:ln w="8890">
            <a:solidFill>
              <a:srgbClr val="54D6D0"/>
            </a:solidFill>
            <a:prstDash val="solid"/>
          </a:ln>
        </p:spPr>
      </p:sp>
      <p:sp>
        <p:nvSpPr>
          <p:cNvPr id="33" name="Text 31"/>
          <p:cNvSpPr/>
          <p:nvPr/>
        </p:nvSpPr>
        <p:spPr>
          <a:xfrm>
            <a:off x="1517904" y="2633472"/>
            <a:ext cx="9125712" cy="91440"/>
          </a:xfrm>
          <a:prstGeom prst="rect">
            <a:avLst/>
          </a:prstGeom>
          <a:noFill/>
          <a:ln/>
        </p:spPr>
        <p:txBody>
          <a:bodyPr wrap="square" lIns="0" tIns="0" rIns="0" bIns="0" rtlCol="0" anchor="ctr"/>
          <a:lstStyle/>
          <a:p>
            <a:pPr indent="0" marL="0">
              <a:buNone/>
            </a:pPr>
            <a:r>
              <a:rPr lang="en-US" sz="750" b="1" dirty="0">
                <a:solidFill>
                  <a:srgbClr val="14273D"/>
                </a:solidFill>
                <a:latin typeface="Inter" pitchFamily="34" charset="0"/>
                <a:ea typeface="Inter" pitchFamily="34" charset="-122"/>
                <a:cs typeface="Inter" pitchFamily="34" charset="-120"/>
              </a:rPr>
              <a:t>Evaluation passes</a:t>
            </a:r>
            <a:endParaRPr lang="en-US" sz="750" dirty="0"/>
          </a:p>
        </p:txBody>
      </p:sp>
      <p:sp>
        <p:nvSpPr>
          <p:cNvPr id="34" name="Shape 32"/>
          <p:cNvSpPr/>
          <p:nvPr/>
        </p:nvSpPr>
        <p:spPr>
          <a:xfrm>
            <a:off x="1618488" y="2980944"/>
            <a:ext cx="8924544" cy="301752"/>
          </a:xfrm>
          <a:prstGeom prst="roundRect">
            <a:avLst>
              <a:gd name="adj" fmla="val 18182"/>
            </a:avLst>
          </a:prstGeom>
          <a:solidFill>
            <a:srgbClr val="43D79B">
              <a:alpha val="82000"/>
            </a:srgbClr>
          </a:solidFill>
          <a:ln w="8890">
            <a:solidFill>
              <a:srgbClr val="43D79B"/>
            </a:solidFill>
            <a:prstDash val="solid"/>
          </a:ln>
        </p:spPr>
      </p:sp>
      <p:sp>
        <p:nvSpPr>
          <p:cNvPr id="35" name="Text 33"/>
          <p:cNvSpPr/>
          <p:nvPr/>
        </p:nvSpPr>
        <p:spPr>
          <a:xfrm>
            <a:off x="1801368" y="3072384"/>
            <a:ext cx="8558784" cy="91440"/>
          </a:xfrm>
          <a:prstGeom prst="rect">
            <a:avLst/>
          </a:prstGeom>
          <a:noFill/>
          <a:ln/>
        </p:spPr>
        <p:txBody>
          <a:bodyPr wrap="square" lIns="0" tIns="0" rIns="0" bIns="0" rtlCol="0" anchor="ctr"/>
          <a:lstStyle/>
          <a:p>
            <a:pPr indent="0" marL="0">
              <a:buNone/>
            </a:pPr>
            <a:r>
              <a:rPr lang="en-US" sz="750" b="1" dirty="0">
                <a:solidFill>
                  <a:srgbClr val="14273D"/>
                </a:solidFill>
                <a:latin typeface="Inter" pitchFamily="34" charset="0"/>
                <a:ea typeface="Inter" pitchFamily="34" charset="-122"/>
                <a:cs typeface="Inter" pitchFamily="34" charset="-120"/>
              </a:rPr>
              <a:t>Verified value exceeds threshold</a:t>
            </a:r>
            <a:endParaRPr lang="en-US" sz="750" dirty="0"/>
          </a:p>
        </p:txBody>
      </p:sp>
      <p:sp>
        <p:nvSpPr>
          <p:cNvPr id="36" name="Shape 34"/>
          <p:cNvSpPr/>
          <p:nvPr/>
        </p:nvSpPr>
        <p:spPr>
          <a:xfrm>
            <a:off x="1901952" y="3419856"/>
            <a:ext cx="8357616" cy="301752"/>
          </a:xfrm>
          <a:prstGeom prst="roundRect">
            <a:avLst>
              <a:gd name="adj" fmla="val 18182"/>
            </a:avLst>
          </a:prstGeom>
          <a:solidFill>
            <a:srgbClr val="FF7584">
              <a:alpha val="82000"/>
            </a:srgbClr>
          </a:solidFill>
          <a:ln w="8890">
            <a:solidFill>
              <a:srgbClr val="FF7584"/>
            </a:solidFill>
            <a:prstDash val="solid"/>
          </a:ln>
        </p:spPr>
      </p:sp>
      <p:sp>
        <p:nvSpPr>
          <p:cNvPr id="37" name="Text 35"/>
          <p:cNvSpPr/>
          <p:nvPr/>
        </p:nvSpPr>
        <p:spPr>
          <a:xfrm>
            <a:off x="2084832" y="3511296"/>
            <a:ext cx="7991856" cy="91440"/>
          </a:xfrm>
          <a:prstGeom prst="rect">
            <a:avLst/>
          </a:prstGeom>
          <a:noFill/>
          <a:ln/>
        </p:spPr>
        <p:txBody>
          <a:bodyPr wrap="square" lIns="0" tIns="0" rIns="0" bIns="0" rtlCol="0" anchor="ctr"/>
          <a:lstStyle/>
          <a:p>
            <a:pPr indent="0" marL="0">
              <a:buNone/>
            </a:pPr>
            <a:r>
              <a:rPr lang="en-US" sz="750" b="1" dirty="0">
                <a:solidFill>
                  <a:srgbClr val="14273D"/>
                </a:solidFill>
                <a:latin typeface="Inter" pitchFamily="34" charset="0"/>
                <a:ea typeface="Inter" pitchFamily="34" charset="-122"/>
                <a:cs typeface="Inter" pitchFamily="34" charset="-120"/>
              </a:rPr>
              <a:t>Risk within limit</a:t>
            </a:r>
            <a:endParaRPr lang="en-US" sz="750" dirty="0"/>
          </a:p>
        </p:txBody>
      </p:sp>
      <p:sp>
        <p:nvSpPr>
          <p:cNvPr id="38" name="Shape 36"/>
          <p:cNvSpPr/>
          <p:nvPr/>
        </p:nvSpPr>
        <p:spPr>
          <a:xfrm>
            <a:off x="2185416" y="3858768"/>
            <a:ext cx="7790688" cy="301752"/>
          </a:xfrm>
          <a:prstGeom prst="roundRect">
            <a:avLst>
              <a:gd name="adj" fmla="val 18182"/>
            </a:avLst>
          </a:prstGeom>
          <a:solidFill>
            <a:srgbClr val="E7BD62">
              <a:alpha val="82000"/>
            </a:srgbClr>
          </a:solidFill>
          <a:ln w="8890">
            <a:solidFill>
              <a:srgbClr val="E7BD62"/>
            </a:solidFill>
            <a:prstDash val="solid"/>
          </a:ln>
        </p:spPr>
      </p:sp>
      <p:sp>
        <p:nvSpPr>
          <p:cNvPr id="39" name="Text 37"/>
          <p:cNvSpPr/>
          <p:nvPr/>
        </p:nvSpPr>
        <p:spPr>
          <a:xfrm>
            <a:off x="2368296" y="3950208"/>
            <a:ext cx="7424928" cy="91440"/>
          </a:xfrm>
          <a:prstGeom prst="rect">
            <a:avLst/>
          </a:prstGeom>
          <a:noFill/>
          <a:ln/>
        </p:spPr>
        <p:txBody>
          <a:bodyPr wrap="square" lIns="0" tIns="0" rIns="0" bIns="0" rtlCol="0" anchor="ctr"/>
          <a:lstStyle/>
          <a:p>
            <a:pPr indent="0" marL="0">
              <a:buNone/>
            </a:pPr>
            <a:r>
              <a:rPr lang="en-US" sz="750" b="1" dirty="0">
                <a:solidFill>
                  <a:srgbClr val="14273D"/>
                </a:solidFill>
                <a:latin typeface="Inter" pitchFamily="34" charset="0"/>
                <a:ea typeface="Inter" pitchFamily="34" charset="-122"/>
                <a:cs typeface="Inter" pitchFamily="34" charset="-120"/>
              </a:rPr>
              <a:t>Rollback ready</a:t>
            </a:r>
            <a:endParaRPr lang="en-US" sz="750" dirty="0"/>
          </a:p>
        </p:txBody>
      </p:sp>
      <p:sp>
        <p:nvSpPr>
          <p:cNvPr id="40" name="Shape 38"/>
          <p:cNvSpPr/>
          <p:nvPr/>
        </p:nvSpPr>
        <p:spPr>
          <a:xfrm>
            <a:off x="2468880" y="4297680"/>
            <a:ext cx="7223760" cy="301752"/>
          </a:xfrm>
          <a:prstGeom prst="roundRect">
            <a:avLst>
              <a:gd name="adj" fmla="val 18182"/>
            </a:avLst>
          </a:prstGeom>
          <a:solidFill>
            <a:srgbClr val="A99CFF">
              <a:alpha val="82000"/>
            </a:srgbClr>
          </a:solidFill>
          <a:ln w="8890">
            <a:solidFill>
              <a:srgbClr val="A99CFF"/>
            </a:solidFill>
            <a:prstDash val="solid"/>
          </a:ln>
        </p:spPr>
      </p:sp>
      <p:sp>
        <p:nvSpPr>
          <p:cNvPr id="41" name="Text 39"/>
          <p:cNvSpPr/>
          <p:nvPr/>
        </p:nvSpPr>
        <p:spPr>
          <a:xfrm>
            <a:off x="2651760" y="4389120"/>
            <a:ext cx="6858000" cy="91440"/>
          </a:xfrm>
          <a:prstGeom prst="rect">
            <a:avLst/>
          </a:prstGeom>
          <a:noFill/>
          <a:ln/>
        </p:spPr>
        <p:txBody>
          <a:bodyPr wrap="square" lIns="0" tIns="0" rIns="0" bIns="0" rtlCol="0" anchor="ctr"/>
          <a:lstStyle/>
          <a:p>
            <a:pPr indent="0" marL="0">
              <a:buNone/>
            </a:pPr>
            <a:r>
              <a:rPr lang="en-US" sz="750" b="1" dirty="0">
                <a:solidFill>
                  <a:srgbClr val="14273D"/>
                </a:solidFill>
                <a:latin typeface="Inter" pitchFamily="34" charset="0"/>
                <a:ea typeface="Inter" pitchFamily="34" charset="-122"/>
                <a:cs typeface="Inter" pitchFamily="34" charset="-120"/>
              </a:rPr>
              <a:t>Canary ready</a:t>
            </a:r>
            <a:endParaRPr lang="en-US" sz="750" dirty="0"/>
          </a:p>
        </p:txBody>
      </p:sp>
      <p:sp>
        <p:nvSpPr>
          <p:cNvPr id="42" name="Shape 40"/>
          <p:cNvSpPr/>
          <p:nvPr/>
        </p:nvSpPr>
        <p:spPr>
          <a:xfrm>
            <a:off x="2752344" y="4736592"/>
            <a:ext cx="6656832" cy="301752"/>
          </a:xfrm>
          <a:prstGeom prst="roundRect">
            <a:avLst>
              <a:gd name="adj" fmla="val 18182"/>
            </a:avLst>
          </a:prstGeom>
          <a:solidFill>
            <a:srgbClr val="F5C46B">
              <a:alpha val="82000"/>
            </a:srgbClr>
          </a:solidFill>
          <a:ln w="8890">
            <a:solidFill>
              <a:srgbClr val="F5C46B"/>
            </a:solidFill>
            <a:prstDash val="solid"/>
          </a:ln>
        </p:spPr>
      </p:sp>
      <p:sp>
        <p:nvSpPr>
          <p:cNvPr id="43" name="Text 41"/>
          <p:cNvSpPr/>
          <p:nvPr/>
        </p:nvSpPr>
        <p:spPr>
          <a:xfrm>
            <a:off x="2935224" y="4828032"/>
            <a:ext cx="6291072" cy="91440"/>
          </a:xfrm>
          <a:prstGeom prst="rect">
            <a:avLst/>
          </a:prstGeom>
          <a:noFill/>
          <a:ln/>
        </p:spPr>
        <p:txBody>
          <a:bodyPr wrap="square" lIns="0" tIns="0" rIns="0" bIns="0" rtlCol="0" anchor="ctr"/>
          <a:lstStyle/>
          <a:p>
            <a:pPr indent="0" marL="0">
              <a:buNone/>
            </a:pPr>
            <a:r>
              <a:rPr lang="en-US" sz="750" b="1" dirty="0">
                <a:solidFill>
                  <a:srgbClr val="14273D"/>
                </a:solidFill>
                <a:latin typeface="Inter" pitchFamily="34" charset="0"/>
                <a:ea typeface="Inter" pitchFamily="34" charset="-122"/>
                <a:cs typeface="Inter" pitchFamily="34" charset="-120"/>
              </a:rPr>
              <a:t>Scope authorized</a:t>
            </a:r>
            <a:endParaRPr lang="en-US" sz="750" dirty="0"/>
          </a:p>
        </p:txBody>
      </p:sp>
      <p:sp>
        <p:nvSpPr>
          <p:cNvPr id="44" name="Shape 42"/>
          <p:cNvSpPr/>
          <p:nvPr/>
        </p:nvSpPr>
        <p:spPr>
          <a:xfrm>
            <a:off x="3035808" y="5175504"/>
            <a:ext cx="6089904" cy="301752"/>
          </a:xfrm>
          <a:prstGeom prst="roundRect">
            <a:avLst>
              <a:gd name="adj" fmla="val 18182"/>
            </a:avLst>
          </a:prstGeom>
          <a:solidFill>
            <a:srgbClr val="7A8695">
              <a:alpha val="82000"/>
            </a:srgbClr>
          </a:solidFill>
          <a:ln w="8890">
            <a:solidFill>
              <a:srgbClr val="7A8695"/>
            </a:solidFill>
            <a:prstDash val="solid"/>
          </a:ln>
        </p:spPr>
      </p:sp>
      <p:sp>
        <p:nvSpPr>
          <p:cNvPr id="45" name="Text 43"/>
          <p:cNvSpPr/>
          <p:nvPr/>
        </p:nvSpPr>
        <p:spPr>
          <a:xfrm>
            <a:off x="3218688" y="5266944"/>
            <a:ext cx="5724144" cy="91440"/>
          </a:xfrm>
          <a:prstGeom prst="rect">
            <a:avLst/>
          </a:prstGeom>
          <a:noFill/>
          <a:ln/>
        </p:spPr>
        <p:txBody>
          <a:bodyPr wrap="square" lIns="0" tIns="0" rIns="0" bIns="0" rtlCol="0" anchor="ctr"/>
          <a:lstStyle/>
          <a:p>
            <a:pPr indent="0" marL="0">
              <a:buNone/>
            </a:pPr>
            <a:r>
              <a:rPr lang="en-US" sz="750" b="1" dirty="0">
                <a:solidFill>
                  <a:srgbClr val="F7FBFF"/>
                </a:solidFill>
                <a:latin typeface="Inter" pitchFamily="34" charset="0"/>
                <a:ea typeface="Inter" pitchFamily="34" charset="-122"/>
                <a:cs typeface="Inter" pitchFamily="34" charset="-120"/>
              </a:rPr>
              <a:t>Challenge window cleared</a:t>
            </a:r>
            <a:endParaRPr lang="en-US" sz="750" dirty="0"/>
          </a:p>
        </p:txBody>
      </p:sp>
      <p:sp>
        <p:nvSpPr>
          <p:cNvPr id="46" name="Shape 44"/>
          <p:cNvSpPr/>
          <p:nvPr/>
        </p:nvSpPr>
        <p:spPr>
          <a:xfrm>
            <a:off x="3913632" y="5623560"/>
            <a:ext cx="4389120" cy="502920"/>
          </a:xfrm>
          <a:prstGeom prst="roundRect">
            <a:avLst>
              <a:gd name="adj" fmla="val 14545"/>
            </a:avLst>
          </a:prstGeom>
          <a:solidFill>
            <a:srgbClr val="FFFDF8"/>
          </a:solidFill>
          <a:ln w="10160">
            <a:solidFill>
              <a:srgbClr val="43D79B"/>
            </a:solidFill>
            <a:prstDash val="solid"/>
          </a:ln>
        </p:spPr>
      </p:sp>
      <p:sp>
        <p:nvSpPr>
          <p:cNvPr id="47" name="Text 45"/>
          <p:cNvSpPr/>
          <p:nvPr/>
        </p:nvSpPr>
        <p:spPr>
          <a:xfrm>
            <a:off x="4069080" y="5751576"/>
            <a:ext cx="407822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PROMOTE ONLY IF</a:t>
            </a:r>
            <a:endParaRPr lang="en-US" sz="680" dirty="0"/>
          </a:p>
        </p:txBody>
      </p:sp>
      <p:sp>
        <p:nvSpPr>
          <p:cNvPr id="48" name="Text 46"/>
          <p:cNvSpPr/>
          <p:nvPr/>
        </p:nvSpPr>
        <p:spPr>
          <a:xfrm>
            <a:off x="4069080" y="5879592"/>
            <a:ext cx="4078224" cy="329184"/>
          </a:xfrm>
          <a:prstGeom prst="rect">
            <a:avLst/>
          </a:prstGeom>
          <a:noFill/>
          <a:ln/>
        </p:spPr>
        <p:txBody>
          <a:bodyPr wrap="square" lIns="0" tIns="0" rIns="0" bIns="0" rtlCol="0" anchor="ctr">
            <a:normAutofit/>
          </a:bodyPr>
          <a:lstStyle/>
          <a:p>
            <a:pPr indent="0" marL="0">
              <a:buNone/>
            </a:pPr>
            <a:r>
              <a:rPr lang="en-US" sz="1350" b="1" dirty="0">
                <a:solidFill>
                  <a:srgbClr val="14273D"/>
                </a:solidFill>
                <a:latin typeface="Inter Display" pitchFamily="34" charset="0"/>
                <a:ea typeface="Inter Display" pitchFamily="34" charset="-122"/>
                <a:cs typeface="Inter Display" pitchFamily="34" charset="-120"/>
              </a:rPr>
              <a:t>Every hard gate is satisfied.</a:t>
            </a:r>
            <a:endParaRPr lang="en-US" sz="13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CONSTITUTIONAL SELF-HOSTING</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GoalOS may improve GoalOS only through GoalOS.</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system’s own upgrades must pass the same proof, evaluation, canary, monitoring, challenge, and rollback discipline.</a:t>
            </a:r>
            <a:endParaRPr lang="en-US" sz="1450" dirty="0"/>
          </a:p>
        </p:txBody>
      </p:sp>
      <p:sp>
        <p:nvSpPr>
          <p:cNvPr id="30" name="Shape 28"/>
          <p:cNvSpPr/>
          <p:nvPr/>
        </p:nvSpPr>
        <p:spPr>
          <a:xfrm>
            <a:off x="411480" y="2514600"/>
            <a:ext cx="932688" cy="640080"/>
          </a:xfrm>
          <a:prstGeom prst="roundRect">
            <a:avLst>
              <a:gd name="adj" fmla="val 5714"/>
            </a:avLst>
          </a:prstGeom>
          <a:solidFill>
            <a:srgbClr val="102238"/>
          </a:solidFill>
          <a:ln w="11430">
            <a:solidFill>
              <a:srgbClr val="6FB5FF"/>
            </a:solidFill>
            <a:prstDash val="solid"/>
          </a:ln>
        </p:spPr>
      </p:sp>
      <p:sp>
        <p:nvSpPr>
          <p:cNvPr id="31" name="Text 29"/>
          <p:cNvSpPr/>
          <p:nvPr/>
        </p:nvSpPr>
        <p:spPr>
          <a:xfrm>
            <a:off x="457200"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PROPOSAL</a:t>
            </a:r>
            <a:endParaRPr lang="en-US" sz="580" dirty="0"/>
          </a:p>
        </p:txBody>
      </p:sp>
      <p:sp>
        <p:nvSpPr>
          <p:cNvPr id="32" name="Shape 30"/>
          <p:cNvSpPr/>
          <p:nvPr/>
        </p:nvSpPr>
        <p:spPr>
          <a:xfrm>
            <a:off x="1344168" y="2834640"/>
            <a:ext cx="109728" cy="0"/>
          </a:xfrm>
          <a:prstGeom prst="line">
            <a:avLst/>
          </a:prstGeom>
          <a:noFill/>
          <a:ln w="10160">
            <a:solidFill>
              <a:srgbClr val="E7BD62"/>
            </a:solidFill>
            <a:prstDash val="solid"/>
            <a:tailEnd type="triangle"/>
          </a:ln>
        </p:spPr>
      </p:sp>
      <p:sp>
        <p:nvSpPr>
          <p:cNvPr id="33" name="Shape 31"/>
          <p:cNvSpPr/>
          <p:nvPr/>
        </p:nvSpPr>
        <p:spPr>
          <a:xfrm>
            <a:off x="1453896" y="2514600"/>
            <a:ext cx="932688" cy="640080"/>
          </a:xfrm>
          <a:prstGeom prst="roundRect">
            <a:avLst>
              <a:gd name="adj" fmla="val 5714"/>
            </a:avLst>
          </a:prstGeom>
          <a:solidFill>
            <a:srgbClr val="102238"/>
          </a:solidFill>
          <a:ln w="11430">
            <a:solidFill>
              <a:srgbClr val="6FB5FF"/>
            </a:solidFill>
            <a:prstDash val="solid"/>
          </a:ln>
        </p:spPr>
      </p:sp>
      <p:sp>
        <p:nvSpPr>
          <p:cNvPr id="34" name="Text 32"/>
          <p:cNvSpPr/>
          <p:nvPr/>
        </p:nvSpPr>
        <p:spPr>
          <a:xfrm>
            <a:off x="1499616"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BOND</a:t>
            </a:r>
            <a:endParaRPr lang="en-US" sz="580" dirty="0"/>
          </a:p>
        </p:txBody>
      </p:sp>
      <p:sp>
        <p:nvSpPr>
          <p:cNvPr id="35" name="Shape 33"/>
          <p:cNvSpPr/>
          <p:nvPr/>
        </p:nvSpPr>
        <p:spPr>
          <a:xfrm>
            <a:off x="2386584" y="2834640"/>
            <a:ext cx="109728" cy="0"/>
          </a:xfrm>
          <a:prstGeom prst="line">
            <a:avLst/>
          </a:prstGeom>
          <a:noFill/>
          <a:ln w="10160">
            <a:solidFill>
              <a:srgbClr val="E7BD62"/>
            </a:solidFill>
            <a:prstDash val="solid"/>
            <a:tailEnd type="triangle"/>
          </a:ln>
        </p:spPr>
      </p:sp>
      <p:sp>
        <p:nvSpPr>
          <p:cNvPr id="36" name="Shape 34"/>
          <p:cNvSpPr/>
          <p:nvPr/>
        </p:nvSpPr>
        <p:spPr>
          <a:xfrm>
            <a:off x="2496312" y="2514600"/>
            <a:ext cx="932688" cy="640080"/>
          </a:xfrm>
          <a:prstGeom prst="roundRect">
            <a:avLst>
              <a:gd name="adj" fmla="val 5714"/>
            </a:avLst>
          </a:prstGeom>
          <a:solidFill>
            <a:srgbClr val="102238"/>
          </a:solidFill>
          <a:ln w="11430">
            <a:solidFill>
              <a:srgbClr val="6FB5FF"/>
            </a:solidFill>
            <a:prstDash val="solid"/>
          </a:ln>
        </p:spPr>
      </p:sp>
      <p:sp>
        <p:nvSpPr>
          <p:cNvPr id="37" name="Text 35"/>
          <p:cNvSpPr/>
          <p:nvPr/>
        </p:nvSpPr>
        <p:spPr>
          <a:xfrm>
            <a:off x="2542032"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BASELINE</a:t>
            </a:r>
            <a:endParaRPr lang="en-US" sz="580" dirty="0"/>
          </a:p>
        </p:txBody>
      </p:sp>
      <p:sp>
        <p:nvSpPr>
          <p:cNvPr id="38" name="Shape 36"/>
          <p:cNvSpPr/>
          <p:nvPr/>
        </p:nvSpPr>
        <p:spPr>
          <a:xfrm>
            <a:off x="3429000" y="2834640"/>
            <a:ext cx="109728" cy="0"/>
          </a:xfrm>
          <a:prstGeom prst="line">
            <a:avLst/>
          </a:prstGeom>
          <a:noFill/>
          <a:ln w="10160">
            <a:solidFill>
              <a:srgbClr val="E7BD62"/>
            </a:solidFill>
            <a:prstDash val="solid"/>
            <a:tailEnd type="triangle"/>
          </a:ln>
        </p:spPr>
      </p:sp>
      <p:sp>
        <p:nvSpPr>
          <p:cNvPr id="39" name="Shape 37"/>
          <p:cNvSpPr/>
          <p:nvPr/>
        </p:nvSpPr>
        <p:spPr>
          <a:xfrm>
            <a:off x="3538728" y="2514600"/>
            <a:ext cx="932688" cy="640080"/>
          </a:xfrm>
          <a:prstGeom prst="roundRect">
            <a:avLst>
              <a:gd name="adj" fmla="val 5714"/>
            </a:avLst>
          </a:prstGeom>
          <a:solidFill>
            <a:srgbClr val="102238"/>
          </a:solidFill>
          <a:ln w="11430">
            <a:solidFill>
              <a:srgbClr val="6FB5FF"/>
            </a:solidFill>
            <a:prstDash val="solid"/>
          </a:ln>
        </p:spPr>
      </p:sp>
      <p:sp>
        <p:nvSpPr>
          <p:cNvPr id="40" name="Text 38"/>
          <p:cNvSpPr/>
          <p:nvPr/>
        </p:nvSpPr>
        <p:spPr>
          <a:xfrm>
            <a:off x="3584448"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BENCHMARK</a:t>
            </a:r>
            <a:endParaRPr lang="en-US" sz="580" dirty="0"/>
          </a:p>
        </p:txBody>
      </p:sp>
      <p:sp>
        <p:nvSpPr>
          <p:cNvPr id="41" name="Shape 39"/>
          <p:cNvSpPr/>
          <p:nvPr/>
        </p:nvSpPr>
        <p:spPr>
          <a:xfrm>
            <a:off x="4471416" y="2834640"/>
            <a:ext cx="109728" cy="0"/>
          </a:xfrm>
          <a:prstGeom prst="line">
            <a:avLst/>
          </a:prstGeom>
          <a:noFill/>
          <a:ln w="10160">
            <a:solidFill>
              <a:srgbClr val="E7BD62"/>
            </a:solidFill>
            <a:prstDash val="solid"/>
            <a:tailEnd type="triangle"/>
          </a:ln>
        </p:spPr>
      </p:sp>
      <p:sp>
        <p:nvSpPr>
          <p:cNvPr id="42" name="Shape 40"/>
          <p:cNvSpPr/>
          <p:nvPr/>
        </p:nvSpPr>
        <p:spPr>
          <a:xfrm>
            <a:off x="4581144" y="2514600"/>
            <a:ext cx="932688" cy="640080"/>
          </a:xfrm>
          <a:prstGeom prst="roundRect">
            <a:avLst>
              <a:gd name="adj" fmla="val 5714"/>
            </a:avLst>
          </a:prstGeom>
          <a:solidFill>
            <a:srgbClr val="102238"/>
          </a:solidFill>
          <a:ln w="11430">
            <a:solidFill>
              <a:srgbClr val="6FB5FF"/>
            </a:solidFill>
            <a:prstDash val="solid"/>
          </a:ln>
        </p:spPr>
      </p:sp>
      <p:sp>
        <p:nvSpPr>
          <p:cNvPr id="43" name="Text 41"/>
          <p:cNvSpPr/>
          <p:nvPr/>
        </p:nvSpPr>
        <p:spPr>
          <a:xfrm>
            <a:off x="4626864"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COUNCIL</a:t>
            </a:r>
            <a:endParaRPr lang="en-US" sz="580" dirty="0"/>
          </a:p>
        </p:txBody>
      </p:sp>
      <p:sp>
        <p:nvSpPr>
          <p:cNvPr id="44" name="Shape 42"/>
          <p:cNvSpPr/>
          <p:nvPr/>
        </p:nvSpPr>
        <p:spPr>
          <a:xfrm>
            <a:off x="5513832" y="2834640"/>
            <a:ext cx="109728" cy="0"/>
          </a:xfrm>
          <a:prstGeom prst="line">
            <a:avLst/>
          </a:prstGeom>
          <a:noFill/>
          <a:ln w="10160">
            <a:solidFill>
              <a:srgbClr val="E7BD62"/>
            </a:solidFill>
            <a:prstDash val="solid"/>
            <a:tailEnd type="triangle"/>
          </a:ln>
        </p:spPr>
      </p:sp>
      <p:sp>
        <p:nvSpPr>
          <p:cNvPr id="45" name="Shape 43"/>
          <p:cNvSpPr/>
          <p:nvPr/>
        </p:nvSpPr>
        <p:spPr>
          <a:xfrm>
            <a:off x="5623560" y="2514600"/>
            <a:ext cx="932688" cy="640080"/>
          </a:xfrm>
          <a:prstGeom prst="roundRect">
            <a:avLst>
              <a:gd name="adj" fmla="val 5714"/>
            </a:avLst>
          </a:prstGeom>
          <a:solidFill>
            <a:srgbClr val="102238"/>
          </a:solidFill>
          <a:ln w="11430">
            <a:solidFill>
              <a:srgbClr val="A99CFF"/>
            </a:solidFill>
            <a:prstDash val="solid"/>
          </a:ln>
        </p:spPr>
      </p:sp>
      <p:sp>
        <p:nvSpPr>
          <p:cNvPr id="46" name="Text 44"/>
          <p:cNvSpPr/>
          <p:nvPr/>
        </p:nvSpPr>
        <p:spPr>
          <a:xfrm>
            <a:off x="5669280"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1% CANARY</a:t>
            </a:r>
            <a:endParaRPr lang="en-US" sz="580" dirty="0"/>
          </a:p>
        </p:txBody>
      </p:sp>
      <p:sp>
        <p:nvSpPr>
          <p:cNvPr id="47" name="Shape 45"/>
          <p:cNvSpPr/>
          <p:nvPr/>
        </p:nvSpPr>
        <p:spPr>
          <a:xfrm>
            <a:off x="6556248" y="2834640"/>
            <a:ext cx="109728" cy="0"/>
          </a:xfrm>
          <a:prstGeom prst="line">
            <a:avLst/>
          </a:prstGeom>
          <a:noFill/>
          <a:ln w="10160">
            <a:solidFill>
              <a:srgbClr val="E7BD62"/>
            </a:solidFill>
            <a:prstDash val="solid"/>
            <a:tailEnd type="triangle"/>
          </a:ln>
        </p:spPr>
      </p:sp>
      <p:sp>
        <p:nvSpPr>
          <p:cNvPr id="48" name="Shape 46"/>
          <p:cNvSpPr/>
          <p:nvPr/>
        </p:nvSpPr>
        <p:spPr>
          <a:xfrm>
            <a:off x="6665976" y="2514600"/>
            <a:ext cx="932688" cy="640080"/>
          </a:xfrm>
          <a:prstGeom prst="roundRect">
            <a:avLst>
              <a:gd name="adj" fmla="val 5714"/>
            </a:avLst>
          </a:prstGeom>
          <a:solidFill>
            <a:srgbClr val="102238"/>
          </a:solidFill>
          <a:ln w="11430">
            <a:solidFill>
              <a:srgbClr val="A99CFF"/>
            </a:solidFill>
            <a:prstDash val="solid"/>
          </a:ln>
        </p:spPr>
      </p:sp>
      <p:sp>
        <p:nvSpPr>
          <p:cNvPr id="49" name="Text 47"/>
          <p:cNvSpPr/>
          <p:nvPr/>
        </p:nvSpPr>
        <p:spPr>
          <a:xfrm>
            <a:off x="6711696"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5% CANARY</a:t>
            </a:r>
            <a:endParaRPr lang="en-US" sz="580" dirty="0"/>
          </a:p>
        </p:txBody>
      </p:sp>
      <p:sp>
        <p:nvSpPr>
          <p:cNvPr id="50" name="Shape 48"/>
          <p:cNvSpPr/>
          <p:nvPr/>
        </p:nvSpPr>
        <p:spPr>
          <a:xfrm>
            <a:off x="7598664" y="2834640"/>
            <a:ext cx="109728" cy="0"/>
          </a:xfrm>
          <a:prstGeom prst="line">
            <a:avLst/>
          </a:prstGeom>
          <a:noFill/>
          <a:ln w="10160">
            <a:solidFill>
              <a:srgbClr val="E7BD62"/>
            </a:solidFill>
            <a:prstDash val="solid"/>
            <a:tailEnd type="triangle"/>
          </a:ln>
        </p:spPr>
      </p:sp>
      <p:sp>
        <p:nvSpPr>
          <p:cNvPr id="51" name="Shape 49"/>
          <p:cNvSpPr/>
          <p:nvPr/>
        </p:nvSpPr>
        <p:spPr>
          <a:xfrm>
            <a:off x="7708392" y="2514600"/>
            <a:ext cx="932688" cy="640080"/>
          </a:xfrm>
          <a:prstGeom prst="roundRect">
            <a:avLst>
              <a:gd name="adj" fmla="val 5714"/>
            </a:avLst>
          </a:prstGeom>
          <a:solidFill>
            <a:srgbClr val="102238"/>
          </a:solidFill>
          <a:ln w="11430">
            <a:solidFill>
              <a:srgbClr val="A99CFF"/>
            </a:solidFill>
            <a:prstDash val="solid"/>
          </a:ln>
        </p:spPr>
      </p:sp>
      <p:sp>
        <p:nvSpPr>
          <p:cNvPr id="52" name="Text 50"/>
          <p:cNvSpPr/>
          <p:nvPr/>
        </p:nvSpPr>
        <p:spPr>
          <a:xfrm>
            <a:off x="7754112"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25% CANARY</a:t>
            </a:r>
            <a:endParaRPr lang="en-US" sz="580" dirty="0"/>
          </a:p>
        </p:txBody>
      </p:sp>
      <p:sp>
        <p:nvSpPr>
          <p:cNvPr id="53" name="Shape 51"/>
          <p:cNvSpPr/>
          <p:nvPr/>
        </p:nvSpPr>
        <p:spPr>
          <a:xfrm>
            <a:off x="8641080" y="2834640"/>
            <a:ext cx="109728" cy="0"/>
          </a:xfrm>
          <a:prstGeom prst="line">
            <a:avLst/>
          </a:prstGeom>
          <a:noFill/>
          <a:ln w="10160">
            <a:solidFill>
              <a:srgbClr val="E7BD62"/>
            </a:solidFill>
            <a:prstDash val="solid"/>
            <a:tailEnd type="triangle"/>
          </a:ln>
        </p:spPr>
      </p:sp>
      <p:sp>
        <p:nvSpPr>
          <p:cNvPr id="54" name="Shape 52"/>
          <p:cNvSpPr/>
          <p:nvPr/>
        </p:nvSpPr>
        <p:spPr>
          <a:xfrm>
            <a:off x="8750808" y="2514600"/>
            <a:ext cx="932688" cy="640080"/>
          </a:xfrm>
          <a:prstGeom prst="roundRect">
            <a:avLst>
              <a:gd name="adj" fmla="val 5714"/>
            </a:avLst>
          </a:prstGeom>
          <a:solidFill>
            <a:srgbClr val="102238"/>
          </a:solidFill>
          <a:ln w="11430">
            <a:solidFill>
              <a:srgbClr val="A99CFF"/>
            </a:solidFill>
            <a:prstDash val="solid"/>
          </a:ln>
        </p:spPr>
      </p:sp>
      <p:sp>
        <p:nvSpPr>
          <p:cNvPr id="55" name="Text 53"/>
          <p:cNvSpPr/>
          <p:nvPr/>
        </p:nvSpPr>
        <p:spPr>
          <a:xfrm>
            <a:off x="8796528"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CONTROLLED ROLLOUT</a:t>
            </a:r>
            <a:endParaRPr lang="en-US" sz="580" dirty="0"/>
          </a:p>
        </p:txBody>
      </p:sp>
      <p:sp>
        <p:nvSpPr>
          <p:cNvPr id="56" name="Shape 54"/>
          <p:cNvSpPr/>
          <p:nvPr/>
        </p:nvSpPr>
        <p:spPr>
          <a:xfrm>
            <a:off x="9683496" y="2834640"/>
            <a:ext cx="109728" cy="0"/>
          </a:xfrm>
          <a:prstGeom prst="line">
            <a:avLst/>
          </a:prstGeom>
          <a:noFill/>
          <a:ln w="10160">
            <a:solidFill>
              <a:srgbClr val="E7BD62"/>
            </a:solidFill>
            <a:prstDash val="solid"/>
            <a:tailEnd type="triangle"/>
          </a:ln>
        </p:spPr>
      </p:sp>
      <p:sp>
        <p:nvSpPr>
          <p:cNvPr id="57" name="Shape 55"/>
          <p:cNvSpPr/>
          <p:nvPr/>
        </p:nvSpPr>
        <p:spPr>
          <a:xfrm>
            <a:off x="9793224" y="2514600"/>
            <a:ext cx="932688" cy="640080"/>
          </a:xfrm>
          <a:prstGeom prst="roundRect">
            <a:avLst>
              <a:gd name="adj" fmla="val 5714"/>
            </a:avLst>
          </a:prstGeom>
          <a:solidFill>
            <a:srgbClr val="102238"/>
          </a:solidFill>
          <a:ln w="11430">
            <a:solidFill>
              <a:srgbClr val="A99CFF"/>
            </a:solidFill>
            <a:prstDash val="solid"/>
          </a:ln>
        </p:spPr>
      </p:sp>
      <p:sp>
        <p:nvSpPr>
          <p:cNvPr id="58" name="Text 56"/>
          <p:cNvSpPr/>
          <p:nvPr/>
        </p:nvSpPr>
        <p:spPr>
          <a:xfrm>
            <a:off x="9838944"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F7FBFF"/>
                </a:solidFill>
                <a:latin typeface="Inter" pitchFamily="34" charset="0"/>
                <a:ea typeface="Inter" pitchFamily="34" charset="-122"/>
                <a:cs typeface="Inter" pitchFamily="34" charset="-120"/>
              </a:rPr>
              <a:t>DELAYED OUTCOME</a:t>
            </a:r>
            <a:endParaRPr lang="en-US" sz="580" dirty="0"/>
          </a:p>
        </p:txBody>
      </p:sp>
      <p:sp>
        <p:nvSpPr>
          <p:cNvPr id="59" name="Shape 57"/>
          <p:cNvSpPr/>
          <p:nvPr/>
        </p:nvSpPr>
        <p:spPr>
          <a:xfrm>
            <a:off x="10725912" y="2834640"/>
            <a:ext cx="109728" cy="0"/>
          </a:xfrm>
          <a:prstGeom prst="line">
            <a:avLst/>
          </a:prstGeom>
          <a:noFill/>
          <a:ln w="10160">
            <a:solidFill>
              <a:srgbClr val="E7BD62"/>
            </a:solidFill>
            <a:prstDash val="solid"/>
            <a:tailEnd type="triangle"/>
          </a:ln>
        </p:spPr>
      </p:sp>
      <p:sp>
        <p:nvSpPr>
          <p:cNvPr id="60" name="Shape 58"/>
          <p:cNvSpPr/>
          <p:nvPr/>
        </p:nvSpPr>
        <p:spPr>
          <a:xfrm>
            <a:off x="10835640" y="2514600"/>
            <a:ext cx="932688" cy="640080"/>
          </a:xfrm>
          <a:prstGeom prst="roundRect">
            <a:avLst>
              <a:gd name="adj" fmla="val 5714"/>
            </a:avLst>
          </a:prstGeom>
          <a:solidFill>
            <a:srgbClr val="43D79B"/>
          </a:solidFill>
          <a:ln w="11430">
            <a:solidFill>
              <a:srgbClr val="43D79B"/>
            </a:solidFill>
            <a:prstDash val="solid"/>
          </a:ln>
        </p:spPr>
      </p:sp>
      <p:sp>
        <p:nvSpPr>
          <p:cNvPr id="61" name="Text 59"/>
          <p:cNvSpPr/>
          <p:nvPr/>
        </p:nvSpPr>
        <p:spPr>
          <a:xfrm>
            <a:off x="10881360" y="2715768"/>
            <a:ext cx="841248" cy="146304"/>
          </a:xfrm>
          <a:prstGeom prst="rect">
            <a:avLst/>
          </a:prstGeom>
          <a:noFill/>
          <a:ln/>
        </p:spPr>
        <p:txBody>
          <a:bodyPr wrap="square" lIns="0" tIns="0" rIns="0" bIns="0" rtlCol="0" anchor="ctr">
            <a:normAutofit/>
          </a:bodyPr>
          <a:lstStyle/>
          <a:p>
            <a:pPr algn="ctr" indent="0" marL="0">
              <a:buNone/>
            </a:pPr>
            <a:r>
              <a:rPr lang="en-US" sz="580" b="1" dirty="0">
                <a:solidFill>
                  <a:srgbClr val="14273D"/>
                </a:solidFill>
                <a:latin typeface="Inter" pitchFamily="34" charset="0"/>
                <a:ea typeface="Inter" pitchFamily="34" charset="-122"/>
                <a:cs typeface="Inter" pitchFamily="34" charset="-120"/>
              </a:rPr>
              <a:t>PROMOTE / ROLLBACK</a:t>
            </a:r>
            <a:endParaRPr lang="en-US" sz="580" dirty="0"/>
          </a:p>
        </p:txBody>
      </p:sp>
      <p:sp>
        <p:nvSpPr>
          <p:cNvPr id="62" name="Shape 60"/>
          <p:cNvSpPr/>
          <p:nvPr/>
        </p:nvSpPr>
        <p:spPr>
          <a:xfrm>
            <a:off x="960120" y="3931920"/>
            <a:ext cx="3246120"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63" name="Text 61"/>
          <p:cNvSpPr/>
          <p:nvPr/>
        </p:nvSpPr>
        <p:spPr>
          <a:xfrm>
            <a:off x="1014984" y="4009644"/>
            <a:ext cx="3136392" cy="109728"/>
          </a:xfrm>
          <a:prstGeom prst="rect">
            <a:avLst/>
          </a:prstGeom>
          <a:noFill/>
          <a:ln/>
        </p:spPr>
        <p:txBody>
          <a:bodyPr wrap="square" lIns="0" tIns="0" rIns="0" bIns="0" rtlCol="0" anchor="ctr"/>
          <a:lstStyle/>
          <a:p>
            <a:pPr algn="ctr" indent="0" marL="0">
              <a:buNone/>
            </a:pPr>
            <a:r>
              <a:rPr lang="en-US" sz="690" b="1" dirty="0">
                <a:solidFill>
                  <a:srgbClr val="FF7584"/>
                </a:solidFill>
                <a:latin typeface="Inter" pitchFamily="34" charset="0"/>
                <a:ea typeface="Inter" pitchFamily="34" charset="-122"/>
                <a:cs typeface="Inter" pitchFamily="34" charset="-120"/>
              </a:rPr>
              <a:t>No Chronicle bypass</a:t>
            </a:r>
            <a:endParaRPr lang="en-US" sz="690" dirty="0"/>
          </a:p>
        </p:txBody>
      </p:sp>
      <p:sp>
        <p:nvSpPr>
          <p:cNvPr id="64" name="Shape 62"/>
          <p:cNvSpPr/>
          <p:nvPr/>
        </p:nvSpPr>
        <p:spPr>
          <a:xfrm>
            <a:off x="4480560" y="3931920"/>
            <a:ext cx="3246120" cy="283464"/>
          </a:xfrm>
          <a:prstGeom prst="roundRect">
            <a:avLst>
              <a:gd name="adj" fmla="val 38710"/>
            </a:avLst>
          </a:prstGeom>
          <a:solidFill>
            <a:srgbClr val="6FB5FF">
              <a:alpha val="13000"/>
            </a:srgbClr>
          </a:solidFill>
          <a:ln w="10160">
            <a:solidFill>
              <a:srgbClr val="6FB5FF">
                <a:alpha val="60000"/>
              </a:srgbClr>
            </a:solidFill>
            <a:prstDash val="solid"/>
          </a:ln>
        </p:spPr>
      </p:sp>
      <p:sp>
        <p:nvSpPr>
          <p:cNvPr id="65" name="Text 63"/>
          <p:cNvSpPr/>
          <p:nvPr/>
        </p:nvSpPr>
        <p:spPr>
          <a:xfrm>
            <a:off x="4535424" y="4009644"/>
            <a:ext cx="3136392" cy="109728"/>
          </a:xfrm>
          <a:prstGeom prst="rect">
            <a:avLst/>
          </a:prstGeom>
          <a:noFill/>
          <a:ln/>
        </p:spPr>
        <p:txBody>
          <a:bodyPr wrap="square" lIns="0" tIns="0" rIns="0" bIns="0" rtlCol="0" anchor="ctr"/>
          <a:lstStyle/>
          <a:p>
            <a:pPr algn="ctr" indent="0" marL="0">
              <a:buNone/>
            </a:pPr>
            <a:r>
              <a:rPr lang="en-US" sz="690" b="1" dirty="0">
                <a:solidFill>
                  <a:srgbClr val="6FB5FF"/>
                </a:solidFill>
                <a:latin typeface="Inter" pitchFamily="34" charset="0"/>
                <a:ea typeface="Inter" pitchFamily="34" charset="-122"/>
                <a:cs typeface="Inter" pitchFamily="34" charset="-120"/>
              </a:rPr>
              <a:t>No weaker privacy boundary</a:t>
            </a:r>
            <a:endParaRPr lang="en-US" sz="690" dirty="0"/>
          </a:p>
        </p:txBody>
      </p:sp>
      <p:sp>
        <p:nvSpPr>
          <p:cNvPr id="66" name="Shape 64"/>
          <p:cNvSpPr/>
          <p:nvPr/>
        </p:nvSpPr>
        <p:spPr>
          <a:xfrm>
            <a:off x="8001000" y="3931920"/>
            <a:ext cx="3246120" cy="283464"/>
          </a:xfrm>
          <a:prstGeom prst="roundRect">
            <a:avLst>
              <a:gd name="adj" fmla="val 38710"/>
            </a:avLst>
          </a:prstGeom>
          <a:solidFill>
            <a:srgbClr val="E7BD62">
              <a:alpha val="13000"/>
            </a:srgbClr>
          </a:solidFill>
          <a:ln w="10160">
            <a:solidFill>
              <a:srgbClr val="E7BD62">
                <a:alpha val="60000"/>
              </a:srgbClr>
            </a:solidFill>
            <a:prstDash val="solid"/>
          </a:ln>
        </p:spPr>
      </p:sp>
      <p:sp>
        <p:nvSpPr>
          <p:cNvPr id="67" name="Text 65"/>
          <p:cNvSpPr/>
          <p:nvPr/>
        </p:nvSpPr>
        <p:spPr>
          <a:xfrm>
            <a:off x="8055864" y="4009644"/>
            <a:ext cx="3136392" cy="109728"/>
          </a:xfrm>
          <a:prstGeom prst="rect">
            <a:avLst/>
          </a:prstGeom>
          <a:noFill/>
          <a:ln/>
        </p:spPr>
        <p:txBody>
          <a:bodyPr wrap="square" lIns="0" tIns="0" rIns="0" bIns="0" rtlCol="0" anchor="ctr"/>
          <a:lstStyle/>
          <a:p>
            <a:pPr algn="ctr" indent="0" marL="0">
              <a:buNone/>
            </a:pPr>
            <a:r>
              <a:rPr lang="en-US" sz="690" b="1" dirty="0">
                <a:solidFill>
                  <a:srgbClr val="E7BD62"/>
                </a:solidFill>
                <a:latin typeface="Inter" pitchFamily="34" charset="0"/>
                <a:ea typeface="Inter" pitchFamily="34" charset="-122"/>
                <a:cs typeface="Inter" pitchFamily="34" charset="-120"/>
              </a:rPr>
              <a:t>No removal of rollback</a:t>
            </a:r>
            <a:endParaRPr lang="en-US" sz="690" dirty="0"/>
          </a:p>
        </p:txBody>
      </p:sp>
      <p:sp>
        <p:nvSpPr>
          <p:cNvPr id="68" name="Shape 66"/>
          <p:cNvSpPr/>
          <p:nvPr/>
        </p:nvSpPr>
        <p:spPr>
          <a:xfrm>
            <a:off x="960120" y="4544568"/>
            <a:ext cx="3246120"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69" name="Text 67"/>
          <p:cNvSpPr/>
          <p:nvPr/>
        </p:nvSpPr>
        <p:spPr>
          <a:xfrm>
            <a:off x="1014984" y="4622292"/>
            <a:ext cx="3136392" cy="109728"/>
          </a:xfrm>
          <a:prstGeom prst="rect">
            <a:avLst/>
          </a:prstGeom>
          <a:noFill/>
          <a:ln/>
        </p:spPr>
        <p:txBody>
          <a:bodyPr wrap="square" lIns="0" tIns="0" rIns="0" bIns="0" rtlCol="0" anchor="ctr"/>
          <a:lstStyle/>
          <a:p>
            <a:pPr algn="ctr" indent="0" marL="0">
              <a:buNone/>
            </a:pPr>
            <a:r>
              <a:rPr lang="en-US" sz="690" b="1" dirty="0">
                <a:solidFill>
                  <a:srgbClr val="FF7584"/>
                </a:solidFill>
                <a:latin typeface="Inter" pitchFamily="34" charset="0"/>
                <a:ea typeface="Inter" pitchFamily="34" charset="-122"/>
                <a:cs typeface="Inter" pitchFamily="34" charset="-120"/>
              </a:rPr>
              <a:t>No hidden admin path</a:t>
            </a:r>
            <a:endParaRPr lang="en-US" sz="690" dirty="0"/>
          </a:p>
        </p:txBody>
      </p:sp>
      <p:sp>
        <p:nvSpPr>
          <p:cNvPr id="70" name="Shape 68"/>
          <p:cNvSpPr/>
          <p:nvPr/>
        </p:nvSpPr>
        <p:spPr>
          <a:xfrm>
            <a:off x="4480560" y="4544568"/>
            <a:ext cx="3246120" cy="283464"/>
          </a:xfrm>
          <a:prstGeom prst="roundRect">
            <a:avLst>
              <a:gd name="adj" fmla="val 38710"/>
            </a:avLst>
          </a:prstGeom>
          <a:solidFill>
            <a:srgbClr val="54D6D0">
              <a:alpha val="13000"/>
            </a:srgbClr>
          </a:solidFill>
          <a:ln w="10160">
            <a:solidFill>
              <a:srgbClr val="54D6D0">
                <a:alpha val="60000"/>
              </a:srgbClr>
            </a:solidFill>
            <a:prstDash val="solid"/>
          </a:ln>
        </p:spPr>
      </p:sp>
      <p:sp>
        <p:nvSpPr>
          <p:cNvPr id="71" name="Text 69"/>
          <p:cNvSpPr/>
          <p:nvPr/>
        </p:nvSpPr>
        <p:spPr>
          <a:xfrm>
            <a:off x="4535424" y="4622292"/>
            <a:ext cx="3136392" cy="109728"/>
          </a:xfrm>
          <a:prstGeom prst="rect">
            <a:avLst/>
          </a:prstGeom>
          <a:noFill/>
          <a:ln/>
        </p:spPr>
        <p:txBody>
          <a:bodyPr wrap="square" lIns="0" tIns="0" rIns="0" bIns="0" rtlCol="0" anchor="ctr"/>
          <a:lstStyle/>
          <a:p>
            <a:pPr algn="ctr" indent="0" marL="0">
              <a:buNone/>
            </a:pPr>
            <a:r>
              <a:rPr lang="en-US" sz="690" b="1" dirty="0">
                <a:solidFill>
                  <a:srgbClr val="54D6D0"/>
                </a:solidFill>
                <a:latin typeface="Inter" pitchFamily="34" charset="0"/>
                <a:ea typeface="Inter" pitchFamily="34" charset="-122"/>
                <a:cs typeface="Inter" pitchFamily="34" charset="-120"/>
              </a:rPr>
              <a:t>No unreviewed settlement</a:t>
            </a:r>
            <a:endParaRPr lang="en-US" sz="690" dirty="0"/>
          </a:p>
        </p:txBody>
      </p:sp>
      <p:sp>
        <p:nvSpPr>
          <p:cNvPr id="72" name="Shape 70"/>
          <p:cNvSpPr/>
          <p:nvPr/>
        </p:nvSpPr>
        <p:spPr>
          <a:xfrm>
            <a:off x="8001000" y="4544568"/>
            <a:ext cx="3246120" cy="283464"/>
          </a:xfrm>
          <a:prstGeom prst="roundRect">
            <a:avLst>
              <a:gd name="adj" fmla="val 38710"/>
            </a:avLst>
          </a:prstGeom>
          <a:solidFill>
            <a:srgbClr val="A99CFF">
              <a:alpha val="13000"/>
            </a:srgbClr>
          </a:solidFill>
          <a:ln w="10160">
            <a:solidFill>
              <a:srgbClr val="A99CFF">
                <a:alpha val="60000"/>
              </a:srgbClr>
            </a:solidFill>
            <a:prstDash val="solid"/>
          </a:ln>
        </p:spPr>
      </p:sp>
      <p:sp>
        <p:nvSpPr>
          <p:cNvPr id="73" name="Text 71"/>
          <p:cNvSpPr/>
          <p:nvPr/>
        </p:nvSpPr>
        <p:spPr>
          <a:xfrm>
            <a:off x="8055864" y="4622292"/>
            <a:ext cx="3136392" cy="109728"/>
          </a:xfrm>
          <a:prstGeom prst="rect">
            <a:avLst/>
          </a:prstGeom>
          <a:noFill/>
          <a:ln/>
        </p:spPr>
        <p:txBody>
          <a:bodyPr wrap="square" lIns="0" tIns="0" rIns="0" bIns="0" rtlCol="0" anchor="ctr"/>
          <a:lstStyle/>
          <a:p>
            <a:pPr algn="ctr" indent="0" marL="0">
              <a:buNone/>
            </a:pPr>
            <a:r>
              <a:rPr lang="en-US" sz="690" b="1" dirty="0">
                <a:solidFill>
                  <a:srgbClr val="A99CFF"/>
                </a:solidFill>
                <a:latin typeface="Inter" pitchFamily="34" charset="0"/>
                <a:ea typeface="Inter" pitchFamily="34" charset="-122"/>
                <a:cs typeface="Inter" pitchFamily="34" charset="-120"/>
              </a:rPr>
              <a:t>No search score gaining outcome authority</a:t>
            </a:r>
            <a:endParaRPr lang="en-US" sz="690" dirty="0"/>
          </a:p>
        </p:txBody>
      </p:sp>
      <p:sp>
        <p:nvSpPr>
          <p:cNvPr id="74" name="Text 72"/>
          <p:cNvSpPr/>
          <p:nvPr/>
        </p:nvSpPr>
        <p:spPr>
          <a:xfrm>
            <a:off x="2011680" y="5422392"/>
            <a:ext cx="8183880" cy="347472"/>
          </a:xfrm>
          <a:prstGeom prst="rect">
            <a:avLst/>
          </a:prstGeom>
          <a:noFill/>
          <a:ln/>
        </p:spPr>
        <p:txBody>
          <a:bodyPr wrap="square" lIns="0" tIns="0" rIns="0" bIns="0" rtlCol="0" anchor="ctr"/>
          <a:lstStyle/>
          <a:p>
            <a:pPr algn="ctr" indent="0" marL="0">
              <a:buNone/>
            </a:pPr>
            <a:r>
              <a:rPr lang="en-US" sz="1420" b="1" dirty="0">
                <a:solidFill>
                  <a:srgbClr val="E7BD62"/>
                </a:solidFill>
                <a:latin typeface="Inter Display" pitchFamily="34" charset="0"/>
                <a:ea typeface="Inter Display" pitchFamily="34" charset="-122"/>
                <a:cs typeface="Inter Display" pitchFamily="34" charset="-120"/>
              </a:rPr>
              <a:t>The system must be able to roll itself back to a known-good release.</a:t>
            </a:r>
            <a:endParaRPr lang="en-US" sz="142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COMPOUNDING TEST</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700" b="1" dirty="0">
                <a:solidFill>
                  <a:srgbClr val="14273D"/>
                </a:solidFill>
                <a:latin typeface="Inter Display" pitchFamily="34" charset="0"/>
                <a:ea typeface="Inter Display" pitchFamily="34" charset="-122"/>
                <a:cs typeface="Inter Display" pitchFamily="34" charset="-120"/>
              </a:rPr>
              <a:t>Mission 1 creates a candidate capability. Mission 2 tests whether capability actually compounds.</a:t>
            </a:r>
            <a:endParaRPr lang="en-US" sz="27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first evidence of compounding is measurable improvement on fresh held-out work under equal constraints.</a:t>
            </a:r>
            <a:endParaRPr lang="en-US" sz="1450" dirty="0"/>
          </a:p>
        </p:txBody>
      </p:sp>
      <p:sp>
        <p:nvSpPr>
          <p:cNvPr id="30" name="Shape 28"/>
          <p:cNvSpPr/>
          <p:nvPr/>
        </p:nvSpPr>
        <p:spPr>
          <a:xfrm>
            <a:off x="685800" y="2212848"/>
            <a:ext cx="4251960" cy="2514600"/>
          </a:xfrm>
          <a:prstGeom prst="roundRect">
            <a:avLst>
              <a:gd name="adj" fmla="val 2909"/>
            </a:avLst>
          </a:prstGeom>
          <a:solidFill>
            <a:srgbClr val="FFFDF8"/>
          </a:solidFill>
          <a:ln w="10160">
            <a:solidFill>
              <a:srgbClr val="6FB5FF"/>
            </a:solidFill>
            <a:prstDash val="solid"/>
          </a:ln>
        </p:spPr>
      </p:sp>
      <p:sp>
        <p:nvSpPr>
          <p:cNvPr id="31" name="Text 29"/>
          <p:cNvSpPr/>
          <p:nvPr/>
        </p:nvSpPr>
        <p:spPr>
          <a:xfrm>
            <a:off x="841248" y="2340864"/>
            <a:ext cx="39410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MISSION 1</a:t>
            </a:r>
            <a:endParaRPr lang="en-US" sz="680" dirty="0"/>
          </a:p>
        </p:txBody>
      </p:sp>
      <p:sp>
        <p:nvSpPr>
          <p:cNvPr id="32" name="Text 30"/>
          <p:cNvSpPr/>
          <p:nvPr/>
        </p:nvSpPr>
        <p:spPr>
          <a:xfrm>
            <a:off x="841248" y="2468880"/>
            <a:ext cx="3941064" cy="329184"/>
          </a:xfrm>
          <a:prstGeom prst="rect">
            <a:avLst/>
          </a:prstGeom>
          <a:noFill/>
          <a:ln/>
        </p:spPr>
        <p:txBody>
          <a:bodyPr wrap="square" lIns="0" tIns="0" rIns="0" bIns="0" rtlCol="0" anchor="ctr">
            <a:normAutofit/>
          </a:bodyPr>
          <a:lstStyle/>
          <a:p>
            <a:pPr indent="0" marL="0">
              <a:buNone/>
            </a:pPr>
            <a:r>
              <a:rPr lang="en-US" sz="1900" b="1" dirty="0">
                <a:solidFill>
                  <a:srgbClr val="14273D"/>
                </a:solidFill>
                <a:latin typeface="Inter Display" pitchFamily="34" charset="0"/>
                <a:ea typeface="Inter Display" pitchFamily="34" charset="-122"/>
                <a:cs typeface="Inter Display" pitchFamily="34" charset="-120"/>
              </a:rPr>
              <a:t>Build something worth remembering</a:t>
            </a:r>
            <a:endParaRPr lang="en-US" sz="1900" dirty="0"/>
          </a:p>
        </p:txBody>
      </p:sp>
      <p:sp>
        <p:nvSpPr>
          <p:cNvPr id="33" name="Text 31"/>
          <p:cNvSpPr/>
          <p:nvPr/>
        </p:nvSpPr>
        <p:spPr>
          <a:xfrm>
            <a:off x="841248" y="2871216"/>
            <a:ext cx="3941064" cy="1719072"/>
          </a:xfrm>
          <a:prstGeom prst="rect">
            <a:avLst/>
          </a:prstGeom>
          <a:noFill/>
          <a:ln/>
        </p:spPr>
        <p:txBody>
          <a:bodyPr wrap="square" lIns="0" tIns="0" rIns="0" bIns="0" rtlCol="0" anchor="t">
            <a:normAutofit/>
          </a:bodyPr>
          <a:lstStyle/>
          <a:p>
            <a:pPr indent="0" marL="0">
              <a:buNone/>
            </a:pPr>
            <a:r>
              <a:rPr lang="en-US" sz="1100" dirty="0">
                <a:solidFill>
                  <a:srgbClr val="43566A"/>
                </a:solidFill>
                <a:latin typeface="Inter" pitchFamily="34" charset="0"/>
                <a:ea typeface="Inter" pitchFamily="34" charset="-122"/>
                <a:cs typeface="Inter" pitchFamily="34" charset="-120"/>
              </a:rPr>
              <a:t>Run the proof mission</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Resolve Proof Debt</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Produce Evidence Docket</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Chronicle admits a scoped skill</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Commit the graph state</a:t>
            </a:r>
            <a:endParaRPr lang="en-US" sz="1100" dirty="0"/>
          </a:p>
        </p:txBody>
      </p:sp>
      <p:sp>
        <p:nvSpPr>
          <p:cNvPr id="34" name="Shape 32"/>
          <p:cNvSpPr/>
          <p:nvPr/>
        </p:nvSpPr>
        <p:spPr>
          <a:xfrm>
            <a:off x="5084064" y="3200400"/>
            <a:ext cx="502920" cy="310896"/>
          </a:xfrm>
          <a:prstGeom prst="chevron">
            <a:avLst/>
          </a:prstGeom>
          <a:solidFill>
            <a:srgbClr val="E7BD62">
              <a:alpha val="90000"/>
            </a:srgbClr>
          </a:solidFill>
          <a:ln w="6350">
            <a:solidFill>
              <a:srgbClr val="E7BD62">
                <a:alpha val="40000"/>
              </a:srgbClr>
            </a:solidFill>
            <a:prstDash val="solid"/>
          </a:ln>
        </p:spPr>
      </p:sp>
      <p:sp>
        <p:nvSpPr>
          <p:cNvPr id="35" name="Shape 33"/>
          <p:cNvSpPr/>
          <p:nvPr/>
        </p:nvSpPr>
        <p:spPr>
          <a:xfrm>
            <a:off x="5715000" y="2212848"/>
            <a:ext cx="5760720" cy="2514600"/>
          </a:xfrm>
          <a:prstGeom prst="roundRect">
            <a:avLst>
              <a:gd name="adj" fmla="val 2909"/>
            </a:avLst>
          </a:prstGeom>
          <a:solidFill>
            <a:srgbClr val="FFFDF8"/>
          </a:solidFill>
          <a:ln w="10160">
            <a:solidFill>
              <a:srgbClr val="43D79B"/>
            </a:solidFill>
            <a:prstDash val="solid"/>
          </a:ln>
        </p:spPr>
      </p:sp>
      <p:sp>
        <p:nvSpPr>
          <p:cNvPr id="36" name="Text 34"/>
          <p:cNvSpPr/>
          <p:nvPr/>
        </p:nvSpPr>
        <p:spPr>
          <a:xfrm>
            <a:off x="5870448" y="2340864"/>
            <a:ext cx="544982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MISSION 2</a:t>
            </a:r>
            <a:endParaRPr lang="en-US" sz="680" dirty="0"/>
          </a:p>
        </p:txBody>
      </p:sp>
      <p:sp>
        <p:nvSpPr>
          <p:cNvPr id="37" name="Text 35"/>
          <p:cNvSpPr/>
          <p:nvPr/>
        </p:nvSpPr>
        <p:spPr>
          <a:xfrm>
            <a:off x="5870448" y="2468880"/>
            <a:ext cx="5449824" cy="329184"/>
          </a:xfrm>
          <a:prstGeom prst="rect">
            <a:avLst/>
          </a:prstGeom>
          <a:noFill/>
          <a:ln/>
        </p:spPr>
        <p:txBody>
          <a:bodyPr wrap="square" lIns="0" tIns="0" rIns="0" bIns="0" rtlCol="0" anchor="ctr">
            <a:normAutofit/>
          </a:bodyPr>
          <a:lstStyle/>
          <a:p>
            <a:pPr indent="0" marL="0">
              <a:buNone/>
            </a:pPr>
            <a:r>
              <a:rPr lang="en-US" sz="1900" b="1" dirty="0">
                <a:solidFill>
                  <a:srgbClr val="14273D"/>
                </a:solidFill>
                <a:latin typeface="Inter Display" pitchFamily="34" charset="0"/>
                <a:ea typeface="Inter Display" pitchFamily="34" charset="-122"/>
                <a:cs typeface="Inter Display" pitchFamily="34" charset="-120"/>
              </a:rPr>
              <a:t>Measure the lift under equal constraints</a:t>
            </a:r>
            <a:endParaRPr lang="en-US" sz="1900" dirty="0"/>
          </a:p>
        </p:txBody>
      </p:sp>
      <p:sp>
        <p:nvSpPr>
          <p:cNvPr id="38" name="Text 36"/>
          <p:cNvSpPr/>
          <p:nvPr/>
        </p:nvSpPr>
        <p:spPr>
          <a:xfrm>
            <a:off x="5870448" y="2871216"/>
            <a:ext cx="5449824" cy="1719072"/>
          </a:xfrm>
          <a:prstGeom prst="rect">
            <a:avLst/>
          </a:prstGeom>
          <a:noFill/>
          <a:ln/>
        </p:spPr>
        <p:txBody>
          <a:bodyPr wrap="square" lIns="0" tIns="0" rIns="0" bIns="0" rtlCol="0" anchor="t">
            <a:normAutofit/>
          </a:bodyPr>
          <a:lstStyle/>
          <a:p>
            <a:pPr indent="0" marL="0">
              <a:buNone/>
            </a:pPr>
            <a:r>
              <a:rPr lang="en-US" sz="1100" dirty="0">
                <a:solidFill>
                  <a:srgbClr val="43566A"/>
                </a:solidFill>
                <a:latin typeface="Inter" pitchFamily="34" charset="0"/>
                <a:ea typeface="Inter" pitchFamily="34" charset="-122"/>
                <a:cs typeface="Inter" pitchFamily="34" charset="-120"/>
              </a:rPr>
              <a:t>Fresh held-out work</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Same solver, tools, budget, stopping rule</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Validated skill vs fresh control vs raw memory</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Quality, cost, latency, risk, reviewer burden</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Independent replay and challenge</a:t>
            </a:r>
            <a:endParaRPr lang="en-US" sz="1100" dirty="0"/>
          </a:p>
        </p:txBody>
      </p:sp>
      <p:sp>
        <p:nvSpPr>
          <p:cNvPr id="39" name="Shape 37"/>
          <p:cNvSpPr/>
          <p:nvPr/>
        </p:nvSpPr>
        <p:spPr>
          <a:xfrm>
            <a:off x="1965960" y="5074920"/>
            <a:ext cx="8275320" cy="658368"/>
          </a:xfrm>
          <a:prstGeom prst="roundRect">
            <a:avLst>
              <a:gd name="adj" fmla="val 11111"/>
            </a:avLst>
          </a:prstGeom>
          <a:solidFill>
            <a:srgbClr val="FFFDF8"/>
          </a:solidFill>
          <a:ln w="10160">
            <a:solidFill>
              <a:srgbClr val="FF7584"/>
            </a:solidFill>
            <a:prstDash val="solid"/>
          </a:ln>
        </p:spPr>
      </p:sp>
      <p:sp>
        <p:nvSpPr>
          <p:cNvPr id="40" name="Text 38"/>
          <p:cNvSpPr/>
          <p:nvPr/>
        </p:nvSpPr>
        <p:spPr>
          <a:xfrm>
            <a:off x="2121408" y="5202936"/>
            <a:ext cx="796442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EMPIRICAL BURDEN</a:t>
            </a:r>
            <a:endParaRPr lang="en-US" sz="680" dirty="0"/>
          </a:p>
        </p:txBody>
      </p:sp>
      <p:sp>
        <p:nvSpPr>
          <p:cNvPr id="41" name="Text 39"/>
          <p:cNvSpPr/>
          <p:nvPr/>
        </p:nvSpPr>
        <p:spPr>
          <a:xfrm>
            <a:off x="2121408" y="5330952"/>
            <a:ext cx="7964424" cy="329184"/>
          </a:xfrm>
          <a:prstGeom prst="rect">
            <a:avLst/>
          </a:prstGeom>
          <a:noFill/>
          <a:ln/>
        </p:spPr>
        <p:txBody>
          <a:bodyPr wrap="square" lIns="0" tIns="0" rIns="0" bIns="0" rtlCol="0" anchor="ctr">
            <a:normAutofit/>
          </a:bodyPr>
          <a:lstStyle/>
          <a:p>
            <a:pPr indent="0" marL="0">
              <a:buNone/>
            </a:pPr>
            <a:r>
              <a:rPr lang="en-US" sz="1420" b="1" dirty="0">
                <a:solidFill>
                  <a:srgbClr val="14273D"/>
                </a:solidFill>
                <a:latin typeface="Inter Display" pitchFamily="34" charset="0"/>
                <a:ea typeface="Inter Display" pitchFamily="34" charset="-122"/>
                <a:cs typeface="Inter Display" pitchFamily="34" charset="-120"/>
              </a:rPr>
              <a:t>No measured second-mission improvement, no compounding-capability claim.</a:t>
            </a:r>
            <a:endParaRPr lang="en-US" sz="142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LOCAL REGRESSION EVIDENCE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COMP-001 local synthetic compatibility fixture · not external field evidence</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 deterministic local regression illustrates the test structure.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Synthetic fixture only: useful for engineering evidence and pedagogy—not proof of real-world or external capability.</a:t>
            </a:r>
            <a:endParaRPr lang="en-US" sz="1450" dirty="0"/>
          </a:p>
        </p:txBody>
      </p:sp>
      <p:graphicFrame>
        <p:nvGraphicFramePr>
          <p:cNvPr id="30" name="Chart 0" descr=""/>
          <p:cNvGraphicFramePr/>
          <p:nvPr/>
        </p:nvGraphicFramePr>
        <p:xfrm>
          <a:off x="731520" y="2011680"/>
          <a:ext cx="6492240" cy="3520440"/>
        </p:xfrm>
        <a:graphic xmlns:a="http://schemas.openxmlformats.org/drawingml/2006/main">
          <a:graphicData uri="http://schemas.openxmlformats.org/drawingml/2006/chart">
            <c:chart xmlns:c="http://schemas.openxmlformats.org/drawingml/2006/chart" r:id="rId1"/>
          </a:graphicData>
        </a:graphic>
      </p:graphicFrame>
      <p:sp>
        <p:nvSpPr>
          <p:cNvPr id="31" name="Shape 28"/>
          <p:cNvSpPr/>
          <p:nvPr/>
        </p:nvSpPr>
        <p:spPr>
          <a:xfrm>
            <a:off x="7635240" y="2084832"/>
            <a:ext cx="3703320" cy="1097280"/>
          </a:xfrm>
          <a:prstGeom prst="roundRect">
            <a:avLst>
              <a:gd name="adj" fmla="val 6667"/>
            </a:avLst>
          </a:prstGeom>
          <a:solidFill>
            <a:srgbClr val="102238"/>
          </a:solidFill>
          <a:ln w="10160">
            <a:solidFill>
              <a:srgbClr val="43D79B"/>
            </a:solidFill>
            <a:prstDash val="solid"/>
          </a:ln>
        </p:spPr>
      </p:sp>
      <p:sp>
        <p:nvSpPr>
          <p:cNvPr id="32" name="Text 29"/>
          <p:cNvSpPr/>
          <p:nvPr/>
        </p:nvSpPr>
        <p:spPr>
          <a:xfrm>
            <a:off x="7790688" y="2212848"/>
            <a:ext cx="339242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MEDIAN LIFT VS FRESH</a:t>
            </a:r>
            <a:endParaRPr lang="en-US" sz="680" dirty="0"/>
          </a:p>
        </p:txBody>
      </p:sp>
      <p:sp>
        <p:nvSpPr>
          <p:cNvPr id="33" name="Text 30"/>
          <p:cNvSpPr/>
          <p:nvPr/>
        </p:nvSpPr>
        <p:spPr>
          <a:xfrm>
            <a:off x="7790688" y="2340864"/>
            <a:ext cx="3392424" cy="329184"/>
          </a:xfrm>
          <a:prstGeom prst="rect">
            <a:avLst/>
          </a:prstGeom>
          <a:noFill/>
          <a:ln/>
        </p:spPr>
        <p:txBody>
          <a:bodyPr wrap="square" lIns="0" tIns="0" rIns="0" bIns="0" rtlCol="0" anchor="ctr">
            <a:normAutofit/>
          </a:bodyPr>
          <a:lstStyle/>
          <a:p>
            <a:pPr indent="0" marL="0">
              <a:buNone/>
            </a:pPr>
            <a:r>
              <a:rPr lang="en-US" sz="2500" b="1" dirty="0">
                <a:solidFill>
                  <a:srgbClr val="F7FBFF"/>
                </a:solidFill>
                <a:latin typeface="Inter Display" pitchFamily="34" charset="0"/>
                <a:ea typeface="Inter Display" pitchFamily="34" charset="-122"/>
                <a:cs typeface="Inter Display" pitchFamily="34" charset="-120"/>
              </a:rPr>
              <a:t>+15.61 points</a:t>
            </a:r>
            <a:endParaRPr lang="en-US" sz="2500" dirty="0"/>
          </a:p>
        </p:txBody>
      </p:sp>
      <p:sp>
        <p:nvSpPr>
          <p:cNvPr id="34" name="Text 31"/>
          <p:cNvSpPr/>
          <p:nvPr/>
        </p:nvSpPr>
        <p:spPr>
          <a:xfrm>
            <a:off x="7790688" y="2743200"/>
            <a:ext cx="3392424" cy="301752"/>
          </a:xfrm>
          <a:prstGeom prst="rect">
            <a:avLst/>
          </a:prstGeom>
          <a:noFill/>
          <a:ln/>
        </p:spPr>
        <p:txBody>
          <a:bodyPr wrap="square" lIns="0" tIns="0" rIns="0" bIns="0" rtlCol="0" anchor="t">
            <a:normAutofit/>
          </a:bodyPr>
          <a:lstStyle/>
          <a:p>
            <a:pPr indent="0" marL="0">
              <a:buNone/>
            </a:pPr>
            <a:r>
              <a:rPr lang="en-US" sz="820" dirty="0">
                <a:solidFill>
                  <a:srgbClr val="B9C5D2"/>
                </a:solidFill>
                <a:latin typeface="Inter" pitchFamily="34" charset="0"/>
                <a:ea typeface="Inter" pitchFamily="34" charset="-122"/>
                <a:cs typeface="Inter" pitchFamily="34" charset="-120"/>
              </a:rPr>
              <a:t>Paired lower bound &gt; 0 in the synthetic deterministic fixture.</a:t>
            </a:r>
            <a:endParaRPr lang="en-US" sz="820" dirty="0"/>
          </a:p>
        </p:txBody>
      </p:sp>
      <p:sp>
        <p:nvSpPr>
          <p:cNvPr id="35" name="Shape 32"/>
          <p:cNvSpPr/>
          <p:nvPr/>
        </p:nvSpPr>
        <p:spPr>
          <a:xfrm>
            <a:off x="7635240" y="3401568"/>
            <a:ext cx="3703320" cy="1097280"/>
          </a:xfrm>
          <a:prstGeom prst="roundRect">
            <a:avLst>
              <a:gd name="adj" fmla="val 6667"/>
            </a:avLst>
          </a:prstGeom>
          <a:solidFill>
            <a:srgbClr val="102238"/>
          </a:solidFill>
          <a:ln w="10160">
            <a:solidFill>
              <a:srgbClr val="54D6D0"/>
            </a:solidFill>
            <a:prstDash val="solid"/>
          </a:ln>
        </p:spPr>
      </p:sp>
      <p:sp>
        <p:nvSpPr>
          <p:cNvPr id="36" name="Text 33"/>
          <p:cNvSpPr/>
          <p:nvPr/>
        </p:nvSpPr>
        <p:spPr>
          <a:xfrm>
            <a:off x="7790688" y="3529584"/>
            <a:ext cx="339242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MEDIAN LIFT VS RAW MEMORY</a:t>
            </a:r>
            <a:endParaRPr lang="en-US" sz="680" dirty="0"/>
          </a:p>
        </p:txBody>
      </p:sp>
      <p:sp>
        <p:nvSpPr>
          <p:cNvPr id="37" name="Text 34"/>
          <p:cNvSpPr/>
          <p:nvPr/>
        </p:nvSpPr>
        <p:spPr>
          <a:xfrm>
            <a:off x="7790688" y="3657600"/>
            <a:ext cx="3392424" cy="329184"/>
          </a:xfrm>
          <a:prstGeom prst="rect">
            <a:avLst/>
          </a:prstGeom>
          <a:noFill/>
          <a:ln/>
        </p:spPr>
        <p:txBody>
          <a:bodyPr wrap="square" lIns="0" tIns="0" rIns="0" bIns="0" rtlCol="0" anchor="ctr">
            <a:normAutofit/>
          </a:bodyPr>
          <a:lstStyle/>
          <a:p>
            <a:pPr indent="0" marL="0">
              <a:buNone/>
            </a:pPr>
            <a:r>
              <a:rPr lang="en-US" sz="2500" b="1" dirty="0">
                <a:solidFill>
                  <a:srgbClr val="F7FBFF"/>
                </a:solidFill>
                <a:latin typeface="Inter Display" pitchFamily="34" charset="0"/>
                <a:ea typeface="Inter Display" pitchFamily="34" charset="-122"/>
                <a:cs typeface="Inter Display" pitchFamily="34" charset="-120"/>
              </a:rPr>
              <a:t>+9.87 points</a:t>
            </a:r>
            <a:endParaRPr lang="en-US" sz="2500" dirty="0"/>
          </a:p>
        </p:txBody>
      </p:sp>
      <p:sp>
        <p:nvSpPr>
          <p:cNvPr id="38" name="Text 35"/>
          <p:cNvSpPr/>
          <p:nvPr/>
        </p:nvSpPr>
        <p:spPr>
          <a:xfrm>
            <a:off x="7790688" y="4059936"/>
            <a:ext cx="3392424" cy="301752"/>
          </a:xfrm>
          <a:prstGeom prst="rect">
            <a:avLst/>
          </a:prstGeom>
          <a:noFill/>
          <a:ln/>
        </p:spPr>
        <p:txBody>
          <a:bodyPr wrap="square" lIns="0" tIns="0" rIns="0" bIns="0" rtlCol="0" anchor="t">
            <a:normAutofit/>
          </a:bodyPr>
          <a:lstStyle/>
          <a:p>
            <a:pPr indent="0" marL="0">
              <a:buNone/>
            </a:pPr>
            <a:r>
              <a:rPr lang="en-US" sz="820" dirty="0">
                <a:solidFill>
                  <a:srgbClr val="B9C5D2"/>
                </a:solidFill>
                <a:latin typeface="Inter" pitchFamily="34" charset="0"/>
                <a:ea typeface="Inter" pitchFamily="34" charset="-122"/>
                <a:cs typeface="Inter" pitchFamily="34" charset="-120"/>
              </a:rPr>
              <a:t>Validated, scoped prior outperformed ungoverned memory.</a:t>
            </a:r>
            <a:endParaRPr lang="en-US" sz="820" dirty="0"/>
          </a:p>
        </p:txBody>
      </p:sp>
      <p:sp>
        <p:nvSpPr>
          <p:cNvPr id="39" name="Shape 36"/>
          <p:cNvSpPr/>
          <p:nvPr/>
        </p:nvSpPr>
        <p:spPr>
          <a:xfrm>
            <a:off x="7635240" y="4718304"/>
            <a:ext cx="3703320" cy="731520"/>
          </a:xfrm>
          <a:prstGeom prst="roundRect">
            <a:avLst>
              <a:gd name="adj" fmla="val 10000"/>
            </a:avLst>
          </a:prstGeom>
          <a:solidFill>
            <a:srgbClr val="102238"/>
          </a:solidFill>
          <a:ln w="10160">
            <a:solidFill>
              <a:srgbClr val="FF7584"/>
            </a:solidFill>
            <a:prstDash val="solid"/>
          </a:ln>
        </p:spPr>
      </p:sp>
      <p:sp>
        <p:nvSpPr>
          <p:cNvPr id="40" name="Text 37"/>
          <p:cNvSpPr/>
          <p:nvPr/>
        </p:nvSpPr>
        <p:spPr>
          <a:xfrm>
            <a:off x="7790688" y="4846320"/>
            <a:ext cx="339242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BOUNDARY</a:t>
            </a:r>
            <a:endParaRPr lang="en-US" sz="680" dirty="0"/>
          </a:p>
        </p:txBody>
      </p:sp>
      <p:sp>
        <p:nvSpPr>
          <p:cNvPr id="41" name="Text 38"/>
          <p:cNvSpPr/>
          <p:nvPr/>
        </p:nvSpPr>
        <p:spPr>
          <a:xfrm>
            <a:off x="7790688" y="4974336"/>
            <a:ext cx="3392424" cy="329184"/>
          </a:xfrm>
          <a:prstGeom prst="rect">
            <a:avLst/>
          </a:prstGeom>
          <a:noFill/>
          <a:ln/>
        </p:spPr>
        <p:txBody>
          <a:bodyPr wrap="square" lIns="0" tIns="0" rIns="0" bIns="0" rtlCol="0" anchor="ctr">
            <a:normAutofit/>
          </a:bodyPr>
          <a:lstStyle/>
          <a:p>
            <a:pPr indent="0" marL="0">
              <a:buNone/>
            </a:pPr>
            <a:r>
              <a:rPr lang="en-US" sz="1120" b="1" dirty="0">
                <a:solidFill>
                  <a:srgbClr val="F7FBFF"/>
                </a:solidFill>
                <a:latin typeface="Inter Display" pitchFamily="34" charset="0"/>
                <a:ea typeface="Inter Display" pitchFamily="34" charset="-122"/>
                <a:cs typeface="Inter Display" pitchFamily="34" charset="-120"/>
              </a:rPr>
              <a:t>Local · synthetic · internally replayed · not externally validated</a:t>
            </a:r>
            <a:endParaRPr lang="en-US" sz="112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THE INSTITUTION</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Masterclass module divider</a:t>
            </a:r>
            <a:endParaRPr lang="en-US" sz="640" dirty="0"/>
          </a:p>
        </p:txBody>
      </p:sp>
      <p:sp>
        <p:nvSpPr>
          <p:cNvPr id="28" name="Text 26"/>
          <p:cNvSpPr/>
          <p:nvPr/>
        </p:nvSpPr>
        <p:spPr>
          <a:xfrm>
            <a:off x="640080" y="1097280"/>
            <a:ext cx="1828800" cy="1097280"/>
          </a:xfrm>
          <a:prstGeom prst="rect">
            <a:avLst/>
          </a:prstGeom>
          <a:noFill/>
          <a:ln/>
        </p:spPr>
        <p:txBody>
          <a:bodyPr wrap="square" lIns="0" tIns="0" rIns="0" bIns="0" rtlCol="0" anchor="ctr"/>
          <a:lstStyle/>
          <a:p>
            <a:pPr indent="0" marL="0">
              <a:buNone/>
            </a:pPr>
            <a:r>
              <a:rPr lang="en-US" sz="5800" b="1" dirty="0">
                <a:solidFill>
                  <a:srgbClr val="54D6D0">
                    <a:alpha val="95000"/>
                  </a:srgbClr>
                </a:solidFill>
                <a:latin typeface="Inter Display" pitchFamily="34" charset="0"/>
                <a:ea typeface="Inter Display" pitchFamily="34" charset="-122"/>
                <a:cs typeface="Inter Display" pitchFamily="34" charset="-120"/>
              </a:rPr>
              <a:t>03</a:t>
            </a:r>
            <a:endParaRPr lang="en-US" sz="5800" dirty="0"/>
          </a:p>
        </p:txBody>
      </p:sp>
      <p:sp>
        <p:nvSpPr>
          <p:cNvPr id="29" name="Shape 27"/>
          <p:cNvSpPr/>
          <p:nvPr/>
        </p:nvSpPr>
        <p:spPr>
          <a:xfrm>
            <a:off x="2743200" y="1234440"/>
            <a:ext cx="2560320" cy="301752"/>
          </a:xfrm>
          <a:prstGeom prst="roundRect">
            <a:avLst>
              <a:gd name="adj" fmla="val 24242"/>
            </a:avLst>
          </a:prstGeom>
          <a:solidFill>
            <a:srgbClr val="54D6D0">
              <a:alpha val="12000"/>
            </a:srgbClr>
          </a:solidFill>
          <a:ln w="10160">
            <a:solidFill>
              <a:srgbClr val="54D6D0">
                <a:alpha val="65000"/>
              </a:srgbClr>
            </a:solidFill>
            <a:prstDash val="solid"/>
          </a:ln>
        </p:spPr>
      </p:sp>
      <p:sp>
        <p:nvSpPr>
          <p:cNvPr id="30" name="Text 28"/>
          <p:cNvSpPr/>
          <p:nvPr/>
        </p:nvSpPr>
        <p:spPr>
          <a:xfrm>
            <a:off x="2825496" y="1316736"/>
            <a:ext cx="2395728" cy="109728"/>
          </a:xfrm>
          <a:prstGeom prst="rect">
            <a:avLst/>
          </a:prstGeom>
          <a:noFill/>
          <a:ln/>
        </p:spPr>
        <p:txBody>
          <a:bodyPr wrap="square" lIns="0" tIns="0" rIns="0" bIns="0" rtlCol="0" anchor="ctr"/>
          <a:lstStyle/>
          <a:p>
            <a:pPr algn="ctr" indent="0" marL="0">
              <a:buNone/>
            </a:pPr>
            <a:r>
              <a:rPr lang="en-US" sz="720" b="1" spc="130" kern="0" dirty="0">
                <a:solidFill>
                  <a:srgbClr val="54D6D0"/>
                </a:solidFill>
                <a:latin typeface="Inter" pitchFamily="34" charset="0"/>
                <a:ea typeface="Inter" pitchFamily="34" charset="-122"/>
                <a:cs typeface="Inter" pitchFamily="34" charset="-120"/>
              </a:rPr>
              <a:t>THE INSTITUTION</a:t>
            </a:r>
            <a:endParaRPr lang="en-US" sz="720" dirty="0"/>
          </a:p>
        </p:txBody>
      </p:sp>
      <p:sp>
        <p:nvSpPr>
          <p:cNvPr id="31" name="Text 29"/>
          <p:cNvSpPr/>
          <p:nvPr/>
        </p:nvSpPr>
        <p:spPr>
          <a:xfrm>
            <a:off x="2743200" y="1828800"/>
            <a:ext cx="8412480" cy="1188720"/>
          </a:xfrm>
          <a:prstGeom prst="rect">
            <a:avLst/>
          </a:prstGeom>
          <a:noFill/>
          <a:ln/>
        </p:spPr>
        <p:txBody>
          <a:bodyPr wrap="square" lIns="0" tIns="0" rIns="0" bIns="0" rtlCol="0" anchor="ctr">
            <a:normAutofit/>
          </a:bodyPr>
          <a:lstStyle/>
          <a:p>
            <a:pPr indent="0" marL="0">
              <a:buNone/>
            </a:pPr>
            <a:r>
              <a:rPr lang="en-US" sz="3700" b="1" dirty="0">
                <a:solidFill>
                  <a:srgbClr val="F7FBFF"/>
                </a:solidFill>
                <a:latin typeface="Inter Display" pitchFamily="34" charset="0"/>
                <a:ea typeface="Inter Display" pitchFamily="34" charset="-122"/>
                <a:cs typeface="Inter Display" pitchFamily="34" charset="-120"/>
              </a:rPr>
              <a:t>Proof, identity, validators, settlement, and organizational compounding.</a:t>
            </a:r>
            <a:endParaRPr lang="en-US" sz="3700" dirty="0"/>
          </a:p>
        </p:txBody>
      </p:sp>
      <p:sp>
        <p:nvSpPr>
          <p:cNvPr id="32" name="Text 30"/>
          <p:cNvSpPr/>
          <p:nvPr/>
        </p:nvSpPr>
        <p:spPr>
          <a:xfrm>
            <a:off x="2770632" y="3246120"/>
            <a:ext cx="8046720" cy="822960"/>
          </a:xfrm>
          <a:prstGeom prst="rect">
            <a:avLst/>
          </a:prstGeom>
          <a:noFill/>
          <a:ln/>
        </p:spPr>
        <p:txBody>
          <a:bodyPr wrap="square" lIns="0" tIns="0" rIns="0" bIns="0" rtlCol="0" anchor="ctr">
            <a:normAutofit/>
          </a:bodyPr>
          <a:lstStyle/>
          <a:p>
            <a:pPr indent="0" marL="0">
              <a:buNone/>
            </a:pPr>
            <a:r>
              <a:rPr lang="en-US" sz="1600" dirty="0">
                <a:solidFill>
                  <a:srgbClr val="B9C5D2"/>
                </a:solidFill>
                <a:latin typeface="Inter" pitchFamily="34" charset="0"/>
                <a:ea typeface="Inter" pitchFamily="34" charset="-122"/>
                <a:cs typeface="Inter" pitchFamily="34" charset="-120"/>
              </a:rPr>
              <a:t>How GoalOS connects autonomous work to AGI ALPHA’s wider substrate for governed intelligence organizations.</a:t>
            </a:r>
            <a:endParaRPr lang="en-US" sz="1600" dirty="0"/>
          </a:p>
        </p:txBody>
      </p:sp>
      <p:sp>
        <p:nvSpPr>
          <p:cNvPr id="33" name="Shape 31"/>
          <p:cNvSpPr/>
          <p:nvPr/>
        </p:nvSpPr>
        <p:spPr>
          <a:xfrm>
            <a:off x="2761488" y="4279392"/>
            <a:ext cx="7132320" cy="0"/>
          </a:xfrm>
          <a:prstGeom prst="line">
            <a:avLst/>
          </a:prstGeom>
          <a:noFill/>
          <a:ln w="25400">
            <a:solidFill>
              <a:srgbClr val="54D6D0"/>
            </a:solidFill>
            <a:prstDash val="solid"/>
          </a:ln>
        </p:spPr>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ORGANIZATIONAL SUBSTRATE</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550" b="1" dirty="0">
                <a:solidFill>
                  <a:srgbClr val="14273D"/>
                </a:solidFill>
                <a:latin typeface="Inter Display" pitchFamily="34" charset="0"/>
                <a:ea typeface="Inter Display" pitchFamily="34" charset="-122"/>
                <a:cs typeface="Inter Display" pitchFamily="34" charset="-120"/>
              </a:rPr>
              <a:t>The Transformer scaled intelligence inside models. AGI ALPHA targets intelligence across institutions.</a:t>
            </a:r>
            <a:endParaRPr lang="en-US" sz="255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GoalOS is the proof-to-capability operating layer inside that wider organizational substrate.</a:t>
            </a:r>
            <a:endParaRPr lang="en-US" sz="1450" dirty="0"/>
          </a:p>
        </p:txBody>
      </p:sp>
      <p:sp>
        <p:nvSpPr>
          <p:cNvPr id="30" name="Shape 28"/>
          <p:cNvSpPr/>
          <p:nvPr/>
        </p:nvSpPr>
        <p:spPr>
          <a:xfrm>
            <a:off x="685800" y="2148840"/>
            <a:ext cx="5074920" cy="3200400"/>
          </a:xfrm>
          <a:prstGeom prst="roundRect">
            <a:avLst>
              <a:gd name="adj" fmla="val 2286"/>
            </a:avLst>
          </a:prstGeom>
          <a:solidFill>
            <a:srgbClr val="FFFDF8"/>
          </a:solidFill>
          <a:ln w="10160">
            <a:solidFill>
              <a:srgbClr val="6FB5FF"/>
            </a:solidFill>
            <a:prstDash val="solid"/>
          </a:ln>
        </p:spPr>
      </p:sp>
      <p:sp>
        <p:nvSpPr>
          <p:cNvPr id="31" name="Text 29"/>
          <p:cNvSpPr/>
          <p:nvPr/>
        </p:nvSpPr>
        <p:spPr>
          <a:xfrm>
            <a:off x="841248" y="2276856"/>
            <a:ext cx="476402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MODEL SUBSTRATE</a:t>
            </a:r>
            <a:endParaRPr lang="en-US" sz="680" dirty="0"/>
          </a:p>
        </p:txBody>
      </p:sp>
      <p:sp>
        <p:nvSpPr>
          <p:cNvPr id="32" name="Text 30"/>
          <p:cNvSpPr/>
          <p:nvPr/>
        </p:nvSpPr>
        <p:spPr>
          <a:xfrm>
            <a:off x="841248" y="2404872"/>
            <a:ext cx="4764024" cy="329184"/>
          </a:xfrm>
          <a:prstGeom prst="rect">
            <a:avLst/>
          </a:prstGeom>
          <a:noFill/>
          <a:ln/>
        </p:spPr>
        <p:txBody>
          <a:bodyPr wrap="square" lIns="0" tIns="0" rIns="0" bIns="0" rtlCol="0" anchor="ctr">
            <a:normAutofit/>
          </a:bodyPr>
          <a:lstStyle/>
          <a:p>
            <a:pPr indent="0" marL="0">
              <a:buNone/>
            </a:pPr>
            <a:r>
              <a:rPr lang="en-US" sz="1900" b="1" dirty="0">
                <a:solidFill>
                  <a:srgbClr val="14273D"/>
                </a:solidFill>
                <a:latin typeface="Inter Display" pitchFamily="34" charset="0"/>
                <a:ea typeface="Inter Display" pitchFamily="34" charset="-122"/>
                <a:cs typeface="Inter Display" pitchFamily="34" charset="-120"/>
              </a:rPr>
              <a:t>Intelligence inside models</a:t>
            </a:r>
            <a:endParaRPr lang="en-US" sz="1900" dirty="0"/>
          </a:p>
        </p:txBody>
      </p:sp>
      <p:sp>
        <p:nvSpPr>
          <p:cNvPr id="33" name="Text 31"/>
          <p:cNvSpPr/>
          <p:nvPr/>
        </p:nvSpPr>
        <p:spPr>
          <a:xfrm>
            <a:off x="841248" y="2807208"/>
            <a:ext cx="4764024" cy="2404872"/>
          </a:xfrm>
          <a:prstGeom prst="rect">
            <a:avLst/>
          </a:prstGeom>
          <a:noFill/>
          <a:ln/>
        </p:spPr>
        <p:txBody>
          <a:bodyPr wrap="square" lIns="0" tIns="0" rIns="0" bIns="0" rtlCol="0" anchor="t">
            <a:normAutofit/>
          </a:bodyPr>
          <a:lstStyle/>
          <a:p>
            <a:pPr indent="0" marL="0">
              <a:buNone/>
            </a:pPr>
            <a:r>
              <a:rPr lang="en-US" sz="1100" dirty="0">
                <a:solidFill>
                  <a:srgbClr val="43566A"/>
                </a:solidFill>
                <a:latin typeface="Inter" pitchFamily="34" charset="0"/>
                <a:ea typeface="Inter" pitchFamily="34" charset="-122"/>
                <a:cs typeface="Inter" pitchFamily="34" charset="-120"/>
              </a:rPr>
              <a:t>Tokens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Attention</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Parameters</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Depth</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Data</a:t>
            </a: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Compute</a:t>
            </a:r>
            <a:endParaRPr lang="en-US" sz="1100" dirty="0"/>
          </a:p>
          <a:p>
            <a:pPr indent="0" marL="0">
              <a:buNone/>
            </a:pPr>
            <a:endParaRPr lang="en-US" sz="1100" dirty="0"/>
          </a:p>
          <a:p>
            <a:pPr indent="0" marL="0">
              <a:buNone/>
            </a:pPr>
            <a:r>
              <a:rPr lang="en-US" sz="1100" dirty="0">
                <a:solidFill>
                  <a:srgbClr val="43566A"/>
                </a:solidFill>
                <a:latin typeface="Inter" pitchFamily="34" charset="0"/>
                <a:ea typeface="Inter" pitchFamily="34" charset="-122"/>
                <a:cs typeface="Inter" pitchFamily="34" charset="-120"/>
              </a:rPr>
              <a:t>Capability emerges through representation learning and scale.</a:t>
            </a:r>
            <a:endParaRPr lang="en-US" sz="1100" dirty="0"/>
          </a:p>
        </p:txBody>
      </p:sp>
      <p:sp>
        <p:nvSpPr>
          <p:cNvPr id="34" name="Shape 32"/>
          <p:cNvSpPr/>
          <p:nvPr/>
        </p:nvSpPr>
        <p:spPr>
          <a:xfrm>
            <a:off x="5824728" y="3493008"/>
            <a:ext cx="502920" cy="310896"/>
          </a:xfrm>
          <a:prstGeom prst="chevron">
            <a:avLst/>
          </a:prstGeom>
          <a:solidFill>
            <a:srgbClr val="E7BD62">
              <a:alpha val="90000"/>
            </a:srgbClr>
          </a:solidFill>
          <a:ln w="6350">
            <a:solidFill>
              <a:srgbClr val="E7BD62">
                <a:alpha val="40000"/>
              </a:srgbClr>
            </a:solidFill>
            <a:prstDash val="solid"/>
          </a:ln>
        </p:spPr>
      </p:sp>
      <p:sp>
        <p:nvSpPr>
          <p:cNvPr id="35" name="Shape 33"/>
          <p:cNvSpPr/>
          <p:nvPr/>
        </p:nvSpPr>
        <p:spPr>
          <a:xfrm>
            <a:off x="6382512" y="2148840"/>
            <a:ext cx="5074920" cy="3200400"/>
          </a:xfrm>
          <a:prstGeom prst="roundRect">
            <a:avLst>
              <a:gd name="adj" fmla="val 2286"/>
            </a:avLst>
          </a:prstGeom>
          <a:solidFill>
            <a:srgbClr val="FFFDF8"/>
          </a:solidFill>
          <a:ln w="10160">
            <a:solidFill>
              <a:srgbClr val="E7BD62"/>
            </a:solidFill>
            <a:prstDash val="solid"/>
          </a:ln>
        </p:spPr>
      </p:sp>
      <p:sp>
        <p:nvSpPr>
          <p:cNvPr id="36" name="Text 34"/>
          <p:cNvSpPr/>
          <p:nvPr/>
        </p:nvSpPr>
        <p:spPr>
          <a:xfrm>
            <a:off x="6537960" y="2276856"/>
            <a:ext cx="476402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ORGANIZATIONAL SUBSTRATE</a:t>
            </a:r>
            <a:endParaRPr lang="en-US" sz="680" dirty="0"/>
          </a:p>
        </p:txBody>
      </p:sp>
      <p:sp>
        <p:nvSpPr>
          <p:cNvPr id="37" name="Text 35"/>
          <p:cNvSpPr/>
          <p:nvPr/>
        </p:nvSpPr>
        <p:spPr>
          <a:xfrm>
            <a:off x="6537960" y="2404872"/>
            <a:ext cx="4764024" cy="329184"/>
          </a:xfrm>
          <a:prstGeom prst="rect">
            <a:avLst/>
          </a:prstGeom>
          <a:noFill/>
          <a:ln/>
        </p:spPr>
        <p:txBody>
          <a:bodyPr wrap="square" lIns="0" tIns="0" rIns="0" bIns="0" rtlCol="0" anchor="ctr">
            <a:normAutofit/>
          </a:bodyPr>
          <a:lstStyle/>
          <a:p>
            <a:pPr indent="0" marL="0">
              <a:buNone/>
            </a:pPr>
            <a:r>
              <a:rPr lang="en-US" sz="1900" b="1" dirty="0">
                <a:solidFill>
                  <a:srgbClr val="14273D"/>
                </a:solidFill>
                <a:latin typeface="Inter Display" pitchFamily="34" charset="0"/>
                <a:ea typeface="Inter Display" pitchFamily="34" charset="-122"/>
                <a:cs typeface="Inter Display" pitchFamily="34" charset="-120"/>
              </a:rPr>
              <a:t>Intelligence across governed systems</a:t>
            </a:r>
            <a:endParaRPr lang="en-US" sz="1900" dirty="0"/>
          </a:p>
        </p:txBody>
      </p:sp>
      <p:sp>
        <p:nvSpPr>
          <p:cNvPr id="38" name="Text 36"/>
          <p:cNvSpPr/>
          <p:nvPr/>
        </p:nvSpPr>
        <p:spPr>
          <a:xfrm>
            <a:off x="6537960" y="2807208"/>
            <a:ext cx="4764024" cy="2404872"/>
          </a:xfrm>
          <a:prstGeom prst="rect">
            <a:avLst/>
          </a:prstGeom>
          <a:noFill/>
          <a:ln/>
        </p:spPr>
        <p:txBody>
          <a:bodyPr wrap="square" lIns="0" tIns="0" rIns="0" bIns="0" rtlCol="0" anchor="t">
            <a:normAutofit/>
          </a:bodyPr>
          <a:lstStyle/>
          <a:p>
            <a:pPr indent="0" marL="0">
              <a:buNone/>
            </a:pPr>
            <a:r>
              <a:rPr lang="en-US" sz="1070" dirty="0">
                <a:solidFill>
                  <a:srgbClr val="43566A"/>
                </a:solidFill>
                <a:latin typeface="Inter" pitchFamily="34" charset="0"/>
                <a:ea typeface="Inter" pitchFamily="34" charset="-122"/>
                <a:cs typeface="Inter" pitchFamily="34" charset="-120"/>
              </a:rPr>
              <a:t>Agents</a:t>
            </a:r>
            <a:endParaRPr lang="en-US" sz="1070" dirty="0"/>
          </a:p>
          <a:p>
            <a:pPr indent="0" marL="0">
              <a:buNone/>
            </a:pPr>
            <a:r>
              <a:rPr lang="en-US" sz="1070" dirty="0">
                <a:solidFill>
                  <a:srgbClr val="43566A"/>
                </a:solidFill>
                <a:latin typeface="Inter" pitchFamily="34" charset="0"/>
                <a:ea typeface="Inter" pitchFamily="34" charset="-122"/>
                <a:cs typeface="Inter" pitchFamily="34" charset="-120"/>
              </a:rPr>
              <a:t>Jobs</a:t>
            </a:r>
            <a:endParaRPr lang="en-US" sz="1070" dirty="0"/>
          </a:p>
          <a:p>
            <a:pPr indent="0" marL="0">
              <a:buNone/>
            </a:pPr>
            <a:r>
              <a:rPr lang="en-US" sz="1070" dirty="0">
                <a:solidFill>
                  <a:srgbClr val="43566A"/>
                </a:solidFill>
                <a:latin typeface="Inter" pitchFamily="34" charset="0"/>
                <a:ea typeface="Inter" pitchFamily="34" charset="-122"/>
                <a:cs typeface="Inter" pitchFamily="34" charset="-120"/>
              </a:rPr>
              <a:t>Validators</a:t>
            </a:r>
            <a:endParaRPr lang="en-US" sz="1070" dirty="0"/>
          </a:p>
          <a:p>
            <a:pPr indent="0" marL="0">
              <a:buNone/>
            </a:pPr>
            <a:r>
              <a:rPr lang="en-US" sz="1070" dirty="0">
                <a:solidFill>
                  <a:srgbClr val="43566A"/>
                </a:solidFill>
                <a:latin typeface="Inter" pitchFamily="34" charset="0"/>
                <a:ea typeface="Inter" pitchFamily="34" charset="-122"/>
                <a:cs typeface="Inter" pitchFamily="34" charset="-120"/>
              </a:rPr>
              <a:t>Tools</a:t>
            </a:r>
            <a:endParaRPr lang="en-US" sz="1070" dirty="0"/>
          </a:p>
          <a:p>
            <a:pPr indent="0" marL="0">
              <a:buNone/>
            </a:pPr>
            <a:r>
              <a:rPr lang="en-US" sz="1070" dirty="0">
                <a:solidFill>
                  <a:srgbClr val="43566A"/>
                </a:solidFill>
                <a:latin typeface="Inter" pitchFamily="34" charset="0"/>
                <a:ea typeface="Inter" pitchFamily="34" charset="-122"/>
                <a:cs typeface="Inter" pitchFamily="34" charset="-120"/>
              </a:rPr>
              <a:t>Memory</a:t>
            </a:r>
            <a:endParaRPr lang="en-US" sz="1070" dirty="0"/>
          </a:p>
          <a:p>
            <a:pPr indent="0" marL="0">
              <a:buNone/>
            </a:pPr>
            <a:r>
              <a:rPr lang="en-US" sz="1070" dirty="0">
                <a:solidFill>
                  <a:srgbClr val="43566A"/>
                </a:solidFill>
                <a:latin typeface="Inter" pitchFamily="34" charset="0"/>
                <a:ea typeface="Inter" pitchFamily="34" charset="-122"/>
                <a:cs typeface="Inter" pitchFamily="34" charset="-120"/>
              </a:rPr>
              <a:t>Incentives</a:t>
            </a:r>
            <a:endParaRPr lang="en-US" sz="1070" dirty="0"/>
          </a:p>
          <a:p>
            <a:pPr indent="0" marL="0">
              <a:buNone/>
            </a:pPr>
            <a:r>
              <a:rPr lang="en-US" sz="1070" dirty="0">
                <a:solidFill>
                  <a:srgbClr val="43566A"/>
                </a:solidFill>
                <a:latin typeface="Inter" pitchFamily="34" charset="0"/>
                <a:ea typeface="Inter" pitchFamily="34" charset="-122"/>
                <a:cs typeface="Inter" pitchFamily="34" charset="-120"/>
              </a:rPr>
              <a:t>Governance</a:t>
            </a:r>
            <a:endParaRPr lang="en-US" sz="1070" dirty="0"/>
          </a:p>
          <a:p>
            <a:pPr indent="0" marL="0">
              <a:buNone/>
            </a:pPr>
            <a:r>
              <a:rPr lang="en-US" sz="1070" dirty="0">
                <a:solidFill>
                  <a:srgbClr val="43566A"/>
                </a:solidFill>
                <a:latin typeface="Inter" pitchFamily="34" charset="0"/>
                <a:ea typeface="Inter" pitchFamily="34" charset="-122"/>
                <a:cs typeface="Inter" pitchFamily="34" charset="-120"/>
              </a:rPr>
              <a:t>Settlement</a:t>
            </a:r>
            <a:endParaRPr lang="en-US" sz="1070" dirty="0"/>
          </a:p>
          <a:p>
            <a:pPr indent="0" marL="0">
              <a:buNone/>
            </a:pPr>
            <a:r>
              <a:rPr lang="en-US" sz="1070" dirty="0">
                <a:solidFill>
                  <a:srgbClr val="43566A"/>
                </a:solidFill>
                <a:latin typeface="Inter" pitchFamily="34" charset="0"/>
                <a:ea typeface="Inter" pitchFamily="34" charset="-122"/>
                <a:cs typeface="Inter" pitchFamily="34" charset="-120"/>
              </a:rPr>
              <a:t>Capacity allocation</a:t>
            </a:r>
            <a:endParaRPr lang="en-US" sz="1070" dirty="0"/>
          </a:p>
        </p:txBody>
      </p:sp>
      <p:sp>
        <p:nvSpPr>
          <p:cNvPr id="39" name="Text 37"/>
          <p:cNvSpPr/>
          <p:nvPr/>
        </p:nvSpPr>
        <p:spPr>
          <a:xfrm>
            <a:off x="1143000" y="5650992"/>
            <a:ext cx="9921240" cy="347472"/>
          </a:xfrm>
          <a:prstGeom prst="rect">
            <a:avLst/>
          </a:prstGeom>
          <a:noFill/>
          <a:ln/>
        </p:spPr>
        <p:txBody>
          <a:bodyPr wrap="square" lIns="0" tIns="0" rIns="0" bIns="0" rtlCol="0" anchor="ctr">
            <a:normAutofit/>
          </a:bodyPr>
          <a:lstStyle/>
          <a:p>
            <a:pPr algn="ctr" indent="0" marL="0">
              <a:buNone/>
            </a:pPr>
            <a:r>
              <a:rPr lang="en-US" sz="1350" b="1" dirty="0">
                <a:solidFill>
                  <a:srgbClr val="14273D"/>
                </a:solidFill>
                <a:latin typeface="Inter Display" pitchFamily="34" charset="0"/>
                <a:ea typeface="Inter Display" pitchFamily="34" charset="-122"/>
                <a:cs typeface="Inter Display" pitchFamily="34" charset="-120"/>
              </a:rPr>
              <a:t>Capability becomes institutional only when it can be routed, proven, priced, remembered, governed, challenged, and improved.</a:t>
            </a:r>
            <a:endParaRPr lang="en-US" sz="13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AGI NODES AND WORK LIFECYCLE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Autonomy measured · work proven · value settled.</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Named workers, validators, and sentinels execute bounded jobs and return signed, replayable evidence.</a:t>
            </a:r>
            <a:endParaRPr lang="en-US" sz="1450" dirty="0"/>
          </a:p>
        </p:txBody>
      </p:sp>
      <p:sp>
        <p:nvSpPr>
          <p:cNvPr id="30" name="Shape 28"/>
          <p:cNvSpPr/>
          <p:nvPr/>
        </p:nvSpPr>
        <p:spPr>
          <a:xfrm>
            <a:off x="548640" y="2240280"/>
            <a:ext cx="1486553" cy="822960"/>
          </a:xfrm>
          <a:prstGeom prst="roundRect">
            <a:avLst>
              <a:gd name="adj" fmla="val 7778"/>
            </a:avLst>
          </a:prstGeom>
          <a:solidFill>
            <a:srgbClr val="6FB5FF"/>
          </a:solidFill>
          <a:ln w="12700">
            <a:solidFill>
              <a:srgbClr val="6FB5FF"/>
            </a:solidFill>
            <a:prstDash val="solid"/>
          </a:ln>
        </p:spPr>
      </p:sp>
      <p:sp>
        <p:nvSpPr>
          <p:cNvPr id="31" name="Text 29"/>
          <p:cNvSpPr/>
          <p:nvPr/>
        </p:nvSpPr>
        <p:spPr>
          <a:xfrm>
            <a:off x="603504" y="2313432"/>
            <a:ext cx="237744" cy="118872"/>
          </a:xfrm>
          <a:prstGeom prst="rect">
            <a:avLst/>
          </a:prstGeom>
          <a:noFill/>
          <a:ln/>
        </p:spPr>
        <p:txBody>
          <a:bodyPr wrap="square" lIns="0" tIns="0" rIns="0" bIns="0" rtlCol="0" anchor="ctr"/>
          <a:lstStyle/>
          <a:p>
            <a:pPr indent="0" marL="0">
              <a:buNone/>
            </a:pPr>
            <a:r>
              <a:rPr lang="en-US" sz="610" b="1" dirty="0">
                <a:solidFill>
                  <a:srgbClr val="6FB5FF"/>
                </a:solidFill>
                <a:latin typeface="Inter" pitchFamily="34" charset="0"/>
                <a:ea typeface="Inter" pitchFamily="34" charset="-122"/>
                <a:cs typeface="Inter" pitchFamily="34" charset="-120"/>
              </a:rPr>
              <a:t>01</a:t>
            </a:r>
            <a:endParaRPr lang="en-US" sz="610" dirty="0"/>
          </a:p>
        </p:txBody>
      </p:sp>
      <p:sp>
        <p:nvSpPr>
          <p:cNvPr id="32" name="Text 30"/>
          <p:cNvSpPr/>
          <p:nvPr/>
        </p:nvSpPr>
        <p:spPr>
          <a:xfrm>
            <a:off x="630936"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REQUEST</a:t>
            </a:r>
            <a:endParaRPr lang="en-US" sz="750" dirty="0"/>
          </a:p>
        </p:txBody>
      </p:sp>
      <p:sp>
        <p:nvSpPr>
          <p:cNvPr id="33" name="Text 31"/>
          <p:cNvSpPr/>
          <p:nvPr/>
        </p:nvSpPr>
        <p:spPr>
          <a:xfrm>
            <a:off x="621792"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job + acceptance tests</a:t>
            </a:r>
            <a:endParaRPr lang="en-US" sz="540" dirty="0"/>
          </a:p>
        </p:txBody>
      </p:sp>
      <p:sp>
        <p:nvSpPr>
          <p:cNvPr id="34" name="Shape 32"/>
          <p:cNvSpPr/>
          <p:nvPr/>
        </p:nvSpPr>
        <p:spPr>
          <a:xfrm>
            <a:off x="2035193" y="2651760"/>
            <a:ext cx="109728" cy="0"/>
          </a:xfrm>
          <a:prstGeom prst="line">
            <a:avLst/>
          </a:prstGeom>
          <a:noFill/>
          <a:ln w="15240">
            <a:solidFill>
              <a:srgbClr val="E7BD62"/>
            </a:solidFill>
            <a:prstDash val="solid"/>
            <a:headEnd type="none"/>
            <a:tailEnd type="triangle"/>
          </a:ln>
        </p:spPr>
      </p:sp>
      <p:sp>
        <p:nvSpPr>
          <p:cNvPr id="35" name="Shape 33"/>
          <p:cNvSpPr/>
          <p:nvPr/>
        </p:nvSpPr>
        <p:spPr>
          <a:xfrm>
            <a:off x="2144921" y="2240280"/>
            <a:ext cx="1486553" cy="822960"/>
          </a:xfrm>
          <a:prstGeom prst="roundRect">
            <a:avLst>
              <a:gd name="adj" fmla="val 7778"/>
            </a:avLst>
          </a:prstGeom>
          <a:solidFill>
            <a:srgbClr val="E7BD62"/>
          </a:solidFill>
          <a:ln w="12700">
            <a:solidFill>
              <a:srgbClr val="E7BD62"/>
            </a:solidFill>
            <a:prstDash val="solid"/>
          </a:ln>
        </p:spPr>
      </p:sp>
      <p:sp>
        <p:nvSpPr>
          <p:cNvPr id="36" name="Text 34"/>
          <p:cNvSpPr/>
          <p:nvPr/>
        </p:nvSpPr>
        <p:spPr>
          <a:xfrm>
            <a:off x="2199785" y="2313432"/>
            <a:ext cx="237744" cy="118872"/>
          </a:xfrm>
          <a:prstGeom prst="rect">
            <a:avLst/>
          </a:prstGeom>
          <a:noFill/>
          <a:ln/>
        </p:spPr>
        <p:txBody>
          <a:bodyPr wrap="square" lIns="0" tIns="0" rIns="0" bIns="0" rtlCol="0" anchor="ctr"/>
          <a:lstStyle/>
          <a:p>
            <a:pPr indent="0" marL="0">
              <a:buNone/>
            </a:pPr>
            <a:r>
              <a:rPr lang="en-US" sz="610" b="1" dirty="0">
                <a:solidFill>
                  <a:srgbClr val="E7BD62"/>
                </a:solidFill>
                <a:latin typeface="Inter" pitchFamily="34" charset="0"/>
                <a:ea typeface="Inter" pitchFamily="34" charset="-122"/>
                <a:cs typeface="Inter" pitchFamily="34" charset="-120"/>
              </a:rPr>
              <a:t>02</a:t>
            </a:r>
            <a:endParaRPr lang="en-US" sz="610" dirty="0"/>
          </a:p>
        </p:txBody>
      </p:sp>
      <p:sp>
        <p:nvSpPr>
          <p:cNvPr id="37" name="Text 35"/>
          <p:cNvSpPr/>
          <p:nvPr/>
        </p:nvSpPr>
        <p:spPr>
          <a:xfrm>
            <a:off x="2227217"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ESCROW</a:t>
            </a:r>
            <a:endParaRPr lang="en-US" sz="750" dirty="0"/>
          </a:p>
        </p:txBody>
      </p:sp>
      <p:sp>
        <p:nvSpPr>
          <p:cNvPr id="38" name="Text 36"/>
          <p:cNvSpPr/>
          <p:nvPr/>
        </p:nvSpPr>
        <p:spPr>
          <a:xfrm>
            <a:off x="2218073"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budget + stake boundary</a:t>
            </a:r>
            <a:endParaRPr lang="en-US" sz="540" dirty="0"/>
          </a:p>
        </p:txBody>
      </p:sp>
      <p:sp>
        <p:nvSpPr>
          <p:cNvPr id="39" name="Shape 37"/>
          <p:cNvSpPr/>
          <p:nvPr/>
        </p:nvSpPr>
        <p:spPr>
          <a:xfrm>
            <a:off x="3631474" y="2651760"/>
            <a:ext cx="109728" cy="0"/>
          </a:xfrm>
          <a:prstGeom prst="line">
            <a:avLst/>
          </a:prstGeom>
          <a:noFill/>
          <a:ln w="15240">
            <a:solidFill>
              <a:srgbClr val="E7BD62"/>
            </a:solidFill>
            <a:prstDash val="solid"/>
            <a:headEnd type="none"/>
            <a:tailEnd type="triangle"/>
          </a:ln>
        </p:spPr>
      </p:sp>
      <p:sp>
        <p:nvSpPr>
          <p:cNvPr id="40" name="Shape 38"/>
          <p:cNvSpPr/>
          <p:nvPr/>
        </p:nvSpPr>
        <p:spPr>
          <a:xfrm>
            <a:off x="3741202" y="2240280"/>
            <a:ext cx="1486553" cy="822960"/>
          </a:xfrm>
          <a:prstGeom prst="roundRect">
            <a:avLst>
              <a:gd name="adj" fmla="val 7778"/>
            </a:avLst>
          </a:prstGeom>
          <a:solidFill>
            <a:srgbClr val="A99CFF"/>
          </a:solidFill>
          <a:ln w="12700">
            <a:solidFill>
              <a:srgbClr val="A99CFF"/>
            </a:solidFill>
            <a:prstDash val="solid"/>
          </a:ln>
        </p:spPr>
      </p:sp>
      <p:sp>
        <p:nvSpPr>
          <p:cNvPr id="41" name="Text 39"/>
          <p:cNvSpPr/>
          <p:nvPr/>
        </p:nvSpPr>
        <p:spPr>
          <a:xfrm>
            <a:off x="3796066" y="2313432"/>
            <a:ext cx="237744" cy="118872"/>
          </a:xfrm>
          <a:prstGeom prst="rect">
            <a:avLst/>
          </a:prstGeom>
          <a:noFill/>
          <a:ln/>
        </p:spPr>
        <p:txBody>
          <a:bodyPr wrap="square" lIns="0" tIns="0" rIns="0" bIns="0" rtlCol="0" anchor="ctr"/>
          <a:lstStyle/>
          <a:p>
            <a:pPr indent="0" marL="0">
              <a:buNone/>
            </a:pPr>
            <a:r>
              <a:rPr lang="en-US" sz="610" b="1" dirty="0">
                <a:solidFill>
                  <a:srgbClr val="A99CFF"/>
                </a:solidFill>
                <a:latin typeface="Inter" pitchFamily="34" charset="0"/>
                <a:ea typeface="Inter" pitchFamily="34" charset="-122"/>
                <a:cs typeface="Inter" pitchFamily="34" charset="-120"/>
              </a:rPr>
              <a:t>03</a:t>
            </a:r>
            <a:endParaRPr lang="en-US" sz="610" dirty="0"/>
          </a:p>
        </p:txBody>
      </p:sp>
      <p:sp>
        <p:nvSpPr>
          <p:cNvPr id="42" name="Text 40"/>
          <p:cNvSpPr/>
          <p:nvPr/>
        </p:nvSpPr>
        <p:spPr>
          <a:xfrm>
            <a:off x="3823498"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EXECUTE</a:t>
            </a:r>
            <a:endParaRPr lang="en-US" sz="750" dirty="0"/>
          </a:p>
        </p:txBody>
      </p:sp>
      <p:sp>
        <p:nvSpPr>
          <p:cNvPr id="43" name="Text 41"/>
          <p:cNvSpPr/>
          <p:nvPr/>
        </p:nvSpPr>
        <p:spPr>
          <a:xfrm>
            <a:off x="3814354"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bounded agent/node work</a:t>
            </a:r>
            <a:endParaRPr lang="en-US" sz="540" dirty="0"/>
          </a:p>
        </p:txBody>
      </p:sp>
      <p:sp>
        <p:nvSpPr>
          <p:cNvPr id="44" name="Shape 42"/>
          <p:cNvSpPr/>
          <p:nvPr/>
        </p:nvSpPr>
        <p:spPr>
          <a:xfrm>
            <a:off x="5227755" y="2651760"/>
            <a:ext cx="109728" cy="0"/>
          </a:xfrm>
          <a:prstGeom prst="line">
            <a:avLst/>
          </a:prstGeom>
          <a:noFill/>
          <a:ln w="15240">
            <a:solidFill>
              <a:srgbClr val="E7BD62"/>
            </a:solidFill>
            <a:prstDash val="solid"/>
            <a:headEnd type="none"/>
            <a:tailEnd type="triangle"/>
          </a:ln>
        </p:spPr>
      </p:sp>
      <p:sp>
        <p:nvSpPr>
          <p:cNvPr id="45" name="Shape 43"/>
          <p:cNvSpPr/>
          <p:nvPr/>
        </p:nvSpPr>
        <p:spPr>
          <a:xfrm>
            <a:off x="5337483" y="2240280"/>
            <a:ext cx="1486553" cy="822960"/>
          </a:xfrm>
          <a:prstGeom prst="roundRect">
            <a:avLst>
              <a:gd name="adj" fmla="val 7778"/>
            </a:avLst>
          </a:prstGeom>
          <a:solidFill>
            <a:srgbClr val="54D6D0"/>
          </a:solidFill>
          <a:ln w="12700">
            <a:solidFill>
              <a:srgbClr val="54D6D0"/>
            </a:solidFill>
            <a:prstDash val="solid"/>
          </a:ln>
        </p:spPr>
      </p:sp>
      <p:sp>
        <p:nvSpPr>
          <p:cNvPr id="46" name="Text 44"/>
          <p:cNvSpPr/>
          <p:nvPr/>
        </p:nvSpPr>
        <p:spPr>
          <a:xfrm>
            <a:off x="5392347" y="2313432"/>
            <a:ext cx="237744" cy="118872"/>
          </a:xfrm>
          <a:prstGeom prst="rect">
            <a:avLst/>
          </a:prstGeom>
          <a:noFill/>
          <a:ln/>
        </p:spPr>
        <p:txBody>
          <a:bodyPr wrap="square" lIns="0" tIns="0" rIns="0" bIns="0" rtlCol="0" anchor="ctr"/>
          <a:lstStyle/>
          <a:p>
            <a:pPr indent="0" marL="0">
              <a:buNone/>
            </a:pPr>
            <a:r>
              <a:rPr lang="en-US" sz="610" b="1" dirty="0">
                <a:solidFill>
                  <a:srgbClr val="54D6D0"/>
                </a:solidFill>
                <a:latin typeface="Inter" pitchFamily="34" charset="0"/>
                <a:ea typeface="Inter" pitchFamily="34" charset="-122"/>
                <a:cs typeface="Inter" pitchFamily="34" charset="-120"/>
              </a:rPr>
              <a:t>04</a:t>
            </a:r>
            <a:endParaRPr lang="en-US" sz="610" dirty="0"/>
          </a:p>
        </p:txBody>
      </p:sp>
      <p:sp>
        <p:nvSpPr>
          <p:cNvPr id="47" name="Text 45"/>
          <p:cNvSpPr/>
          <p:nvPr/>
        </p:nvSpPr>
        <p:spPr>
          <a:xfrm>
            <a:off x="5419779"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PROOF</a:t>
            </a:r>
            <a:endParaRPr lang="en-US" sz="750" dirty="0"/>
          </a:p>
        </p:txBody>
      </p:sp>
      <p:sp>
        <p:nvSpPr>
          <p:cNvPr id="48" name="Text 46"/>
          <p:cNvSpPr/>
          <p:nvPr/>
        </p:nvSpPr>
        <p:spPr>
          <a:xfrm>
            <a:off x="5410635"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artifacts + traces + roots</a:t>
            </a:r>
            <a:endParaRPr lang="en-US" sz="540" dirty="0"/>
          </a:p>
        </p:txBody>
      </p:sp>
      <p:sp>
        <p:nvSpPr>
          <p:cNvPr id="49" name="Shape 47"/>
          <p:cNvSpPr/>
          <p:nvPr/>
        </p:nvSpPr>
        <p:spPr>
          <a:xfrm>
            <a:off x="6824037" y="2651760"/>
            <a:ext cx="109728" cy="0"/>
          </a:xfrm>
          <a:prstGeom prst="line">
            <a:avLst/>
          </a:prstGeom>
          <a:noFill/>
          <a:ln w="15240">
            <a:solidFill>
              <a:srgbClr val="E7BD62"/>
            </a:solidFill>
            <a:prstDash val="solid"/>
            <a:headEnd type="none"/>
            <a:tailEnd type="triangle"/>
          </a:ln>
        </p:spPr>
      </p:sp>
      <p:sp>
        <p:nvSpPr>
          <p:cNvPr id="50" name="Shape 48"/>
          <p:cNvSpPr/>
          <p:nvPr/>
        </p:nvSpPr>
        <p:spPr>
          <a:xfrm>
            <a:off x="6933765" y="2240280"/>
            <a:ext cx="1486553" cy="822960"/>
          </a:xfrm>
          <a:prstGeom prst="roundRect">
            <a:avLst>
              <a:gd name="adj" fmla="val 7778"/>
            </a:avLst>
          </a:prstGeom>
          <a:solidFill>
            <a:srgbClr val="43D79B"/>
          </a:solidFill>
          <a:ln w="12700">
            <a:solidFill>
              <a:srgbClr val="43D79B"/>
            </a:solidFill>
            <a:prstDash val="solid"/>
          </a:ln>
        </p:spPr>
      </p:sp>
      <p:sp>
        <p:nvSpPr>
          <p:cNvPr id="51" name="Text 49"/>
          <p:cNvSpPr/>
          <p:nvPr/>
        </p:nvSpPr>
        <p:spPr>
          <a:xfrm>
            <a:off x="6988629" y="2313432"/>
            <a:ext cx="237744" cy="118872"/>
          </a:xfrm>
          <a:prstGeom prst="rect">
            <a:avLst/>
          </a:prstGeom>
          <a:noFill/>
          <a:ln/>
        </p:spPr>
        <p:txBody>
          <a:bodyPr wrap="square" lIns="0" tIns="0" rIns="0" bIns="0" rtlCol="0" anchor="ctr"/>
          <a:lstStyle/>
          <a:p>
            <a:pPr indent="0" marL="0">
              <a:buNone/>
            </a:pPr>
            <a:r>
              <a:rPr lang="en-US" sz="610" b="1" dirty="0">
                <a:solidFill>
                  <a:srgbClr val="43D79B"/>
                </a:solidFill>
                <a:latin typeface="Inter" pitchFamily="34" charset="0"/>
                <a:ea typeface="Inter" pitchFamily="34" charset="-122"/>
                <a:cs typeface="Inter" pitchFamily="34" charset="-120"/>
              </a:rPr>
              <a:t>05</a:t>
            </a:r>
            <a:endParaRPr lang="en-US" sz="610" dirty="0"/>
          </a:p>
        </p:txBody>
      </p:sp>
      <p:sp>
        <p:nvSpPr>
          <p:cNvPr id="52" name="Text 50"/>
          <p:cNvSpPr/>
          <p:nvPr/>
        </p:nvSpPr>
        <p:spPr>
          <a:xfrm>
            <a:off x="7016061"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VALIDATE</a:t>
            </a:r>
            <a:endParaRPr lang="en-US" sz="750" dirty="0"/>
          </a:p>
        </p:txBody>
      </p:sp>
      <p:sp>
        <p:nvSpPr>
          <p:cNvPr id="53" name="Text 51"/>
          <p:cNvSpPr/>
          <p:nvPr/>
        </p:nvSpPr>
        <p:spPr>
          <a:xfrm>
            <a:off x="7006917"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tests + commit–reveal</a:t>
            </a:r>
            <a:endParaRPr lang="en-US" sz="540" dirty="0"/>
          </a:p>
        </p:txBody>
      </p:sp>
      <p:sp>
        <p:nvSpPr>
          <p:cNvPr id="54" name="Shape 52"/>
          <p:cNvSpPr/>
          <p:nvPr/>
        </p:nvSpPr>
        <p:spPr>
          <a:xfrm>
            <a:off x="8420318" y="2651760"/>
            <a:ext cx="109728" cy="0"/>
          </a:xfrm>
          <a:prstGeom prst="line">
            <a:avLst/>
          </a:prstGeom>
          <a:noFill/>
          <a:ln w="15240">
            <a:solidFill>
              <a:srgbClr val="E7BD62"/>
            </a:solidFill>
            <a:prstDash val="solid"/>
            <a:headEnd type="none"/>
            <a:tailEnd type="triangle"/>
          </a:ln>
        </p:spPr>
      </p:sp>
      <p:sp>
        <p:nvSpPr>
          <p:cNvPr id="55" name="Shape 53"/>
          <p:cNvSpPr/>
          <p:nvPr/>
        </p:nvSpPr>
        <p:spPr>
          <a:xfrm>
            <a:off x="8530046" y="2240280"/>
            <a:ext cx="1486553" cy="822960"/>
          </a:xfrm>
          <a:prstGeom prst="roundRect">
            <a:avLst>
              <a:gd name="adj" fmla="val 7778"/>
            </a:avLst>
          </a:prstGeom>
          <a:solidFill>
            <a:srgbClr val="E7BD62"/>
          </a:solidFill>
          <a:ln w="12700">
            <a:solidFill>
              <a:srgbClr val="E7BD62"/>
            </a:solidFill>
            <a:prstDash val="solid"/>
          </a:ln>
        </p:spPr>
      </p:sp>
      <p:sp>
        <p:nvSpPr>
          <p:cNvPr id="56" name="Text 54"/>
          <p:cNvSpPr/>
          <p:nvPr/>
        </p:nvSpPr>
        <p:spPr>
          <a:xfrm>
            <a:off x="8584910" y="2313432"/>
            <a:ext cx="237744" cy="118872"/>
          </a:xfrm>
          <a:prstGeom prst="rect">
            <a:avLst/>
          </a:prstGeom>
          <a:noFill/>
          <a:ln/>
        </p:spPr>
        <p:txBody>
          <a:bodyPr wrap="square" lIns="0" tIns="0" rIns="0" bIns="0" rtlCol="0" anchor="ctr"/>
          <a:lstStyle/>
          <a:p>
            <a:pPr indent="0" marL="0">
              <a:buNone/>
            </a:pPr>
            <a:r>
              <a:rPr lang="en-US" sz="610" b="1" dirty="0">
                <a:solidFill>
                  <a:srgbClr val="E7BD62"/>
                </a:solidFill>
                <a:latin typeface="Inter" pitchFamily="34" charset="0"/>
                <a:ea typeface="Inter" pitchFamily="34" charset="-122"/>
                <a:cs typeface="Inter" pitchFamily="34" charset="-120"/>
              </a:rPr>
              <a:t>06</a:t>
            </a:r>
            <a:endParaRPr lang="en-US" sz="610" dirty="0"/>
          </a:p>
        </p:txBody>
      </p:sp>
      <p:sp>
        <p:nvSpPr>
          <p:cNvPr id="57" name="Text 55"/>
          <p:cNvSpPr/>
          <p:nvPr/>
        </p:nvSpPr>
        <p:spPr>
          <a:xfrm>
            <a:off x="8612342"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SETTLE</a:t>
            </a:r>
            <a:endParaRPr lang="en-US" sz="750" dirty="0"/>
          </a:p>
        </p:txBody>
      </p:sp>
      <p:sp>
        <p:nvSpPr>
          <p:cNvPr id="58" name="Text 56"/>
          <p:cNvSpPr/>
          <p:nvPr/>
        </p:nvSpPr>
        <p:spPr>
          <a:xfrm>
            <a:off x="8603198"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after finality</a:t>
            </a:r>
            <a:endParaRPr lang="en-US" sz="540" dirty="0"/>
          </a:p>
        </p:txBody>
      </p:sp>
      <p:sp>
        <p:nvSpPr>
          <p:cNvPr id="59" name="Shape 57"/>
          <p:cNvSpPr/>
          <p:nvPr/>
        </p:nvSpPr>
        <p:spPr>
          <a:xfrm>
            <a:off x="10016599" y="2651760"/>
            <a:ext cx="109728" cy="0"/>
          </a:xfrm>
          <a:prstGeom prst="line">
            <a:avLst/>
          </a:prstGeom>
          <a:noFill/>
          <a:ln w="15240">
            <a:solidFill>
              <a:srgbClr val="E7BD62"/>
            </a:solidFill>
            <a:prstDash val="solid"/>
            <a:headEnd type="none"/>
            <a:tailEnd type="triangle"/>
          </a:ln>
        </p:spPr>
      </p:sp>
      <p:sp>
        <p:nvSpPr>
          <p:cNvPr id="60" name="Shape 58"/>
          <p:cNvSpPr/>
          <p:nvPr/>
        </p:nvSpPr>
        <p:spPr>
          <a:xfrm>
            <a:off x="10126327" y="2240280"/>
            <a:ext cx="1486553" cy="822960"/>
          </a:xfrm>
          <a:prstGeom prst="roundRect">
            <a:avLst>
              <a:gd name="adj" fmla="val 7778"/>
            </a:avLst>
          </a:prstGeom>
          <a:solidFill>
            <a:srgbClr val="43D79B"/>
          </a:solidFill>
          <a:ln w="12700">
            <a:solidFill>
              <a:srgbClr val="43D79B"/>
            </a:solidFill>
            <a:prstDash val="solid"/>
          </a:ln>
        </p:spPr>
      </p:sp>
      <p:sp>
        <p:nvSpPr>
          <p:cNvPr id="61" name="Text 59"/>
          <p:cNvSpPr/>
          <p:nvPr/>
        </p:nvSpPr>
        <p:spPr>
          <a:xfrm>
            <a:off x="10181191" y="2313432"/>
            <a:ext cx="237744" cy="118872"/>
          </a:xfrm>
          <a:prstGeom prst="rect">
            <a:avLst/>
          </a:prstGeom>
          <a:noFill/>
          <a:ln/>
        </p:spPr>
        <p:txBody>
          <a:bodyPr wrap="square" lIns="0" tIns="0" rIns="0" bIns="0" rtlCol="0" anchor="ctr"/>
          <a:lstStyle/>
          <a:p>
            <a:pPr indent="0" marL="0">
              <a:buNone/>
            </a:pPr>
            <a:r>
              <a:rPr lang="en-US" sz="610" b="1" dirty="0">
                <a:solidFill>
                  <a:srgbClr val="43D79B"/>
                </a:solidFill>
                <a:latin typeface="Inter" pitchFamily="34" charset="0"/>
                <a:ea typeface="Inter" pitchFamily="34" charset="-122"/>
                <a:cs typeface="Inter" pitchFamily="34" charset="-120"/>
              </a:rPr>
              <a:t>07</a:t>
            </a:r>
            <a:endParaRPr lang="en-US" sz="610" dirty="0"/>
          </a:p>
        </p:txBody>
      </p:sp>
      <p:sp>
        <p:nvSpPr>
          <p:cNvPr id="62" name="Text 60"/>
          <p:cNvSpPr/>
          <p:nvPr/>
        </p:nvSpPr>
        <p:spPr>
          <a:xfrm>
            <a:off x="10208623"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CHRONICLE</a:t>
            </a:r>
            <a:endParaRPr lang="en-US" sz="750" dirty="0"/>
          </a:p>
        </p:txBody>
      </p:sp>
      <p:sp>
        <p:nvSpPr>
          <p:cNvPr id="63" name="Text 61"/>
          <p:cNvSpPr/>
          <p:nvPr/>
        </p:nvSpPr>
        <p:spPr>
          <a:xfrm>
            <a:off x="10199479"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durable history</a:t>
            </a:r>
            <a:endParaRPr lang="en-US" sz="540" dirty="0"/>
          </a:p>
        </p:txBody>
      </p:sp>
      <p:sp>
        <p:nvSpPr>
          <p:cNvPr id="64" name="Shape 62"/>
          <p:cNvSpPr/>
          <p:nvPr/>
        </p:nvSpPr>
        <p:spPr>
          <a:xfrm>
            <a:off x="777240" y="3794760"/>
            <a:ext cx="3337560" cy="1234440"/>
          </a:xfrm>
          <a:prstGeom prst="roundRect">
            <a:avLst>
              <a:gd name="adj" fmla="val 5926"/>
            </a:avLst>
          </a:prstGeom>
          <a:solidFill>
            <a:srgbClr val="102238"/>
          </a:solidFill>
          <a:ln w="10160">
            <a:solidFill>
              <a:srgbClr val="6FB5FF"/>
            </a:solidFill>
            <a:prstDash val="solid"/>
          </a:ln>
        </p:spPr>
      </p:sp>
      <p:sp>
        <p:nvSpPr>
          <p:cNvPr id="65" name="Text 63"/>
          <p:cNvSpPr/>
          <p:nvPr/>
        </p:nvSpPr>
        <p:spPr>
          <a:xfrm>
            <a:off x="932688" y="3922776"/>
            <a:ext cx="30266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WORKER NODE</a:t>
            </a:r>
            <a:endParaRPr lang="en-US" sz="680" dirty="0"/>
          </a:p>
        </p:txBody>
      </p:sp>
      <p:sp>
        <p:nvSpPr>
          <p:cNvPr id="66" name="Text 64"/>
          <p:cNvSpPr/>
          <p:nvPr/>
        </p:nvSpPr>
        <p:spPr>
          <a:xfrm>
            <a:off x="932688" y="4050792"/>
            <a:ext cx="3026664" cy="329184"/>
          </a:xfrm>
          <a:prstGeom prst="rect">
            <a:avLst/>
          </a:prstGeom>
          <a:noFill/>
          <a:ln/>
        </p:spPr>
        <p:txBody>
          <a:bodyPr wrap="square" lIns="0" tIns="0" rIns="0" bIns="0" rtlCol="0" anchor="ctr">
            <a:normAutofit/>
          </a:bodyPr>
          <a:lstStyle/>
          <a:p>
            <a:pPr indent="0" marL="0">
              <a:buNone/>
            </a:pPr>
            <a:r>
              <a:rPr lang="en-US" sz="1400" b="1" dirty="0">
                <a:solidFill>
                  <a:srgbClr val="F7FBFF"/>
                </a:solidFill>
                <a:latin typeface="Inter Display" pitchFamily="34" charset="0"/>
                <a:ea typeface="Inter Display" pitchFamily="34" charset="-122"/>
                <a:cs typeface="Inter Display" pitchFamily="34" charset="-120"/>
              </a:rPr>
              <a:t>Executes and packages artifacts</a:t>
            </a:r>
            <a:endParaRPr lang="en-US" sz="1400" dirty="0"/>
          </a:p>
        </p:txBody>
      </p:sp>
      <p:sp>
        <p:nvSpPr>
          <p:cNvPr id="67" name="Text 65"/>
          <p:cNvSpPr/>
          <p:nvPr/>
        </p:nvSpPr>
        <p:spPr>
          <a:xfrm>
            <a:off x="932688" y="4453128"/>
            <a:ext cx="3026664" cy="438912"/>
          </a:xfrm>
          <a:prstGeom prst="rect">
            <a:avLst/>
          </a:prstGeom>
          <a:noFill/>
          <a:ln/>
        </p:spPr>
        <p:txBody>
          <a:bodyPr wrap="square" lIns="0" tIns="0" rIns="0" bIns="0" rtlCol="0" anchor="t">
            <a:normAutofit/>
          </a:bodyPr>
          <a:lstStyle/>
          <a:p>
            <a:pPr indent="0" marL="0">
              <a:buNone/>
            </a:pPr>
            <a:r>
              <a:rPr lang="en-US" sz="870" dirty="0">
                <a:solidFill>
                  <a:srgbClr val="B9C5D2"/>
                </a:solidFill>
                <a:latin typeface="Inter" pitchFamily="34" charset="0"/>
                <a:ea typeface="Inter" pitchFamily="34" charset="-122"/>
                <a:cs typeface="Inter" pitchFamily="34" charset="-120"/>
              </a:rPr>
              <a:t>Deterministic environment · metering · signed telemetry.</a:t>
            </a:r>
            <a:endParaRPr lang="en-US" sz="870" dirty="0"/>
          </a:p>
        </p:txBody>
      </p:sp>
      <p:sp>
        <p:nvSpPr>
          <p:cNvPr id="68" name="Shape 66"/>
          <p:cNvSpPr/>
          <p:nvPr/>
        </p:nvSpPr>
        <p:spPr>
          <a:xfrm>
            <a:off x="4434840" y="3794760"/>
            <a:ext cx="3337560" cy="1234440"/>
          </a:xfrm>
          <a:prstGeom prst="roundRect">
            <a:avLst>
              <a:gd name="adj" fmla="val 5926"/>
            </a:avLst>
          </a:prstGeom>
          <a:solidFill>
            <a:srgbClr val="102238"/>
          </a:solidFill>
          <a:ln w="10160">
            <a:solidFill>
              <a:srgbClr val="43D79B"/>
            </a:solidFill>
            <a:prstDash val="solid"/>
          </a:ln>
        </p:spPr>
      </p:sp>
      <p:sp>
        <p:nvSpPr>
          <p:cNvPr id="69" name="Text 67"/>
          <p:cNvSpPr/>
          <p:nvPr/>
        </p:nvSpPr>
        <p:spPr>
          <a:xfrm>
            <a:off x="4590288" y="3922776"/>
            <a:ext cx="30266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VALIDATOR NODE</a:t>
            </a:r>
            <a:endParaRPr lang="en-US" sz="680" dirty="0"/>
          </a:p>
        </p:txBody>
      </p:sp>
      <p:sp>
        <p:nvSpPr>
          <p:cNvPr id="70" name="Text 68"/>
          <p:cNvSpPr/>
          <p:nvPr/>
        </p:nvSpPr>
        <p:spPr>
          <a:xfrm>
            <a:off x="4590288" y="4050792"/>
            <a:ext cx="3026664" cy="329184"/>
          </a:xfrm>
          <a:prstGeom prst="rect">
            <a:avLst/>
          </a:prstGeom>
          <a:noFill/>
          <a:ln/>
        </p:spPr>
        <p:txBody>
          <a:bodyPr wrap="square" lIns="0" tIns="0" rIns="0" bIns="0" rtlCol="0" anchor="ctr">
            <a:normAutofit/>
          </a:bodyPr>
          <a:lstStyle/>
          <a:p>
            <a:pPr indent="0" marL="0">
              <a:buNone/>
            </a:pPr>
            <a:r>
              <a:rPr lang="en-US" sz="1400" b="1" dirty="0">
                <a:solidFill>
                  <a:srgbClr val="F7FBFF"/>
                </a:solidFill>
                <a:latin typeface="Inter Display" pitchFamily="34" charset="0"/>
                <a:ea typeface="Inter Display" pitchFamily="34" charset="-122"/>
                <a:cs typeface="Inter Display" pitchFamily="34" charset="-120"/>
              </a:rPr>
              <a:t>Commits and reveals verdicts</a:t>
            </a:r>
            <a:endParaRPr lang="en-US" sz="1400" dirty="0"/>
          </a:p>
        </p:txBody>
      </p:sp>
      <p:sp>
        <p:nvSpPr>
          <p:cNvPr id="71" name="Text 69"/>
          <p:cNvSpPr/>
          <p:nvPr/>
        </p:nvSpPr>
        <p:spPr>
          <a:xfrm>
            <a:off x="4590288" y="4453128"/>
            <a:ext cx="3026664" cy="438912"/>
          </a:xfrm>
          <a:prstGeom prst="rect">
            <a:avLst/>
          </a:prstGeom>
          <a:noFill/>
          <a:ln/>
        </p:spPr>
        <p:txBody>
          <a:bodyPr wrap="square" lIns="0" tIns="0" rIns="0" bIns="0" rtlCol="0" anchor="t">
            <a:normAutofit/>
          </a:bodyPr>
          <a:lstStyle/>
          <a:p>
            <a:pPr indent="0" marL="0">
              <a:buNone/>
            </a:pPr>
            <a:r>
              <a:rPr lang="en-US" sz="870" dirty="0">
                <a:solidFill>
                  <a:srgbClr val="B9C5D2"/>
                </a:solidFill>
                <a:latin typeface="Inter" pitchFamily="34" charset="0"/>
                <a:ea typeface="Inter" pitchFamily="34" charset="-122"/>
                <a:cs typeface="Inter" pitchFamily="34" charset="-120"/>
              </a:rPr>
              <a:t>Replay · scoring · conflict disclosure · slashable accountability.</a:t>
            </a:r>
            <a:endParaRPr lang="en-US" sz="870" dirty="0"/>
          </a:p>
        </p:txBody>
      </p:sp>
      <p:sp>
        <p:nvSpPr>
          <p:cNvPr id="72" name="Shape 70"/>
          <p:cNvSpPr/>
          <p:nvPr/>
        </p:nvSpPr>
        <p:spPr>
          <a:xfrm>
            <a:off x="8092440" y="3794760"/>
            <a:ext cx="3337560" cy="1234440"/>
          </a:xfrm>
          <a:prstGeom prst="roundRect">
            <a:avLst>
              <a:gd name="adj" fmla="val 5926"/>
            </a:avLst>
          </a:prstGeom>
          <a:solidFill>
            <a:srgbClr val="102238"/>
          </a:solidFill>
          <a:ln w="10160">
            <a:solidFill>
              <a:srgbClr val="FF7584"/>
            </a:solidFill>
            <a:prstDash val="solid"/>
          </a:ln>
        </p:spPr>
      </p:sp>
      <p:sp>
        <p:nvSpPr>
          <p:cNvPr id="73" name="Text 71"/>
          <p:cNvSpPr/>
          <p:nvPr/>
        </p:nvSpPr>
        <p:spPr>
          <a:xfrm>
            <a:off x="8247888" y="3922776"/>
            <a:ext cx="30266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SENTINEL NODE</a:t>
            </a:r>
            <a:endParaRPr lang="en-US" sz="680" dirty="0"/>
          </a:p>
        </p:txBody>
      </p:sp>
      <p:sp>
        <p:nvSpPr>
          <p:cNvPr id="74" name="Text 72"/>
          <p:cNvSpPr/>
          <p:nvPr/>
        </p:nvSpPr>
        <p:spPr>
          <a:xfrm>
            <a:off x="8247888" y="4050792"/>
            <a:ext cx="3026664" cy="329184"/>
          </a:xfrm>
          <a:prstGeom prst="rect">
            <a:avLst/>
          </a:prstGeom>
          <a:noFill/>
          <a:ln/>
        </p:spPr>
        <p:txBody>
          <a:bodyPr wrap="square" lIns="0" tIns="0" rIns="0" bIns="0" rtlCol="0" anchor="ctr">
            <a:normAutofit/>
          </a:bodyPr>
          <a:lstStyle/>
          <a:p>
            <a:pPr indent="0" marL="0">
              <a:buNone/>
            </a:pPr>
            <a:r>
              <a:rPr lang="en-US" sz="1400" b="1" dirty="0">
                <a:solidFill>
                  <a:srgbClr val="F7FBFF"/>
                </a:solidFill>
                <a:latin typeface="Inter Display" pitchFamily="34" charset="0"/>
                <a:ea typeface="Inter Display" pitchFamily="34" charset="-122"/>
                <a:cs typeface="Inter Display" pitchFamily="34" charset="-120"/>
              </a:rPr>
              <a:t>Monitors drift and safety</a:t>
            </a:r>
            <a:endParaRPr lang="en-US" sz="1400" dirty="0"/>
          </a:p>
        </p:txBody>
      </p:sp>
      <p:sp>
        <p:nvSpPr>
          <p:cNvPr id="75" name="Text 73"/>
          <p:cNvSpPr/>
          <p:nvPr/>
        </p:nvSpPr>
        <p:spPr>
          <a:xfrm>
            <a:off x="8247888" y="4453128"/>
            <a:ext cx="3026664" cy="438912"/>
          </a:xfrm>
          <a:prstGeom prst="rect">
            <a:avLst/>
          </a:prstGeom>
          <a:noFill/>
          <a:ln/>
        </p:spPr>
        <p:txBody>
          <a:bodyPr wrap="square" lIns="0" tIns="0" rIns="0" bIns="0" rtlCol="0" anchor="t">
            <a:normAutofit/>
          </a:bodyPr>
          <a:lstStyle/>
          <a:p>
            <a:pPr indent="0" marL="0">
              <a:buNone/>
            </a:pPr>
            <a:r>
              <a:rPr lang="en-US" sz="870" dirty="0">
                <a:solidFill>
                  <a:srgbClr val="B9C5D2"/>
                </a:solidFill>
                <a:latin typeface="Inter" pitchFamily="34" charset="0"/>
                <a:ea typeface="Inter" pitchFamily="34" charset="-122"/>
                <a:cs typeface="Inter" pitchFamily="34" charset="-120"/>
              </a:rPr>
              <a:t>Health · abnormal outputs · latency · pause and escalation.</a:t>
            </a:r>
            <a:endParaRPr lang="en-US" sz="870" dirty="0"/>
          </a:p>
        </p:txBody>
      </p:sp>
      <p:sp>
        <p:nvSpPr>
          <p:cNvPr id="76" name="Text 74"/>
          <p:cNvSpPr/>
          <p:nvPr/>
        </p:nvSpPr>
        <p:spPr>
          <a:xfrm>
            <a:off x="2971800" y="5422392"/>
            <a:ext cx="6309360" cy="365760"/>
          </a:xfrm>
          <a:prstGeom prst="rect">
            <a:avLst/>
          </a:prstGeom>
          <a:noFill/>
          <a:ln/>
        </p:spPr>
        <p:txBody>
          <a:bodyPr wrap="square" lIns="0" tIns="0" rIns="0" bIns="0" rtlCol="0" anchor="ctr"/>
          <a:lstStyle/>
          <a:p>
            <a:pPr algn="ctr" indent="0" marL="0">
              <a:buNone/>
            </a:pPr>
            <a:r>
              <a:rPr lang="en-US" sz="1800" i="1" dirty="0">
                <a:solidFill>
                  <a:srgbClr val="E7BD62"/>
                </a:solidFill>
                <a:latin typeface="Georgia" pitchFamily="34" charset="0"/>
                <a:ea typeface="Georgia" pitchFamily="34" charset="-122"/>
                <a:cs typeface="Georgia" pitchFamily="34" charset="-120"/>
              </a:rPr>
              <a:t>If it cannot be replayed, it does not settle.</a:t>
            </a:r>
            <a:endParaRPr lang="en-US" sz="18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ECONOMIC CONTROL RAIL</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500" b="1" dirty="0">
                <a:solidFill>
                  <a:srgbClr val="14273D"/>
                </a:solidFill>
                <a:latin typeface="Inter Display" pitchFamily="34" charset="0"/>
                <a:ea typeface="Inter Display" pitchFamily="34" charset="-122"/>
                <a:cs typeface="Inter Display" pitchFamily="34" charset="-120"/>
              </a:rPr>
              <a:t>GoalOS creates proof. $AGIALPHA can make accepted proof economically consequential.</a:t>
            </a:r>
            <a:endParaRPr lang="en-US" sz="25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token is not the intelligence. It is an optional utility and accountability rail around verified work.</a:t>
            </a:r>
            <a:endParaRPr lang="en-US" sz="1450" dirty="0"/>
          </a:p>
        </p:txBody>
      </p:sp>
      <p:sp>
        <p:nvSpPr>
          <p:cNvPr id="30" name="Shape 28"/>
          <p:cNvSpPr/>
          <p:nvPr/>
        </p:nvSpPr>
        <p:spPr>
          <a:xfrm>
            <a:off x="685800" y="2194560"/>
            <a:ext cx="3520440" cy="1874520"/>
          </a:xfrm>
          <a:prstGeom prst="roundRect">
            <a:avLst>
              <a:gd name="adj" fmla="val 3902"/>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841248" y="2322576"/>
            <a:ext cx="320954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STAKE</a:t>
            </a:r>
            <a:endParaRPr lang="en-US" sz="680" dirty="0"/>
          </a:p>
        </p:txBody>
      </p:sp>
      <p:sp>
        <p:nvSpPr>
          <p:cNvPr id="32" name="Text 30"/>
          <p:cNvSpPr/>
          <p:nvPr/>
        </p:nvSpPr>
        <p:spPr>
          <a:xfrm>
            <a:off x="841248" y="2450592"/>
            <a:ext cx="3209544" cy="329184"/>
          </a:xfrm>
          <a:prstGeom prst="rect">
            <a:avLst/>
          </a:prstGeom>
          <a:noFill/>
          <a:ln/>
        </p:spPr>
        <p:txBody>
          <a:bodyPr wrap="square" lIns="0" tIns="0" rIns="0" bIns="0" rtlCol="0" anchor="ctr">
            <a:normAutofit/>
          </a:bodyPr>
          <a:lstStyle/>
          <a:p>
            <a:pPr indent="0" marL="0">
              <a:buNone/>
            </a:pPr>
            <a:r>
              <a:rPr lang="en-US" sz="1550" b="1" dirty="0">
                <a:solidFill>
                  <a:srgbClr val="14273D"/>
                </a:solidFill>
                <a:latin typeface="Inter Display" pitchFamily="34" charset="0"/>
                <a:ea typeface="Inter Display" pitchFamily="34" charset="-122"/>
                <a:cs typeface="Inter Display" pitchFamily="34" charset="-120"/>
              </a:rPr>
              <a:t>Bond participation, Sybil resistance, slashable accountability</a:t>
            </a:r>
            <a:endParaRPr lang="en-US" sz="1550" dirty="0"/>
          </a:p>
        </p:txBody>
      </p:sp>
      <p:sp>
        <p:nvSpPr>
          <p:cNvPr id="33" name="Text 31"/>
          <p:cNvSpPr/>
          <p:nvPr/>
        </p:nvSpPr>
        <p:spPr>
          <a:xfrm>
            <a:off x="841248" y="2852928"/>
            <a:ext cx="3209544" cy="1078992"/>
          </a:xfrm>
          <a:prstGeom prst="rect">
            <a:avLst/>
          </a:prstGeom>
          <a:noFill/>
          <a:ln/>
        </p:spPr>
        <p:txBody>
          <a:bodyPr wrap="square" lIns="0" tIns="0" rIns="0" bIns="0" rtlCol="0" anchor="t">
            <a:normAutofit/>
          </a:bodyPr>
          <a:lstStyle/>
          <a:p>
            <a:pPr indent="0" marL="0">
              <a:buNone/>
            </a:pPr>
            <a:r>
              <a:rPr lang="en-US" sz="850" dirty="0">
                <a:solidFill>
                  <a:srgbClr val="43566A"/>
                </a:solidFill>
                <a:latin typeface="Inter" pitchFamily="34" charset="0"/>
                <a:ea typeface="Inter" pitchFamily="34" charset="-122"/>
                <a:cs typeface="Inter" pitchFamily="34" charset="-120"/>
              </a:rPr>
              <a:t>No equity, dividend, profit right, guaranteed value, or token requirement for enterprise users.</a:t>
            </a:r>
            <a:endParaRPr lang="en-US" sz="850" dirty="0"/>
          </a:p>
        </p:txBody>
      </p:sp>
      <p:sp>
        <p:nvSpPr>
          <p:cNvPr id="34" name="Shape 32"/>
          <p:cNvSpPr/>
          <p:nvPr/>
        </p:nvSpPr>
        <p:spPr>
          <a:xfrm>
            <a:off x="4526280" y="2194560"/>
            <a:ext cx="3520440" cy="1874520"/>
          </a:xfrm>
          <a:prstGeom prst="roundRect">
            <a:avLst>
              <a:gd name="adj" fmla="val 3902"/>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4681728" y="2322576"/>
            <a:ext cx="320954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SETTLE</a:t>
            </a:r>
            <a:endParaRPr lang="en-US" sz="680" dirty="0"/>
          </a:p>
        </p:txBody>
      </p:sp>
      <p:sp>
        <p:nvSpPr>
          <p:cNvPr id="36" name="Text 34"/>
          <p:cNvSpPr/>
          <p:nvPr/>
        </p:nvSpPr>
        <p:spPr>
          <a:xfrm>
            <a:off x="4681728" y="2450592"/>
            <a:ext cx="3209544" cy="329184"/>
          </a:xfrm>
          <a:prstGeom prst="rect">
            <a:avLst/>
          </a:prstGeom>
          <a:noFill/>
          <a:ln/>
        </p:spPr>
        <p:txBody>
          <a:bodyPr wrap="square" lIns="0" tIns="0" rIns="0" bIns="0" rtlCol="0" anchor="ctr">
            <a:normAutofit/>
          </a:bodyPr>
          <a:lstStyle/>
          <a:p>
            <a:pPr indent="0" marL="0">
              <a:buNone/>
            </a:pPr>
            <a:r>
              <a:rPr lang="en-US" sz="1550" b="1" dirty="0">
                <a:solidFill>
                  <a:srgbClr val="14273D"/>
                </a:solidFill>
                <a:latin typeface="Inter Display" pitchFamily="34" charset="0"/>
                <a:ea typeface="Inter Display" pitchFamily="34" charset="-122"/>
                <a:cs typeface="Inter Display" pitchFamily="34" charset="-120"/>
              </a:rPr>
              <a:t>Release escrow only after validation, replay, and challenge finality</a:t>
            </a:r>
            <a:endParaRPr lang="en-US" sz="1550" dirty="0"/>
          </a:p>
        </p:txBody>
      </p:sp>
      <p:sp>
        <p:nvSpPr>
          <p:cNvPr id="37" name="Text 35"/>
          <p:cNvSpPr/>
          <p:nvPr/>
        </p:nvSpPr>
        <p:spPr>
          <a:xfrm>
            <a:off x="4681728" y="2852928"/>
            <a:ext cx="3209544" cy="1078992"/>
          </a:xfrm>
          <a:prstGeom prst="rect">
            <a:avLst/>
          </a:prstGeom>
          <a:noFill/>
          <a:ln/>
        </p:spPr>
        <p:txBody>
          <a:bodyPr wrap="square" lIns="0" tIns="0" rIns="0" bIns="0" rtlCol="0" anchor="t">
            <a:normAutofit/>
          </a:bodyPr>
          <a:lstStyle/>
          <a:p>
            <a:pPr indent="0" marL="0">
              <a:buNone/>
            </a:pPr>
            <a:r>
              <a:rPr lang="en-US" sz="850" dirty="0">
                <a:solidFill>
                  <a:srgbClr val="43566A"/>
                </a:solidFill>
                <a:latin typeface="Inter" pitchFamily="34" charset="0"/>
                <a:ea typeface="Inter" pitchFamily="34" charset="-122"/>
                <a:cs typeface="Inter" pitchFamily="34" charset="-120"/>
              </a:rPr>
              <a:t>No equity, dividend, profit right, guaranteed value, or token requirement for enterprise users.</a:t>
            </a:r>
            <a:endParaRPr lang="en-US" sz="850" dirty="0"/>
          </a:p>
        </p:txBody>
      </p:sp>
      <p:sp>
        <p:nvSpPr>
          <p:cNvPr id="38" name="Shape 36"/>
          <p:cNvSpPr/>
          <p:nvPr/>
        </p:nvSpPr>
        <p:spPr>
          <a:xfrm>
            <a:off x="8366760" y="2194560"/>
            <a:ext cx="3520440" cy="1874520"/>
          </a:xfrm>
          <a:prstGeom prst="roundRect">
            <a:avLst>
              <a:gd name="adj" fmla="val 3902"/>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8522208" y="2322576"/>
            <a:ext cx="320954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COORDINATE</a:t>
            </a:r>
            <a:endParaRPr lang="en-US" sz="680" dirty="0"/>
          </a:p>
        </p:txBody>
      </p:sp>
      <p:sp>
        <p:nvSpPr>
          <p:cNvPr id="40" name="Text 38"/>
          <p:cNvSpPr/>
          <p:nvPr/>
        </p:nvSpPr>
        <p:spPr>
          <a:xfrm>
            <a:off x="8522208" y="2450592"/>
            <a:ext cx="3209544" cy="329184"/>
          </a:xfrm>
          <a:prstGeom prst="rect">
            <a:avLst/>
          </a:prstGeom>
          <a:noFill/>
          <a:ln/>
        </p:spPr>
        <p:txBody>
          <a:bodyPr wrap="square" lIns="0" tIns="0" rIns="0" bIns="0" rtlCol="0" anchor="ctr">
            <a:normAutofit/>
          </a:bodyPr>
          <a:lstStyle/>
          <a:p>
            <a:pPr indent="0" marL="0">
              <a:buNone/>
            </a:pPr>
            <a:r>
              <a:rPr lang="en-US" sz="1550" b="1" dirty="0">
                <a:solidFill>
                  <a:srgbClr val="14273D"/>
                </a:solidFill>
                <a:latin typeface="Inter Display" pitchFamily="34" charset="0"/>
                <a:ea typeface="Inter Display" pitchFamily="34" charset="-122"/>
                <a:cs typeface="Inter Display" pitchFamily="34" charset="-120"/>
              </a:rPr>
              <a:t>Epoch accounting, α-Work Units, quorum, disputes, slashing parameters</a:t>
            </a:r>
            <a:endParaRPr lang="en-US" sz="1550" dirty="0"/>
          </a:p>
        </p:txBody>
      </p:sp>
      <p:sp>
        <p:nvSpPr>
          <p:cNvPr id="41" name="Text 39"/>
          <p:cNvSpPr/>
          <p:nvPr/>
        </p:nvSpPr>
        <p:spPr>
          <a:xfrm>
            <a:off x="8522208" y="2852928"/>
            <a:ext cx="3209544" cy="1078992"/>
          </a:xfrm>
          <a:prstGeom prst="rect">
            <a:avLst/>
          </a:prstGeom>
          <a:noFill/>
          <a:ln/>
        </p:spPr>
        <p:txBody>
          <a:bodyPr wrap="square" lIns="0" tIns="0" rIns="0" bIns="0" rtlCol="0" anchor="t">
            <a:normAutofit/>
          </a:bodyPr>
          <a:lstStyle/>
          <a:p>
            <a:pPr indent="0" marL="0">
              <a:buNone/>
            </a:pPr>
            <a:r>
              <a:rPr lang="en-US" sz="850" dirty="0">
                <a:solidFill>
                  <a:srgbClr val="43566A"/>
                </a:solidFill>
                <a:latin typeface="Inter" pitchFamily="34" charset="0"/>
                <a:ea typeface="Inter" pitchFamily="34" charset="-122"/>
                <a:cs typeface="Inter" pitchFamily="34" charset="-120"/>
              </a:rPr>
              <a:t>No equity, dividend, profit right, guaranteed value, or token requirement for enterprise users.</a:t>
            </a:r>
            <a:endParaRPr lang="en-US" sz="850" dirty="0"/>
          </a:p>
        </p:txBody>
      </p:sp>
      <p:sp>
        <p:nvSpPr>
          <p:cNvPr id="42" name="Shape 40"/>
          <p:cNvSpPr/>
          <p:nvPr/>
        </p:nvSpPr>
        <p:spPr>
          <a:xfrm>
            <a:off x="914400" y="4617720"/>
            <a:ext cx="4800600" cy="283464"/>
          </a:xfrm>
          <a:prstGeom prst="roundRect">
            <a:avLst>
              <a:gd name="adj" fmla="val 38710"/>
            </a:avLst>
          </a:prstGeom>
          <a:solidFill>
            <a:srgbClr val="43D79B">
              <a:alpha val="13000"/>
            </a:srgbClr>
          </a:solidFill>
          <a:ln w="10160">
            <a:solidFill>
              <a:srgbClr val="43D79B">
                <a:alpha val="60000"/>
              </a:srgbClr>
            </a:solidFill>
            <a:prstDash val="solid"/>
          </a:ln>
        </p:spPr>
      </p:sp>
      <p:sp>
        <p:nvSpPr>
          <p:cNvPr id="43" name="Text 41"/>
          <p:cNvSpPr/>
          <p:nvPr/>
        </p:nvSpPr>
        <p:spPr>
          <a:xfrm>
            <a:off x="969264" y="4695444"/>
            <a:ext cx="4690872"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Proof quality rises → More budget may flow</a:t>
            </a:r>
            <a:endParaRPr lang="en-US" sz="690" dirty="0"/>
          </a:p>
        </p:txBody>
      </p:sp>
      <p:sp>
        <p:nvSpPr>
          <p:cNvPr id="44" name="Shape 42"/>
          <p:cNvSpPr/>
          <p:nvPr/>
        </p:nvSpPr>
        <p:spPr>
          <a:xfrm>
            <a:off x="6172200" y="4617720"/>
            <a:ext cx="4800600"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45" name="Text 43"/>
          <p:cNvSpPr/>
          <p:nvPr/>
        </p:nvSpPr>
        <p:spPr>
          <a:xfrm>
            <a:off x="6227064" y="4695444"/>
            <a:ext cx="4690872"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False acceptance rises → Validator pressure increases</a:t>
            </a:r>
            <a:endParaRPr lang="en-US" sz="690" dirty="0"/>
          </a:p>
        </p:txBody>
      </p:sp>
      <p:sp>
        <p:nvSpPr>
          <p:cNvPr id="46" name="Shape 44"/>
          <p:cNvSpPr/>
          <p:nvPr/>
        </p:nvSpPr>
        <p:spPr>
          <a:xfrm>
            <a:off x="914400" y="5138928"/>
            <a:ext cx="4800600"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47" name="Text 45"/>
          <p:cNvSpPr/>
          <p:nvPr/>
        </p:nvSpPr>
        <p:spPr>
          <a:xfrm>
            <a:off x="969264" y="5216652"/>
            <a:ext cx="4690872"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Replay fails → Settlement and reinvestment stop</a:t>
            </a:r>
            <a:endParaRPr lang="en-US" sz="690" dirty="0"/>
          </a:p>
        </p:txBody>
      </p:sp>
      <p:sp>
        <p:nvSpPr>
          <p:cNvPr id="48" name="Shape 46"/>
          <p:cNvSpPr/>
          <p:nvPr/>
        </p:nvSpPr>
        <p:spPr>
          <a:xfrm>
            <a:off x="6172200" y="5138928"/>
            <a:ext cx="4800600" cy="283464"/>
          </a:xfrm>
          <a:prstGeom prst="roundRect">
            <a:avLst>
              <a:gd name="adj" fmla="val 38710"/>
            </a:avLst>
          </a:prstGeom>
          <a:solidFill>
            <a:srgbClr val="F5C46B">
              <a:alpha val="13000"/>
            </a:srgbClr>
          </a:solidFill>
          <a:ln w="10160">
            <a:solidFill>
              <a:srgbClr val="F5C46B">
                <a:alpha val="60000"/>
              </a:srgbClr>
            </a:solidFill>
            <a:prstDash val="solid"/>
          </a:ln>
        </p:spPr>
      </p:sp>
      <p:sp>
        <p:nvSpPr>
          <p:cNvPr id="49" name="Text 47"/>
          <p:cNvSpPr/>
          <p:nvPr/>
        </p:nvSpPr>
        <p:spPr>
          <a:xfrm>
            <a:off x="6227064" y="5216652"/>
            <a:ext cx="4690872" cy="109728"/>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Risk rises → Mission class pauses or narrows</a:t>
            </a:r>
            <a:endParaRPr lang="en-US" sz="69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USE CASES</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Where GoalOS becomes immediately useful.</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best first mission combines material decision impact, evidence that can be checked, a clear reviewer, and a reversible next action.</a:t>
            </a:r>
            <a:endParaRPr lang="en-US" sz="1450" dirty="0"/>
          </a:p>
        </p:txBody>
      </p:sp>
      <p:sp>
        <p:nvSpPr>
          <p:cNvPr id="30" name="Shape 28"/>
          <p:cNvSpPr/>
          <p:nvPr/>
        </p:nvSpPr>
        <p:spPr>
          <a:xfrm>
            <a:off x="548640" y="2057400"/>
            <a:ext cx="2633472" cy="1280160"/>
          </a:xfrm>
          <a:prstGeom prst="roundRect">
            <a:avLst>
              <a:gd name="adj" fmla="val 5714"/>
            </a:avLst>
          </a:prstGeom>
          <a:solidFill>
            <a:srgbClr val="102238"/>
          </a:solidFill>
          <a:ln w="10160">
            <a:solidFill>
              <a:srgbClr val="6FB5FF"/>
            </a:solidFill>
            <a:prstDash val="solid"/>
          </a:ln>
        </p:spPr>
      </p:sp>
      <p:sp>
        <p:nvSpPr>
          <p:cNvPr id="31" name="Text 29"/>
          <p:cNvSpPr/>
          <p:nvPr/>
        </p:nvSpPr>
        <p:spPr>
          <a:xfrm>
            <a:off x="704088" y="2185416"/>
            <a:ext cx="232257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AI PROCUREMENT</a:t>
            </a:r>
            <a:endParaRPr lang="en-US" sz="680" dirty="0"/>
          </a:p>
        </p:txBody>
      </p:sp>
      <p:sp>
        <p:nvSpPr>
          <p:cNvPr id="32" name="Text 30"/>
          <p:cNvSpPr/>
          <p:nvPr/>
        </p:nvSpPr>
        <p:spPr>
          <a:xfrm>
            <a:off x="704088" y="2313432"/>
            <a:ext cx="2322576" cy="329184"/>
          </a:xfrm>
          <a:prstGeom prst="rect">
            <a:avLst/>
          </a:prstGeom>
          <a:noFill/>
          <a:ln/>
        </p:spPr>
        <p:txBody>
          <a:bodyPr wrap="square" lIns="0" tIns="0" rIns="0" bIns="0" rtlCol="0" anchor="ctr">
            <a:normAutofit/>
          </a:bodyPr>
          <a:lstStyle/>
          <a:p>
            <a:pPr indent="0" marL="0">
              <a:buNone/>
            </a:pPr>
            <a:r>
              <a:rPr lang="en-US" sz="1330" b="1" dirty="0">
                <a:solidFill>
                  <a:srgbClr val="F7FBFF"/>
                </a:solidFill>
                <a:latin typeface="Inter Display" pitchFamily="34" charset="0"/>
                <a:ea typeface="Inter Display" pitchFamily="34" charset="-122"/>
                <a:cs typeface="Inter Display" pitchFamily="34" charset="-120"/>
              </a:rPr>
              <a:t>Which vendor claims can support a bounded pilot?</a:t>
            </a:r>
            <a:endParaRPr lang="en-US" sz="1330" dirty="0"/>
          </a:p>
        </p:txBody>
      </p:sp>
      <p:sp>
        <p:nvSpPr>
          <p:cNvPr id="33" name="Text 31"/>
          <p:cNvSpPr/>
          <p:nvPr/>
        </p:nvSpPr>
        <p:spPr>
          <a:xfrm>
            <a:off x="704088" y="2715768"/>
            <a:ext cx="2322576" cy="484632"/>
          </a:xfrm>
          <a:prstGeom prst="rect">
            <a:avLst/>
          </a:prstGeom>
          <a:noFill/>
          <a:ln/>
        </p:spPr>
        <p:txBody>
          <a:bodyPr wrap="square" lIns="0" tIns="0" rIns="0" bIns="0" rtlCol="0" anchor="t">
            <a:normAutofit/>
          </a:bodyPr>
          <a:lstStyle/>
          <a:p>
            <a:pPr indent="0" marL="0">
              <a:buNone/>
            </a:pPr>
            <a:r>
              <a:rPr lang="en-US" sz="770" dirty="0">
                <a:solidFill>
                  <a:srgbClr val="B9C5D2"/>
                </a:solidFill>
                <a:latin typeface="Inter" pitchFamily="34" charset="0"/>
                <a:ea typeface="Inter" pitchFamily="34" charset="-122"/>
                <a:cs typeface="Inter" pitchFamily="34" charset="-120"/>
              </a:rPr>
              <a:t>Proof Mission → Evidence Docket → governed next action.</a:t>
            </a:r>
            <a:endParaRPr lang="en-US" sz="770" dirty="0"/>
          </a:p>
        </p:txBody>
      </p:sp>
      <p:sp>
        <p:nvSpPr>
          <p:cNvPr id="34" name="Shape 32"/>
          <p:cNvSpPr/>
          <p:nvPr/>
        </p:nvSpPr>
        <p:spPr>
          <a:xfrm>
            <a:off x="3429000" y="2057400"/>
            <a:ext cx="2633472" cy="1280160"/>
          </a:xfrm>
          <a:prstGeom prst="roundRect">
            <a:avLst>
              <a:gd name="adj" fmla="val 5714"/>
            </a:avLst>
          </a:prstGeom>
          <a:solidFill>
            <a:srgbClr val="102238"/>
          </a:solidFill>
          <a:ln w="10160">
            <a:solidFill>
              <a:srgbClr val="E7BD62"/>
            </a:solidFill>
            <a:prstDash val="solid"/>
          </a:ln>
        </p:spPr>
      </p:sp>
      <p:sp>
        <p:nvSpPr>
          <p:cNvPr id="35" name="Text 33"/>
          <p:cNvSpPr/>
          <p:nvPr/>
        </p:nvSpPr>
        <p:spPr>
          <a:xfrm>
            <a:off x="3584448" y="2185416"/>
            <a:ext cx="232257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PARTNERSHIP DILIGENCE</a:t>
            </a:r>
            <a:endParaRPr lang="en-US" sz="680" dirty="0"/>
          </a:p>
        </p:txBody>
      </p:sp>
      <p:sp>
        <p:nvSpPr>
          <p:cNvPr id="36" name="Text 34"/>
          <p:cNvSpPr/>
          <p:nvPr/>
        </p:nvSpPr>
        <p:spPr>
          <a:xfrm>
            <a:off x="3584448" y="2313432"/>
            <a:ext cx="2322576" cy="329184"/>
          </a:xfrm>
          <a:prstGeom prst="rect">
            <a:avLst/>
          </a:prstGeom>
          <a:noFill/>
          <a:ln/>
        </p:spPr>
        <p:txBody>
          <a:bodyPr wrap="square" lIns="0" tIns="0" rIns="0" bIns="0" rtlCol="0" anchor="ctr">
            <a:normAutofit/>
          </a:bodyPr>
          <a:lstStyle/>
          <a:p>
            <a:pPr indent="0" marL="0">
              <a:buNone/>
            </a:pPr>
            <a:r>
              <a:rPr lang="en-US" sz="1330" b="1" dirty="0">
                <a:solidFill>
                  <a:srgbClr val="F7FBFF"/>
                </a:solidFill>
                <a:latin typeface="Inter Display" pitchFamily="34" charset="0"/>
                <a:ea typeface="Inter Display" pitchFamily="34" charset="-122"/>
                <a:cs typeface="Inter Display" pitchFamily="34" charset="-120"/>
              </a:rPr>
              <a:t>Should we partner, invest time, or run a joint proof?</a:t>
            </a:r>
            <a:endParaRPr lang="en-US" sz="1330" dirty="0"/>
          </a:p>
        </p:txBody>
      </p:sp>
      <p:sp>
        <p:nvSpPr>
          <p:cNvPr id="37" name="Text 35"/>
          <p:cNvSpPr/>
          <p:nvPr/>
        </p:nvSpPr>
        <p:spPr>
          <a:xfrm>
            <a:off x="3584448" y="2715768"/>
            <a:ext cx="2322576" cy="484632"/>
          </a:xfrm>
          <a:prstGeom prst="rect">
            <a:avLst/>
          </a:prstGeom>
          <a:noFill/>
          <a:ln/>
        </p:spPr>
        <p:txBody>
          <a:bodyPr wrap="square" lIns="0" tIns="0" rIns="0" bIns="0" rtlCol="0" anchor="t">
            <a:normAutofit/>
          </a:bodyPr>
          <a:lstStyle/>
          <a:p>
            <a:pPr indent="0" marL="0">
              <a:buNone/>
            </a:pPr>
            <a:r>
              <a:rPr lang="en-US" sz="770" dirty="0">
                <a:solidFill>
                  <a:srgbClr val="B9C5D2"/>
                </a:solidFill>
                <a:latin typeface="Inter" pitchFamily="34" charset="0"/>
                <a:ea typeface="Inter" pitchFamily="34" charset="-122"/>
                <a:cs typeface="Inter" pitchFamily="34" charset="-120"/>
              </a:rPr>
              <a:t>Proof Mission → Evidence Docket → governed next action.</a:t>
            </a:r>
            <a:endParaRPr lang="en-US" sz="770" dirty="0"/>
          </a:p>
        </p:txBody>
      </p:sp>
      <p:sp>
        <p:nvSpPr>
          <p:cNvPr id="38" name="Shape 36"/>
          <p:cNvSpPr/>
          <p:nvPr/>
        </p:nvSpPr>
        <p:spPr>
          <a:xfrm>
            <a:off x="6309360" y="2057400"/>
            <a:ext cx="2633472" cy="1280160"/>
          </a:xfrm>
          <a:prstGeom prst="roundRect">
            <a:avLst>
              <a:gd name="adj" fmla="val 5714"/>
            </a:avLst>
          </a:prstGeom>
          <a:solidFill>
            <a:srgbClr val="102238"/>
          </a:solidFill>
          <a:ln w="10160">
            <a:solidFill>
              <a:srgbClr val="43D79B"/>
            </a:solidFill>
            <a:prstDash val="solid"/>
          </a:ln>
        </p:spPr>
      </p:sp>
      <p:sp>
        <p:nvSpPr>
          <p:cNvPr id="39" name="Text 37"/>
          <p:cNvSpPr/>
          <p:nvPr/>
        </p:nvSpPr>
        <p:spPr>
          <a:xfrm>
            <a:off x="6464808" y="2185416"/>
            <a:ext cx="23225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ENTERPRISE AI ADOPTION</a:t>
            </a:r>
            <a:endParaRPr lang="en-US" sz="680" dirty="0"/>
          </a:p>
        </p:txBody>
      </p:sp>
      <p:sp>
        <p:nvSpPr>
          <p:cNvPr id="40" name="Text 38"/>
          <p:cNvSpPr/>
          <p:nvPr/>
        </p:nvSpPr>
        <p:spPr>
          <a:xfrm>
            <a:off x="6464808" y="2313432"/>
            <a:ext cx="2322576" cy="329184"/>
          </a:xfrm>
          <a:prstGeom prst="rect">
            <a:avLst/>
          </a:prstGeom>
          <a:noFill/>
          <a:ln/>
        </p:spPr>
        <p:txBody>
          <a:bodyPr wrap="square" lIns="0" tIns="0" rIns="0" bIns="0" rtlCol="0" anchor="ctr">
            <a:normAutofit/>
          </a:bodyPr>
          <a:lstStyle/>
          <a:p>
            <a:pPr indent="0" marL="0">
              <a:buNone/>
            </a:pPr>
            <a:r>
              <a:rPr lang="en-US" sz="1330" b="1" dirty="0">
                <a:solidFill>
                  <a:srgbClr val="F7FBFF"/>
                </a:solidFill>
                <a:latin typeface="Inter Display" pitchFamily="34" charset="0"/>
                <a:ea typeface="Inter Display" pitchFamily="34" charset="-122"/>
                <a:cs typeface="Inter Display" pitchFamily="34" charset="-120"/>
              </a:rPr>
              <a:t>Which workflow should enter controlled production?</a:t>
            </a:r>
            <a:endParaRPr lang="en-US" sz="1330" dirty="0"/>
          </a:p>
        </p:txBody>
      </p:sp>
      <p:sp>
        <p:nvSpPr>
          <p:cNvPr id="41" name="Text 39"/>
          <p:cNvSpPr/>
          <p:nvPr/>
        </p:nvSpPr>
        <p:spPr>
          <a:xfrm>
            <a:off x="6464808" y="2715768"/>
            <a:ext cx="2322576" cy="484632"/>
          </a:xfrm>
          <a:prstGeom prst="rect">
            <a:avLst/>
          </a:prstGeom>
          <a:noFill/>
          <a:ln/>
        </p:spPr>
        <p:txBody>
          <a:bodyPr wrap="square" lIns="0" tIns="0" rIns="0" bIns="0" rtlCol="0" anchor="t">
            <a:normAutofit/>
          </a:bodyPr>
          <a:lstStyle/>
          <a:p>
            <a:pPr indent="0" marL="0">
              <a:buNone/>
            </a:pPr>
            <a:r>
              <a:rPr lang="en-US" sz="770" dirty="0">
                <a:solidFill>
                  <a:srgbClr val="B9C5D2"/>
                </a:solidFill>
                <a:latin typeface="Inter" pitchFamily="34" charset="0"/>
                <a:ea typeface="Inter" pitchFamily="34" charset="-122"/>
                <a:cs typeface="Inter" pitchFamily="34" charset="-120"/>
              </a:rPr>
              <a:t>Proof Mission → Evidence Docket → governed next action.</a:t>
            </a:r>
            <a:endParaRPr lang="en-US" sz="770" dirty="0"/>
          </a:p>
        </p:txBody>
      </p:sp>
      <p:sp>
        <p:nvSpPr>
          <p:cNvPr id="42" name="Shape 40"/>
          <p:cNvSpPr/>
          <p:nvPr/>
        </p:nvSpPr>
        <p:spPr>
          <a:xfrm>
            <a:off x="9189720" y="2057400"/>
            <a:ext cx="2633472" cy="1280160"/>
          </a:xfrm>
          <a:prstGeom prst="roundRect">
            <a:avLst>
              <a:gd name="adj" fmla="val 5714"/>
            </a:avLst>
          </a:prstGeom>
          <a:solidFill>
            <a:srgbClr val="102238"/>
          </a:solidFill>
          <a:ln w="10160">
            <a:solidFill>
              <a:srgbClr val="A99CFF"/>
            </a:solidFill>
            <a:prstDash val="solid"/>
          </a:ln>
        </p:spPr>
      </p:sp>
      <p:sp>
        <p:nvSpPr>
          <p:cNvPr id="43" name="Text 41"/>
          <p:cNvSpPr/>
          <p:nvPr/>
        </p:nvSpPr>
        <p:spPr>
          <a:xfrm>
            <a:off x="9345168" y="2185416"/>
            <a:ext cx="2322576"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AUTOMATED AI RESEARCH</a:t>
            </a:r>
            <a:endParaRPr lang="en-US" sz="680" dirty="0"/>
          </a:p>
        </p:txBody>
      </p:sp>
      <p:sp>
        <p:nvSpPr>
          <p:cNvPr id="44" name="Text 42"/>
          <p:cNvSpPr/>
          <p:nvPr/>
        </p:nvSpPr>
        <p:spPr>
          <a:xfrm>
            <a:off x="9345168" y="2313432"/>
            <a:ext cx="2322576" cy="329184"/>
          </a:xfrm>
          <a:prstGeom prst="rect">
            <a:avLst/>
          </a:prstGeom>
          <a:noFill/>
          <a:ln/>
        </p:spPr>
        <p:txBody>
          <a:bodyPr wrap="square" lIns="0" tIns="0" rIns="0" bIns="0" rtlCol="0" anchor="ctr">
            <a:normAutofit/>
          </a:bodyPr>
          <a:lstStyle/>
          <a:p>
            <a:pPr indent="0" marL="0">
              <a:buNone/>
            </a:pPr>
            <a:r>
              <a:rPr lang="en-US" sz="1330" b="1" dirty="0">
                <a:solidFill>
                  <a:srgbClr val="F7FBFF"/>
                </a:solidFill>
                <a:latin typeface="Inter Display" pitchFamily="34" charset="0"/>
                <a:ea typeface="Inter Display" pitchFamily="34" charset="-122"/>
                <a:cs typeface="Inter Display" pitchFamily="34" charset="-120"/>
              </a:rPr>
              <a:t>Which candidate mechanism deserves deeper testing?</a:t>
            </a:r>
            <a:endParaRPr lang="en-US" sz="1330" dirty="0"/>
          </a:p>
        </p:txBody>
      </p:sp>
      <p:sp>
        <p:nvSpPr>
          <p:cNvPr id="45" name="Text 43"/>
          <p:cNvSpPr/>
          <p:nvPr/>
        </p:nvSpPr>
        <p:spPr>
          <a:xfrm>
            <a:off x="9345168" y="2715768"/>
            <a:ext cx="2322576" cy="484632"/>
          </a:xfrm>
          <a:prstGeom prst="rect">
            <a:avLst/>
          </a:prstGeom>
          <a:noFill/>
          <a:ln/>
        </p:spPr>
        <p:txBody>
          <a:bodyPr wrap="square" lIns="0" tIns="0" rIns="0" bIns="0" rtlCol="0" anchor="t">
            <a:normAutofit/>
          </a:bodyPr>
          <a:lstStyle/>
          <a:p>
            <a:pPr indent="0" marL="0">
              <a:buNone/>
            </a:pPr>
            <a:r>
              <a:rPr lang="en-US" sz="770" dirty="0">
                <a:solidFill>
                  <a:srgbClr val="B9C5D2"/>
                </a:solidFill>
                <a:latin typeface="Inter" pitchFamily="34" charset="0"/>
                <a:ea typeface="Inter" pitchFamily="34" charset="-122"/>
                <a:cs typeface="Inter" pitchFamily="34" charset="-120"/>
              </a:rPr>
              <a:t>Proof Mission → Evidence Docket → governed next action.</a:t>
            </a:r>
            <a:endParaRPr lang="en-US" sz="770" dirty="0"/>
          </a:p>
        </p:txBody>
      </p:sp>
      <p:sp>
        <p:nvSpPr>
          <p:cNvPr id="46" name="Shape 44"/>
          <p:cNvSpPr/>
          <p:nvPr/>
        </p:nvSpPr>
        <p:spPr>
          <a:xfrm>
            <a:off x="548640" y="3611880"/>
            <a:ext cx="2633472" cy="1280160"/>
          </a:xfrm>
          <a:prstGeom prst="roundRect">
            <a:avLst>
              <a:gd name="adj" fmla="val 5714"/>
            </a:avLst>
          </a:prstGeom>
          <a:solidFill>
            <a:srgbClr val="102238"/>
          </a:solidFill>
          <a:ln w="10160">
            <a:solidFill>
              <a:srgbClr val="54D6D0"/>
            </a:solidFill>
            <a:prstDash val="solid"/>
          </a:ln>
        </p:spPr>
      </p:sp>
      <p:sp>
        <p:nvSpPr>
          <p:cNvPr id="47" name="Text 45"/>
          <p:cNvSpPr/>
          <p:nvPr/>
        </p:nvSpPr>
        <p:spPr>
          <a:xfrm>
            <a:off x="704088" y="3739896"/>
            <a:ext cx="2322576"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POLICY / MARKET ENTRY</a:t>
            </a:r>
            <a:endParaRPr lang="en-US" sz="680" dirty="0"/>
          </a:p>
        </p:txBody>
      </p:sp>
      <p:sp>
        <p:nvSpPr>
          <p:cNvPr id="48" name="Text 46"/>
          <p:cNvSpPr/>
          <p:nvPr/>
        </p:nvSpPr>
        <p:spPr>
          <a:xfrm>
            <a:off x="704088" y="3867912"/>
            <a:ext cx="2322576" cy="329184"/>
          </a:xfrm>
          <a:prstGeom prst="rect">
            <a:avLst/>
          </a:prstGeom>
          <a:noFill/>
          <a:ln/>
        </p:spPr>
        <p:txBody>
          <a:bodyPr wrap="square" lIns="0" tIns="0" rIns="0" bIns="0" rtlCol="0" anchor="ctr">
            <a:normAutofit/>
          </a:bodyPr>
          <a:lstStyle/>
          <a:p>
            <a:pPr indent="0" marL="0">
              <a:buNone/>
            </a:pPr>
            <a:r>
              <a:rPr lang="en-US" sz="1330" b="1" dirty="0">
                <a:solidFill>
                  <a:srgbClr val="F7FBFF"/>
                </a:solidFill>
                <a:latin typeface="Inter Display" pitchFamily="34" charset="0"/>
                <a:ea typeface="Inter Display" pitchFamily="34" charset="-122"/>
                <a:cs typeface="Inter Display" pitchFamily="34" charset="-120"/>
              </a:rPr>
              <a:t>Which options remain viable under evidence and regulation?</a:t>
            </a:r>
            <a:endParaRPr lang="en-US" sz="1330" dirty="0"/>
          </a:p>
        </p:txBody>
      </p:sp>
      <p:sp>
        <p:nvSpPr>
          <p:cNvPr id="49" name="Text 47"/>
          <p:cNvSpPr/>
          <p:nvPr/>
        </p:nvSpPr>
        <p:spPr>
          <a:xfrm>
            <a:off x="704088" y="4270248"/>
            <a:ext cx="2322576" cy="484632"/>
          </a:xfrm>
          <a:prstGeom prst="rect">
            <a:avLst/>
          </a:prstGeom>
          <a:noFill/>
          <a:ln/>
        </p:spPr>
        <p:txBody>
          <a:bodyPr wrap="square" lIns="0" tIns="0" rIns="0" bIns="0" rtlCol="0" anchor="t">
            <a:normAutofit/>
          </a:bodyPr>
          <a:lstStyle/>
          <a:p>
            <a:pPr indent="0" marL="0">
              <a:buNone/>
            </a:pPr>
            <a:r>
              <a:rPr lang="en-US" sz="770" dirty="0">
                <a:solidFill>
                  <a:srgbClr val="B9C5D2"/>
                </a:solidFill>
                <a:latin typeface="Inter" pitchFamily="34" charset="0"/>
                <a:ea typeface="Inter" pitchFamily="34" charset="-122"/>
                <a:cs typeface="Inter" pitchFamily="34" charset="-120"/>
              </a:rPr>
              <a:t>Proof Mission → Evidence Docket → governed next action.</a:t>
            </a:r>
            <a:endParaRPr lang="en-US" sz="770" dirty="0"/>
          </a:p>
        </p:txBody>
      </p:sp>
      <p:sp>
        <p:nvSpPr>
          <p:cNvPr id="50" name="Shape 48"/>
          <p:cNvSpPr/>
          <p:nvPr/>
        </p:nvSpPr>
        <p:spPr>
          <a:xfrm>
            <a:off x="3429000" y="3611880"/>
            <a:ext cx="2633472" cy="1280160"/>
          </a:xfrm>
          <a:prstGeom prst="roundRect">
            <a:avLst>
              <a:gd name="adj" fmla="val 5714"/>
            </a:avLst>
          </a:prstGeom>
          <a:solidFill>
            <a:srgbClr val="102238"/>
          </a:solidFill>
          <a:ln w="10160">
            <a:solidFill>
              <a:srgbClr val="F5C46B"/>
            </a:solidFill>
            <a:prstDash val="solid"/>
          </a:ln>
        </p:spPr>
      </p:sp>
      <p:sp>
        <p:nvSpPr>
          <p:cNvPr id="51" name="Text 49"/>
          <p:cNvSpPr/>
          <p:nvPr/>
        </p:nvSpPr>
        <p:spPr>
          <a:xfrm>
            <a:off x="3584448" y="3739896"/>
            <a:ext cx="2322576" cy="146304"/>
          </a:xfrm>
          <a:prstGeom prst="rect">
            <a:avLst/>
          </a:prstGeom>
          <a:noFill/>
          <a:ln/>
        </p:spPr>
        <p:txBody>
          <a:bodyPr wrap="square" lIns="0" tIns="0" rIns="0" bIns="0" rtlCol="0" anchor="ctr"/>
          <a:lstStyle/>
          <a:p>
            <a:pPr indent="0" marL="0">
              <a:buNone/>
            </a:pPr>
            <a:r>
              <a:rPr lang="en-US" sz="680" b="1" spc="120" kern="0" dirty="0">
                <a:solidFill>
                  <a:srgbClr val="F5C46B"/>
                </a:solidFill>
                <a:latin typeface="Inter" pitchFamily="34" charset="0"/>
                <a:ea typeface="Inter" pitchFamily="34" charset="-122"/>
                <a:cs typeface="Inter" pitchFamily="34" charset="-120"/>
              </a:rPr>
              <a:t>ENERGY / FACILITY RESILIENCE</a:t>
            </a:r>
            <a:endParaRPr lang="en-US" sz="680" dirty="0"/>
          </a:p>
        </p:txBody>
      </p:sp>
      <p:sp>
        <p:nvSpPr>
          <p:cNvPr id="52" name="Text 50"/>
          <p:cNvSpPr/>
          <p:nvPr/>
        </p:nvSpPr>
        <p:spPr>
          <a:xfrm>
            <a:off x="3584448" y="3867912"/>
            <a:ext cx="2322576" cy="329184"/>
          </a:xfrm>
          <a:prstGeom prst="rect">
            <a:avLst/>
          </a:prstGeom>
          <a:noFill/>
          <a:ln/>
        </p:spPr>
        <p:txBody>
          <a:bodyPr wrap="square" lIns="0" tIns="0" rIns="0" bIns="0" rtlCol="0" anchor="ctr">
            <a:normAutofit/>
          </a:bodyPr>
          <a:lstStyle/>
          <a:p>
            <a:pPr indent="0" marL="0">
              <a:buNone/>
            </a:pPr>
            <a:r>
              <a:rPr lang="en-US" sz="1330" b="1" dirty="0">
                <a:solidFill>
                  <a:srgbClr val="F7FBFF"/>
                </a:solidFill>
                <a:latin typeface="Inter Display" pitchFamily="34" charset="0"/>
                <a:ea typeface="Inter Display" pitchFamily="34" charset="-122"/>
                <a:cs typeface="Inter Display" pitchFamily="34" charset="-120"/>
              </a:rPr>
              <a:t>Which intervention improves resilience under stress?</a:t>
            </a:r>
            <a:endParaRPr lang="en-US" sz="1330" dirty="0"/>
          </a:p>
        </p:txBody>
      </p:sp>
      <p:sp>
        <p:nvSpPr>
          <p:cNvPr id="53" name="Text 51"/>
          <p:cNvSpPr/>
          <p:nvPr/>
        </p:nvSpPr>
        <p:spPr>
          <a:xfrm>
            <a:off x="3584448" y="4270248"/>
            <a:ext cx="2322576" cy="484632"/>
          </a:xfrm>
          <a:prstGeom prst="rect">
            <a:avLst/>
          </a:prstGeom>
          <a:noFill/>
          <a:ln/>
        </p:spPr>
        <p:txBody>
          <a:bodyPr wrap="square" lIns="0" tIns="0" rIns="0" bIns="0" rtlCol="0" anchor="t">
            <a:normAutofit/>
          </a:bodyPr>
          <a:lstStyle/>
          <a:p>
            <a:pPr indent="0" marL="0">
              <a:buNone/>
            </a:pPr>
            <a:r>
              <a:rPr lang="en-US" sz="770" dirty="0">
                <a:solidFill>
                  <a:srgbClr val="B9C5D2"/>
                </a:solidFill>
                <a:latin typeface="Inter" pitchFamily="34" charset="0"/>
                <a:ea typeface="Inter" pitchFamily="34" charset="-122"/>
                <a:cs typeface="Inter" pitchFamily="34" charset="-120"/>
              </a:rPr>
              <a:t>Proof Mission → Evidence Docket → governed next action.</a:t>
            </a:r>
            <a:endParaRPr lang="en-US" sz="770" dirty="0"/>
          </a:p>
        </p:txBody>
      </p:sp>
      <p:sp>
        <p:nvSpPr>
          <p:cNvPr id="54" name="Shape 52"/>
          <p:cNvSpPr/>
          <p:nvPr/>
        </p:nvSpPr>
        <p:spPr>
          <a:xfrm>
            <a:off x="6309360" y="3611880"/>
            <a:ext cx="2633472" cy="1280160"/>
          </a:xfrm>
          <a:prstGeom prst="roundRect">
            <a:avLst>
              <a:gd name="adj" fmla="val 5714"/>
            </a:avLst>
          </a:prstGeom>
          <a:solidFill>
            <a:srgbClr val="102238"/>
          </a:solidFill>
          <a:ln w="10160">
            <a:solidFill>
              <a:srgbClr val="FF7584"/>
            </a:solidFill>
            <a:prstDash val="solid"/>
          </a:ln>
        </p:spPr>
      </p:sp>
      <p:sp>
        <p:nvSpPr>
          <p:cNvPr id="55" name="Text 53"/>
          <p:cNvSpPr/>
          <p:nvPr/>
        </p:nvSpPr>
        <p:spPr>
          <a:xfrm>
            <a:off x="6464808" y="3739896"/>
            <a:ext cx="232257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DEFENSIVE CYBERSECURITY</a:t>
            </a:r>
            <a:endParaRPr lang="en-US" sz="680" dirty="0"/>
          </a:p>
        </p:txBody>
      </p:sp>
      <p:sp>
        <p:nvSpPr>
          <p:cNvPr id="56" name="Text 54"/>
          <p:cNvSpPr/>
          <p:nvPr/>
        </p:nvSpPr>
        <p:spPr>
          <a:xfrm>
            <a:off x="6464808" y="3867912"/>
            <a:ext cx="2322576" cy="329184"/>
          </a:xfrm>
          <a:prstGeom prst="rect">
            <a:avLst/>
          </a:prstGeom>
          <a:noFill/>
          <a:ln/>
        </p:spPr>
        <p:txBody>
          <a:bodyPr wrap="square" lIns="0" tIns="0" rIns="0" bIns="0" rtlCol="0" anchor="ctr">
            <a:normAutofit/>
          </a:bodyPr>
          <a:lstStyle/>
          <a:p>
            <a:pPr indent="0" marL="0">
              <a:buNone/>
            </a:pPr>
            <a:r>
              <a:rPr lang="en-US" sz="1330" b="1" dirty="0">
                <a:solidFill>
                  <a:srgbClr val="F7FBFF"/>
                </a:solidFill>
                <a:latin typeface="Inter Display" pitchFamily="34" charset="0"/>
                <a:ea typeface="Inter Display" pitchFamily="34" charset="-122"/>
                <a:cs typeface="Inter Display" pitchFamily="34" charset="-120"/>
              </a:rPr>
              <a:t>Which findings justify human-reviewed remediation?</a:t>
            </a:r>
            <a:endParaRPr lang="en-US" sz="1330" dirty="0"/>
          </a:p>
        </p:txBody>
      </p:sp>
      <p:sp>
        <p:nvSpPr>
          <p:cNvPr id="57" name="Text 55"/>
          <p:cNvSpPr/>
          <p:nvPr/>
        </p:nvSpPr>
        <p:spPr>
          <a:xfrm>
            <a:off x="6464808" y="4270248"/>
            <a:ext cx="2322576" cy="484632"/>
          </a:xfrm>
          <a:prstGeom prst="rect">
            <a:avLst/>
          </a:prstGeom>
          <a:noFill/>
          <a:ln/>
        </p:spPr>
        <p:txBody>
          <a:bodyPr wrap="square" lIns="0" tIns="0" rIns="0" bIns="0" rtlCol="0" anchor="t">
            <a:normAutofit/>
          </a:bodyPr>
          <a:lstStyle/>
          <a:p>
            <a:pPr indent="0" marL="0">
              <a:buNone/>
            </a:pPr>
            <a:r>
              <a:rPr lang="en-US" sz="770" dirty="0">
                <a:solidFill>
                  <a:srgbClr val="B9C5D2"/>
                </a:solidFill>
                <a:latin typeface="Inter" pitchFamily="34" charset="0"/>
                <a:ea typeface="Inter" pitchFamily="34" charset="-122"/>
                <a:cs typeface="Inter" pitchFamily="34" charset="-120"/>
              </a:rPr>
              <a:t>Proof Mission → Evidence Docket → governed next action.</a:t>
            </a:r>
            <a:endParaRPr lang="en-US" sz="770" dirty="0"/>
          </a:p>
        </p:txBody>
      </p:sp>
      <p:sp>
        <p:nvSpPr>
          <p:cNvPr id="58" name="Shape 56"/>
          <p:cNvSpPr/>
          <p:nvPr/>
        </p:nvSpPr>
        <p:spPr>
          <a:xfrm>
            <a:off x="9189720" y="3611880"/>
            <a:ext cx="2633472" cy="1280160"/>
          </a:xfrm>
          <a:prstGeom prst="roundRect">
            <a:avLst>
              <a:gd name="adj" fmla="val 5714"/>
            </a:avLst>
          </a:prstGeom>
          <a:solidFill>
            <a:srgbClr val="102238"/>
          </a:solidFill>
          <a:ln w="10160">
            <a:solidFill>
              <a:srgbClr val="6FB5FF"/>
            </a:solidFill>
            <a:prstDash val="solid"/>
          </a:ln>
        </p:spPr>
      </p:sp>
      <p:sp>
        <p:nvSpPr>
          <p:cNvPr id="59" name="Text 57"/>
          <p:cNvSpPr/>
          <p:nvPr/>
        </p:nvSpPr>
        <p:spPr>
          <a:xfrm>
            <a:off x="9345168" y="3739896"/>
            <a:ext cx="232257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SOFTWARE ASSURANCE</a:t>
            </a:r>
            <a:endParaRPr lang="en-US" sz="680" dirty="0"/>
          </a:p>
        </p:txBody>
      </p:sp>
      <p:sp>
        <p:nvSpPr>
          <p:cNvPr id="60" name="Text 58"/>
          <p:cNvSpPr/>
          <p:nvPr/>
        </p:nvSpPr>
        <p:spPr>
          <a:xfrm>
            <a:off x="9345168" y="3867912"/>
            <a:ext cx="2322576" cy="329184"/>
          </a:xfrm>
          <a:prstGeom prst="rect">
            <a:avLst/>
          </a:prstGeom>
          <a:noFill/>
          <a:ln/>
        </p:spPr>
        <p:txBody>
          <a:bodyPr wrap="square" lIns="0" tIns="0" rIns="0" bIns="0" rtlCol="0" anchor="ctr">
            <a:normAutofit/>
          </a:bodyPr>
          <a:lstStyle/>
          <a:p>
            <a:pPr indent="0" marL="0">
              <a:buNone/>
            </a:pPr>
            <a:r>
              <a:rPr lang="en-US" sz="1330" b="1" dirty="0">
                <a:solidFill>
                  <a:srgbClr val="F7FBFF"/>
                </a:solidFill>
                <a:latin typeface="Inter Display" pitchFamily="34" charset="0"/>
                <a:ea typeface="Inter Display" pitchFamily="34" charset="-122"/>
                <a:cs typeface="Inter Display" pitchFamily="34" charset="-120"/>
              </a:rPr>
              <a:t>Which patch or workflow earns release authority?</a:t>
            </a:r>
            <a:endParaRPr lang="en-US" sz="1330" dirty="0"/>
          </a:p>
        </p:txBody>
      </p:sp>
      <p:sp>
        <p:nvSpPr>
          <p:cNvPr id="61" name="Text 59"/>
          <p:cNvSpPr/>
          <p:nvPr/>
        </p:nvSpPr>
        <p:spPr>
          <a:xfrm>
            <a:off x="9345168" y="4270248"/>
            <a:ext cx="2322576" cy="484632"/>
          </a:xfrm>
          <a:prstGeom prst="rect">
            <a:avLst/>
          </a:prstGeom>
          <a:noFill/>
          <a:ln/>
        </p:spPr>
        <p:txBody>
          <a:bodyPr wrap="square" lIns="0" tIns="0" rIns="0" bIns="0" rtlCol="0" anchor="t">
            <a:normAutofit/>
          </a:bodyPr>
          <a:lstStyle/>
          <a:p>
            <a:pPr indent="0" marL="0">
              <a:buNone/>
            </a:pPr>
            <a:r>
              <a:rPr lang="en-US" sz="770" dirty="0">
                <a:solidFill>
                  <a:srgbClr val="B9C5D2"/>
                </a:solidFill>
                <a:latin typeface="Inter" pitchFamily="34" charset="0"/>
                <a:ea typeface="Inter" pitchFamily="34" charset="-122"/>
                <a:cs typeface="Inter" pitchFamily="34" charset="-120"/>
              </a:rPr>
              <a:t>Proof Mission → Evidence Docket → governed next action.</a:t>
            </a:r>
            <a:endParaRPr lang="en-US" sz="770" dirty="0"/>
          </a:p>
        </p:txBody>
      </p:sp>
      <p:sp>
        <p:nvSpPr>
          <p:cNvPr id="62" name="Text 60"/>
          <p:cNvSpPr/>
          <p:nvPr/>
        </p:nvSpPr>
        <p:spPr>
          <a:xfrm>
            <a:off x="2834640" y="5440680"/>
            <a:ext cx="6583680" cy="384048"/>
          </a:xfrm>
          <a:prstGeom prst="rect">
            <a:avLst/>
          </a:prstGeom>
          <a:noFill/>
          <a:ln/>
        </p:spPr>
        <p:txBody>
          <a:bodyPr wrap="square" lIns="0" tIns="0" rIns="0" bIns="0" rtlCol="0" anchor="ctr"/>
          <a:lstStyle/>
          <a:p>
            <a:pPr algn="ctr" indent="0" marL="0">
              <a:buNone/>
            </a:pPr>
            <a:r>
              <a:rPr lang="en-US" sz="1700" b="1" dirty="0">
                <a:solidFill>
                  <a:srgbClr val="E7BD62"/>
                </a:solidFill>
                <a:latin typeface="Inter Display" pitchFamily="34" charset="0"/>
                <a:ea typeface="Inter Display" pitchFamily="34" charset="-122"/>
                <a:cs typeface="Inter Display" pitchFamily="34" charset="-120"/>
              </a:rPr>
              <a:t>Start with one decision—not a platform migration.</a:t>
            </a:r>
            <a:endParaRPr lang="en-US" sz="17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PARTNER ARCHETYPES</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Different partners strengthen different parts of the proof institution.</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partnership should begin with a practical mission and a clearly assigned proof role.</a:t>
            </a:r>
            <a:endParaRPr lang="en-US" sz="1450" dirty="0"/>
          </a:p>
        </p:txBody>
      </p:sp>
      <p:sp>
        <p:nvSpPr>
          <p:cNvPr id="30" name="Shape 28"/>
          <p:cNvSpPr/>
          <p:nvPr/>
        </p:nvSpPr>
        <p:spPr>
          <a:xfrm>
            <a:off x="621792" y="2148840"/>
            <a:ext cx="3566160" cy="1261872"/>
          </a:xfrm>
          <a:prstGeom prst="roundRect">
            <a:avLst>
              <a:gd name="adj" fmla="val 5797"/>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777240" y="2276856"/>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DESIGN PARTNER</a:t>
            </a:r>
            <a:endParaRPr lang="en-US" sz="680" dirty="0"/>
          </a:p>
        </p:txBody>
      </p:sp>
      <p:sp>
        <p:nvSpPr>
          <p:cNvPr id="32" name="Text 30"/>
          <p:cNvSpPr/>
          <p:nvPr/>
        </p:nvSpPr>
        <p:spPr>
          <a:xfrm>
            <a:off x="777240" y="2404872"/>
            <a:ext cx="3255264" cy="329184"/>
          </a:xfrm>
          <a:prstGeom prst="rect">
            <a:avLst/>
          </a:prstGeom>
          <a:noFill/>
          <a:ln/>
        </p:spPr>
        <p:txBody>
          <a:bodyPr wrap="square" lIns="0" tIns="0" rIns="0" bIns="0" rtlCol="0" anchor="ctr">
            <a:normAutofit/>
          </a:bodyPr>
          <a:lstStyle/>
          <a:p>
            <a:pPr indent="0" marL="0">
              <a:buNone/>
            </a:pPr>
            <a:r>
              <a:rPr lang="en-US" sz="1340" b="1" dirty="0">
                <a:solidFill>
                  <a:srgbClr val="14273D"/>
                </a:solidFill>
                <a:latin typeface="Inter Display" pitchFamily="34" charset="0"/>
                <a:ea typeface="Inter Display" pitchFamily="34" charset="-122"/>
                <a:cs typeface="Inter Display" pitchFamily="34" charset="-120"/>
              </a:rPr>
              <a:t>Bring a real objective, decision owner, source pack, and reviewer.</a:t>
            </a:r>
            <a:endParaRPr lang="en-US" sz="1340" dirty="0"/>
          </a:p>
        </p:txBody>
      </p:sp>
      <p:sp>
        <p:nvSpPr>
          <p:cNvPr id="33" name="Text 31"/>
          <p:cNvSpPr/>
          <p:nvPr/>
        </p:nvSpPr>
        <p:spPr>
          <a:xfrm>
            <a:off x="777240" y="2807208"/>
            <a:ext cx="3255264" cy="466344"/>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The role must create observable evidence—not just endorsement.</a:t>
            </a:r>
            <a:endParaRPr lang="en-US" sz="780" dirty="0"/>
          </a:p>
        </p:txBody>
      </p:sp>
      <p:sp>
        <p:nvSpPr>
          <p:cNvPr id="34" name="Shape 32"/>
          <p:cNvSpPr/>
          <p:nvPr/>
        </p:nvSpPr>
        <p:spPr>
          <a:xfrm>
            <a:off x="4443984" y="2148840"/>
            <a:ext cx="3566160" cy="1261872"/>
          </a:xfrm>
          <a:prstGeom prst="roundRect">
            <a:avLst>
              <a:gd name="adj" fmla="val 5797"/>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4599432" y="2276856"/>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DOMAIN VALIDATOR</a:t>
            </a:r>
            <a:endParaRPr lang="en-US" sz="680" dirty="0"/>
          </a:p>
        </p:txBody>
      </p:sp>
      <p:sp>
        <p:nvSpPr>
          <p:cNvPr id="36" name="Text 34"/>
          <p:cNvSpPr/>
          <p:nvPr/>
        </p:nvSpPr>
        <p:spPr>
          <a:xfrm>
            <a:off x="4599432" y="2404872"/>
            <a:ext cx="3255264" cy="329184"/>
          </a:xfrm>
          <a:prstGeom prst="rect">
            <a:avLst/>
          </a:prstGeom>
          <a:noFill/>
          <a:ln/>
        </p:spPr>
        <p:txBody>
          <a:bodyPr wrap="square" lIns="0" tIns="0" rIns="0" bIns="0" rtlCol="0" anchor="ctr">
            <a:normAutofit/>
          </a:bodyPr>
          <a:lstStyle/>
          <a:p>
            <a:pPr indent="0" marL="0">
              <a:buNone/>
            </a:pPr>
            <a:r>
              <a:rPr lang="en-US" sz="1340" b="1" dirty="0">
                <a:solidFill>
                  <a:srgbClr val="14273D"/>
                </a:solidFill>
                <a:latin typeface="Inter Display" pitchFamily="34" charset="0"/>
                <a:ea typeface="Inter Display" pitchFamily="34" charset="-122"/>
                <a:cs typeface="Inter Display" pitchFamily="34" charset="-120"/>
              </a:rPr>
              <a:t>Define evidence contracts, acceptance tests, and failure conditions.</a:t>
            </a:r>
            <a:endParaRPr lang="en-US" sz="1340" dirty="0"/>
          </a:p>
        </p:txBody>
      </p:sp>
      <p:sp>
        <p:nvSpPr>
          <p:cNvPr id="37" name="Text 35"/>
          <p:cNvSpPr/>
          <p:nvPr/>
        </p:nvSpPr>
        <p:spPr>
          <a:xfrm>
            <a:off x="4599432" y="2807208"/>
            <a:ext cx="3255264" cy="466344"/>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The role must create observable evidence—not just endorsement.</a:t>
            </a:r>
            <a:endParaRPr lang="en-US" sz="780" dirty="0"/>
          </a:p>
        </p:txBody>
      </p:sp>
      <p:sp>
        <p:nvSpPr>
          <p:cNvPr id="38" name="Shape 36"/>
          <p:cNvSpPr/>
          <p:nvPr/>
        </p:nvSpPr>
        <p:spPr>
          <a:xfrm>
            <a:off x="8266176" y="2148840"/>
            <a:ext cx="3566160" cy="1261872"/>
          </a:xfrm>
          <a:prstGeom prst="roundRect">
            <a:avLst>
              <a:gd name="adj" fmla="val 5797"/>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8421624" y="2276856"/>
            <a:ext cx="32552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AI / PLATFORM PARTNER</a:t>
            </a:r>
            <a:endParaRPr lang="en-US" sz="680" dirty="0"/>
          </a:p>
        </p:txBody>
      </p:sp>
      <p:sp>
        <p:nvSpPr>
          <p:cNvPr id="40" name="Text 38"/>
          <p:cNvSpPr/>
          <p:nvPr/>
        </p:nvSpPr>
        <p:spPr>
          <a:xfrm>
            <a:off x="8421624" y="2404872"/>
            <a:ext cx="3255264" cy="329184"/>
          </a:xfrm>
          <a:prstGeom prst="rect">
            <a:avLst/>
          </a:prstGeom>
          <a:noFill/>
          <a:ln/>
        </p:spPr>
        <p:txBody>
          <a:bodyPr wrap="square" lIns="0" tIns="0" rIns="0" bIns="0" rtlCol="0" anchor="ctr">
            <a:normAutofit/>
          </a:bodyPr>
          <a:lstStyle/>
          <a:p>
            <a:pPr indent="0" marL="0">
              <a:buNone/>
            </a:pPr>
            <a:r>
              <a:rPr lang="en-US" sz="1340" b="1" dirty="0">
                <a:solidFill>
                  <a:srgbClr val="14273D"/>
                </a:solidFill>
                <a:latin typeface="Inter Display" pitchFamily="34" charset="0"/>
                <a:ea typeface="Inter Display" pitchFamily="34" charset="-122"/>
                <a:cs typeface="Inter Display" pitchFamily="34" charset="-120"/>
              </a:rPr>
              <a:t>Supply models, tools, environments, and bounded execution lanes.</a:t>
            </a:r>
            <a:endParaRPr lang="en-US" sz="1340" dirty="0"/>
          </a:p>
        </p:txBody>
      </p:sp>
      <p:sp>
        <p:nvSpPr>
          <p:cNvPr id="41" name="Text 39"/>
          <p:cNvSpPr/>
          <p:nvPr/>
        </p:nvSpPr>
        <p:spPr>
          <a:xfrm>
            <a:off x="8421624" y="2807208"/>
            <a:ext cx="3255264" cy="466344"/>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The role must create observable evidence—not just endorsement.</a:t>
            </a:r>
            <a:endParaRPr lang="en-US" sz="780" dirty="0"/>
          </a:p>
        </p:txBody>
      </p:sp>
      <p:sp>
        <p:nvSpPr>
          <p:cNvPr id="42" name="Shape 40"/>
          <p:cNvSpPr/>
          <p:nvPr/>
        </p:nvSpPr>
        <p:spPr>
          <a:xfrm>
            <a:off x="621792" y="3685032"/>
            <a:ext cx="3566160" cy="1261872"/>
          </a:xfrm>
          <a:prstGeom prst="roundRect">
            <a:avLst>
              <a:gd name="adj" fmla="val 5797"/>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43" name="Text 41"/>
          <p:cNvSpPr/>
          <p:nvPr/>
        </p:nvSpPr>
        <p:spPr>
          <a:xfrm>
            <a:off x="777240" y="3813048"/>
            <a:ext cx="32552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SECURITY / GOVERNANCE PARTNER</a:t>
            </a:r>
            <a:endParaRPr lang="en-US" sz="680" dirty="0"/>
          </a:p>
        </p:txBody>
      </p:sp>
      <p:sp>
        <p:nvSpPr>
          <p:cNvPr id="44" name="Text 42"/>
          <p:cNvSpPr/>
          <p:nvPr/>
        </p:nvSpPr>
        <p:spPr>
          <a:xfrm>
            <a:off x="777240" y="3941064"/>
            <a:ext cx="3255264" cy="329184"/>
          </a:xfrm>
          <a:prstGeom prst="rect">
            <a:avLst/>
          </a:prstGeom>
          <a:noFill/>
          <a:ln/>
        </p:spPr>
        <p:txBody>
          <a:bodyPr wrap="square" lIns="0" tIns="0" rIns="0" bIns="0" rtlCol="0" anchor="ctr">
            <a:normAutofit/>
          </a:bodyPr>
          <a:lstStyle/>
          <a:p>
            <a:pPr indent="0" marL="0">
              <a:buNone/>
            </a:pPr>
            <a:r>
              <a:rPr lang="en-US" sz="1340" b="1" dirty="0">
                <a:solidFill>
                  <a:srgbClr val="14273D"/>
                </a:solidFill>
                <a:latin typeface="Inter Display" pitchFamily="34" charset="0"/>
                <a:ea typeface="Inter Display" pitchFamily="34" charset="-122"/>
                <a:cs typeface="Inter Display" pitchFamily="34" charset="-120"/>
              </a:rPr>
              <a:t>Adversarial review, privacy, authorization, challenge, rollback.</a:t>
            </a:r>
            <a:endParaRPr lang="en-US" sz="1340" dirty="0"/>
          </a:p>
        </p:txBody>
      </p:sp>
      <p:sp>
        <p:nvSpPr>
          <p:cNvPr id="45" name="Text 43"/>
          <p:cNvSpPr/>
          <p:nvPr/>
        </p:nvSpPr>
        <p:spPr>
          <a:xfrm>
            <a:off x="777240" y="4343400"/>
            <a:ext cx="3255264" cy="466344"/>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The role must create observable evidence—not just endorsement.</a:t>
            </a:r>
            <a:endParaRPr lang="en-US" sz="780" dirty="0"/>
          </a:p>
        </p:txBody>
      </p:sp>
      <p:sp>
        <p:nvSpPr>
          <p:cNvPr id="46" name="Shape 44"/>
          <p:cNvSpPr/>
          <p:nvPr/>
        </p:nvSpPr>
        <p:spPr>
          <a:xfrm>
            <a:off x="4443984" y="3685032"/>
            <a:ext cx="3566160" cy="1261872"/>
          </a:xfrm>
          <a:prstGeom prst="roundRect">
            <a:avLst>
              <a:gd name="adj" fmla="val 5797"/>
            </a:avLst>
          </a:prstGeom>
          <a:solidFill>
            <a:srgbClr val="FFFDF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47" name="Text 45"/>
          <p:cNvSpPr/>
          <p:nvPr/>
        </p:nvSpPr>
        <p:spPr>
          <a:xfrm>
            <a:off x="4599432" y="3813048"/>
            <a:ext cx="32552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PROTOCOL / INFRASTRUCTURE PARTNER</a:t>
            </a:r>
            <a:endParaRPr lang="en-US" sz="680" dirty="0"/>
          </a:p>
        </p:txBody>
      </p:sp>
      <p:sp>
        <p:nvSpPr>
          <p:cNvPr id="48" name="Text 46"/>
          <p:cNvSpPr/>
          <p:nvPr/>
        </p:nvSpPr>
        <p:spPr>
          <a:xfrm>
            <a:off x="4599432" y="3941064"/>
            <a:ext cx="3255264" cy="329184"/>
          </a:xfrm>
          <a:prstGeom prst="rect">
            <a:avLst/>
          </a:prstGeom>
          <a:noFill/>
          <a:ln/>
        </p:spPr>
        <p:txBody>
          <a:bodyPr wrap="square" lIns="0" tIns="0" rIns="0" bIns="0" rtlCol="0" anchor="ctr">
            <a:normAutofit/>
          </a:bodyPr>
          <a:lstStyle/>
          <a:p>
            <a:pPr indent="0" marL="0">
              <a:buNone/>
            </a:pPr>
            <a:r>
              <a:rPr lang="en-US" sz="1340" b="1" dirty="0">
                <a:solidFill>
                  <a:srgbClr val="14273D"/>
                </a:solidFill>
                <a:latin typeface="Inter Display" pitchFamily="34" charset="0"/>
                <a:ea typeface="Inter Display" pitchFamily="34" charset="-122"/>
                <a:cs typeface="Inter Display" pitchFamily="34" charset="-120"/>
              </a:rPr>
              <a:t>Nodes, identity, roots, storage, replay, observability, contracts.</a:t>
            </a:r>
            <a:endParaRPr lang="en-US" sz="1340" dirty="0"/>
          </a:p>
        </p:txBody>
      </p:sp>
      <p:sp>
        <p:nvSpPr>
          <p:cNvPr id="49" name="Text 47"/>
          <p:cNvSpPr/>
          <p:nvPr/>
        </p:nvSpPr>
        <p:spPr>
          <a:xfrm>
            <a:off x="4599432" y="4343400"/>
            <a:ext cx="3255264" cy="466344"/>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The role must create observable evidence—not just endorsement.</a:t>
            </a:r>
            <a:endParaRPr lang="en-US" sz="780" dirty="0"/>
          </a:p>
        </p:txBody>
      </p:sp>
      <p:sp>
        <p:nvSpPr>
          <p:cNvPr id="50" name="Shape 48"/>
          <p:cNvSpPr/>
          <p:nvPr/>
        </p:nvSpPr>
        <p:spPr>
          <a:xfrm>
            <a:off x="8266176" y="3685032"/>
            <a:ext cx="3566160" cy="1261872"/>
          </a:xfrm>
          <a:prstGeom prst="roundRect">
            <a:avLst>
              <a:gd name="adj" fmla="val 5797"/>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51" name="Text 49"/>
          <p:cNvSpPr/>
          <p:nvPr/>
        </p:nvSpPr>
        <p:spPr>
          <a:xfrm>
            <a:off x="8421624" y="3813048"/>
            <a:ext cx="325526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CAPITAL / STRATEGIC PARTNER</a:t>
            </a:r>
            <a:endParaRPr lang="en-US" sz="680" dirty="0"/>
          </a:p>
        </p:txBody>
      </p:sp>
      <p:sp>
        <p:nvSpPr>
          <p:cNvPr id="52" name="Text 50"/>
          <p:cNvSpPr/>
          <p:nvPr/>
        </p:nvSpPr>
        <p:spPr>
          <a:xfrm>
            <a:off x="8421624" y="3941064"/>
            <a:ext cx="3255264" cy="329184"/>
          </a:xfrm>
          <a:prstGeom prst="rect">
            <a:avLst/>
          </a:prstGeom>
          <a:noFill/>
          <a:ln/>
        </p:spPr>
        <p:txBody>
          <a:bodyPr wrap="square" lIns="0" tIns="0" rIns="0" bIns="0" rtlCol="0" anchor="ctr">
            <a:normAutofit/>
          </a:bodyPr>
          <a:lstStyle/>
          <a:p>
            <a:pPr indent="0" marL="0">
              <a:buNone/>
            </a:pPr>
            <a:r>
              <a:rPr lang="en-US" sz="1340" b="1" dirty="0">
                <a:solidFill>
                  <a:srgbClr val="14273D"/>
                </a:solidFill>
                <a:latin typeface="Inter Display" pitchFamily="34" charset="0"/>
                <a:ea typeface="Inter Display" pitchFamily="34" charset="-122"/>
                <a:cs typeface="Inter Display" pitchFamily="34" charset="-120"/>
              </a:rPr>
              <a:t>Fund proof missions, capacity, market development, and scaling evidence.</a:t>
            </a:r>
            <a:endParaRPr lang="en-US" sz="1340" dirty="0"/>
          </a:p>
        </p:txBody>
      </p:sp>
      <p:sp>
        <p:nvSpPr>
          <p:cNvPr id="53" name="Text 51"/>
          <p:cNvSpPr/>
          <p:nvPr/>
        </p:nvSpPr>
        <p:spPr>
          <a:xfrm>
            <a:off x="8421624" y="4343400"/>
            <a:ext cx="3255264" cy="466344"/>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The role must create observable evidence—not just endorsement.</a:t>
            </a:r>
            <a:endParaRPr lang="en-US" sz="780" dirty="0"/>
          </a:p>
        </p:txBody>
      </p:sp>
      <p:sp>
        <p:nvSpPr>
          <p:cNvPr id="54" name="Text 52"/>
          <p:cNvSpPr/>
          <p:nvPr/>
        </p:nvSpPr>
        <p:spPr>
          <a:xfrm>
            <a:off x="1097280" y="5468112"/>
            <a:ext cx="9966960" cy="329184"/>
          </a:xfrm>
          <a:prstGeom prst="rect">
            <a:avLst/>
          </a:prstGeom>
          <a:noFill/>
          <a:ln/>
        </p:spPr>
        <p:txBody>
          <a:bodyPr wrap="square" lIns="0" tIns="0" rIns="0" bIns="0" rtlCol="0" anchor="ctr"/>
          <a:lstStyle/>
          <a:p>
            <a:pPr algn="ctr" indent="0" marL="0">
              <a:buNone/>
            </a:pPr>
            <a:r>
              <a:rPr lang="en-US" sz="1080" b="1" dirty="0">
                <a:solidFill>
                  <a:srgbClr val="14273D"/>
                </a:solidFill>
                <a:latin typeface="Inter" pitchFamily="34" charset="0"/>
                <a:ea typeface="Inter" pitchFamily="34" charset="-122"/>
                <a:cs typeface="Inter" pitchFamily="34" charset="-120"/>
              </a:rPr>
              <a:t>One partner may occupy several roles, but validator independence and conflict boundaries remain explicit.</a:t>
            </a:r>
            <a:endParaRPr lang="en-US" sz="108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CURRENT EVIDENCE STATUS</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Local reference implementation evidence · external validation pending</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Honest maturity is a strength.</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architecture and local reference implementation are substantial; stronger empirical and production claims remain gated.</a:t>
            </a:r>
            <a:endParaRPr lang="en-US" sz="1450" dirty="0"/>
          </a:p>
        </p:txBody>
      </p:sp>
      <p:sp>
        <p:nvSpPr>
          <p:cNvPr id="30" name="Text 28"/>
          <p:cNvSpPr/>
          <p:nvPr/>
        </p:nvSpPr>
        <p:spPr>
          <a:xfrm>
            <a:off x="777240" y="2057400"/>
            <a:ext cx="5120640" cy="155448"/>
          </a:xfrm>
          <a:prstGeom prst="rect">
            <a:avLst/>
          </a:prstGeom>
          <a:noFill/>
          <a:ln/>
        </p:spPr>
        <p:txBody>
          <a:bodyPr wrap="square" lIns="0" tIns="0" rIns="0" bIns="0" rtlCol="0" anchor="ctr"/>
          <a:lstStyle/>
          <a:p>
            <a:pPr indent="0" marL="0">
              <a:buNone/>
            </a:pPr>
            <a:r>
              <a:rPr lang="en-US" sz="850" dirty="0">
                <a:solidFill>
                  <a:srgbClr val="B9C5D2"/>
                </a:solidFill>
                <a:latin typeface="Inter" pitchFamily="34" charset="0"/>
                <a:ea typeface="Inter" pitchFamily="34" charset="-122"/>
                <a:cs typeface="Inter" pitchFamily="34" charset="-120"/>
              </a:rPr>
              <a:t>Specified architecture</a:t>
            </a:r>
            <a:endParaRPr lang="en-US" sz="850" dirty="0"/>
          </a:p>
        </p:txBody>
      </p:sp>
      <p:sp>
        <p:nvSpPr>
          <p:cNvPr id="31" name="Shape 29"/>
          <p:cNvSpPr/>
          <p:nvPr/>
        </p:nvSpPr>
        <p:spPr>
          <a:xfrm>
            <a:off x="6035040" y="1965960"/>
            <a:ext cx="1874520" cy="329184"/>
          </a:xfrm>
          <a:prstGeom prst="roundRect">
            <a:avLst>
              <a:gd name="adj" fmla="val 22222"/>
            </a:avLst>
          </a:prstGeom>
          <a:solidFill>
            <a:srgbClr val="43D79B">
              <a:alpha val="16000"/>
            </a:srgbClr>
          </a:solidFill>
          <a:ln w="10160">
            <a:solidFill>
              <a:srgbClr val="43D79B"/>
            </a:solidFill>
            <a:prstDash val="solid"/>
          </a:ln>
        </p:spPr>
      </p:sp>
      <p:sp>
        <p:nvSpPr>
          <p:cNvPr id="32" name="Text 30"/>
          <p:cNvSpPr/>
          <p:nvPr/>
        </p:nvSpPr>
        <p:spPr>
          <a:xfrm>
            <a:off x="6144768" y="2066544"/>
            <a:ext cx="1655064" cy="91440"/>
          </a:xfrm>
          <a:prstGeom prst="rect">
            <a:avLst/>
          </a:prstGeom>
          <a:noFill/>
          <a:ln/>
        </p:spPr>
        <p:txBody>
          <a:bodyPr wrap="square" lIns="0" tIns="0" rIns="0" bIns="0" rtlCol="0" anchor="ctr"/>
          <a:lstStyle/>
          <a:p>
            <a:pPr algn="ctr" indent="0" marL="0">
              <a:buNone/>
            </a:pPr>
            <a:r>
              <a:rPr lang="en-US" sz="680" b="1" dirty="0">
                <a:solidFill>
                  <a:srgbClr val="43D79B"/>
                </a:solidFill>
                <a:latin typeface="Inter" pitchFamily="34" charset="0"/>
                <a:ea typeface="Inter" pitchFamily="34" charset="-122"/>
                <a:cs typeface="Inter" pitchFamily="34" charset="-120"/>
              </a:rPr>
              <a:t>ACHIEVED</a:t>
            </a:r>
            <a:endParaRPr lang="en-US" sz="680" dirty="0"/>
          </a:p>
        </p:txBody>
      </p:sp>
      <p:sp>
        <p:nvSpPr>
          <p:cNvPr id="33" name="Shape 31"/>
          <p:cNvSpPr/>
          <p:nvPr/>
        </p:nvSpPr>
        <p:spPr>
          <a:xfrm>
            <a:off x="8138160" y="2130552"/>
            <a:ext cx="3154680" cy="0"/>
          </a:xfrm>
          <a:prstGeom prst="line">
            <a:avLst/>
          </a:prstGeom>
          <a:noFill/>
          <a:ln w="25400">
            <a:solidFill>
              <a:srgbClr val="43D79B">
                <a:alpha val="80000"/>
              </a:srgbClr>
            </a:solidFill>
            <a:prstDash val="solid"/>
          </a:ln>
        </p:spPr>
      </p:sp>
      <p:sp>
        <p:nvSpPr>
          <p:cNvPr id="34" name="Text 32"/>
          <p:cNvSpPr/>
          <p:nvPr/>
        </p:nvSpPr>
        <p:spPr>
          <a:xfrm>
            <a:off x="777240" y="2569464"/>
            <a:ext cx="5120640" cy="155448"/>
          </a:xfrm>
          <a:prstGeom prst="rect">
            <a:avLst/>
          </a:prstGeom>
          <a:noFill/>
          <a:ln/>
        </p:spPr>
        <p:txBody>
          <a:bodyPr wrap="square" lIns="0" tIns="0" rIns="0" bIns="0" rtlCol="0" anchor="ctr"/>
          <a:lstStyle/>
          <a:p>
            <a:pPr indent="0" marL="0">
              <a:buNone/>
            </a:pPr>
            <a:r>
              <a:rPr lang="en-US" sz="850" dirty="0">
                <a:solidFill>
                  <a:srgbClr val="B9C5D2"/>
                </a:solidFill>
                <a:latin typeface="Inter" pitchFamily="34" charset="0"/>
                <a:ea typeface="Inter" pitchFamily="34" charset="-122"/>
                <a:cs typeface="Inter" pitchFamily="34" charset="-120"/>
              </a:rPr>
              <a:t>Local reference implementation</a:t>
            </a:r>
            <a:endParaRPr lang="en-US" sz="850" dirty="0"/>
          </a:p>
        </p:txBody>
      </p:sp>
      <p:sp>
        <p:nvSpPr>
          <p:cNvPr id="35" name="Shape 33"/>
          <p:cNvSpPr/>
          <p:nvPr/>
        </p:nvSpPr>
        <p:spPr>
          <a:xfrm>
            <a:off x="6035040" y="2478024"/>
            <a:ext cx="1874520" cy="329184"/>
          </a:xfrm>
          <a:prstGeom prst="roundRect">
            <a:avLst>
              <a:gd name="adj" fmla="val 22222"/>
            </a:avLst>
          </a:prstGeom>
          <a:solidFill>
            <a:srgbClr val="43D79B">
              <a:alpha val="16000"/>
            </a:srgbClr>
          </a:solidFill>
          <a:ln w="10160">
            <a:solidFill>
              <a:srgbClr val="43D79B"/>
            </a:solidFill>
            <a:prstDash val="solid"/>
          </a:ln>
        </p:spPr>
      </p:sp>
      <p:sp>
        <p:nvSpPr>
          <p:cNvPr id="36" name="Text 34"/>
          <p:cNvSpPr/>
          <p:nvPr/>
        </p:nvSpPr>
        <p:spPr>
          <a:xfrm>
            <a:off x="6144768" y="2578608"/>
            <a:ext cx="1655064" cy="91440"/>
          </a:xfrm>
          <a:prstGeom prst="rect">
            <a:avLst/>
          </a:prstGeom>
          <a:noFill/>
          <a:ln/>
        </p:spPr>
        <p:txBody>
          <a:bodyPr wrap="square" lIns="0" tIns="0" rIns="0" bIns="0" rtlCol="0" anchor="ctr"/>
          <a:lstStyle/>
          <a:p>
            <a:pPr algn="ctr" indent="0" marL="0">
              <a:buNone/>
            </a:pPr>
            <a:r>
              <a:rPr lang="en-US" sz="680" b="1" dirty="0">
                <a:solidFill>
                  <a:srgbClr val="43D79B"/>
                </a:solidFill>
                <a:latin typeface="Inter" pitchFamily="34" charset="0"/>
                <a:ea typeface="Inter" pitchFamily="34" charset="-122"/>
                <a:cs typeface="Inter" pitchFamily="34" charset="-120"/>
              </a:rPr>
              <a:t>ACHIEVED</a:t>
            </a:r>
            <a:endParaRPr lang="en-US" sz="680" dirty="0"/>
          </a:p>
        </p:txBody>
      </p:sp>
      <p:sp>
        <p:nvSpPr>
          <p:cNvPr id="37" name="Shape 35"/>
          <p:cNvSpPr/>
          <p:nvPr/>
        </p:nvSpPr>
        <p:spPr>
          <a:xfrm>
            <a:off x="8138160" y="2642616"/>
            <a:ext cx="3154680" cy="0"/>
          </a:xfrm>
          <a:prstGeom prst="line">
            <a:avLst/>
          </a:prstGeom>
          <a:noFill/>
          <a:ln w="25400">
            <a:solidFill>
              <a:srgbClr val="43D79B">
                <a:alpha val="80000"/>
              </a:srgbClr>
            </a:solidFill>
            <a:prstDash val="solid"/>
          </a:ln>
        </p:spPr>
      </p:sp>
      <p:sp>
        <p:nvSpPr>
          <p:cNvPr id="38" name="Text 36"/>
          <p:cNvSpPr/>
          <p:nvPr/>
        </p:nvSpPr>
        <p:spPr>
          <a:xfrm>
            <a:off x="777240" y="3081528"/>
            <a:ext cx="5120640" cy="155448"/>
          </a:xfrm>
          <a:prstGeom prst="rect">
            <a:avLst/>
          </a:prstGeom>
          <a:noFill/>
          <a:ln/>
        </p:spPr>
        <p:txBody>
          <a:bodyPr wrap="square" lIns="0" tIns="0" rIns="0" bIns="0" rtlCol="0" anchor="ctr"/>
          <a:lstStyle/>
          <a:p>
            <a:pPr indent="0" marL="0">
              <a:buNone/>
            </a:pPr>
            <a:r>
              <a:rPr lang="en-US" sz="850" dirty="0">
                <a:solidFill>
                  <a:srgbClr val="B9C5D2"/>
                </a:solidFill>
                <a:latin typeface="Inter" pitchFamily="34" charset="0"/>
                <a:ea typeface="Inter" pitchFamily="34" charset="-122"/>
                <a:cs typeface="Inter" pitchFamily="34" charset="-120"/>
              </a:rPr>
              <a:t>Unit / property / E2E / security gates</a:t>
            </a:r>
            <a:endParaRPr lang="en-US" sz="850" dirty="0"/>
          </a:p>
        </p:txBody>
      </p:sp>
      <p:sp>
        <p:nvSpPr>
          <p:cNvPr id="39" name="Shape 37"/>
          <p:cNvSpPr/>
          <p:nvPr/>
        </p:nvSpPr>
        <p:spPr>
          <a:xfrm>
            <a:off x="6035040" y="2990088"/>
            <a:ext cx="1874520" cy="329184"/>
          </a:xfrm>
          <a:prstGeom prst="roundRect">
            <a:avLst>
              <a:gd name="adj" fmla="val 22222"/>
            </a:avLst>
          </a:prstGeom>
          <a:solidFill>
            <a:srgbClr val="43D79B">
              <a:alpha val="16000"/>
            </a:srgbClr>
          </a:solidFill>
          <a:ln w="10160">
            <a:solidFill>
              <a:srgbClr val="43D79B"/>
            </a:solidFill>
            <a:prstDash val="solid"/>
          </a:ln>
        </p:spPr>
      </p:sp>
      <p:sp>
        <p:nvSpPr>
          <p:cNvPr id="40" name="Text 38"/>
          <p:cNvSpPr/>
          <p:nvPr/>
        </p:nvSpPr>
        <p:spPr>
          <a:xfrm>
            <a:off x="6144768" y="3090672"/>
            <a:ext cx="1655064" cy="91440"/>
          </a:xfrm>
          <a:prstGeom prst="rect">
            <a:avLst/>
          </a:prstGeom>
          <a:noFill/>
          <a:ln/>
        </p:spPr>
        <p:txBody>
          <a:bodyPr wrap="square" lIns="0" tIns="0" rIns="0" bIns="0" rtlCol="0" anchor="ctr"/>
          <a:lstStyle/>
          <a:p>
            <a:pPr algn="ctr" indent="0" marL="0">
              <a:buNone/>
            </a:pPr>
            <a:r>
              <a:rPr lang="en-US" sz="680" b="1" dirty="0">
                <a:solidFill>
                  <a:srgbClr val="43D79B"/>
                </a:solidFill>
                <a:latin typeface="Inter" pitchFamily="34" charset="0"/>
                <a:ea typeface="Inter" pitchFamily="34" charset="-122"/>
                <a:cs typeface="Inter" pitchFamily="34" charset="-120"/>
              </a:rPr>
              <a:t>LOCAL PASS</a:t>
            </a:r>
            <a:endParaRPr lang="en-US" sz="680" dirty="0"/>
          </a:p>
        </p:txBody>
      </p:sp>
      <p:sp>
        <p:nvSpPr>
          <p:cNvPr id="41" name="Shape 39"/>
          <p:cNvSpPr/>
          <p:nvPr/>
        </p:nvSpPr>
        <p:spPr>
          <a:xfrm>
            <a:off x="8138160" y="3154680"/>
            <a:ext cx="3154680" cy="0"/>
          </a:xfrm>
          <a:prstGeom prst="line">
            <a:avLst/>
          </a:prstGeom>
          <a:noFill/>
          <a:ln w="25400">
            <a:solidFill>
              <a:srgbClr val="43D79B">
                <a:alpha val="80000"/>
              </a:srgbClr>
            </a:solidFill>
            <a:prstDash val="solid"/>
          </a:ln>
        </p:spPr>
      </p:sp>
      <p:sp>
        <p:nvSpPr>
          <p:cNvPr id="42" name="Text 40"/>
          <p:cNvSpPr/>
          <p:nvPr/>
        </p:nvSpPr>
        <p:spPr>
          <a:xfrm>
            <a:off x="777240" y="3593592"/>
            <a:ext cx="5120640" cy="155448"/>
          </a:xfrm>
          <a:prstGeom prst="rect">
            <a:avLst/>
          </a:prstGeom>
          <a:noFill/>
          <a:ln/>
        </p:spPr>
        <p:txBody>
          <a:bodyPr wrap="square" lIns="0" tIns="0" rIns="0" bIns="0" rtlCol="0" anchor="ctr"/>
          <a:lstStyle/>
          <a:p>
            <a:pPr indent="0" marL="0">
              <a:buNone/>
            </a:pPr>
            <a:r>
              <a:rPr lang="en-US" sz="850" dirty="0">
                <a:solidFill>
                  <a:srgbClr val="B9C5D2"/>
                </a:solidFill>
                <a:latin typeface="Inter" pitchFamily="34" charset="0"/>
                <a:ea typeface="Inter" pitchFamily="34" charset="-122"/>
                <a:cs typeface="Inter" pitchFamily="34" charset="-120"/>
              </a:rPr>
              <a:t>Synthetic deterministic COMP-001</a:t>
            </a:r>
            <a:endParaRPr lang="en-US" sz="850" dirty="0"/>
          </a:p>
        </p:txBody>
      </p:sp>
      <p:sp>
        <p:nvSpPr>
          <p:cNvPr id="43" name="Shape 41"/>
          <p:cNvSpPr/>
          <p:nvPr/>
        </p:nvSpPr>
        <p:spPr>
          <a:xfrm>
            <a:off x="6035040" y="3502152"/>
            <a:ext cx="1874520" cy="329184"/>
          </a:xfrm>
          <a:prstGeom prst="roundRect">
            <a:avLst>
              <a:gd name="adj" fmla="val 22222"/>
            </a:avLst>
          </a:prstGeom>
          <a:solidFill>
            <a:srgbClr val="54D6D0">
              <a:alpha val="16000"/>
            </a:srgbClr>
          </a:solidFill>
          <a:ln w="10160">
            <a:solidFill>
              <a:srgbClr val="54D6D0"/>
            </a:solidFill>
            <a:prstDash val="solid"/>
          </a:ln>
        </p:spPr>
      </p:sp>
      <p:sp>
        <p:nvSpPr>
          <p:cNvPr id="44" name="Text 42"/>
          <p:cNvSpPr/>
          <p:nvPr/>
        </p:nvSpPr>
        <p:spPr>
          <a:xfrm>
            <a:off x="6144768" y="3602736"/>
            <a:ext cx="1655064" cy="91440"/>
          </a:xfrm>
          <a:prstGeom prst="rect">
            <a:avLst/>
          </a:prstGeom>
          <a:noFill/>
          <a:ln/>
        </p:spPr>
        <p:txBody>
          <a:bodyPr wrap="square" lIns="0" tIns="0" rIns="0" bIns="0" rtlCol="0" anchor="ctr"/>
          <a:lstStyle/>
          <a:p>
            <a:pPr algn="ctr" indent="0" marL="0">
              <a:buNone/>
            </a:pPr>
            <a:r>
              <a:rPr lang="en-US" sz="680" b="1" dirty="0">
                <a:solidFill>
                  <a:srgbClr val="54D6D0"/>
                </a:solidFill>
                <a:latin typeface="Inter" pitchFamily="34" charset="0"/>
                <a:ea typeface="Inter" pitchFamily="34" charset="-122"/>
                <a:cs typeface="Inter" pitchFamily="34" charset="-120"/>
              </a:rPr>
              <a:t>LOCAL PASS</a:t>
            </a:r>
            <a:endParaRPr lang="en-US" sz="680" dirty="0"/>
          </a:p>
        </p:txBody>
      </p:sp>
      <p:sp>
        <p:nvSpPr>
          <p:cNvPr id="45" name="Shape 43"/>
          <p:cNvSpPr/>
          <p:nvPr/>
        </p:nvSpPr>
        <p:spPr>
          <a:xfrm>
            <a:off x="8138160" y="3666744"/>
            <a:ext cx="3154680" cy="0"/>
          </a:xfrm>
          <a:prstGeom prst="line">
            <a:avLst/>
          </a:prstGeom>
          <a:noFill/>
          <a:ln w="25400">
            <a:solidFill>
              <a:srgbClr val="54D6D0">
                <a:alpha val="80000"/>
              </a:srgbClr>
            </a:solidFill>
            <a:prstDash val="solid"/>
          </a:ln>
        </p:spPr>
      </p:sp>
      <p:sp>
        <p:nvSpPr>
          <p:cNvPr id="46" name="Text 44"/>
          <p:cNvSpPr/>
          <p:nvPr/>
        </p:nvSpPr>
        <p:spPr>
          <a:xfrm>
            <a:off x="777240" y="4105656"/>
            <a:ext cx="5120640" cy="155448"/>
          </a:xfrm>
          <a:prstGeom prst="rect">
            <a:avLst/>
          </a:prstGeom>
          <a:noFill/>
          <a:ln/>
        </p:spPr>
        <p:txBody>
          <a:bodyPr wrap="square" lIns="0" tIns="0" rIns="0" bIns="0" rtlCol="0" anchor="ctr"/>
          <a:lstStyle/>
          <a:p>
            <a:pPr indent="0" marL="0">
              <a:buNone/>
            </a:pPr>
            <a:r>
              <a:rPr lang="en-US" sz="850" dirty="0">
                <a:solidFill>
                  <a:srgbClr val="B9C5D2"/>
                </a:solidFill>
                <a:latin typeface="Inter" pitchFamily="34" charset="0"/>
                <a:ea typeface="Inter" pitchFamily="34" charset="-122"/>
                <a:cs typeface="Inter" pitchFamily="34" charset="-120"/>
              </a:rPr>
              <a:t>External reviewer replay</a:t>
            </a:r>
            <a:endParaRPr lang="en-US" sz="850" dirty="0"/>
          </a:p>
        </p:txBody>
      </p:sp>
      <p:sp>
        <p:nvSpPr>
          <p:cNvPr id="47" name="Shape 45"/>
          <p:cNvSpPr/>
          <p:nvPr/>
        </p:nvSpPr>
        <p:spPr>
          <a:xfrm>
            <a:off x="6035040" y="4014216"/>
            <a:ext cx="1874520" cy="329184"/>
          </a:xfrm>
          <a:prstGeom prst="roundRect">
            <a:avLst>
              <a:gd name="adj" fmla="val 22222"/>
            </a:avLst>
          </a:prstGeom>
          <a:solidFill>
            <a:srgbClr val="F5C46B">
              <a:alpha val="16000"/>
            </a:srgbClr>
          </a:solidFill>
          <a:ln w="10160">
            <a:solidFill>
              <a:srgbClr val="F5C46B"/>
            </a:solidFill>
            <a:prstDash val="solid"/>
          </a:ln>
        </p:spPr>
      </p:sp>
      <p:sp>
        <p:nvSpPr>
          <p:cNvPr id="48" name="Text 46"/>
          <p:cNvSpPr/>
          <p:nvPr/>
        </p:nvSpPr>
        <p:spPr>
          <a:xfrm>
            <a:off x="6144768" y="4114800"/>
            <a:ext cx="1655064" cy="91440"/>
          </a:xfrm>
          <a:prstGeom prst="rect">
            <a:avLst/>
          </a:prstGeom>
          <a:noFill/>
          <a:ln/>
        </p:spPr>
        <p:txBody>
          <a:bodyPr wrap="square" lIns="0" tIns="0" rIns="0" bIns="0" rtlCol="0" anchor="ctr"/>
          <a:lstStyle/>
          <a:p>
            <a:pPr algn="ctr" indent="0" marL="0">
              <a:buNone/>
            </a:pPr>
            <a:r>
              <a:rPr lang="en-US" sz="680" b="1" dirty="0">
                <a:solidFill>
                  <a:srgbClr val="F5C46B"/>
                </a:solidFill>
                <a:latin typeface="Inter" pitchFamily="34" charset="0"/>
                <a:ea typeface="Inter" pitchFamily="34" charset="-122"/>
                <a:cs typeface="Inter" pitchFamily="34" charset="-120"/>
              </a:rPr>
              <a:t>PENDING</a:t>
            </a:r>
            <a:endParaRPr lang="en-US" sz="680" dirty="0"/>
          </a:p>
        </p:txBody>
      </p:sp>
      <p:sp>
        <p:nvSpPr>
          <p:cNvPr id="49" name="Shape 47"/>
          <p:cNvSpPr/>
          <p:nvPr/>
        </p:nvSpPr>
        <p:spPr>
          <a:xfrm>
            <a:off x="8138160" y="4178808"/>
            <a:ext cx="3154680" cy="0"/>
          </a:xfrm>
          <a:prstGeom prst="line">
            <a:avLst/>
          </a:prstGeom>
          <a:noFill/>
          <a:ln w="25400">
            <a:solidFill>
              <a:srgbClr val="F5C46B">
                <a:alpha val="80000"/>
              </a:srgbClr>
            </a:solidFill>
            <a:prstDash val="solid"/>
          </a:ln>
        </p:spPr>
      </p:sp>
      <p:sp>
        <p:nvSpPr>
          <p:cNvPr id="50" name="Text 48"/>
          <p:cNvSpPr/>
          <p:nvPr/>
        </p:nvSpPr>
        <p:spPr>
          <a:xfrm>
            <a:off x="777240" y="4617720"/>
            <a:ext cx="5120640" cy="155448"/>
          </a:xfrm>
          <a:prstGeom prst="rect">
            <a:avLst/>
          </a:prstGeom>
          <a:noFill/>
          <a:ln/>
        </p:spPr>
        <p:txBody>
          <a:bodyPr wrap="square" lIns="0" tIns="0" rIns="0" bIns="0" rtlCol="0" anchor="ctr"/>
          <a:lstStyle/>
          <a:p>
            <a:pPr indent="0" marL="0">
              <a:buNone/>
            </a:pPr>
            <a:r>
              <a:rPr lang="en-US" sz="850" dirty="0">
                <a:solidFill>
                  <a:srgbClr val="B9C5D2"/>
                </a:solidFill>
                <a:latin typeface="Inter" pitchFamily="34" charset="0"/>
                <a:ea typeface="Inter" pitchFamily="34" charset="-122"/>
                <a:cs typeface="Inter" pitchFamily="34" charset="-120"/>
              </a:rPr>
              <a:t>Real task portfolio proof</a:t>
            </a:r>
            <a:endParaRPr lang="en-US" sz="850" dirty="0"/>
          </a:p>
        </p:txBody>
      </p:sp>
      <p:sp>
        <p:nvSpPr>
          <p:cNvPr id="51" name="Shape 49"/>
          <p:cNvSpPr/>
          <p:nvPr/>
        </p:nvSpPr>
        <p:spPr>
          <a:xfrm>
            <a:off x="6035040" y="4526280"/>
            <a:ext cx="1874520" cy="329184"/>
          </a:xfrm>
          <a:prstGeom prst="roundRect">
            <a:avLst>
              <a:gd name="adj" fmla="val 22222"/>
            </a:avLst>
          </a:prstGeom>
          <a:solidFill>
            <a:srgbClr val="F5C46B">
              <a:alpha val="16000"/>
            </a:srgbClr>
          </a:solidFill>
          <a:ln w="10160">
            <a:solidFill>
              <a:srgbClr val="F5C46B"/>
            </a:solidFill>
            <a:prstDash val="solid"/>
          </a:ln>
        </p:spPr>
      </p:sp>
      <p:sp>
        <p:nvSpPr>
          <p:cNvPr id="52" name="Text 50"/>
          <p:cNvSpPr/>
          <p:nvPr/>
        </p:nvSpPr>
        <p:spPr>
          <a:xfrm>
            <a:off x="6144768" y="4626864"/>
            <a:ext cx="1655064" cy="91440"/>
          </a:xfrm>
          <a:prstGeom prst="rect">
            <a:avLst/>
          </a:prstGeom>
          <a:noFill/>
          <a:ln/>
        </p:spPr>
        <p:txBody>
          <a:bodyPr wrap="square" lIns="0" tIns="0" rIns="0" bIns="0" rtlCol="0" anchor="ctr"/>
          <a:lstStyle/>
          <a:p>
            <a:pPr algn="ctr" indent="0" marL="0">
              <a:buNone/>
            </a:pPr>
            <a:r>
              <a:rPr lang="en-US" sz="680" b="1" dirty="0">
                <a:solidFill>
                  <a:srgbClr val="F5C46B"/>
                </a:solidFill>
                <a:latin typeface="Inter" pitchFamily="34" charset="0"/>
                <a:ea typeface="Inter" pitchFamily="34" charset="-122"/>
                <a:cs typeface="Inter" pitchFamily="34" charset="-120"/>
              </a:rPr>
              <a:t>PENDING</a:t>
            </a:r>
            <a:endParaRPr lang="en-US" sz="680" dirty="0"/>
          </a:p>
        </p:txBody>
      </p:sp>
      <p:sp>
        <p:nvSpPr>
          <p:cNvPr id="53" name="Shape 51"/>
          <p:cNvSpPr/>
          <p:nvPr/>
        </p:nvSpPr>
        <p:spPr>
          <a:xfrm>
            <a:off x="8138160" y="4690872"/>
            <a:ext cx="3154680" cy="0"/>
          </a:xfrm>
          <a:prstGeom prst="line">
            <a:avLst/>
          </a:prstGeom>
          <a:noFill/>
          <a:ln w="25400">
            <a:solidFill>
              <a:srgbClr val="F5C46B">
                <a:alpha val="80000"/>
              </a:srgbClr>
            </a:solidFill>
            <a:prstDash val="solid"/>
          </a:ln>
        </p:spPr>
      </p:sp>
      <p:sp>
        <p:nvSpPr>
          <p:cNvPr id="54" name="Text 52"/>
          <p:cNvSpPr/>
          <p:nvPr/>
        </p:nvSpPr>
        <p:spPr>
          <a:xfrm>
            <a:off x="777240" y="5129784"/>
            <a:ext cx="5120640" cy="155448"/>
          </a:xfrm>
          <a:prstGeom prst="rect">
            <a:avLst/>
          </a:prstGeom>
          <a:noFill/>
          <a:ln/>
        </p:spPr>
        <p:txBody>
          <a:bodyPr wrap="square" lIns="0" tIns="0" rIns="0" bIns="0" rtlCol="0" anchor="ctr"/>
          <a:lstStyle/>
          <a:p>
            <a:pPr indent="0" marL="0">
              <a:buNone/>
            </a:pPr>
            <a:r>
              <a:rPr lang="en-US" sz="850" dirty="0">
                <a:solidFill>
                  <a:srgbClr val="B9C5D2"/>
                </a:solidFill>
                <a:latin typeface="Inter" pitchFamily="34" charset="0"/>
                <a:ea typeface="Inter" pitchFamily="34" charset="-122"/>
                <a:cs typeface="Inter" pitchFamily="34" charset="-120"/>
              </a:rPr>
              <a:t>Production authorization / Mainnet</a:t>
            </a:r>
            <a:endParaRPr lang="en-US" sz="850" dirty="0"/>
          </a:p>
        </p:txBody>
      </p:sp>
      <p:sp>
        <p:nvSpPr>
          <p:cNvPr id="55" name="Shape 53"/>
          <p:cNvSpPr/>
          <p:nvPr/>
        </p:nvSpPr>
        <p:spPr>
          <a:xfrm>
            <a:off x="6035040" y="5038344"/>
            <a:ext cx="1874520" cy="329184"/>
          </a:xfrm>
          <a:prstGeom prst="roundRect">
            <a:avLst>
              <a:gd name="adj" fmla="val 22222"/>
            </a:avLst>
          </a:prstGeom>
          <a:solidFill>
            <a:srgbClr val="FF7584">
              <a:alpha val="16000"/>
            </a:srgbClr>
          </a:solidFill>
          <a:ln w="10160">
            <a:solidFill>
              <a:srgbClr val="FF7584"/>
            </a:solidFill>
            <a:prstDash val="solid"/>
          </a:ln>
        </p:spPr>
      </p:sp>
      <p:sp>
        <p:nvSpPr>
          <p:cNvPr id="56" name="Text 54"/>
          <p:cNvSpPr/>
          <p:nvPr/>
        </p:nvSpPr>
        <p:spPr>
          <a:xfrm>
            <a:off x="6144768" y="5138928"/>
            <a:ext cx="1655064" cy="91440"/>
          </a:xfrm>
          <a:prstGeom prst="rect">
            <a:avLst/>
          </a:prstGeom>
          <a:noFill/>
          <a:ln/>
        </p:spPr>
        <p:txBody>
          <a:bodyPr wrap="square" lIns="0" tIns="0" rIns="0" bIns="0" rtlCol="0" anchor="ctr"/>
          <a:lstStyle/>
          <a:p>
            <a:pPr algn="ctr" indent="0" marL="0">
              <a:buNone/>
            </a:pPr>
            <a:r>
              <a:rPr lang="en-US" sz="680" b="1" dirty="0">
                <a:solidFill>
                  <a:srgbClr val="FF7584"/>
                </a:solidFill>
                <a:latin typeface="Inter" pitchFamily="34" charset="0"/>
                <a:ea typeface="Inter" pitchFamily="34" charset="-122"/>
                <a:cs typeface="Inter" pitchFamily="34" charset="-120"/>
              </a:rPr>
              <a:t>NOT CLAIMED</a:t>
            </a:r>
            <a:endParaRPr lang="en-US" sz="680" dirty="0"/>
          </a:p>
        </p:txBody>
      </p:sp>
      <p:sp>
        <p:nvSpPr>
          <p:cNvPr id="57" name="Shape 55"/>
          <p:cNvSpPr/>
          <p:nvPr/>
        </p:nvSpPr>
        <p:spPr>
          <a:xfrm>
            <a:off x="8138160" y="5202936"/>
            <a:ext cx="3154680" cy="0"/>
          </a:xfrm>
          <a:prstGeom prst="line">
            <a:avLst/>
          </a:prstGeom>
          <a:noFill/>
          <a:ln w="25400">
            <a:solidFill>
              <a:srgbClr val="FF7584">
                <a:alpha val="80000"/>
              </a:srgbClr>
            </a:solidFill>
            <a:prstDash val="solid"/>
          </a:ln>
        </p:spPr>
      </p:sp>
      <p:sp>
        <p:nvSpPr>
          <p:cNvPr id="58" name="Shape 56"/>
          <p:cNvSpPr/>
          <p:nvPr/>
        </p:nvSpPr>
        <p:spPr>
          <a:xfrm>
            <a:off x="8549640" y="2057400"/>
            <a:ext cx="2743200" cy="2606040"/>
          </a:xfrm>
          <a:prstGeom prst="roundRect">
            <a:avLst>
              <a:gd name="adj" fmla="val 2807"/>
            </a:avLst>
          </a:prstGeom>
          <a:solidFill>
            <a:srgbClr val="102238"/>
          </a:solidFill>
          <a:ln w="10160">
            <a:solidFill>
              <a:srgbClr val="54D6D0"/>
            </a:solidFill>
            <a:prstDash val="solid"/>
          </a:ln>
        </p:spPr>
      </p:sp>
      <p:sp>
        <p:nvSpPr>
          <p:cNvPr id="59" name="Text 57"/>
          <p:cNvSpPr/>
          <p:nvPr/>
        </p:nvSpPr>
        <p:spPr>
          <a:xfrm>
            <a:off x="8705088" y="2185416"/>
            <a:ext cx="243230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LOCAL BUILD EVIDENCE</a:t>
            </a:r>
            <a:endParaRPr lang="en-US" sz="680" dirty="0"/>
          </a:p>
        </p:txBody>
      </p:sp>
      <p:sp>
        <p:nvSpPr>
          <p:cNvPr id="60" name="Text 58"/>
          <p:cNvSpPr/>
          <p:nvPr/>
        </p:nvSpPr>
        <p:spPr>
          <a:xfrm>
            <a:off x="8705088" y="2313432"/>
            <a:ext cx="2432304" cy="329184"/>
          </a:xfrm>
          <a:prstGeom prst="rect">
            <a:avLst/>
          </a:prstGeom>
          <a:noFill/>
          <a:ln/>
        </p:spPr>
        <p:txBody>
          <a:bodyPr wrap="square" lIns="0" tIns="0" rIns="0" bIns="0" rtlCol="0" anchor="ctr">
            <a:normAutofit/>
          </a:bodyPr>
          <a:lstStyle/>
          <a:p>
            <a:pPr indent="0" marL="0">
              <a:buNone/>
            </a:pPr>
            <a:r>
              <a:rPr lang="en-US" sz="1700" b="1" dirty="0">
                <a:solidFill>
                  <a:srgbClr val="F7FBFF"/>
                </a:solidFill>
                <a:latin typeface="Inter Display" pitchFamily="34" charset="0"/>
                <a:ea typeface="Inter Display" pitchFamily="34" charset="-122"/>
                <a:cs typeface="Inter Display" pitchFamily="34" charset="-120"/>
              </a:rPr>
              <a:t>Reference candidate</a:t>
            </a:r>
            <a:endParaRPr lang="en-US" sz="1700" dirty="0"/>
          </a:p>
        </p:txBody>
      </p:sp>
      <p:sp>
        <p:nvSpPr>
          <p:cNvPr id="61" name="Text 59"/>
          <p:cNvSpPr/>
          <p:nvPr/>
        </p:nvSpPr>
        <p:spPr>
          <a:xfrm>
            <a:off x="8705088" y="2715768"/>
            <a:ext cx="2432304" cy="1810512"/>
          </a:xfrm>
          <a:prstGeom prst="rect">
            <a:avLst/>
          </a:prstGeom>
          <a:noFill/>
          <a:ln/>
        </p:spPr>
        <p:txBody>
          <a:bodyPr wrap="square" lIns="0" tIns="0" rIns="0" bIns="0" rtlCol="0" anchor="t">
            <a:normAutofit/>
          </a:bodyPr>
          <a:lstStyle/>
          <a:p>
            <a:pPr indent="0" marL="0">
              <a:buNone/>
            </a:pPr>
            <a:r>
              <a:rPr lang="en-US" sz="920" dirty="0">
                <a:solidFill>
                  <a:srgbClr val="B9C5D2"/>
                </a:solidFill>
                <a:latin typeface="Inter" pitchFamily="34" charset="0"/>
                <a:ea typeface="Inter" pitchFamily="34" charset="-122"/>
                <a:cs typeface="Inter" pitchFamily="34" charset="-120"/>
              </a:rPr>
              <a:t>40 automated tests passed</a:t>
            </a:r>
            <a:endParaRPr lang="en-US" sz="920" dirty="0"/>
          </a:p>
          <a:p>
            <a:pPr indent="0" marL="0">
              <a:buNone/>
            </a:pPr>
            <a:r>
              <a:rPr lang="en-US" sz="920" dirty="0">
                <a:solidFill>
                  <a:srgbClr val="B9C5D2"/>
                </a:solidFill>
                <a:latin typeface="Inter" pitchFamily="34" charset="0"/>
                <a:ea typeface="Inter" pitchFamily="34" charset="-122"/>
                <a:cs typeface="Inter" pitchFamily="34" charset="-120"/>
              </a:rPr>
              <a:t>92.13% core line coverage</a:t>
            </a:r>
            <a:endParaRPr lang="en-US" sz="920" dirty="0"/>
          </a:p>
          <a:p>
            <a:pPr indent="0" marL="0">
              <a:buNone/>
            </a:pPr>
            <a:r>
              <a:rPr lang="en-US" sz="920" dirty="0">
                <a:solidFill>
                  <a:srgbClr val="B9C5D2"/>
                </a:solidFill>
                <a:latin typeface="Inter" pitchFamily="34" charset="0"/>
                <a:ea typeface="Inter" pitchFamily="34" charset="-122"/>
                <a:cs typeface="Inter" pitchFamily="34" charset="-120"/>
              </a:rPr>
              <a:t>94.17% domain + crypto coverage</a:t>
            </a:r>
            <a:endParaRPr lang="en-US" sz="920" dirty="0"/>
          </a:p>
          <a:p>
            <a:pPr indent="0" marL="0">
              <a:buNone/>
            </a:pPr>
            <a:r>
              <a:rPr lang="en-US" sz="920" dirty="0">
                <a:solidFill>
                  <a:srgbClr val="B9C5D2"/>
                </a:solidFill>
                <a:latin typeface="Inter" pitchFamily="34" charset="0"/>
                <a:ea typeface="Inter" pitchFamily="34" charset="-122"/>
                <a:cs typeface="Inter" pitchFamily="34" charset="-120"/>
              </a:rPr>
              <a:t>Mandatory Make gates passed</a:t>
            </a:r>
            <a:endParaRPr lang="en-US" sz="920" dirty="0"/>
          </a:p>
          <a:p>
            <a:pPr indent="0" marL="0">
              <a:buNone/>
            </a:pPr>
            <a:r>
              <a:rPr lang="en-US" sz="920" dirty="0">
                <a:solidFill>
                  <a:srgbClr val="B9C5D2"/>
                </a:solidFill>
                <a:latin typeface="Inter" pitchFamily="34" charset="0"/>
                <a:ea typeface="Inter" pitchFamily="34" charset="-122"/>
                <a:cs typeface="Inter" pitchFamily="34" charset="-120"/>
              </a:rPr>
              <a:t>Deterministic Proof Run 001 package</a:t>
            </a:r>
            <a:endParaRPr lang="en-US" sz="920" dirty="0"/>
          </a:p>
          <a:p>
            <a:pPr indent="0" marL="0">
              <a:buNone/>
            </a:pPr>
            <a:r>
              <a:rPr lang="en-US" sz="920" dirty="0">
                <a:solidFill>
                  <a:srgbClr val="B9C5D2"/>
                </a:solidFill>
                <a:latin typeface="Inter" pitchFamily="34" charset="0"/>
                <a:ea typeface="Inter" pitchFamily="34" charset="-122"/>
                <a:cs typeface="Inter" pitchFamily="34" charset="-120"/>
              </a:rPr>
              <a:t>Typed Merkle and tamper tests</a:t>
            </a:r>
            <a:endParaRPr lang="en-US" sz="920" dirty="0"/>
          </a:p>
        </p:txBody>
      </p:sp>
      <p:sp>
        <p:nvSpPr>
          <p:cNvPr id="62" name="Text 60"/>
          <p:cNvSpPr/>
          <p:nvPr/>
        </p:nvSpPr>
        <p:spPr>
          <a:xfrm>
            <a:off x="914400" y="5715000"/>
            <a:ext cx="10332720" cy="301752"/>
          </a:xfrm>
          <a:prstGeom prst="rect">
            <a:avLst/>
          </a:prstGeom>
          <a:noFill/>
          <a:ln/>
        </p:spPr>
        <p:txBody>
          <a:bodyPr wrap="square" lIns="0" tIns="0" rIns="0" bIns="0" rtlCol="0" anchor="ctr">
            <a:normAutofit/>
          </a:bodyPr>
          <a:lstStyle/>
          <a:p>
            <a:pPr algn="ctr" indent="0" marL="0">
              <a:buNone/>
            </a:pPr>
            <a:r>
              <a:rPr lang="en-US" sz="980" b="1" dirty="0">
                <a:solidFill>
                  <a:srgbClr val="FF7584"/>
                </a:solidFill>
                <a:latin typeface="Inter" pitchFamily="34" charset="0"/>
                <a:ea typeface="Inter" pitchFamily="34" charset="-122"/>
                <a:cs typeface="Inter" pitchFamily="34" charset="-120"/>
              </a:rPr>
              <a:t>No fabricated Mainnet status · no fake validator independence · no external certification · no achieved AGI or ASI claim.</a:t>
            </a:r>
            <a:endParaRPr lang="en-US" sz="98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THE PARTNERSHIP</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Masterclass module divider</a:t>
            </a:r>
            <a:endParaRPr lang="en-US" sz="640" dirty="0"/>
          </a:p>
        </p:txBody>
      </p:sp>
      <p:sp>
        <p:nvSpPr>
          <p:cNvPr id="28" name="Text 26"/>
          <p:cNvSpPr/>
          <p:nvPr/>
        </p:nvSpPr>
        <p:spPr>
          <a:xfrm>
            <a:off x="640080" y="1097280"/>
            <a:ext cx="1828800" cy="1097280"/>
          </a:xfrm>
          <a:prstGeom prst="rect">
            <a:avLst/>
          </a:prstGeom>
          <a:noFill/>
          <a:ln/>
        </p:spPr>
        <p:txBody>
          <a:bodyPr wrap="square" lIns="0" tIns="0" rIns="0" bIns="0" rtlCol="0" anchor="ctr"/>
          <a:lstStyle/>
          <a:p>
            <a:pPr indent="0" marL="0">
              <a:buNone/>
            </a:pPr>
            <a:r>
              <a:rPr lang="en-US" sz="5800" b="1" dirty="0">
                <a:solidFill>
                  <a:srgbClr val="E7BD62">
                    <a:alpha val="95000"/>
                  </a:srgbClr>
                </a:solidFill>
                <a:latin typeface="Inter Display" pitchFamily="34" charset="0"/>
                <a:ea typeface="Inter Display" pitchFamily="34" charset="-122"/>
                <a:cs typeface="Inter Display" pitchFamily="34" charset="-120"/>
              </a:rPr>
              <a:t>04</a:t>
            </a:r>
            <a:endParaRPr lang="en-US" sz="5800" dirty="0"/>
          </a:p>
        </p:txBody>
      </p:sp>
      <p:sp>
        <p:nvSpPr>
          <p:cNvPr id="29" name="Shape 27"/>
          <p:cNvSpPr/>
          <p:nvPr/>
        </p:nvSpPr>
        <p:spPr>
          <a:xfrm>
            <a:off x="2743200" y="1234440"/>
            <a:ext cx="2560320" cy="301752"/>
          </a:xfrm>
          <a:prstGeom prst="roundRect">
            <a:avLst>
              <a:gd name="adj" fmla="val 24242"/>
            </a:avLst>
          </a:prstGeom>
          <a:solidFill>
            <a:srgbClr val="E7BD62">
              <a:alpha val="12000"/>
            </a:srgbClr>
          </a:solidFill>
          <a:ln w="10160">
            <a:solidFill>
              <a:srgbClr val="E7BD62">
                <a:alpha val="65000"/>
              </a:srgbClr>
            </a:solidFill>
            <a:prstDash val="solid"/>
          </a:ln>
        </p:spPr>
      </p:sp>
      <p:sp>
        <p:nvSpPr>
          <p:cNvPr id="30" name="Text 28"/>
          <p:cNvSpPr/>
          <p:nvPr/>
        </p:nvSpPr>
        <p:spPr>
          <a:xfrm>
            <a:off x="2825496" y="1316736"/>
            <a:ext cx="2395728" cy="109728"/>
          </a:xfrm>
          <a:prstGeom prst="rect">
            <a:avLst/>
          </a:prstGeom>
          <a:noFill/>
          <a:ln/>
        </p:spPr>
        <p:txBody>
          <a:bodyPr wrap="square" lIns="0" tIns="0" rIns="0" bIns="0" rtlCol="0" anchor="ctr"/>
          <a:lstStyle/>
          <a:p>
            <a:pPr algn="ctr" indent="0" marL="0">
              <a:buNone/>
            </a:pPr>
            <a:r>
              <a:rPr lang="en-US" sz="720" b="1" spc="130" kern="0" dirty="0">
                <a:solidFill>
                  <a:srgbClr val="E7BD62"/>
                </a:solidFill>
                <a:latin typeface="Inter" pitchFamily="34" charset="0"/>
                <a:ea typeface="Inter" pitchFamily="34" charset="-122"/>
                <a:cs typeface="Inter" pitchFamily="34" charset="-120"/>
              </a:rPr>
              <a:t>THE PARTNERSHIP</a:t>
            </a:r>
            <a:endParaRPr lang="en-US" sz="720" dirty="0"/>
          </a:p>
        </p:txBody>
      </p:sp>
      <p:sp>
        <p:nvSpPr>
          <p:cNvPr id="31" name="Text 29"/>
          <p:cNvSpPr/>
          <p:nvPr/>
        </p:nvSpPr>
        <p:spPr>
          <a:xfrm>
            <a:off x="2743200" y="1828800"/>
            <a:ext cx="8412480" cy="1188720"/>
          </a:xfrm>
          <a:prstGeom prst="rect">
            <a:avLst/>
          </a:prstGeom>
          <a:noFill/>
          <a:ln/>
        </p:spPr>
        <p:txBody>
          <a:bodyPr wrap="square" lIns="0" tIns="0" rIns="0" bIns="0" rtlCol="0" anchor="ctr">
            <a:normAutofit/>
          </a:bodyPr>
          <a:lstStyle/>
          <a:p>
            <a:pPr indent="0" marL="0">
              <a:buNone/>
            </a:pPr>
            <a:r>
              <a:rPr lang="en-US" sz="3700" b="1" dirty="0">
                <a:solidFill>
                  <a:srgbClr val="F7FBFF"/>
                </a:solidFill>
                <a:latin typeface="Inter Display" pitchFamily="34" charset="0"/>
                <a:ea typeface="Inter Display" pitchFamily="34" charset="-122"/>
                <a:cs typeface="Inter Display" pitchFamily="34" charset="-120"/>
              </a:rPr>
              <a:t>Turn the architecture into one evidence-producing collaboration.</a:t>
            </a:r>
            <a:endParaRPr lang="en-US" sz="3700" dirty="0"/>
          </a:p>
        </p:txBody>
      </p:sp>
      <p:sp>
        <p:nvSpPr>
          <p:cNvPr id="32" name="Text 30"/>
          <p:cNvSpPr/>
          <p:nvPr/>
        </p:nvSpPr>
        <p:spPr>
          <a:xfrm>
            <a:off x="2770632" y="3246120"/>
            <a:ext cx="8046720" cy="822960"/>
          </a:xfrm>
          <a:prstGeom prst="rect">
            <a:avLst/>
          </a:prstGeom>
          <a:noFill/>
          <a:ln/>
        </p:spPr>
        <p:txBody>
          <a:bodyPr wrap="square" lIns="0" tIns="0" rIns="0" bIns="0" rtlCol="0" anchor="ctr">
            <a:normAutofit/>
          </a:bodyPr>
          <a:lstStyle/>
          <a:p>
            <a:pPr indent="0" marL="0">
              <a:buNone/>
            </a:pPr>
            <a:r>
              <a:rPr lang="en-US" sz="1600" dirty="0">
                <a:solidFill>
                  <a:srgbClr val="B9C5D2"/>
                </a:solidFill>
                <a:latin typeface="Inter" pitchFamily="34" charset="0"/>
                <a:ea typeface="Inter" pitchFamily="34" charset="-122"/>
                <a:cs typeface="Inter" pitchFamily="34" charset="-120"/>
              </a:rPr>
              <a:t>A practical founding mission, partner operating model, scorecard, and 30–60–90 path.</a:t>
            </a:r>
            <a:endParaRPr lang="en-US" sz="1600" dirty="0"/>
          </a:p>
        </p:txBody>
      </p:sp>
      <p:sp>
        <p:nvSpPr>
          <p:cNvPr id="33" name="Shape 31"/>
          <p:cNvSpPr/>
          <p:nvPr/>
        </p:nvSpPr>
        <p:spPr>
          <a:xfrm>
            <a:off x="2761488" y="4279392"/>
            <a:ext cx="7132320" cy="0"/>
          </a:xfrm>
          <a:prstGeom prst="line">
            <a:avLst/>
          </a:prstGeom>
          <a:noFill/>
          <a:ln w="25400">
            <a:solidFill>
              <a:srgbClr val="E7BD62"/>
            </a:solidFill>
            <a:prstDash val="solid"/>
          </a:ln>
        </p:spPr>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FOUNDING PROOF MISSION</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Start with one consequential, reversible decision.</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founding offer is a bounded Proof Mission—not an open-ended consulting engagement or a platform migration.</a:t>
            </a:r>
            <a:endParaRPr lang="en-US" sz="1450" dirty="0"/>
          </a:p>
        </p:txBody>
      </p:sp>
      <p:sp>
        <p:nvSpPr>
          <p:cNvPr id="30" name="Shape 28"/>
          <p:cNvSpPr/>
          <p:nvPr/>
        </p:nvSpPr>
        <p:spPr>
          <a:xfrm>
            <a:off x="658368" y="2084832"/>
            <a:ext cx="3246120" cy="3337560"/>
          </a:xfrm>
          <a:prstGeom prst="roundRect">
            <a:avLst>
              <a:gd name="adj" fmla="val 2254"/>
            </a:avLst>
          </a:prstGeom>
          <a:solidFill>
            <a:srgbClr val="FFFDF8"/>
          </a:solidFill>
          <a:ln w="10160">
            <a:solidFill>
              <a:srgbClr val="6FB5FF"/>
            </a:solidFill>
            <a:prstDash val="solid"/>
          </a:ln>
        </p:spPr>
      </p:sp>
      <p:sp>
        <p:nvSpPr>
          <p:cNvPr id="31" name="Text 29"/>
          <p:cNvSpPr/>
          <p:nvPr/>
        </p:nvSpPr>
        <p:spPr>
          <a:xfrm>
            <a:off x="813816" y="2212848"/>
            <a:ext cx="293522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THE PARTNER SUPPLIES</a:t>
            </a:r>
            <a:endParaRPr lang="en-US" sz="680" dirty="0"/>
          </a:p>
        </p:txBody>
      </p:sp>
      <p:sp>
        <p:nvSpPr>
          <p:cNvPr id="32" name="Text 30"/>
          <p:cNvSpPr/>
          <p:nvPr/>
        </p:nvSpPr>
        <p:spPr>
          <a:xfrm>
            <a:off x="813816" y="2340864"/>
            <a:ext cx="2935224" cy="329184"/>
          </a:xfrm>
          <a:prstGeom prst="rect">
            <a:avLst/>
          </a:prstGeom>
          <a:noFill/>
          <a:ln/>
        </p:spPr>
        <p:txBody>
          <a:bodyPr wrap="square" lIns="0" tIns="0" rIns="0" bIns="0" rtlCol="0" anchor="ctr">
            <a:normAutofit/>
          </a:bodyPr>
          <a:lstStyle/>
          <a:p>
            <a:pPr indent="0" marL="0">
              <a:buNone/>
            </a:pPr>
            <a:r>
              <a:rPr lang="en-US" sz="1700" b="1" dirty="0">
                <a:solidFill>
                  <a:srgbClr val="14273D"/>
                </a:solidFill>
                <a:latin typeface="Inter Display" pitchFamily="34" charset="0"/>
                <a:ea typeface="Inter Display" pitchFamily="34" charset="-122"/>
                <a:cs typeface="Inter Display" pitchFamily="34" charset="-120"/>
              </a:rPr>
              <a:t>A decision and evidence context</a:t>
            </a:r>
            <a:endParaRPr lang="en-US" sz="1700" dirty="0"/>
          </a:p>
        </p:txBody>
      </p:sp>
      <p:sp>
        <p:nvSpPr>
          <p:cNvPr id="33" name="Text 31"/>
          <p:cNvSpPr/>
          <p:nvPr/>
        </p:nvSpPr>
        <p:spPr>
          <a:xfrm>
            <a:off x="813816" y="2743200"/>
            <a:ext cx="2935224" cy="2542032"/>
          </a:xfrm>
          <a:prstGeom prst="rect">
            <a:avLst/>
          </a:prstGeom>
          <a:noFill/>
          <a:ln/>
        </p:spPr>
        <p:txBody>
          <a:bodyPr wrap="square" lIns="0" tIns="0" rIns="0" bIns="0" rtlCol="0" anchor="t">
            <a:normAutofit/>
          </a:bodyPr>
          <a:lstStyle/>
          <a:p>
            <a:pPr indent="0" marL="0">
              <a:buNone/>
            </a:pPr>
            <a:r>
              <a:rPr lang="en-US" sz="1080" dirty="0">
                <a:solidFill>
                  <a:srgbClr val="43566A"/>
                </a:solidFill>
                <a:latin typeface="Inter" pitchFamily="34" charset="0"/>
                <a:ea typeface="Inter" pitchFamily="34" charset="-122"/>
                <a:cs typeface="Inter" pitchFamily="34" charset="-120"/>
              </a:rPr>
              <a:t>One bounded objective</a:t>
            </a:r>
            <a:endParaRPr lang="en-US" sz="1080" dirty="0"/>
          </a:p>
          <a:p>
            <a:pPr indent="0" marL="0">
              <a:buNone/>
            </a:pPr>
            <a:r>
              <a:rPr lang="en-US" sz="1080" dirty="0">
                <a:solidFill>
                  <a:srgbClr val="43566A"/>
                </a:solidFill>
                <a:latin typeface="Inter" pitchFamily="34" charset="0"/>
                <a:ea typeface="Inter" pitchFamily="34" charset="-122"/>
                <a:cs typeface="Inter" pitchFamily="34" charset="-120"/>
              </a:rPr>
              <a:t>Decision owner</a:t>
            </a:r>
            <a:endParaRPr lang="en-US" sz="1080" dirty="0"/>
          </a:p>
          <a:p>
            <a:pPr indent="0" marL="0">
              <a:buNone/>
            </a:pPr>
            <a:r>
              <a:rPr lang="en-US" sz="1080" dirty="0">
                <a:solidFill>
                  <a:srgbClr val="43566A"/>
                </a:solidFill>
                <a:latin typeface="Inter" pitchFamily="34" charset="0"/>
                <a:ea typeface="Inter" pitchFamily="34" charset="-122"/>
                <a:cs typeface="Inter" pitchFamily="34" charset="-120"/>
              </a:rPr>
              <a:t>Designated reviewer</a:t>
            </a:r>
            <a:endParaRPr lang="en-US" sz="1080" dirty="0"/>
          </a:p>
          <a:p>
            <a:pPr indent="0" marL="0">
              <a:buNone/>
            </a:pPr>
            <a:r>
              <a:rPr lang="en-US" sz="1080" dirty="0">
                <a:solidFill>
                  <a:srgbClr val="43566A"/>
                </a:solidFill>
                <a:latin typeface="Inter" pitchFamily="34" charset="0"/>
                <a:ea typeface="Inter" pitchFamily="34" charset="-122"/>
                <a:cs typeface="Inter" pitchFamily="34" charset="-120"/>
              </a:rPr>
              <a:t>5–20 source artifacts or links</a:t>
            </a:r>
            <a:endParaRPr lang="en-US" sz="1080" dirty="0"/>
          </a:p>
          <a:p>
            <a:pPr indent="0" marL="0">
              <a:buNone/>
            </a:pPr>
            <a:r>
              <a:rPr lang="en-US" sz="1080" dirty="0">
                <a:solidFill>
                  <a:srgbClr val="43566A"/>
                </a:solidFill>
                <a:latin typeface="Inter" pitchFamily="34" charset="0"/>
                <a:ea typeface="Inter" pitchFamily="34" charset="-122"/>
                <a:cs typeface="Inter" pitchFamily="34" charset="-120"/>
              </a:rPr>
              <a:t>Risk, privacy, and claim boundaries</a:t>
            </a:r>
            <a:endParaRPr lang="en-US" sz="1080" dirty="0"/>
          </a:p>
          <a:p>
            <a:pPr indent="0" marL="0">
              <a:buNone/>
            </a:pPr>
            <a:r>
              <a:rPr lang="en-US" sz="1080" dirty="0">
                <a:solidFill>
                  <a:srgbClr val="43566A"/>
                </a:solidFill>
                <a:latin typeface="Inter" pitchFamily="34" charset="0"/>
                <a:ea typeface="Inter" pitchFamily="34" charset="-122"/>
                <a:cs typeface="Inter" pitchFamily="34" charset="-120"/>
              </a:rPr>
              <a:t>Success and failure criteria</a:t>
            </a:r>
            <a:endParaRPr lang="en-US" sz="1080" dirty="0"/>
          </a:p>
          <a:p>
            <a:pPr indent="0" marL="0">
              <a:buNone/>
            </a:pPr>
            <a:r>
              <a:rPr lang="en-US" sz="1080" dirty="0">
                <a:solidFill>
                  <a:srgbClr val="43566A"/>
                </a:solidFill>
                <a:latin typeface="Inter" pitchFamily="34" charset="0"/>
                <a:ea typeface="Inter" pitchFamily="34" charset="-122"/>
                <a:cs typeface="Inter" pitchFamily="34" charset="-120"/>
              </a:rPr>
              <a:t>Reversible next action</a:t>
            </a:r>
            <a:endParaRPr lang="en-US" sz="1080" dirty="0"/>
          </a:p>
        </p:txBody>
      </p:sp>
      <p:sp>
        <p:nvSpPr>
          <p:cNvPr id="34" name="Shape 32"/>
          <p:cNvSpPr/>
          <p:nvPr/>
        </p:nvSpPr>
        <p:spPr>
          <a:xfrm>
            <a:off x="4160520" y="2084832"/>
            <a:ext cx="3840480" cy="3337560"/>
          </a:xfrm>
          <a:prstGeom prst="roundRect">
            <a:avLst>
              <a:gd name="adj" fmla="val 2192"/>
            </a:avLst>
          </a:prstGeom>
          <a:solidFill>
            <a:srgbClr val="FFFDF8"/>
          </a:solidFill>
          <a:ln w="10160">
            <a:solidFill>
              <a:srgbClr val="43D79B"/>
            </a:solidFill>
            <a:prstDash val="solid"/>
          </a:ln>
        </p:spPr>
      </p:sp>
      <p:sp>
        <p:nvSpPr>
          <p:cNvPr id="35" name="Text 33"/>
          <p:cNvSpPr/>
          <p:nvPr/>
        </p:nvSpPr>
        <p:spPr>
          <a:xfrm>
            <a:off x="4315968" y="2212848"/>
            <a:ext cx="352958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GOALOS PRODUCES</a:t>
            </a:r>
            <a:endParaRPr lang="en-US" sz="680" dirty="0"/>
          </a:p>
        </p:txBody>
      </p:sp>
      <p:sp>
        <p:nvSpPr>
          <p:cNvPr id="36" name="Text 34"/>
          <p:cNvSpPr/>
          <p:nvPr/>
        </p:nvSpPr>
        <p:spPr>
          <a:xfrm>
            <a:off x="4315968" y="2340864"/>
            <a:ext cx="3529584" cy="329184"/>
          </a:xfrm>
          <a:prstGeom prst="rect">
            <a:avLst/>
          </a:prstGeom>
          <a:noFill/>
          <a:ln/>
        </p:spPr>
        <p:txBody>
          <a:bodyPr wrap="square" lIns="0" tIns="0" rIns="0" bIns="0" rtlCol="0" anchor="ctr">
            <a:normAutofit/>
          </a:bodyPr>
          <a:lstStyle/>
          <a:p>
            <a:pPr indent="0" marL="0">
              <a:buNone/>
            </a:pPr>
            <a:r>
              <a:rPr lang="en-US" sz="1700" b="1" dirty="0">
                <a:solidFill>
                  <a:srgbClr val="14273D"/>
                </a:solidFill>
                <a:latin typeface="Inter Display" pitchFamily="34" charset="0"/>
                <a:ea typeface="Inter Display" pitchFamily="34" charset="-122"/>
                <a:cs typeface="Inter Display" pitchFamily="34" charset="-120"/>
              </a:rPr>
              <a:t>A governed decision state</a:t>
            </a:r>
            <a:endParaRPr lang="en-US" sz="1700" dirty="0"/>
          </a:p>
        </p:txBody>
      </p:sp>
      <p:sp>
        <p:nvSpPr>
          <p:cNvPr id="37" name="Text 35"/>
          <p:cNvSpPr/>
          <p:nvPr/>
        </p:nvSpPr>
        <p:spPr>
          <a:xfrm>
            <a:off x="4315968" y="2743200"/>
            <a:ext cx="3529584" cy="2542032"/>
          </a:xfrm>
          <a:prstGeom prst="rect">
            <a:avLst/>
          </a:prstGeom>
          <a:noFill/>
          <a:ln/>
        </p:spPr>
        <p:txBody>
          <a:bodyPr wrap="square" lIns="0" tIns="0" rIns="0" bIns="0" rtlCol="0" anchor="t">
            <a:normAutofit/>
          </a:bodyPr>
          <a:lstStyle/>
          <a:p>
            <a:pPr indent="0" marL="0">
              <a:buNone/>
            </a:pPr>
            <a:r>
              <a:rPr lang="en-US" sz="1040" dirty="0">
                <a:solidFill>
                  <a:srgbClr val="43566A"/>
                </a:solidFill>
                <a:latin typeface="Inter" pitchFamily="34" charset="0"/>
                <a:ea typeface="Inter" pitchFamily="34" charset="-122"/>
                <a:cs typeface="Inter" pitchFamily="34" charset="-120"/>
              </a:rPr>
              <a:t>Mission Contract</a:t>
            </a:r>
            <a:endParaRPr lang="en-US" sz="1040" dirty="0"/>
          </a:p>
          <a:p>
            <a:pPr indent="0" marL="0">
              <a:buNone/>
            </a:pPr>
            <a:r>
              <a:rPr lang="en-US" sz="1040" dirty="0">
                <a:solidFill>
                  <a:srgbClr val="43566A"/>
                </a:solidFill>
                <a:latin typeface="Inter" pitchFamily="34" charset="0"/>
                <a:ea typeface="Inter" pitchFamily="34" charset="-122"/>
                <a:cs typeface="Inter" pitchFamily="34" charset="-120"/>
              </a:rPr>
              <a:t>Claims matrix + Proof Debt</a:t>
            </a:r>
            <a:endParaRPr lang="en-US" sz="1040" dirty="0"/>
          </a:p>
          <a:p>
            <a:pPr indent="0" marL="0">
              <a:buNone/>
            </a:pPr>
            <a:r>
              <a:rPr lang="en-US" sz="1040" dirty="0">
                <a:solidFill>
                  <a:srgbClr val="43566A"/>
                </a:solidFill>
                <a:latin typeface="Inter" pitchFamily="34" charset="0"/>
                <a:ea typeface="Inter" pitchFamily="34" charset="-122"/>
                <a:cs typeface="Inter" pitchFamily="34" charset="-120"/>
              </a:rPr>
              <a:t>Custom proof jobs</a:t>
            </a:r>
            <a:endParaRPr lang="en-US" sz="1040" dirty="0"/>
          </a:p>
          <a:p>
            <a:pPr indent="0" marL="0">
              <a:buNone/>
            </a:pPr>
            <a:r>
              <a:rPr lang="en-US" sz="1040" dirty="0">
                <a:solidFill>
                  <a:srgbClr val="43566A"/>
                </a:solidFill>
                <a:latin typeface="Inter" pitchFamily="34" charset="0"/>
                <a:ea typeface="Inter" pitchFamily="34" charset="-122"/>
                <a:cs typeface="Inter" pitchFamily="34" charset="-120"/>
              </a:rPr>
              <a:t>ProofBundles + provenance</a:t>
            </a:r>
            <a:endParaRPr lang="en-US" sz="1040" dirty="0"/>
          </a:p>
          <a:p>
            <a:pPr indent="0" marL="0">
              <a:buNone/>
            </a:pPr>
            <a:r>
              <a:rPr lang="en-US" sz="1040" dirty="0">
                <a:solidFill>
                  <a:srgbClr val="43566A"/>
                </a:solidFill>
                <a:latin typeface="Inter" pitchFamily="34" charset="0"/>
                <a:ea typeface="Inter" pitchFamily="34" charset="-122"/>
                <a:cs typeface="Inter" pitchFamily="34" charset="-120"/>
              </a:rPr>
              <a:t>Evidence Docket + verifier report</a:t>
            </a:r>
            <a:endParaRPr lang="en-US" sz="1040" dirty="0"/>
          </a:p>
          <a:p>
            <a:pPr indent="0" marL="0">
              <a:buNone/>
            </a:pPr>
            <a:r>
              <a:rPr lang="en-US" sz="1040" dirty="0">
                <a:solidFill>
                  <a:srgbClr val="43566A"/>
                </a:solidFill>
                <a:latin typeface="Inter" pitchFamily="34" charset="0"/>
                <a:ea typeface="Inter" pitchFamily="34" charset="-122"/>
                <a:cs typeface="Inter" pitchFamily="34" charset="-120"/>
              </a:rPr>
              <a:t>Risk / cost ledgers</a:t>
            </a:r>
            <a:endParaRPr lang="en-US" sz="1040" dirty="0"/>
          </a:p>
          <a:p>
            <a:pPr indent="0" marL="0">
              <a:buNone/>
            </a:pPr>
            <a:r>
              <a:rPr lang="en-US" sz="1040" dirty="0">
                <a:solidFill>
                  <a:srgbClr val="43566A"/>
                </a:solidFill>
                <a:latin typeface="Inter" pitchFamily="34" charset="0"/>
                <a:ea typeface="Inter" pitchFamily="34" charset="-122"/>
                <a:cs typeface="Inter" pitchFamily="34" charset="-120"/>
              </a:rPr>
              <a:t>Executive brief + Action Graph</a:t>
            </a:r>
            <a:endParaRPr lang="en-US" sz="1040" dirty="0"/>
          </a:p>
          <a:p>
            <a:pPr indent="0" marL="0">
              <a:buNone/>
            </a:pPr>
            <a:r>
              <a:rPr lang="en-US" sz="1040" dirty="0">
                <a:solidFill>
                  <a:srgbClr val="43566A"/>
                </a:solidFill>
                <a:latin typeface="Inter" pitchFamily="34" charset="0"/>
                <a:ea typeface="Inter" pitchFamily="34" charset="-122"/>
                <a:cs typeface="Inter" pitchFamily="34" charset="-120"/>
              </a:rPr>
              <a:t>Chronicle recommendation</a:t>
            </a:r>
            <a:endParaRPr lang="en-US" sz="1040" dirty="0"/>
          </a:p>
          <a:p>
            <a:pPr indent="0" marL="0">
              <a:buNone/>
            </a:pPr>
            <a:r>
              <a:rPr lang="en-US" sz="1040" dirty="0">
                <a:solidFill>
                  <a:srgbClr val="43566A"/>
                </a:solidFill>
                <a:latin typeface="Inter" pitchFamily="34" charset="0"/>
                <a:ea typeface="Inter" pitchFamily="34" charset="-122"/>
                <a:cs typeface="Inter" pitchFamily="34" charset="-120"/>
              </a:rPr>
              <a:t>Capability candidate</a:t>
            </a:r>
            <a:endParaRPr lang="en-US" sz="1040" dirty="0"/>
          </a:p>
        </p:txBody>
      </p:sp>
      <p:sp>
        <p:nvSpPr>
          <p:cNvPr id="38" name="Shape 36"/>
          <p:cNvSpPr/>
          <p:nvPr/>
        </p:nvSpPr>
        <p:spPr>
          <a:xfrm>
            <a:off x="8257032" y="2084832"/>
            <a:ext cx="3246120" cy="3337560"/>
          </a:xfrm>
          <a:prstGeom prst="roundRect">
            <a:avLst>
              <a:gd name="adj" fmla="val 2254"/>
            </a:avLst>
          </a:prstGeom>
          <a:solidFill>
            <a:srgbClr val="FFFDF8"/>
          </a:solidFill>
          <a:ln w="10160">
            <a:solidFill>
              <a:srgbClr val="E7BD62"/>
            </a:solidFill>
            <a:prstDash val="solid"/>
          </a:ln>
        </p:spPr>
      </p:sp>
      <p:sp>
        <p:nvSpPr>
          <p:cNvPr id="39" name="Text 37"/>
          <p:cNvSpPr/>
          <p:nvPr/>
        </p:nvSpPr>
        <p:spPr>
          <a:xfrm>
            <a:off x="8412480" y="2212848"/>
            <a:ext cx="293522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THE FIRST PROOF</a:t>
            </a:r>
            <a:endParaRPr lang="en-US" sz="680" dirty="0"/>
          </a:p>
        </p:txBody>
      </p:sp>
      <p:sp>
        <p:nvSpPr>
          <p:cNvPr id="40" name="Text 38"/>
          <p:cNvSpPr/>
          <p:nvPr/>
        </p:nvSpPr>
        <p:spPr>
          <a:xfrm>
            <a:off x="8412480" y="2340864"/>
            <a:ext cx="2935224" cy="329184"/>
          </a:xfrm>
          <a:prstGeom prst="rect">
            <a:avLst/>
          </a:prstGeom>
          <a:noFill/>
          <a:ln/>
        </p:spPr>
        <p:txBody>
          <a:bodyPr wrap="square" lIns="0" tIns="0" rIns="0" bIns="0" rtlCol="0" anchor="ctr">
            <a:normAutofit/>
          </a:bodyPr>
          <a:lstStyle/>
          <a:p>
            <a:pPr indent="0" marL="0">
              <a:buNone/>
            </a:pPr>
            <a:r>
              <a:rPr lang="en-US" sz="1700" b="1" dirty="0">
                <a:solidFill>
                  <a:srgbClr val="14273D"/>
                </a:solidFill>
                <a:latin typeface="Inter Display" pitchFamily="34" charset="0"/>
                <a:ea typeface="Inter Display" pitchFamily="34" charset="-122"/>
                <a:cs typeface="Inter Display" pitchFamily="34" charset="-120"/>
              </a:rPr>
              <a:t>A 30-day evidence cycle</a:t>
            </a:r>
            <a:endParaRPr lang="en-US" sz="1700" dirty="0"/>
          </a:p>
        </p:txBody>
      </p:sp>
      <p:sp>
        <p:nvSpPr>
          <p:cNvPr id="41" name="Text 39"/>
          <p:cNvSpPr/>
          <p:nvPr/>
        </p:nvSpPr>
        <p:spPr>
          <a:xfrm>
            <a:off x="8412480" y="2743200"/>
            <a:ext cx="2935224" cy="2542032"/>
          </a:xfrm>
          <a:prstGeom prst="rect">
            <a:avLst/>
          </a:prstGeom>
          <a:noFill/>
          <a:ln/>
        </p:spPr>
        <p:txBody>
          <a:bodyPr wrap="square" lIns="0" tIns="0" rIns="0" bIns="0" rtlCol="0" anchor="t">
            <a:normAutofit/>
          </a:bodyPr>
          <a:lstStyle/>
          <a:p>
            <a:pPr indent="0" marL="0">
              <a:buNone/>
            </a:pPr>
            <a:r>
              <a:rPr lang="en-US" sz="1030" dirty="0">
                <a:solidFill>
                  <a:srgbClr val="43566A"/>
                </a:solidFill>
                <a:latin typeface="Inter" pitchFamily="34" charset="0"/>
                <a:ea typeface="Inter" pitchFamily="34" charset="-122"/>
                <a:cs typeface="Inter" pitchFamily="34" charset="-120"/>
              </a:rPr>
              <a:t>Week 1 — contract + evidence map</a:t>
            </a:r>
            <a:endParaRPr lang="en-US" sz="1030" dirty="0"/>
          </a:p>
          <a:p>
            <a:pPr indent="0" marL="0">
              <a:buNone/>
            </a:pPr>
            <a:r>
              <a:rPr lang="en-US" sz="1030" dirty="0">
                <a:solidFill>
                  <a:srgbClr val="43566A"/>
                </a:solidFill>
                <a:latin typeface="Inter" pitchFamily="34" charset="0"/>
                <a:ea typeface="Inter" pitchFamily="34" charset="-122"/>
                <a:cs typeface="Inter" pitchFamily="34" charset="-120"/>
              </a:rPr>
              <a:t>Week 2 — proof jobs + reviews</a:t>
            </a:r>
            <a:endParaRPr lang="en-US" sz="1030" dirty="0"/>
          </a:p>
          <a:p>
            <a:pPr indent="0" marL="0">
              <a:buNone/>
            </a:pPr>
            <a:r>
              <a:rPr lang="en-US" sz="1030" dirty="0">
                <a:solidFill>
                  <a:srgbClr val="43566A"/>
                </a:solidFill>
                <a:latin typeface="Inter" pitchFamily="34" charset="0"/>
                <a:ea typeface="Inter" pitchFamily="34" charset="-122"/>
                <a:cs typeface="Inter" pitchFamily="34" charset="-120"/>
              </a:rPr>
              <a:t>Week 3 — Docket + decision state</a:t>
            </a:r>
            <a:endParaRPr lang="en-US" sz="1030" dirty="0"/>
          </a:p>
          <a:p>
            <a:pPr indent="0" marL="0">
              <a:buNone/>
            </a:pPr>
            <a:r>
              <a:rPr lang="en-US" sz="1030" dirty="0">
                <a:solidFill>
                  <a:srgbClr val="43566A"/>
                </a:solidFill>
                <a:latin typeface="Inter" pitchFamily="34" charset="0"/>
                <a:ea typeface="Inter" pitchFamily="34" charset="-122"/>
                <a:cs typeface="Inter" pitchFamily="34" charset="-120"/>
              </a:rPr>
              <a:t>Week 4 — challenge, replay, partner review</a:t>
            </a:r>
            <a:endParaRPr lang="en-US" sz="1030" dirty="0"/>
          </a:p>
          <a:p>
            <a:pPr indent="0" marL="0">
              <a:buNone/>
            </a:pPr>
            <a:endParaRPr lang="en-US" sz="1030" dirty="0"/>
          </a:p>
          <a:p>
            <a:pPr indent="0" marL="0">
              <a:buNone/>
            </a:pPr>
            <a:r>
              <a:rPr lang="en-US" sz="1030" dirty="0">
                <a:solidFill>
                  <a:srgbClr val="43566A"/>
                </a:solidFill>
                <a:latin typeface="Inter" pitchFamily="34" charset="0"/>
                <a:ea typeface="Inter" pitchFamily="34" charset="-122"/>
                <a:cs typeface="Inter" pitchFamily="34" charset="-120"/>
              </a:rPr>
              <a:t>Then: matched second mission if the capability is admitted.</a:t>
            </a:r>
            <a:endParaRPr lang="en-US" sz="1030" dirty="0"/>
          </a:p>
        </p:txBody>
      </p:sp>
      <p:sp>
        <p:nvSpPr>
          <p:cNvPr id="42" name="Text 40"/>
          <p:cNvSpPr/>
          <p:nvPr/>
        </p:nvSpPr>
        <p:spPr>
          <a:xfrm>
            <a:off x="2468880" y="5669280"/>
            <a:ext cx="7269480" cy="365760"/>
          </a:xfrm>
          <a:prstGeom prst="rect">
            <a:avLst/>
          </a:prstGeom>
          <a:noFill/>
          <a:ln/>
        </p:spPr>
        <p:txBody>
          <a:bodyPr wrap="square" lIns="0" tIns="0" rIns="0" bIns="0" rtlCol="0" anchor="ctr"/>
          <a:lstStyle/>
          <a:p>
            <a:pPr algn="ctr" indent="0" marL="0">
              <a:buNone/>
            </a:pPr>
            <a:r>
              <a:rPr lang="en-US" sz="1800" b="1" dirty="0">
                <a:solidFill>
                  <a:srgbClr val="14273D"/>
                </a:solidFill>
                <a:latin typeface="Inter Display" pitchFamily="34" charset="0"/>
                <a:ea typeface="Inter Display" pitchFamily="34" charset="-122"/>
                <a:cs typeface="Inter Display" pitchFamily="34" charset="-120"/>
              </a:rPr>
              <a:t>Bring one consequential objective. Leave with proof.</a:t>
            </a:r>
            <a:endParaRPr lang="en-US" sz="18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30–60–90 PARTNER PLAN</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 staged path from one proof mission to governed compounding.</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Each phase earns the right to proceed. Nothing is assumed.</a:t>
            </a:r>
            <a:endParaRPr lang="en-US" sz="1450" dirty="0"/>
          </a:p>
        </p:txBody>
      </p:sp>
      <p:sp>
        <p:nvSpPr>
          <p:cNvPr id="30" name="Shape 28"/>
          <p:cNvSpPr/>
          <p:nvPr/>
        </p:nvSpPr>
        <p:spPr>
          <a:xfrm>
            <a:off x="658368" y="2176272"/>
            <a:ext cx="3456432" cy="3246120"/>
          </a:xfrm>
          <a:prstGeom prst="roundRect">
            <a:avLst>
              <a:gd name="adj" fmla="val 2254"/>
            </a:avLst>
          </a:prstGeom>
          <a:solidFill>
            <a:srgbClr val="102238"/>
          </a:solidFill>
          <a:ln w="10160">
            <a:solidFill>
              <a:srgbClr val="E7BD62"/>
            </a:solidFill>
            <a:prstDash val="solid"/>
          </a:ln>
        </p:spPr>
      </p:sp>
      <p:sp>
        <p:nvSpPr>
          <p:cNvPr id="31" name="Text 29"/>
          <p:cNvSpPr/>
          <p:nvPr/>
        </p:nvSpPr>
        <p:spPr>
          <a:xfrm>
            <a:off x="813816" y="2304288"/>
            <a:ext cx="314553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0–30 DAYS · PROVE THE LOOP</a:t>
            </a:r>
            <a:endParaRPr lang="en-US" sz="680" dirty="0"/>
          </a:p>
        </p:txBody>
      </p:sp>
      <p:sp>
        <p:nvSpPr>
          <p:cNvPr id="32" name="Text 30"/>
          <p:cNvSpPr/>
          <p:nvPr/>
        </p:nvSpPr>
        <p:spPr>
          <a:xfrm>
            <a:off x="813816" y="2432304"/>
            <a:ext cx="3145536" cy="329184"/>
          </a:xfrm>
          <a:prstGeom prst="rect">
            <a:avLst/>
          </a:prstGeom>
          <a:noFill/>
          <a:ln/>
        </p:spPr>
        <p:txBody>
          <a:bodyPr wrap="square" lIns="0" tIns="0" rIns="0" bIns="0" rtlCol="0" anchor="ctr">
            <a:normAutofit/>
          </a:bodyPr>
          <a:lstStyle/>
          <a:p>
            <a:pPr indent="0" marL="0">
              <a:buNone/>
            </a:pPr>
            <a:r>
              <a:rPr lang="en-US" sz="1800" b="1" dirty="0">
                <a:solidFill>
                  <a:srgbClr val="F7FBFF"/>
                </a:solidFill>
                <a:latin typeface="Inter Display" pitchFamily="34" charset="0"/>
                <a:ea typeface="Inter Display" pitchFamily="34" charset="-122"/>
                <a:cs typeface="Inter Display" pitchFamily="34" charset="-120"/>
              </a:rPr>
              <a:t>Founding Proof Mission</a:t>
            </a:r>
            <a:endParaRPr lang="en-US" sz="1800" dirty="0"/>
          </a:p>
        </p:txBody>
      </p:sp>
      <p:sp>
        <p:nvSpPr>
          <p:cNvPr id="33" name="Text 31"/>
          <p:cNvSpPr/>
          <p:nvPr/>
        </p:nvSpPr>
        <p:spPr>
          <a:xfrm>
            <a:off x="813816" y="2834640"/>
            <a:ext cx="3145536" cy="2450592"/>
          </a:xfrm>
          <a:prstGeom prst="rect">
            <a:avLst/>
          </a:prstGeom>
          <a:noFill/>
          <a:ln/>
        </p:spPr>
        <p:txBody>
          <a:bodyPr wrap="square" lIns="0" tIns="0" rIns="0" bIns="0" rtlCol="0" anchor="t">
            <a:normAutofit/>
          </a:bodyPr>
          <a:lstStyle/>
          <a:p>
            <a:pPr indent="0" marL="0">
              <a:buNone/>
            </a:pPr>
            <a:r>
              <a:rPr lang="en-US" sz="1050" dirty="0">
                <a:solidFill>
                  <a:srgbClr val="B9C5D2"/>
                </a:solidFill>
                <a:latin typeface="Inter" pitchFamily="34" charset="0"/>
                <a:ea typeface="Inter" pitchFamily="34" charset="-122"/>
                <a:cs typeface="Inter" pitchFamily="34" charset="-120"/>
              </a:rPr>
              <a:t>Freeze mission and proof level</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Run custom AGI Jobs</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Publish partner-review Docket</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Record Chronicle decision</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Generate capability candidate</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Define second-mission baseline</a:t>
            </a:r>
            <a:endParaRPr lang="en-US" sz="1050" dirty="0"/>
          </a:p>
        </p:txBody>
      </p:sp>
      <p:sp>
        <p:nvSpPr>
          <p:cNvPr id="34" name="Shape 32"/>
          <p:cNvSpPr/>
          <p:nvPr/>
        </p:nvSpPr>
        <p:spPr>
          <a:xfrm>
            <a:off x="4370832" y="2176272"/>
            <a:ext cx="3456432" cy="3246120"/>
          </a:xfrm>
          <a:prstGeom prst="roundRect">
            <a:avLst>
              <a:gd name="adj" fmla="val 2254"/>
            </a:avLst>
          </a:prstGeom>
          <a:solidFill>
            <a:srgbClr val="102238"/>
          </a:solidFill>
          <a:ln w="10160">
            <a:solidFill>
              <a:srgbClr val="54D6D0"/>
            </a:solidFill>
            <a:prstDash val="solid"/>
          </a:ln>
        </p:spPr>
      </p:sp>
      <p:sp>
        <p:nvSpPr>
          <p:cNvPr id="35" name="Text 33"/>
          <p:cNvSpPr/>
          <p:nvPr/>
        </p:nvSpPr>
        <p:spPr>
          <a:xfrm>
            <a:off x="4526280" y="2304288"/>
            <a:ext cx="3145536"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31–60 DAYS · TEST TRANSFER</a:t>
            </a:r>
            <a:endParaRPr lang="en-US" sz="680" dirty="0"/>
          </a:p>
        </p:txBody>
      </p:sp>
      <p:sp>
        <p:nvSpPr>
          <p:cNvPr id="36" name="Text 34"/>
          <p:cNvSpPr/>
          <p:nvPr/>
        </p:nvSpPr>
        <p:spPr>
          <a:xfrm>
            <a:off x="4526280" y="2432304"/>
            <a:ext cx="3145536" cy="329184"/>
          </a:xfrm>
          <a:prstGeom prst="rect">
            <a:avLst/>
          </a:prstGeom>
          <a:noFill/>
          <a:ln/>
        </p:spPr>
        <p:txBody>
          <a:bodyPr wrap="square" lIns="0" tIns="0" rIns="0" bIns="0" rtlCol="0" anchor="ctr">
            <a:normAutofit/>
          </a:bodyPr>
          <a:lstStyle/>
          <a:p>
            <a:pPr indent="0" marL="0">
              <a:buNone/>
            </a:pPr>
            <a:r>
              <a:rPr lang="en-US" sz="1800" b="1" dirty="0">
                <a:solidFill>
                  <a:srgbClr val="F7FBFF"/>
                </a:solidFill>
                <a:latin typeface="Inter Display" pitchFamily="34" charset="0"/>
                <a:ea typeface="Inter Display" pitchFamily="34" charset="-122"/>
                <a:cs typeface="Inter Display" pitchFamily="34" charset="-120"/>
              </a:rPr>
              <a:t>Matched second mission</a:t>
            </a:r>
            <a:endParaRPr lang="en-US" sz="1800" dirty="0"/>
          </a:p>
        </p:txBody>
      </p:sp>
      <p:sp>
        <p:nvSpPr>
          <p:cNvPr id="37" name="Text 35"/>
          <p:cNvSpPr/>
          <p:nvPr/>
        </p:nvSpPr>
        <p:spPr>
          <a:xfrm>
            <a:off x="4526280" y="2834640"/>
            <a:ext cx="3145536" cy="2450592"/>
          </a:xfrm>
          <a:prstGeom prst="rect">
            <a:avLst/>
          </a:prstGeom>
          <a:noFill/>
          <a:ln/>
        </p:spPr>
        <p:txBody>
          <a:bodyPr wrap="square" lIns="0" tIns="0" rIns="0" bIns="0" rtlCol="0" anchor="t">
            <a:normAutofit/>
          </a:bodyPr>
          <a:lstStyle/>
          <a:p>
            <a:pPr indent="0" marL="0">
              <a:buNone/>
            </a:pPr>
            <a:r>
              <a:rPr lang="en-US" sz="1050" dirty="0">
                <a:solidFill>
                  <a:srgbClr val="B9C5D2"/>
                </a:solidFill>
                <a:latin typeface="Inter" pitchFamily="34" charset="0"/>
                <a:ea typeface="Inter" pitchFamily="34" charset="-122"/>
                <a:cs typeface="Inter" pitchFamily="34" charset="-120"/>
              </a:rPr>
              <a:t>Fresh held-out work</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Equal tools, budget, and stopping rule</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Validated skill vs fresh / raw baselines</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Measure quality, cost, latency, risk, review burden</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Independent replay</a:t>
            </a:r>
            <a:endParaRPr lang="en-US" sz="1050" dirty="0"/>
          </a:p>
        </p:txBody>
      </p:sp>
      <p:sp>
        <p:nvSpPr>
          <p:cNvPr id="38" name="Shape 36"/>
          <p:cNvSpPr/>
          <p:nvPr/>
        </p:nvSpPr>
        <p:spPr>
          <a:xfrm>
            <a:off x="8083296" y="2176272"/>
            <a:ext cx="3456432" cy="3246120"/>
          </a:xfrm>
          <a:prstGeom prst="roundRect">
            <a:avLst>
              <a:gd name="adj" fmla="val 2254"/>
            </a:avLst>
          </a:prstGeom>
          <a:solidFill>
            <a:srgbClr val="102238"/>
          </a:solidFill>
          <a:ln w="10160">
            <a:solidFill>
              <a:srgbClr val="43D79B"/>
            </a:solidFill>
            <a:prstDash val="solid"/>
          </a:ln>
        </p:spPr>
      </p:sp>
      <p:sp>
        <p:nvSpPr>
          <p:cNvPr id="39" name="Text 37"/>
          <p:cNvSpPr/>
          <p:nvPr/>
        </p:nvSpPr>
        <p:spPr>
          <a:xfrm>
            <a:off x="8238744" y="2304288"/>
            <a:ext cx="314553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61–90 DAYS · OPERATIONALIZE</a:t>
            </a:r>
            <a:endParaRPr lang="en-US" sz="680" dirty="0"/>
          </a:p>
        </p:txBody>
      </p:sp>
      <p:sp>
        <p:nvSpPr>
          <p:cNvPr id="40" name="Text 38"/>
          <p:cNvSpPr/>
          <p:nvPr/>
        </p:nvSpPr>
        <p:spPr>
          <a:xfrm>
            <a:off x="8238744" y="2432304"/>
            <a:ext cx="3145536" cy="329184"/>
          </a:xfrm>
          <a:prstGeom prst="rect">
            <a:avLst/>
          </a:prstGeom>
          <a:noFill/>
          <a:ln/>
        </p:spPr>
        <p:txBody>
          <a:bodyPr wrap="square" lIns="0" tIns="0" rIns="0" bIns="0" rtlCol="0" anchor="ctr">
            <a:normAutofit/>
          </a:bodyPr>
          <a:lstStyle/>
          <a:p>
            <a:pPr indent="0" marL="0">
              <a:buNone/>
            </a:pPr>
            <a:r>
              <a:rPr lang="en-US" sz="1800" b="1" dirty="0">
                <a:solidFill>
                  <a:srgbClr val="F7FBFF"/>
                </a:solidFill>
                <a:latin typeface="Inter Display" pitchFamily="34" charset="0"/>
                <a:ea typeface="Inter Display" pitchFamily="34" charset="-122"/>
                <a:cs typeface="Inter Display" pitchFamily="34" charset="-120"/>
              </a:rPr>
              <a:t>Partner operating lane</a:t>
            </a:r>
            <a:endParaRPr lang="en-US" sz="1800" dirty="0"/>
          </a:p>
        </p:txBody>
      </p:sp>
      <p:sp>
        <p:nvSpPr>
          <p:cNvPr id="41" name="Text 39"/>
          <p:cNvSpPr/>
          <p:nvPr/>
        </p:nvSpPr>
        <p:spPr>
          <a:xfrm>
            <a:off x="8238744" y="2834640"/>
            <a:ext cx="3145536" cy="2450592"/>
          </a:xfrm>
          <a:prstGeom prst="rect">
            <a:avLst/>
          </a:prstGeom>
          <a:noFill/>
          <a:ln/>
        </p:spPr>
        <p:txBody>
          <a:bodyPr wrap="square" lIns="0" tIns="0" rIns="0" bIns="0" rtlCol="0" anchor="t">
            <a:normAutofit/>
          </a:bodyPr>
          <a:lstStyle/>
          <a:p>
            <a:pPr indent="0" marL="0">
              <a:buNone/>
            </a:pPr>
            <a:r>
              <a:rPr lang="en-US" sz="1050" dirty="0">
                <a:solidFill>
                  <a:srgbClr val="B9C5D2"/>
                </a:solidFill>
                <a:latin typeface="Inter" pitchFamily="34" charset="0"/>
                <a:ea typeface="Inter" pitchFamily="34" charset="-122"/>
                <a:cs typeface="Inter" pitchFamily="34" charset="-120"/>
              </a:rPr>
              <a:t>Integrate source and tool adapters</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Define validator and challenge policy</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Establish privacy and publication boundary</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Create recurring mission portfolio</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Set rollout and rollback governance</a:t>
            </a:r>
            <a:endParaRPr lang="en-US" sz="10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PILOT SCORECARD</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Judge the system by evidence—not enthusiasm.</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scorecard should include value, proof quality, reviewer burden, safety, replay, and future-mission lift.</a:t>
            </a:r>
            <a:endParaRPr lang="en-US" sz="1450" dirty="0"/>
          </a:p>
        </p:txBody>
      </p:sp>
      <p:sp>
        <p:nvSpPr>
          <p:cNvPr id="30" name="Shape 28"/>
          <p:cNvSpPr/>
          <p:nvPr/>
        </p:nvSpPr>
        <p:spPr>
          <a:xfrm>
            <a:off x="594360" y="2057400"/>
            <a:ext cx="2633472" cy="1325880"/>
          </a:xfrm>
          <a:prstGeom prst="roundRect">
            <a:avLst>
              <a:gd name="adj" fmla="val 5517"/>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749808" y="2185416"/>
            <a:ext cx="232257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METRIC</a:t>
            </a:r>
            <a:endParaRPr lang="en-US" sz="680" dirty="0"/>
          </a:p>
        </p:txBody>
      </p:sp>
      <p:sp>
        <p:nvSpPr>
          <p:cNvPr id="32" name="Text 30"/>
          <p:cNvSpPr/>
          <p:nvPr/>
        </p:nvSpPr>
        <p:spPr>
          <a:xfrm>
            <a:off x="749808" y="2313432"/>
            <a:ext cx="2322576" cy="329184"/>
          </a:xfrm>
          <a:prstGeom prst="rect">
            <a:avLst/>
          </a:prstGeom>
          <a:noFill/>
          <a:ln/>
        </p:spPr>
        <p:txBody>
          <a:bodyPr wrap="square" lIns="0" tIns="0" rIns="0" bIns="0" rtlCol="0" anchor="ctr">
            <a:normAutofit/>
          </a:bodyPr>
          <a:lstStyle/>
          <a:p>
            <a:pPr indent="0" marL="0">
              <a:buNone/>
            </a:pPr>
            <a:r>
              <a:rPr lang="en-US" sz="1320" b="1" dirty="0">
                <a:solidFill>
                  <a:srgbClr val="14273D"/>
                </a:solidFill>
                <a:latin typeface="Inter Display" pitchFamily="34" charset="0"/>
                <a:ea typeface="Inter Display" pitchFamily="34" charset="-122"/>
                <a:cs typeface="Inter Display" pitchFamily="34" charset="-120"/>
              </a:rPr>
              <a:t>Decision readiness</a:t>
            </a:r>
            <a:endParaRPr lang="en-US" sz="1320" dirty="0"/>
          </a:p>
        </p:txBody>
      </p:sp>
      <p:sp>
        <p:nvSpPr>
          <p:cNvPr id="33" name="Text 31"/>
          <p:cNvSpPr/>
          <p:nvPr/>
        </p:nvSpPr>
        <p:spPr>
          <a:xfrm>
            <a:off x="749808" y="2715768"/>
            <a:ext cx="2322576" cy="53035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Can an accountable reviewer decide without reading all raw traces?</a:t>
            </a:r>
            <a:endParaRPr lang="en-US" sz="770" dirty="0"/>
          </a:p>
        </p:txBody>
      </p:sp>
      <p:sp>
        <p:nvSpPr>
          <p:cNvPr id="34" name="Shape 32"/>
          <p:cNvSpPr/>
          <p:nvPr/>
        </p:nvSpPr>
        <p:spPr>
          <a:xfrm>
            <a:off x="3474720" y="2057400"/>
            <a:ext cx="2633472" cy="1325880"/>
          </a:xfrm>
          <a:prstGeom prst="roundRect">
            <a:avLst>
              <a:gd name="adj" fmla="val 5517"/>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3630168" y="2185416"/>
            <a:ext cx="23225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METRIC</a:t>
            </a:r>
            <a:endParaRPr lang="en-US" sz="680" dirty="0"/>
          </a:p>
        </p:txBody>
      </p:sp>
      <p:sp>
        <p:nvSpPr>
          <p:cNvPr id="36" name="Text 34"/>
          <p:cNvSpPr/>
          <p:nvPr/>
        </p:nvSpPr>
        <p:spPr>
          <a:xfrm>
            <a:off x="3630168" y="2313432"/>
            <a:ext cx="2322576" cy="329184"/>
          </a:xfrm>
          <a:prstGeom prst="rect">
            <a:avLst/>
          </a:prstGeom>
          <a:noFill/>
          <a:ln/>
        </p:spPr>
        <p:txBody>
          <a:bodyPr wrap="square" lIns="0" tIns="0" rIns="0" bIns="0" rtlCol="0" anchor="ctr">
            <a:normAutofit/>
          </a:bodyPr>
          <a:lstStyle/>
          <a:p>
            <a:pPr indent="0" marL="0">
              <a:buNone/>
            </a:pPr>
            <a:r>
              <a:rPr lang="en-US" sz="1320" b="1" dirty="0">
                <a:solidFill>
                  <a:srgbClr val="14273D"/>
                </a:solidFill>
                <a:latin typeface="Inter Display" pitchFamily="34" charset="0"/>
                <a:ea typeface="Inter Display" pitchFamily="34" charset="-122"/>
                <a:cs typeface="Inter Display" pitchFamily="34" charset="-120"/>
              </a:rPr>
              <a:t>Claim support</a:t>
            </a:r>
            <a:endParaRPr lang="en-US" sz="1320" dirty="0"/>
          </a:p>
        </p:txBody>
      </p:sp>
      <p:sp>
        <p:nvSpPr>
          <p:cNvPr id="37" name="Text 35"/>
          <p:cNvSpPr/>
          <p:nvPr/>
        </p:nvSpPr>
        <p:spPr>
          <a:xfrm>
            <a:off x="3630168" y="2715768"/>
            <a:ext cx="2322576" cy="53035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Share of material claims source-bound or explicitly uncertain</a:t>
            </a:r>
            <a:endParaRPr lang="en-US" sz="770" dirty="0"/>
          </a:p>
        </p:txBody>
      </p:sp>
      <p:sp>
        <p:nvSpPr>
          <p:cNvPr id="38" name="Shape 36"/>
          <p:cNvSpPr/>
          <p:nvPr/>
        </p:nvSpPr>
        <p:spPr>
          <a:xfrm>
            <a:off x="6355080" y="2057400"/>
            <a:ext cx="2633472" cy="1325880"/>
          </a:xfrm>
          <a:prstGeom prst="roundRect">
            <a:avLst>
              <a:gd name="adj" fmla="val 5517"/>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6510528" y="2185416"/>
            <a:ext cx="232257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METRIC</a:t>
            </a:r>
            <a:endParaRPr lang="en-US" sz="680" dirty="0"/>
          </a:p>
        </p:txBody>
      </p:sp>
      <p:sp>
        <p:nvSpPr>
          <p:cNvPr id="40" name="Text 38"/>
          <p:cNvSpPr/>
          <p:nvPr/>
        </p:nvSpPr>
        <p:spPr>
          <a:xfrm>
            <a:off x="6510528" y="2313432"/>
            <a:ext cx="2322576" cy="329184"/>
          </a:xfrm>
          <a:prstGeom prst="rect">
            <a:avLst/>
          </a:prstGeom>
          <a:noFill/>
          <a:ln/>
        </p:spPr>
        <p:txBody>
          <a:bodyPr wrap="square" lIns="0" tIns="0" rIns="0" bIns="0" rtlCol="0" anchor="ctr">
            <a:normAutofit/>
          </a:bodyPr>
          <a:lstStyle/>
          <a:p>
            <a:pPr indent="0" marL="0">
              <a:buNone/>
            </a:pPr>
            <a:r>
              <a:rPr lang="en-US" sz="1320" b="1" dirty="0">
                <a:solidFill>
                  <a:srgbClr val="14273D"/>
                </a:solidFill>
                <a:latin typeface="Inter Display" pitchFamily="34" charset="0"/>
                <a:ea typeface="Inter Display" pitchFamily="34" charset="-122"/>
                <a:cs typeface="Inter Display" pitchFamily="34" charset="-120"/>
              </a:rPr>
              <a:t>Contradiction coverage</a:t>
            </a:r>
            <a:endParaRPr lang="en-US" sz="1320" dirty="0"/>
          </a:p>
        </p:txBody>
      </p:sp>
      <p:sp>
        <p:nvSpPr>
          <p:cNvPr id="41" name="Text 39"/>
          <p:cNvSpPr/>
          <p:nvPr/>
        </p:nvSpPr>
        <p:spPr>
          <a:xfrm>
            <a:off x="6510528" y="2715768"/>
            <a:ext cx="2322576" cy="53035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Conflicting evidence surfaced rather than hidden</a:t>
            </a:r>
            <a:endParaRPr lang="en-US" sz="770" dirty="0"/>
          </a:p>
        </p:txBody>
      </p:sp>
      <p:sp>
        <p:nvSpPr>
          <p:cNvPr id="42" name="Shape 40"/>
          <p:cNvSpPr/>
          <p:nvPr/>
        </p:nvSpPr>
        <p:spPr>
          <a:xfrm>
            <a:off x="9235440" y="2057400"/>
            <a:ext cx="2633472" cy="1325880"/>
          </a:xfrm>
          <a:prstGeom prst="roundRect">
            <a:avLst>
              <a:gd name="adj" fmla="val 5517"/>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43" name="Text 41"/>
          <p:cNvSpPr/>
          <p:nvPr/>
        </p:nvSpPr>
        <p:spPr>
          <a:xfrm>
            <a:off x="9390888" y="2185416"/>
            <a:ext cx="232257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METRIC</a:t>
            </a:r>
            <a:endParaRPr lang="en-US" sz="680" dirty="0"/>
          </a:p>
        </p:txBody>
      </p:sp>
      <p:sp>
        <p:nvSpPr>
          <p:cNvPr id="44" name="Text 42"/>
          <p:cNvSpPr/>
          <p:nvPr/>
        </p:nvSpPr>
        <p:spPr>
          <a:xfrm>
            <a:off x="9390888" y="2313432"/>
            <a:ext cx="2322576" cy="329184"/>
          </a:xfrm>
          <a:prstGeom prst="rect">
            <a:avLst/>
          </a:prstGeom>
          <a:noFill/>
          <a:ln/>
        </p:spPr>
        <p:txBody>
          <a:bodyPr wrap="square" lIns="0" tIns="0" rIns="0" bIns="0" rtlCol="0" anchor="ctr">
            <a:normAutofit/>
          </a:bodyPr>
          <a:lstStyle/>
          <a:p>
            <a:pPr indent="0" marL="0">
              <a:buNone/>
            </a:pPr>
            <a:r>
              <a:rPr lang="en-US" sz="1320" b="1" dirty="0">
                <a:solidFill>
                  <a:srgbClr val="14273D"/>
                </a:solidFill>
                <a:latin typeface="Inter Display" pitchFamily="34" charset="0"/>
                <a:ea typeface="Inter Display" pitchFamily="34" charset="-122"/>
                <a:cs typeface="Inter Display" pitchFamily="34" charset="-120"/>
              </a:rPr>
              <a:t>Proof Debt reduction</a:t>
            </a:r>
            <a:endParaRPr lang="en-US" sz="1320" dirty="0"/>
          </a:p>
        </p:txBody>
      </p:sp>
      <p:sp>
        <p:nvSpPr>
          <p:cNvPr id="45" name="Text 43"/>
          <p:cNvSpPr/>
          <p:nvPr/>
        </p:nvSpPr>
        <p:spPr>
          <a:xfrm>
            <a:off x="9390888" y="2715768"/>
            <a:ext cx="2322576" cy="53035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Unsupported assumptions retired, bounded, or jobified</a:t>
            </a:r>
            <a:endParaRPr lang="en-US" sz="770" dirty="0"/>
          </a:p>
        </p:txBody>
      </p:sp>
      <p:sp>
        <p:nvSpPr>
          <p:cNvPr id="46" name="Shape 44"/>
          <p:cNvSpPr/>
          <p:nvPr/>
        </p:nvSpPr>
        <p:spPr>
          <a:xfrm>
            <a:off x="594360" y="3657600"/>
            <a:ext cx="2633472" cy="1325880"/>
          </a:xfrm>
          <a:prstGeom prst="roundRect">
            <a:avLst>
              <a:gd name="adj" fmla="val 5517"/>
            </a:avLst>
          </a:prstGeom>
          <a:solidFill>
            <a:srgbClr val="FFFDF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47" name="Text 45"/>
          <p:cNvSpPr/>
          <p:nvPr/>
        </p:nvSpPr>
        <p:spPr>
          <a:xfrm>
            <a:off x="749808" y="3785616"/>
            <a:ext cx="2322576"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METRIC</a:t>
            </a:r>
            <a:endParaRPr lang="en-US" sz="680" dirty="0"/>
          </a:p>
        </p:txBody>
      </p:sp>
      <p:sp>
        <p:nvSpPr>
          <p:cNvPr id="48" name="Text 46"/>
          <p:cNvSpPr/>
          <p:nvPr/>
        </p:nvSpPr>
        <p:spPr>
          <a:xfrm>
            <a:off x="749808" y="3913632"/>
            <a:ext cx="2322576" cy="329184"/>
          </a:xfrm>
          <a:prstGeom prst="rect">
            <a:avLst/>
          </a:prstGeom>
          <a:noFill/>
          <a:ln/>
        </p:spPr>
        <p:txBody>
          <a:bodyPr wrap="square" lIns="0" tIns="0" rIns="0" bIns="0" rtlCol="0" anchor="ctr">
            <a:normAutofit/>
          </a:bodyPr>
          <a:lstStyle/>
          <a:p>
            <a:pPr indent="0" marL="0">
              <a:buNone/>
            </a:pPr>
            <a:r>
              <a:rPr lang="en-US" sz="1320" b="1" dirty="0">
                <a:solidFill>
                  <a:srgbClr val="14273D"/>
                </a:solidFill>
                <a:latin typeface="Inter Display" pitchFamily="34" charset="0"/>
                <a:ea typeface="Inter Display" pitchFamily="34" charset="-122"/>
                <a:cs typeface="Inter Display" pitchFamily="34" charset="-120"/>
              </a:rPr>
              <a:t>Replay success</a:t>
            </a:r>
            <a:endParaRPr lang="en-US" sz="1320" dirty="0"/>
          </a:p>
        </p:txBody>
      </p:sp>
      <p:sp>
        <p:nvSpPr>
          <p:cNvPr id="49" name="Text 47"/>
          <p:cNvSpPr/>
          <p:nvPr/>
        </p:nvSpPr>
        <p:spPr>
          <a:xfrm>
            <a:off x="749808" y="4315968"/>
            <a:ext cx="2322576" cy="53035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Artifacts reproduced from pinned manifests</a:t>
            </a:r>
            <a:endParaRPr lang="en-US" sz="770" dirty="0"/>
          </a:p>
        </p:txBody>
      </p:sp>
      <p:sp>
        <p:nvSpPr>
          <p:cNvPr id="50" name="Shape 48"/>
          <p:cNvSpPr/>
          <p:nvPr/>
        </p:nvSpPr>
        <p:spPr>
          <a:xfrm>
            <a:off x="3474720" y="3657600"/>
            <a:ext cx="2633472" cy="1325880"/>
          </a:xfrm>
          <a:prstGeom prst="roundRect">
            <a:avLst>
              <a:gd name="adj" fmla="val 5517"/>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51" name="Text 49"/>
          <p:cNvSpPr/>
          <p:nvPr/>
        </p:nvSpPr>
        <p:spPr>
          <a:xfrm>
            <a:off x="3630168" y="3785616"/>
            <a:ext cx="2322576"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METRIC</a:t>
            </a:r>
            <a:endParaRPr lang="en-US" sz="680" dirty="0"/>
          </a:p>
        </p:txBody>
      </p:sp>
      <p:sp>
        <p:nvSpPr>
          <p:cNvPr id="52" name="Text 50"/>
          <p:cNvSpPr/>
          <p:nvPr/>
        </p:nvSpPr>
        <p:spPr>
          <a:xfrm>
            <a:off x="3630168" y="3913632"/>
            <a:ext cx="2322576" cy="329184"/>
          </a:xfrm>
          <a:prstGeom prst="rect">
            <a:avLst/>
          </a:prstGeom>
          <a:noFill/>
          <a:ln/>
        </p:spPr>
        <p:txBody>
          <a:bodyPr wrap="square" lIns="0" tIns="0" rIns="0" bIns="0" rtlCol="0" anchor="ctr">
            <a:normAutofit/>
          </a:bodyPr>
          <a:lstStyle/>
          <a:p>
            <a:pPr indent="0" marL="0">
              <a:buNone/>
            </a:pPr>
            <a:r>
              <a:rPr lang="en-US" sz="1320" b="1" dirty="0">
                <a:solidFill>
                  <a:srgbClr val="14273D"/>
                </a:solidFill>
                <a:latin typeface="Inter Display" pitchFamily="34" charset="0"/>
                <a:ea typeface="Inter Display" pitchFamily="34" charset="-122"/>
                <a:cs typeface="Inter Display" pitchFamily="34" charset="-120"/>
              </a:rPr>
              <a:t>Reviewer burden</a:t>
            </a:r>
            <a:endParaRPr lang="en-US" sz="1320" dirty="0"/>
          </a:p>
        </p:txBody>
      </p:sp>
      <p:sp>
        <p:nvSpPr>
          <p:cNvPr id="53" name="Text 51"/>
          <p:cNvSpPr/>
          <p:nvPr/>
        </p:nvSpPr>
        <p:spPr>
          <a:xfrm>
            <a:off x="3630168" y="4315968"/>
            <a:ext cx="2322576" cy="53035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Hours, escalations, and unresolved ambiguity</a:t>
            </a:r>
            <a:endParaRPr lang="en-US" sz="770" dirty="0"/>
          </a:p>
        </p:txBody>
      </p:sp>
      <p:sp>
        <p:nvSpPr>
          <p:cNvPr id="54" name="Shape 52"/>
          <p:cNvSpPr/>
          <p:nvPr/>
        </p:nvSpPr>
        <p:spPr>
          <a:xfrm>
            <a:off x="6355080" y="3657600"/>
            <a:ext cx="2633472" cy="1325880"/>
          </a:xfrm>
          <a:prstGeom prst="roundRect">
            <a:avLst>
              <a:gd name="adj" fmla="val 5517"/>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55" name="Text 53"/>
          <p:cNvSpPr/>
          <p:nvPr/>
        </p:nvSpPr>
        <p:spPr>
          <a:xfrm>
            <a:off x="6510528" y="3785616"/>
            <a:ext cx="232257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METRIC</a:t>
            </a:r>
            <a:endParaRPr lang="en-US" sz="680" dirty="0"/>
          </a:p>
        </p:txBody>
      </p:sp>
      <p:sp>
        <p:nvSpPr>
          <p:cNvPr id="56" name="Text 54"/>
          <p:cNvSpPr/>
          <p:nvPr/>
        </p:nvSpPr>
        <p:spPr>
          <a:xfrm>
            <a:off x="6510528" y="3913632"/>
            <a:ext cx="2322576" cy="329184"/>
          </a:xfrm>
          <a:prstGeom prst="rect">
            <a:avLst/>
          </a:prstGeom>
          <a:noFill/>
          <a:ln/>
        </p:spPr>
        <p:txBody>
          <a:bodyPr wrap="square" lIns="0" tIns="0" rIns="0" bIns="0" rtlCol="0" anchor="ctr">
            <a:normAutofit/>
          </a:bodyPr>
          <a:lstStyle/>
          <a:p>
            <a:pPr indent="0" marL="0">
              <a:buNone/>
            </a:pPr>
            <a:r>
              <a:rPr lang="en-US" sz="1320" b="1" dirty="0">
                <a:solidFill>
                  <a:srgbClr val="14273D"/>
                </a:solidFill>
                <a:latin typeface="Inter Display" pitchFamily="34" charset="0"/>
                <a:ea typeface="Inter Display" pitchFamily="34" charset="-122"/>
                <a:cs typeface="Inter Display" pitchFamily="34" charset="-120"/>
              </a:rPr>
              <a:t>Risk / safety</a:t>
            </a:r>
            <a:endParaRPr lang="en-US" sz="1320" dirty="0"/>
          </a:p>
        </p:txBody>
      </p:sp>
      <p:sp>
        <p:nvSpPr>
          <p:cNvPr id="57" name="Text 55"/>
          <p:cNvSpPr/>
          <p:nvPr/>
        </p:nvSpPr>
        <p:spPr>
          <a:xfrm>
            <a:off x="6510528" y="4315968"/>
            <a:ext cx="2322576" cy="53035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Boundary violations, leakage, unsafe action attempts</a:t>
            </a:r>
            <a:endParaRPr lang="en-US" sz="770" dirty="0"/>
          </a:p>
        </p:txBody>
      </p:sp>
      <p:sp>
        <p:nvSpPr>
          <p:cNvPr id="58" name="Shape 56"/>
          <p:cNvSpPr/>
          <p:nvPr/>
        </p:nvSpPr>
        <p:spPr>
          <a:xfrm>
            <a:off x="9235440" y="3657600"/>
            <a:ext cx="2633472" cy="1325880"/>
          </a:xfrm>
          <a:prstGeom prst="roundRect">
            <a:avLst>
              <a:gd name="adj" fmla="val 5517"/>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59" name="Text 57"/>
          <p:cNvSpPr/>
          <p:nvPr/>
        </p:nvSpPr>
        <p:spPr>
          <a:xfrm>
            <a:off x="9390888" y="3785616"/>
            <a:ext cx="23225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METRIC</a:t>
            </a:r>
            <a:endParaRPr lang="en-US" sz="680" dirty="0"/>
          </a:p>
        </p:txBody>
      </p:sp>
      <p:sp>
        <p:nvSpPr>
          <p:cNvPr id="60" name="Text 58"/>
          <p:cNvSpPr/>
          <p:nvPr/>
        </p:nvSpPr>
        <p:spPr>
          <a:xfrm>
            <a:off x="9390888" y="3913632"/>
            <a:ext cx="2322576" cy="329184"/>
          </a:xfrm>
          <a:prstGeom prst="rect">
            <a:avLst/>
          </a:prstGeom>
          <a:noFill/>
          <a:ln/>
        </p:spPr>
        <p:txBody>
          <a:bodyPr wrap="square" lIns="0" tIns="0" rIns="0" bIns="0" rtlCol="0" anchor="ctr">
            <a:normAutofit/>
          </a:bodyPr>
          <a:lstStyle/>
          <a:p>
            <a:pPr indent="0" marL="0">
              <a:buNone/>
            </a:pPr>
            <a:r>
              <a:rPr lang="en-US" sz="1320" b="1" dirty="0">
                <a:solidFill>
                  <a:srgbClr val="14273D"/>
                </a:solidFill>
                <a:latin typeface="Inter Display" pitchFamily="34" charset="0"/>
                <a:ea typeface="Inter Display" pitchFamily="34" charset="-122"/>
                <a:cs typeface="Inter Display" pitchFamily="34" charset="-120"/>
              </a:rPr>
              <a:t>Second-mission lift</a:t>
            </a:r>
            <a:endParaRPr lang="en-US" sz="1320" dirty="0"/>
          </a:p>
        </p:txBody>
      </p:sp>
      <p:sp>
        <p:nvSpPr>
          <p:cNvPr id="61" name="Text 59"/>
          <p:cNvSpPr/>
          <p:nvPr/>
        </p:nvSpPr>
        <p:spPr>
          <a:xfrm>
            <a:off x="9390888" y="4315968"/>
            <a:ext cx="2322576" cy="53035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Quality, cost, latency, risk, and review burden under equal constraints</a:t>
            </a:r>
            <a:endParaRPr lang="en-US" sz="770" dirty="0"/>
          </a:p>
        </p:txBody>
      </p:sp>
      <p:sp>
        <p:nvSpPr>
          <p:cNvPr id="62" name="Shape 60"/>
          <p:cNvSpPr/>
          <p:nvPr/>
        </p:nvSpPr>
        <p:spPr>
          <a:xfrm>
            <a:off x="2103120" y="5413248"/>
            <a:ext cx="8001000" cy="457200"/>
          </a:xfrm>
          <a:prstGeom prst="roundRect">
            <a:avLst>
              <a:gd name="adj" fmla="val 16000"/>
            </a:avLst>
          </a:prstGeom>
          <a:solidFill>
            <a:srgbClr val="FFFDF8"/>
          </a:solidFill>
          <a:ln w="10160">
            <a:solidFill>
              <a:srgbClr val="FF7584"/>
            </a:solidFill>
            <a:prstDash val="solid"/>
          </a:ln>
        </p:spPr>
      </p:sp>
      <p:sp>
        <p:nvSpPr>
          <p:cNvPr id="63" name="Text 61"/>
          <p:cNvSpPr/>
          <p:nvPr/>
        </p:nvSpPr>
        <p:spPr>
          <a:xfrm>
            <a:off x="2258568" y="5541264"/>
            <a:ext cx="76901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FALSIFICATION</a:t>
            </a:r>
            <a:endParaRPr lang="en-US" sz="680" dirty="0"/>
          </a:p>
        </p:txBody>
      </p:sp>
      <p:sp>
        <p:nvSpPr>
          <p:cNvPr id="64" name="Text 62"/>
          <p:cNvSpPr/>
          <p:nvPr/>
        </p:nvSpPr>
        <p:spPr>
          <a:xfrm>
            <a:off x="2258568" y="5669280"/>
            <a:ext cx="7690104" cy="329184"/>
          </a:xfrm>
          <a:prstGeom prst="rect">
            <a:avLst/>
          </a:prstGeom>
          <a:noFill/>
          <a:ln/>
        </p:spPr>
        <p:txBody>
          <a:bodyPr wrap="square" lIns="0" tIns="0" rIns="0" bIns="0" rtlCol="0" anchor="ctr">
            <a:normAutofit/>
          </a:bodyPr>
          <a:lstStyle/>
          <a:p>
            <a:pPr indent="0" marL="0">
              <a:buNone/>
            </a:pPr>
            <a:r>
              <a:rPr lang="en-US" sz="1030" b="1" dirty="0">
                <a:solidFill>
                  <a:srgbClr val="14273D"/>
                </a:solidFill>
                <a:latin typeface="Inter Display" pitchFamily="34" charset="0"/>
                <a:ea typeface="Inter Display" pitchFamily="34" charset="-122"/>
                <a:cs typeface="Inter Display" pitchFamily="34" charset="-120"/>
              </a:rPr>
              <a:t>If GoalOS does not outperform report-only or ad-hoc agent baselines on decision readiness and proof integrity—or if it raises risk—the stronger claim should fail.</a:t>
            </a:r>
            <a:endParaRPr lang="en-US" sz="103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ENGAGEMENT MODES</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Five high-value ways to partner.</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Each mode starts with the same practical test: one Proof Mission, one designated reviewer, one measurable decision outcome.</a:t>
            </a:r>
            <a:endParaRPr lang="en-US" sz="1450" dirty="0"/>
          </a:p>
        </p:txBody>
      </p:sp>
      <p:sp>
        <p:nvSpPr>
          <p:cNvPr id="30" name="Shape 28"/>
          <p:cNvSpPr/>
          <p:nvPr/>
        </p:nvSpPr>
        <p:spPr>
          <a:xfrm>
            <a:off x="658368" y="2057400"/>
            <a:ext cx="3566160" cy="1298448"/>
          </a:xfrm>
          <a:prstGeom prst="roundRect">
            <a:avLst>
              <a:gd name="adj" fmla="val 5634"/>
            </a:avLst>
          </a:prstGeom>
          <a:solidFill>
            <a:srgbClr val="102238"/>
          </a:solidFill>
          <a:ln w="10160">
            <a:solidFill>
              <a:srgbClr val="E7BD62"/>
            </a:solidFill>
            <a:prstDash val="solid"/>
          </a:ln>
        </p:spPr>
      </p:sp>
      <p:sp>
        <p:nvSpPr>
          <p:cNvPr id="31" name="Text 29"/>
          <p:cNvSpPr/>
          <p:nvPr/>
        </p:nvSpPr>
        <p:spPr>
          <a:xfrm>
            <a:off x="813816" y="2185416"/>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01</a:t>
            </a:r>
            <a:endParaRPr lang="en-US" sz="680" dirty="0"/>
          </a:p>
        </p:txBody>
      </p:sp>
      <p:sp>
        <p:nvSpPr>
          <p:cNvPr id="32" name="Text 30"/>
          <p:cNvSpPr/>
          <p:nvPr/>
        </p:nvSpPr>
        <p:spPr>
          <a:xfrm>
            <a:off x="813816" y="2313432"/>
            <a:ext cx="3255264" cy="329184"/>
          </a:xfrm>
          <a:prstGeom prst="rect">
            <a:avLst/>
          </a:prstGeom>
          <a:noFill/>
          <a:ln/>
        </p:spPr>
        <p:txBody>
          <a:bodyPr wrap="square" lIns="0" tIns="0" rIns="0" bIns="0" rtlCol="0" anchor="ctr">
            <a:normAutofit/>
          </a:bodyPr>
          <a:lstStyle/>
          <a:p>
            <a:pPr indent="0" marL="0">
              <a:buNone/>
            </a:pPr>
            <a:r>
              <a:rPr lang="en-US" sz="1340" b="1" dirty="0">
                <a:solidFill>
                  <a:srgbClr val="F7FBFF"/>
                </a:solidFill>
                <a:latin typeface="Inter Display" pitchFamily="34" charset="0"/>
                <a:ea typeface="Inter Display" pitchFamily="34" charset="-122"/>
                <a:cs typeface="Inter Display" pitchFamily="34" charset="-120"/>
              </a:rPr>
              <a:t>FOUNDING DESIGN PARTNER</a:t>
            </a:r>
            <a:endParaRPr lang="en-US" sz="1340" dirty="0"/>
          </a:p>
        </p:txBody>
      </p:sp>
      <p:sp>
        <p:nvSpPr>
          <p:cNvPr id="33" name="Text 31"/>
          <p:cNvSpPr/>
          <p:nvPr/>
        </p:nvSpPr>
        <p:spPr>
          <a:xfrm>
            <a:off x="813816" y="2715768"/>
            <a:ext cx="3255264" cy="502920"/>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Co-design the mission workflow around a real decision.</a:t>
            </a:r>
            <a:endParaRPr lang="en-US" sz="840" dirty="0"/>
          </a:p>
        </p:txBody>
      </p:sp>
      <p:sp>
        <p:nvSpPr>
          <p:cNvPr id="34" name="Shape 32"/>
          <p:cNvSpPr/>
          <p:nvPr/>
        </p:nvSpPr>
        <p:spPr>
          <a:xfrm>
            <a:off x="4480560" y="2057400"/>
            <a:ext cx="3566160" cy="1298448"/>
          </a:xfrm>
          <a:prstGeom prst="roundRect">
            <a:avLst>
              <a:gd name="adj" fmla="val 5634"/>
            </a:avLst>
          </a:prstGeom>
          <a:solidFill>
            <a:srgbClr val="102238"/>
          </a:solidFill>
          <a:ln w="10160">
            <a:solidFill>
              <a:srgbClr val="43D79B"/>
            </a:solidFill>
            <a:prstDash val="solid"/>
          </a:ln>
        </p:spPr>
      </p:sp>
      <p:sp>
        <p:nvSpPr>
          <p:cNvPr id="35" name="Text 33"/>
          <p:cNvSpPr/>
          <p:nvPr/>
        </p:nvSpPr>
        <p:spPr>
          <a:xfrm>
            <a:off x="4636008" y="2185416"/>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02</a:t>
            </a:r>
            <a:endParaRPr lang="en-US" sz="680" dirty="0"/>
          </a:p>
        </p:txBody>
      </p:sp>
      <p:sp>
        <p:nvSpPr>
          <p:cNvPr id="36" name="Text 34"/>
          <p:cNvSpPr/>
          <p:nvPr/>
        </p:nvSpPr>
        <p:spPr>
          <a:xfrm>
            <a:off x="4636008" y="2313432"/>
            <a:ext cx="3255264" cy="329184"/>
          </a:xfrm>
          <a:prstGeom prst="rect">
            <a:avLst/>
          </a:prstGeom>
          <a:noFill/>
          <a:ln/>
        </p:spPr>
        <p:txBody>
          <a:bodyPr wrap="square" lIns="0" tIns="0" rIns="0" bIns="0" rtlCol="0" anchor="ctr">
            <a:normAutofit/>
          </a:bodyPr>
          <a:lstStyle/>
          <a:p>
            <a:pPr indent="0" marL="0">
              <a:buNone/>
            </a:pPr>
            <a:r>
              <a:rPr lang="en-US" sz="1340" b="1" dirty="0">
                <a:solidFill>
                  <a:srgbClr val="F7FBFF"/>
                </a:solidFill>
                <a:latin typeface="Inter Display" pitchFamily="34" charset="0"/>
                <a:ea typeface="Inter Display" pitchFamily="34" charset="-122"/>
                <a:cs typeface="Inter Display" pitchFamily="34" charset="-120"/>
              </a:rPr>
              <a:t>DOMAIN VALIDATION PARTNER</a:t>
            </a:r>
            <a:endParaRPr lang="en-US" sz="1340" dirty="0"/>
          </a:p>
        </p:txBody>
      </p:sp>
      <p:sp>
        <p:nvSpPr>
          <p:cNvPr id="37" name="Text 35"/>
          <p:cNvSpPr/>
          <p:nvPr/>
        </p:nvSpPr>
        <p:spPr>
          <a:xfrm>
            <a:off x="4636008" y="2715768"/>
            <a:ext cx="3255264" cy="502920"/>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Own rubrics, evidence contracts, and independent review.</a:t>
            </a:r>
            <a:endParaRPr lang="en-US" sz="840" dirty="0"/>
          </a:p>
        </p:txBody>
      </p:sp>
      <p:sp>
        <p:nvSpPr>
          <p:cNvPr id="38" name="Shape 36"/>
          <p:cNvSpPr/>
          <p:nvPr/>
        </p:nvSpPr>
        <p:spPr>
          <a:xfrm>
            <a:off x="8302752" y="2057400"/>
            <a:ext cx="3566160" cy="1298448"/>
          </a:xfrm>
          <a:prstGeom prst="roundRect">
            <a:avLst>
              <a:gd name="adj" fmla="val 5634"/>
            </a:avLst>
          </a:prstGeom>
          <a:solidFill>
            <a:srgbClr val="102238"/>
          </a:solidFill>
          <a:ln w="10160">
            <a:solidFill>
              <a:srgbClr val="6FB5FF"/>
            </a:solidFill>
            <a:prstDash val="solid"/>
          </a:ln>
        </p:spPr>
      </p:sp>
      <p:sp>
        <p:nvSpPr>
          <p:cNvPr id="39" name="Text 37"/>
          <p:cNvSpPr/>
          <p:nvPr/>
        </p:nvSpPr>
        <p:spPr>
          <a:xfrm>
            <a:off x="8458200" y="2185416"/>
            <a:ext cx="32552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03</a:t>
            </a:r>
            <a:endParaRPr lang="en-US" sz="680" dirty="0"/>
          </a:p>
        </p:txBody>
      </p:sp>
      <p:sp>
        <p:nvSpPr>
          <p:cNvPr id="40" name="Text 38"/>
          <p:cNvSpPr/>
          <p:nvPr/>
        </p:nvSpPr>
        <p:spPr>
          <a:xfrm>
            <a:off x="8458200" y="2313432"/>
            <a:ext cx="3255264" cy="329184"/>
          </a:xfrm>
          <a:prstGeom prst="rect">
            <a:avLst/>
          </a:prstGeom>
          <a:noFill/>
          <a:ln/>
        </p:spPr>
        <p:txBody>
          <a:bodyPr wrap="square" lIns="0" tIns="0" rIns="0" bIns="0" rtlCol="0" anchor="ctr">
            <a:normAutofit/>
          </a:bodyPr>
          <a:lstStyle/>
          <a:p>
            <a:pPr indent="0" marL="0">
              <a:buNone/>
            </a:pPr>
            <a:r>
              <a:rPr lang="en-US" sz="1340" b="1" dirty="0">
                <a:solidFill>
                  <a:srgbClr val="F7FBFF"/>
                </a:solidFill>
                <a:latin typeface="Inter Display" pitchFamily="34" charset="0"/>
                <a:ea typeface="Inter Display" pitchFamily="34" charset="-122"/>
                <a:cs typeface="Inter Display" pitchFamily="34" charset="-120"/>
              </a:rPr>
              <a:t>PLATFORM / MODEL PARTNER</a:t>
            </a:r>
            <a:endParaRPr lang="en-US" sz="1340" dirty="0"/>
          </a:p>
        </p:txBody>
      </p:sp>
      <p:sp>
        <p:nvSpPr>
          <p:cNvPr id="41" name="Text 39"/>
          <p:cNvSpPr/>
          <p:nvPr/>
        </p:nvSpPr>
        <p:spPr>
          <a:xfrm>
            <a:off x="8458200" y="2715768"/>
            <a:ext cx="3255264" cy="502920"/>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Integrate models, tools, environments, and evaluation surfaces.</a:t>
            </a:r>
            <a:endParaRPr lang="en-US" sz="840" dirty="0"/>
          </a:p>
        </p:txBody>
      </p:sp>
      <p:sp>
        <p:nvSpPr>
          <p:cNvPr id="42" name="Shape 40"/>
          <p:cNvSpPr/>
          <p:nvPr/>
        </p:nvSpPr>
        <p:spPr>
          <a:xfrm>
            <a:off x="658368" y="3611880"/>
            <a:ext cx="3566160" cy="1298448"/>
          </a:xfrm>
          <a:prstGeom prst="roundRect">
            <a:avLst>
              <a:gd name="adj" fmla="val 5634"/>
            </a:avLst>
          </a:prstGeom>
          <a:solidFill>
            <a:srgbClr val="102238"/>
          </a:solidFill>
          <a:ln w="10160">
            <a:solidFill>
              <a:srgbClr val="54D6D0"/>
            </a:solidFill>
            <a:prstDash val="solid"/>
          </a:ln>
        </p:spPr>
      </p:sp>
      <p:sp>
        <p:nvSpPr>
          <p:cNvPr id="43" name="Text 41"/>
          <p:cNvSpPr/>
          <p:nvPr/>
        </p:nvSpPr>
        <p:spPr>
          <a:xfrm>
            <a:off x="813816" y="3739896"/>
            <a:ext cx="32552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04</a:t>
            </a:r>
            <a:endParaRPr lang="en-US" sz="680" dirty="0"/>
          </a:p>
        </p:txBody>
      </p:sp>
      <p:sp>
        <p:nvSpPr>
          <p:cNvPr id="44" name="Text 42"/>
          <p:cNvSpPr/>
          <p:nvPr/>
        </p:nvSpPr>
        <p:spPr>
          <a:xfrm>
            <a:off x="813816" y="3867912"/>
            <a:ext cx="3255264" cy="329184"/>
          </a:xfrm>
          <a:prstGeom prst="rect">
            <a:avLst/>
          </a:prstGeom>
          <a:noFill/>
          <a:ln/>
        </p:spPr>
        <p:txBody>
          <a:bodyPr wrap="square" lIns="0" tIns="0" rIns="0" bIns="0" rtlCol="0" anchor="ctr">
            <a:normAutofit/>
          </a:bodyPr>
          <a:lstStyle/>
          <a:p>
            <a:pPr indent="0" marL="0">
              <a:buNone/>
            </a:pPr>
            <a:r>
              <a:rPr lang="en-US" sz="1340" b="1" dirty="0">
                <a:solidFill>
                  <a:srgbClr val="F7FBFF"/>
                </a:solidFill>
                <a:latin typeface="Inter Display" pitchFamily="34" charset="0"/>
                <a:ea typeface="Inter Display" pitchFamily="34" charset="-122"/>
                <a:cs typeface="Inter Display" pitchFamily="34" charset="-120"/>
              </a:rPr>
              <a:t>PROTOCOL / NODE PARTNER</a:t>
            </a:r>
            <a:endParaRPr lang="en-US" sz="1340" dirty="0"/>
          </a:p>
        </p:txBody>
      </p:sp>
      <p:sp>
        <p:nvSpPr>
          <p:cNvPr id="45" name="Text 43"/>
          <p:cNvSpPr/>
          <p:nvPr/>
        </p:nvSpPr>
        <p:spPr>
          <a:xfrm>
            <a:off x="813816" y="4270248"/>
            <a:ext cx="3255264" cy="502920"/>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Strengthen identity, replay, roots, validators, bonds, or settlement.</a:t>
            </a:r>
            <a:endParaRPr lang="en-US" sz="840" dirty="0"/>
          </a:p>
        </p:txBody>
      </p:sp>
      <p:sp>
        <p:nvSpPr>
          <p:cNvPr id="46" name="Shape 44"/>
          <p:cNvSpPr/>
          <p:nvPr/>
        </p:nvSpPr>
        <p:spPr>
          <a:xfrm>
            <a:off x="4480560" y="3611880"/>
            <a:ext cx="3566160" cy="1298448"/>
          </a:xfrm>
          <a:prstGeom prst="roundRect">
            <a:avLst>
              <a:gd name="adj" fmla="val 5634"/>
            </a:avLst>
          </a:prstGeom>
          <a:solidFill>
            <a:srgbClr val="102238"/>
          </a:solidFill>
          <a:ln w="10160">
            <a:solidFill>
              <a:srgbClr val="A99CFF"/>
            </a:solidFill>
            <a:prstDash val="solid"/>
          </a:ln>
        </p:spPr>
      </p:sp>
      <p:sp>
        <p:nvSpPr>
          <p:cNvPr id="47" name="Text 45"/>
          <p:cNvSpPr/>
          <p:nvPr/>
        </p:nvSpPr>
        <p:spPr>
          <a:xfrm>
            <a:off x="4636008" y="3739896"/>
            <a:ext cx="325526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05</a:t>
            </a:r>
            <a:endParaRPr lang="en-US" sz="680" dirty="0"/>
          </a:p>
        </p:txBody>
      </p:sp>
      <p:sp>
        <p:nvSpPr>
          <p:cNvPr id="48" name="Text 46"/>
          <p:cNvSpPr/>
          <p:nvPr/>
        </p:nvSpPr>
        <p:spPr>
          <a:xfrm>
            <a:off x="4636008" y="3867912"/>
            <a:ext cx="3255264" cy="329184"/>
          </a:xfrm>
          <a:prstGeom prst="rect">
            <a:avLst/>
          </a:prstGeom>
          <a:noFill/>
          <a:ln/>
        </p:spPr>
        <p:txBody>
          <a:bodyPr wrap="square" lIns="0" tIns="0" rIns="0" bIns="0" rtlCol="0" anchor="ctr">
            <a:normAutofit/>
          </a:bodyPr>
          <a:lstStyle/>
          <a:p>
            <a:pPr indent="0" marL="0">
              <a:buNone/>
            </a:pPr>
            <a:r>
              <a:rPr lang="en-US" sz="1340" b="1" dirty="0">
                <a:solidFill>
                  <a:srgbClr val="F7FBFF"/>
                </a:solidFill>
                <a:latin typeface="Inter Display" pitchFamily="34" charset="0"/>
                <a:ea typeface="Inter Display" pitchFamily="34" charset="-122"/>
                <a:cs typeface="Inter Display" pitchFamily="34" charset="-120"/>
              </a:rPr>
              <a:t>STRATEGIC CAPITAL PARTNER</a:t>
            </a:r>
            <a:endParaRPr lang="en-US" sz="1340" dirty="0"/>
          </a:p>
        </p:txBody>
      </p:sp>
      <p:sp>
        <p:nvSpPr>
          <p:cNvPr id="49" name="Text 47"/>
          <p:cNvSpPr/>
          <p:nvPr/>
        </p:nvSpPr>
        <p:spPr>
          <a:xfrm>
            <a:off x="4636008" y="4270248"/>
            <a:ext cx="3255264" cy="502920"/>
          </a:xfrm>
          <a:prstGeom prst="rect">
            <a:avLst/>
          </a:prstGeom>
          <a:noFill/>
          <a:ln/>
        </p:spPr>
        <p:txBody>
          <a:bodyPr wrap="square" lIns="0" tIns="0" rIns="0" bIns="0" rtlCol="0" anchor="t">
            <a:normAutofit/>
          </a:bodyPr>
          <a:lstStyle/>
          <a:p>
            <a:pPr indent="0" marL="0">
              <a:buNone/>
            </a:pPr>
            <a:r>
              <a:rPr lang="en-US" sz="840" dirty="0">
                <a:solidFill>
                  <a:srgbClr val="B9C5D2"/>
                </a:solidFill>
                <a:latin typeface="Inter" pitchFamily="34" charset="0"/>
                <a:ea typeface="Inter" pitchFamily="34" charset="-122"/>
                <a:cs typeface="Inter" pitchFamily="34" charset="-120"/>
              </a:rPr>
              <a:t>Fund mission portfolios, capacity, adoption, and external evidence.</a:t>
            </a:r>
            <a:endParaRPr lang="en-US" sz="840" dirty="0"/>
          </a:p>
        </p:txBody>
      </p:sp>
      <p:sp>
        <p:nvSpPr>
          <p:cNvPr id="50" name="Shape 48"/>
          <p:cNvSpPr/>
          <p:nvPr/>
        </p:nvSpPr>
        <p:spPr>
          <a:xfrm>
            <a:off x="4315968" y="5166360"/>
            <a:ext cx="3566160" cy="594360"/>
          </a:xfrm>
          <a:prstGeom prst="roundRect">
            <a:avLst>
              <a:gd name="adj" fmla="val 12308"/>
            </a:avLst>
          </a:prstGeom>
          <a:solidFill>
            <a:srgbClr val="102238"/>
          </a:solidFill>
          <a:ln w="10160">
            <a:solidFill>
              <a:srgbClr val="FF7584"/>
            </a:solidFill>
            <a:prstDash val="solid"/>
          </a:ln>
        </p:spPr>
      </p:sp>
      <p:sp>
        <p:nvSpPr>
          <p:cNvPr id="51" name="Text 49"/>
          <p:cNvSpPr/>
          <p:nvPr/>
        </p:nvSpPr>
        <p:spPr>
          <a:xfrm>
            <a:off x="4471416" y="5294376"/>
            <a:ext cx="32552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ENTRY REQUIREMENT</a:t>
            </a:r>
            <a:endParaRPr lang="en-US" sz="680" dirty="0"/>
          </a:p>
        </p:txBody>
      </p:sp>
      <p:sp>
        <p:nvSpPr>
          <p:cNvPr id="52" name="Text 50"/>
          <p:cNvSpPr/>
          <p:nvPr/>
        </p:nvSpPr>
        <p:spPr>
          <a:xfrm>
            <a:off x="4471416" y="5422392"/>
            <a:ext cx="3255264" cy="329184"/>
          </a:xfrm>
          <a:prstGeom prst="rect">
            <a:avLst/>
          </a:prstGeom>
          <a:noFill/>
          <a:ln/>
        </p:spPr>
        <p:txBody>
          <a:bodyPr wrap="square" lIns="0" tIns="0" rIns="0" bIns="0" rtlCol="0" anchor="ctr">
            <a:normAutofit/>
          </a:bodyPr>
          <a:lstStyle/>
          <a:p>
            <a:pPr indent="0" marL="0">
              <a:buNone/>
            </a:pPr>
            <a:r>
              <a:rPr lang="en-US" sz="1230" b="1" dirty="0">
                <a:solidFill>
                  <a:srgbClr val="F7FBFF"/>
                </a:solidFill>
                <a:latin typeface="Inter Display" pitchFamily="34" charset="0"/>
                <a:ea typeface="Inter Display" pitchFamily="34" charset="-122"/>
                <a:cs typeface="Inter Display" pitchFamily="34" charset="-120"/>
              </a:rPr>
              <a:t>A real objective + a reviewer + permission to measure.</a:t>
            </a:r>
            <a:endParaRPr lang="en-US" sz="123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CLOSE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partner call to action</a:t>
            </a:r>
            <a:endParaRPr lang="en-US" sz="640" dirty="0"/>
          </a:p>
        </p:txBody>
      </p:sp>
      <p:sp>
        <p:nvSpPr>
          <p:cNvPr id="28" name="Shape 26"/>
          <p:cNvSpPr/>
          <p:nvPr/>
        </p:nvSpPr>
        <p:spPr>
          <a:xfrm>
            <a:off x="658368" y="1170432"/>
            <a:ext cx="1417320" cy="301752"/>
          </a:xfrm>
          <a:prstGeom prst="roundRect">
            <a:avLst>
              <a:gd name="adj" fmla="val 24242"/>
            </a:avLst>
          </a:prstGeom>
          <a:solidFill>
            <a:srgbClr val="E7BD62">
              <a:alpha val="12000"/>
            </a:srgbClr>
          </a:solidFill>
          <a:ln w="10160">
            <a:solidFill>
              <a:srgbClr val="E7BD62">
                <a:alpha val="65000"/>
              </a:srgbClr>
            </a:solidFill>
            <a:prstDash val="solid"/>
          </a:ln>
        </p:spPr>
      </p:sp>
      <p:sp>
        <p:nvSpPr>
          <p:cNvPr id="29" name="Text 27"/>
          <p:cNvSpPr/>
          <p:nvPr/>
        </p:nvSpPr>
        <p:spPr>
          <a:xfrm>
            <a:off x="740664" y="1252728"/>
            <a:ext cx="1252728" cy="109728"/>
          </a:xfrm>
          <a:prstGeom prst="rect">
            <a:avLst/>
          </a:prstGeom>
          <a:noFill/>
          <a:ln/>
        </p:spPr>
        <p:txBody>
          <a:bodyPr wrap="square" lIns="0" tIns="0" rIns="0" bIns="0" rtlCol="0" anchor="ctr"/>
          <a:lstStyle/>
          <a:p>
            <a:pPr algn="ctr" indent="0" marL="0">
              <a:buNone/>
            </a:pPr>
            <a:r>
              <a:rPr lang="en-US" sz="720" b="1" spc="130" kern="0" dirty="0">
                <a:solidFill>
                  <a:srgbClr val="E7BD62"/>
                </a:solidFill>
                <a:latin typeface="Inter" pitchFamily="34" charset="0"/>
                <a:ea typeface="Inter" pitchFamily="34" charset="-122"/>
                <a:cs typeface="Inter" pitchFamily="34" charset="-120"/>
              </a:rPr>
              <a:t>THE NEXT STEP</a:t>
            </a:r>
            <a:endParaRPr lang="en-US" sz="720" dirty="0"/>
          </a:p>
        </p:txBody>
      </p:sp>
      <p:sp>
        <p:nvSpPr>
          <p:cNvPr id="30" name="Text 28"/>
          <p:cNvSpPr/>
          <p:nvPr/>
        </p:nvSpPr>
        <p:spPr>
          <a:xfrm>
            <a:off x="658368" y="1664208"/>
            <a:ext cx="6766560" cy="1508760"/>
          </a:xfrm>
          <a:prstGeom prst="rect">
            <a:avLst/>
          </a:prstGeom>
          <a:noFill/>
          <a:ln/>
        </p:spPr>
        <p:txBody>
          <a:bodyPr wrap="square" lIns="0" tIns="0" rIns="0" bIns="0" rtlCol="0" anchor="ctr">
            <a:normAutofit/>
          </a:bodyPr>
          <a:lstStyle/>
          <a:p>
            <a:pPr indent="0" marL="0">
              <a:buNone/>
            </a:pPr>
            <a:r>
              <a:rPr lang="en-US" sz="4300" b="1" dirty="0">
                <a:solidFill>
                  <a:srgbClr val="F7FBFF"/>
                </a:solidFill>
                <a:latin typeface="Inter Display" pitchFamily="34" charset="0"/>
                <a:ea typeface="Inter Display" pitchFamily="34" charset="-122"/>
                <a:cs typeface="Inter Display" pitchFamily="34" charset="-120"/>
              </a:rPr>
              <a:t>Give us one decision</a:t>
            </a:r>
            <a:endParaRPr lang="en-US" sz="4300" dirty="0"/>
          </a:p>
          <a:p>
            <a:pPr indent="0" marL="0">
              <a:buNone/>
            </a:pPr>
            <a:r>
              <a:rPr lang="en-US" sz="4300" b="1" dirty="0">
                <a:solidFill>
                  <a:srgbClr val="F7FBFF"/>
                </a:solidFill>
                <a:latin typeface="Inter Display" pitchFamily="34" charset="0"/>
                <a:ea typeface="Inter Display" pitchFamily="34" charset="-122"/>
                <a:cs typeface="Inter Display" pitchFamily="34" charset="-120"/>
              </a:rPr>
              <a:t>that matters.</a:t>
            </a:r>
            <a:endParaRPr lang="en-US" sz="4300" dirty="0"/>
          </a:p>
        </p:txBody>
      </p:sp>
      <p:sp>
        <p:nvSpPr>
          <p:cNvPr id="31" name="Text 29"/>
          <p:cNvSpPr/>
          <p:nvPr/>
        </p:nvSpPr>
        <p:spPr>
          <a:xfrm>
            <a:off x="685800" y="3401568"/>
            <a:ext cx="6583680" cy="1051560"/>
          </a:xfrm>
          <a:prstGeom prst="rect">
            <a:avLst/>
          </a:prstGeom>
          <a:noFill/>
          <a:ln/>
        </p:spPr>
        <p:txBody>
          <a:bodyPr wrap="square" lIns="0" tIns="0" rIns="0" bIns="0" rtlCol="0" anchor="ctr">
            <a:normAutofit/>
          </a:bodyPr>
          <a:lstStyle/>
          <a:p>
            <a:pPr indent="0" marL="0">
              <a:buNone/>
            </a:pPr>
            <a:r>
              <a:rPr lang="en-US" sz="1400" dirty="0">
                <a:solidFill>
                  <a:srgbClr val="B9C5D2"/>
                </a:solidFill>
                <a:latin typeface="Inter" pitchFamily="34" charset="0"/>
                <a:ea typeface="Inter" pitchFamily="34" charset="-122"/>
                <a:cs typeface="Inter" pitchFamily="34" charset="-120"/>
              </a:rPr>
              <a:t>We will turn it into a bounded Proof Mission, make every material claim and missing proof explicit, produce a reviewer-ready Evidence Docket, preserve what fails, and test whether any accepted capability improves the next mission.</a:t>
            </a:r>
            <a:endParaRPr lang="en-US" sz="1400" dirty="0"/>
          </a:p>
        </p:txBody>
      </p:sp>
      <p:sp>
        <p:nvSpPr>
          <p:cNvPr id="32" name="Text 30"/>
          <p:cNvSpPr/>
          <p:nvPr/>
        </p:nvSpPr>
        <p:spPr>
          <a:xfrm>
            <a:off x="685800" y="4983480"/>
            <a:ext cx="4663440" cy="502920"/>
          </a:xfrm>
          <a:prstGeom prst="rect">
            <a:avLst/>
          </a:prstGeom>
          <a:noFill/>
          <a:ln/>
        </p:spPr>
        <p:txBody>
          <a:bodyPr wrap="square" lIns="0" tIns="0" rIns="0" bIns="0" rtlCol="0" anchor="ctr"/>
          <a:lstStyle/>
          <a:p>
            <a:pPr indent="0" marL="0">
              <a:buNone/>
            </a:pPr>
            <a:r>
              <a:rPr lang="en-US" sz="2700" b="1" spc="150" kern="0" dirty="0">
                <a:solidFill>
                  <a:srgbClr val="E7BD62"/>
                </a:solidFill>
                <a:latin typeface="Inter Display" pitchFamily="34" charset="0"/>
                <a:ea typeface="Inter Display" pitchFamily="34" charset="-122"/>
                <a:cs typeface="Inter Display" pitchFamily="34" charset="-120"/>
              </a:rPr>
              <a:t>NOW WE PROVE IT.</a:t>
            </a:r>
            <a:endParaRPr lang="en-US" sz="2700" dirty="0"/>
          </a:p>
        </p:txBody>
      </p:sp>
      <p:sp>
        <p:nvSpPr>
          <p:cNvPr id="33" name="Shape 31"/>
          <p:cNvSpPr/>
          <p:nvPr/>
        </p:nvSpPr>
        <p:spPr>
          <a:xfrm>
            <a:off x="8275320" y="1481328"/>
            <a:ext cx="411480" cy="411480"/>
          </a:xfrm>
          <a:prstGeom prst="ellipse">
            <a:avLst/>
          </a:prstGeom>
          <a:solidFill>
            <a:srgbClr val="102238"/>
          </a:solidFill>
          <a:ln w="12700">
            <a:solidFill>
              <a:srgbClr val="E7BD62"/>
            </a:solidFill>
            <a:prstDash val="solid"/>
          </a:ln>
        </p:spPr>
      </p:sp>
      <p:sp>
        <p:nvSpPr>
          <p:cNvPr id="34" name="Text 32"/>
          <p:cNvSpPr/>
          <p:nvPr/>
        </p:nvSpPr>
        <p:spPr>
          <a:xfrm>
            <a:off x="8366760" y="1609344"/>
            <a:ext cx="228600" cy="91440"/>
          </a:xfrm>
          <a:prstGeom prst="rect">
            <a:avLst/>
          </a:prstGeom>
          <a:noFill/>
          <a:ln/>
        </p:spPr>
        <p:txBody>
          <a:bodyPr wrap="square" lIns="0" tIns="0" rIns="0" bIns="0" rtlCol="0" anchor="ctr"/>
          <a:lstStyle/>
          <a:p>
            <a:pPr algn="ctr" indent="0" marL="0">
              <a:buNone/>
            </a:pPr>
            <a:r>
              <a:rPr lang="en-US" sz="690" b="1" dirty="0">
                <a:solidFill>
                  <a:srgbClr val="E7BD62"/>
                </a:solidFill>
                <a:latin typeface="Inter" pitchFamily="34" charset="0"/>
                <a:ea typeface="Inter" pitchFamily="34" charset="-122"/>
                <a:cs typeface="Inter" pitchFamily="34" charset="-120"/>
              </a:rPr>
              <a:t>1</a:t>
            </a:r>
            <a:endParaRPr lang="en-US" sz="690" dirty="0"/>
          </a:p>
        </p:txBody>
      </p:sp>
      <p:sp>
        <p:nvSpPr>
          <p:cNvPr id="35" name="Text 33"/>
          <p:cNvSpPr/>
          <p:nvPr/>
        </p:nvSpPr>
        <p:spPr>
          <a:xfrm>
            <a:off x="8869680" y="1554480"/>
            <a:ext cx="2331720" cy="201168"/>
          </a:xfrm>
          <a:prstGeom prst="rect">
            <a:avLst/>
          </a:prstGeom>
          <a:noFill/>
          <a:ln/>
        </p:spPr>
        <p:txBody>
          <a:bodyPr wrap="square" lIns="0" tIns="0" rIns="0" bIns="0" rtlCol="0" anchor="ct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Choose objective</a:t>
            </a:r>
            <a:endParaRPr lang="en-US" sz="1250" dirty="0"/>
          </a:p>
        </p:txBody>
      </p:sp>
      <p:sp>
        <p:nvSpPr>
          <p:cNvPr id="36" name="Shape 34"/>
          <p:cNvSpPr/>
          <p:nvPr/>
        </p:nvSpPr>
        <p:spPr>
          <a:xfrm>
            <a:off x="8476488" y="1892808"/>
            <a:ext cx="0" cy="393192"/>
          </a:xfrm>
          <a:prstGeom prst="line">
            <a:avLst/>
          </a:prstGeom>
          <a:noFill/>
          <a:ln w="12700">
            <a:solidFill>
              <a:srgbClr val="E7BD62"/>
            </a:solidFill>
            <a:prstDash val="solid"/>
          </a:ln>
        </p:spPr>
      </p:sp>
      <p:sp>
        <p:nvSpPr>
          <p:cNvPr id="37" name="Shape 35"/>
          <p:cNvSpPr/>
          <p:nvPr/>
        </p:nvSpPr>
        <p:spPr>
          <a:xfrm>
            <a:off x="8275320" y="2286000"/>
            <a:ext cx="411480" cy="411480"/>
          </a:xfrm>
          <a:prstGeom prst="ellipse">
            <a:avLst/>
          </a:prstGeom>
          <a:solidFill>
            <a:srgbClr val="102238"/>
          </a:solidFill>
          <a:ln w="12700">
            <a:solidFill>
              <a:srgbClr val="E7BD62"/>
            </a:solidFill>
            <a:prstDash val="solid"/>
          </a:ln>
        </p:spPr>
      </p:sp>
      <p:sp>
        <p:nvSpPr>
          <p:cNvPr id="38" name="Text 36"/>
          <p:cNvSpPr/>
          <p:nvPr/>
        </p:nvSpPr>
        <p:spPr>
          <a:xfrm>
            <a:off x="8366760" y="2414016"/>
            <a:ext cx="228600" cy="91440"/>
          </a:xfrm>
          <a:prstGeom prst="rect">
            <a:avLst/>
          </a:prstGeom>
          <a:noFill/>
          <a:ln/>
        </p:spPr>
        <p:txBody>
          <a:bodyPr wrap="square" lIns="0" tIns="0" rIns="0" bIns="0" rtlCol="0" anchor="ctr"/>
          <a:lstStyle/>
          <a:p>
            <a:pPr algn="ctr" indent="0" marL="0">
              <a:buNone/>
            </a:pPr>
            <a:r>
              <a:rPr lang="en-US" sz="690" b="1" dirty="0">
                <a:solidFill>
                  <a:srgbClr val="E7BD62"/>
                </a:solidFill>
                <a:latin typeface="Inter" pitchFamily="34" charset="0"/>
                <a:ea typeface="Inter" pitchFamily="34" charset="-122"/>
                <a:cs typeface="Inter" pitchFamily="34" charset="-120"/>
              </a:rPr>
              <a:t>2</a:t>
            </a:r>
            <a:endParaRPr lang="en-US" sz="690" dirty="0"/>
          </a:p>
        </p:txBody>
      </p:sp>
      <p:sp>
        <p:nvSpPr>
          <p:cNvPr id="39" name="Text 37"/>
          <p:cNvSpPr/>
          <p:nvPr/>
        </p:nvSpPr>
        <p:spPr>
          <a:xfrm>
            <a:off x="8869680" y="2359152"/>
            <a:ext cx="2331720" cy="201168"/>
          </a:xfrm>
          <a:prstGeom prst="rect">
            <a:avLst/>
          </a:prstGeom>
          <a:noFill/>
          <a:ln/>
        </p:spPr>
        <p:txBody>
          <a:bodyPr wrap="square" lIns="0" tIns="0" rIns="0" bIns="0" rtlCol="0" anchor="ct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Nominate reviewer</a:t>
            </a:r>
            <a:endParaRPr lang="en-US" sz="1250" dirty="0"/>
          </a:p>
        </p:txBody>
      </p:sp>
      <p:sp>
        <p:nvSpPr>
          <p:cNvPr id="40" name="Shape 38"/>
          <p:cNvSpPr/>
          <p:nvPr/>
        </p:nvSpPr>
        <p:spPr>
          <a:xfrm>
            <a:off x="8476488" y="2697480"/>
            <a:ext cx="0" cy="393192"/>
          </a:xfrm>
          <a:prstGeom prst="line">
            <a:avLst/>
          </a:prstGeom>
          <a:noFill/>
          <a:ln w="12700">
            <a:solidFill>
              <a:srgbClr val="E7BD62"/>
            </a:solidFill>
            <a:prstDash val="solid"/>
          </a:ln>
        </p:spPr>
      </p:sp>
      <p:sp>
        <p:nvSpPr>
          <p:cNvPr id="41" name="Shape 39"/>
          <p:cNvSpPr/>
          <p:nvPr/>
        </p:nvSpPr>
        <p:spPr>
          <a:xfrm>
            <a:off x="8275320" y="3090672"/>
            <a:ext cx="411480" cy="411480"/>
          </a:xfrm>
          <a:prstGeom prst="ellipse">
            <a:avLst/>
          </a:prstGeom>
          <a:solidFill>
            <a:srgbClr val="102238"/>
          </a:solidFill>
          <a:ln w="12700">
            <a:solidFill>
              <a:srgbClr val="E7BD62"/>
            </a:solidFill>
            <a:prstDash val="solid"/>
          </a:ln>
        </p:spPr>
      </p:sp>
      <p:sp>
        <p:nvSpPr>
          <p:cNvPr id="42" name="Text 40"/>
          <p:cNvSpPr/>
          <p:nvPr/>
        </p:nvSpPr>
        <p:spPr>
          <a:xfrm>
            <a:off x="8366760" y="3218688"/>
            <a:ext cx="228600" cy="91440"/>
          </a:xfrm>
          <a:prstGeom prst="rect">
            <a:avLst/>
          </a:prstGeom>
          <a:noFill/>
          <a:ln/>
        </p:spPr>
        <p:txBody>
          <a:bodyPr wrap="square" lIns="0" tIns="0" rIns="0" bIns="0" rtlCol="0" anchor="ctr"/>
          <a:lstStyle/>
          <a:p>
            <a:pPr algn="ctr" indent="0" marL="0">
              <a:buNone/>
            </a:pPr>
            <a:r>
              <a:rPr lang="en-US" sz="690" b="1" dirty="0">
                <a:solidFill>
                  <a:srgbClr val="E7BD62"/>
                </a:solidFill>
                <a:latin typeface="Inter" pitchFamily="34" charset="0"/>
                <a:ea typeface="Inter" pitchFamily="34" charset="-122"/>
                <a:cs typeface="Inter" pitchFamily="34" charset="-120"/>
              </a:rPr>
              <a:t>3</a:t>
            </a:r>
            <a:endParaRPr lang="en-US" sz="690" dirty="0"/>
          </a:p>
        </p:txBody>
      </p:sp>
      <p:sp>
        <p:nvSpPr>
          <p:cNvPr id="43" name="Text 41"/>
          <p:cNvSpPr/>
          <p:nvPr/>
        </p:nvSpPr>
        <p:spPr>
          <a:xfrm>
            <a:off x="8869680" y="3163824"/>
            <a:ext cx="2331720" cy="201168"/>
          </a:xfrm>
          <a:prstGeom prst="rect">
            <a:avLst/>
          </a:prstGeom>
          <a:noFill/>
          <a:ln/>
        </p:spPr>
        <p:txBody>
          <a:bodyPr wrap="square" lIns="0" tIns="0" rIns="0" bIns="0" rtlCol="0" anchor="ct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Freeze mission</a:t>
            </a:r>
            <a:endParaRPr lang="en-US" sz="1250" dirty="0"/>
          </a:p>
        </p:txBody>
      </p:sp>
      <p:sp>
        <p:nvSpPr>
          <p:cNvPr id="44" name="Shape 42"/>
          <p:cNvSpPr/>
          <p:nvPr/>
        </p:nvSpPr>
        <p:spPr>
          <a:xfrm>
            <a:off x="8476488" y="3502152"/>
            <a:ext cx="0" cy="393192"/>
          </a:xfrm>
          <a:prstGeom prst="line">
            <a:avLst/>
          </a:prstGeom>
          <a:noFill/>
          <a:ln w="12700">
            <a:solidFill>
              <a:srgbClr val="E7BD62"/>
            </a:solidFill>
            <a:prstDash val="solid"/>
          </a:ln>
        </p:spPr>
      </p:sp>
      <p:sp>
        <p:nvSpPr>
          <p:cNvPr id="45" name="Shape 43"/>
          <p:cNvSpPr/>
          <p:nvPr/>
        </p:nvSpPr>
        <p:spPr>
          <a:xfrm>
            <a:off x="8275320" y="3895344"/>
            <a:ext cx="411480" cy="411480"/>
          </a:xfrm>
          <a:prstGeom prst="ellipse">
            <a:avLst/>
          </a:prstGeom>
          <a:solidFill>
            <a:srgbClr val="102238"/>
          </a:solidFill>
          <a:ln w="12700">
            <a:solidFill>
              <a:srgbClr val="E7BD62"/>
            </a:solidFill>
            <a:prstDash val="solid"/>
          </a:ln>
        </p:spPr>
      </p:sp>
      <p:sp>
        <p:nvSpPr>
          <p:cNvPr id="46" name="Text 44"/>
          <p:cNvSpPr/>
          <p:nvPr/>
        </p:nvSpPr>
        <p:spPr>
          <a:xfrm>
            <a:off x="8366760" y="4023360"/>
            <a:ext cx="228600" cy="91440"/>
          </a:xfrm>
          <a:prstGeom prst="rect">
            <a:avLst/>
          </a:prstGeom>
          <a:noFill/>
          <a:ln/>
        </p:spPr>
        <p:txBody>
          <a:bodyPr wrap="square" lIns="0" tIns="0" rIns="0" bIns="0" rtlCol="0" anchor="ctr"/>
          <a:lstStyle/>
          <a:p>
            <a:pPr algn="ctr" indent="0" marL="0">
              <a:buNone/>
            </a:pPr>
            <a:r>
              <a:rPr lang="en-US" sz="690" b="1" dirty="0">
                <a:solidFill>
                  <a:srgbClr val="E7BD62"/>
                </a:solidFill>
                <a:latin typeface="Inter" pitchFamily="34" charset="0"/>
                <a:ea typeface="Inter" pitchFamily="34" charset="-122"/>
                <a:cs typeface="Inter" pitchFamily="34" charset="-120"/>
              </a:rPr>
              <a:t>4</a:t>
            </a:r>
            <a:endParaRPr lang="en-US" sz="690" dirty="0"/>
          </a:p>
        </p:txBody>
      </p:sp>
      <p:sp>
        <p:nvSpPr>
          <p:cNvPr id="47" name="Text 45"/>
          <p:cNvSpPr/>
          <p:nvPr/>
        </p:nvSpPr>
        <p:spPr>
          <a:xfrm>
            <a:off x="8869680" y="3968496"/>
            <a:ext cx="2331720" cy="201168"/>
          </a:xfrm>
          <a:prstGeom prst="rect">
            <a:avLst/>
          </a:prstGeom>
          <a:noFill/>
          <a:ln/>
        </p:spPr>
        <p:txBody>
          <a:bodyPr wrap="square" lIns="0" tIns="0" rIns="0" bIns="0" rtlCol="0" anchor="ct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Run proof loop</a:t>
            </a:r>
            <a:endParaRPr lang="en-US" sz="1250" dirty="0"/>
          </a:p>
        </p:txBody>
      </p:sp>
      <p:sp>
        <p:nvSpPr>
          <p:cNvPr id="48" name="Shape 46"/>
          <p:cNvSpPr/>
          <p:nvPr/>
        </p:nvSpPr>
        <p:spPr>
          <a:xfrm>
            <a:off x="8476488" y="4306824"/>
            <a:ext cx="0" cy="393192"/>
          </a:xfrm>
          <a:prstGeom prst="line">
            <a:avLst/>
          </a:prstGeom>
          <a:noFill/>
          <a:ln w="12700">
            <a:solidFill>
              <a:srgbClr val="E7BD62"/>
            </a:solidFill>
            <a:prstDash val="solid"/>
          </a:ln>
        </p:spPr>
      </p:sp>
      <p:sp>
        <p:nvSpPr>
          <p:cNvPr id="49" name="Shape 47"/>
          <p:cNvSpPr/>
          <p:nvPr/>
        </p:nvSpPr>
        <p:spPr>
          <a:xfrm>
            <a:off x="8275320" y="4700016"/>
            <a:ext cx="411480" cy="411480"/>
          </a:xfrm>
          <a:prstGeom prst="ellipse">
            <a:avLst/>
          </a:prstGeom>
          <a:solidFill>
            <a:srgbClr val="43D79B"/>
          </a:solidFill>
          <a:ln w="12700">
            <a:solidFill>
              <a:srgbClr val="43D79B"/>
            </a:solidFill>
            <a:prstDash val="solid"/>
          </a:ln>
        </p:spPr>
      </p:sp>
      <p:sp>
        <p:nvSpPr>
          <p:cNvPr id="50" name="Text 48"/>
          <p:cNvSpPr/>
          <p:nvPr/>
        </p:nvSpPr>
        <p:spPr>
          <a:xfrm>
            <a:off x="8366760" y="4828032"/>
            <a:ext cx="228600" cy="91440"/>
          </a:xfrm>
          <a:prstGeom prst="rect">
            <a:avLst/>
          </a:prstGeom>
          <a:noFill/>
          <a:ln/>
        </p:spPr>
        <p:txBody>
          <a:bodyPr wrap="square" lIns="0" tIns="0" rIns="0" bIns="0" rtlCol="0" anchor="ctr"/>
          <a:lstStyle/>
          <a:p>
            <a:pPr algn="ctr" indent="0" marL="0">
              <a:buNone/>
            </a:pPr>
            <a:r>
              <a:rPr lang="en-US" sz="690" b="1" dirty="0">
                <a:solidFill>
                  <a:srgbClr val="14273D"/>
                </a:solidFill>
                <a:latin typeface="Inter" pitchFamily="34" charset="0"/>
                <a:ea typeface="Inter" pitchFamily="34" charset="-122"/>
                <a:cs typeface="Inter" pitchFamily="34" charset="-120"/>
              </a:rPr>
              <a:t>5</a:t>
            </a:r>
            <a:endParaRPr lang="en-US" sz="690" dirty="0"/>
          </a:p>
        </p:txBody>
      </p:sp>
      <p:sp>
        <p:nvSpPr>
          <p:cNvPr id="51" name="Text 49"/>
          <p:cNvSpPr/>
          <p:nvPr/>
        </p:nvSpPr>
        <p:spPr>
          <a:xfrm>
            <a:off x="8869680" y="4773168"/>
            <a:ext cx="2331720" cy="201168"/>
          </a:xfrm>
          <a:prstGeom prst="rect">
            <a:avLst/>
          </a:prstGeom>
          <a:noFill/>
          <a:ln/>
        </p:spPr>
        <p:txBody>
          <a:bodyPr wrap="square" lIns="0" tIns="0" rIns="0" bIns="0" rtlCol="0" anchor="ct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Measure next mission</a:t>
            </a:r>
            <a:endParaRPr lang="en-US" sz="12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APPENDIX A</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Objection handling: answer with boundaries and evidence.</a:t>
            </a:r>
            <a:endParaRPr lang="en-US" sz="3100" dirty="0"/>
          </a:p>
        </p:txBody>
      </p:sp>
      <p:sp>
        <p:nvSpPr>
          <p:cNvPr id="29" name="Shape 27"/>
          <p:cNvSpPr/>
          <p:nvPr/>
        </p:nvSpPr>
        <p:spPr>
          <a:xfrm>
            <a:off x="640080" y="1664208"/>
            <a:ext cx="5166360" cy="1261872"/>
          </a:xfrm>
          <a:prstGeom prst="roundRect">
            <a:avLst>
              <a:gd name="adj" fmla="val 5797"/>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0" name="Text 28"/>
          <p:cNvSpPr/>
          <p:nvPr/>
        </p:nvSpPr>
        <p:spPr>
          <a:xfrm>
            <a:off x="795528" y="1792224"/>
            <a:ext cx="48554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“Is this just another agent platform?”</a:t>
            </a:r>
            <a:endParaRPr lang="en-US" sz="680" dirty="0"/>
          </a:p>
        </p:txBody>
      </p:sp>
      <p:sp>
        <p:nvSpPr>
          <p:cNvPr id="31" name="Text 29"/>
          <p:cNvSpPr/>
          <p:nvPr/>
        </p:nvSpPr>
        <p:spPr>
          <a:xfrm>
            <a:off x="795528" y="1920240"/>
            <a:ext cx="4855464"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No. Agents produce candidate work. GoalOS governs what earns action, memory, settlement, and future influence.</a:t>
            </a:r>
            <a:endParaRPr lang="en-US" sz="1250" dirty="0"/>
          </a:p>
        </p:txBody>
      </p:sp>
      <p:sp>
        <p:nvSpPr>
          <p:cNvPr id="32" name="Shape 30"/>
          <p:cNvSpPr/>
          <p:nvPr/>
        </p:nvSpPr>
        <p:spPr>
          <a:xfrm>
            <a:off x="6172200" y="1664208"/>
            <a:ext cx="5166360" cy="1261872"/>
          </a:xfrm>
          <a:prstGeom prst="roundRect">
            <a:avLst>
              <a:gd name="adj" fmla="val 5797"/>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3" name="Text 31"/>
          <p:cNvSpPr/>
          <p:nvPr/>
        </p:nvSpPr>
        <p:spPr>
          <a:xfrm>
            <a:off x="6327648" y="1792224"/>
            <a:ext cx="48554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“Who decides truth?”</a:t>
            </a:r>
            <a:endParaRPr lang="en-US" sz="680" dirty="0"/>
          </a:p>
        </p:txBody>
      </p:sp>
      <p:sp>
        <p:nvSpPr>
          <p:cNvPr id="34" name="Text 32"/>
          <p:cNvSpPr/>
          <p:nvPr/>
        </p:nvSpPr>
        <p:spPr>
          <a:xfrm>
            <a:off x="6327648" y="1920240"/>
            <a:ext cx="4855464"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No universal oracle. The Mission Contract specifies evidence, validators, reviewer routes, challenge, and remaining uncertainty.</a:t>
            </a:r>
            <a:endParaRPr lang="en-US" sz="1250" dirty="0"/>
          </a:p>
        </p:txBody>
      </p:sp>
      <p:sp>
        <p:nvSpPr>
          <p:cNvPr id="35" name="Shape 33"/>
          <p:cNvSpPr/>
          <p:nvPr/>
        </p:nvSpPr>
        <p:spPr>
          <a:xfrm>
            <a:off x="640080" y="3172968"/>
            <a:ext cx="5166360" cy="1261872"/>
          </a:xfrm>
          <a:prstGeom prst="roundRect">
            <a:avLst>
              <a:gd name="adj" fmla="val 5797"/>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6" name="Text 34"/>
          <p:cNvSpPr/>
          <p:nvPr/>
        </p:nvSpPr>
        <p:spPr>
          <a:xfrm>
            <a:off x="795528" y="3300984"/>
            <a:ext cx="48554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“Why blockchain?”</a:t>
            </a:r>
            <a:endParaRPr lang="en-US" sz="680" dirty="0"/>
          </a:p>
        </p:txBody>
      </p:sp>
      <p:sp>
        <p:nvSpPr>
          <p:cNvPr id="37" name="Text 35"/>
          <p:cNvSpPr/>
          <p:nvPr/>
        </p:nvSpPr>
        <p:spPr>
          <a:xfrm>
            <a:off x="795528" y="3429000"/>
            <a:ext cx="4855464"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Optional commitment and coordination rail for roots, signatures, attestations, rights, and settlement—not for plaintext intelligence.</a:t>
            </a:r>
            <a:endParaRPr lang="en-US" sz="1250" dirty="0"/>
          </a:p>
        </p:txBody>
      </p:sp>
      <p:sp>
        <p:nvSpPr>
          <p:cNvPr id="38" name="Shape 36"/>
          <p:cNvSpPr/>
          <p:nvPr/>
        </p:nvSpPr>
        <p:spPr>
          <a:xfrm>
            <a:off x="6172200" y="3172968"/>
            <a:ext cx="5166360" cy="1261872"/>
          </a:xfrm>
          <a:prstGeom prst="roundRect">
            <a:avLst>
              <a:gd name="adj" fmla="val 5797"/>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6327648" y="3300984"/>
            <a:ext cx="48554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“Is this AGI or ASI?”</a:t>
            </a:r>
            <a:endParaRPr lang="en-US" sz="680" dirty="0"/>
          </a:p>
        </p:txBody>
      </p:sp>
      <p:sp>
        <p:nvSpPr>
          <p:cNvPr id="40" name="Text 38"/>
          <p:cNvSpPr/>
          <p:nvPr/>
        </p:nvSpPr>
        <p:spPr>
          <a:xfrm>
            <a:off x="6327648" y="3429000"/>
            <a:ext cx="4855464"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No achieved-AGI or achieved-ASI claim. GoalOS is a proof-governed institutional substrate and evaluation program.</a:t>
            </a:r>
            <a:endParaRPr lang="en-US" sz="1250" dirty="0"/>
          </a:p>
        </p:txBody>
      </p:sp>
      <p:sp>
        <p:nvSpPr>
          <p:cNvPr id="41" name="Shape 39"/>
          <p:cNvSpPr/>
          <p:nvPr/>
        </p:nvSpPr>
        <p:spPr>
          <a:xfrm>
            <a:off x="640080" y="4681728"/>
            <a:ext cx="5166360" cy="1261872"/>
          </a:xfrm>
          <a:prstGeom prst="roundRect">
            <a:avLst>
              <a:gd name="adj" fmla="val 5797"/>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42" name="Text 40"/>
          <p:cNvSpPr/>
          <p:nvPr/>
        </p:nvSpPr>
        <p:spPr>
          <a:xfrm>
            <a:off x="795528" y="4809744"/>
            <a:ext cx="48554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“Can it improve itself?”</a:t>
            </a:r>
            <a:endParaRPr lang="en-US" sz="680" dirty="0"/>
          </a:p>
        </p:txBody>
      </p:sp>
      <p:sp>
        <p:nvSpPr>
          <p:cNvPr id="43" name="Text 41"/>
          <p:cNvSpPr/>
          <p:nvPr/>
        </p:nvSpPr>
        <p:spPr>
          <a:xfrm>
            <a:off x="795528" y="4937760"/>
            <a:ext cx="4855464"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Only through baseline comparison, executed evidence, canaries, delayed outcomes, challenge, and rollback.</a:t>
            </a:r>
            <a:endParaRPr lang="en-US" sz="1250" dirty="0"/>
          </a:p>
        </p:txBody>
      </p:sp>
      <p:sp>
        <p:nvSpPr>
          <p:cNvPr id="44" name="Shape 42"/>
          <p:cNvSpPr/>
          <p:nvPr/>
        </p:nvSpPr>
        <p:spPr>
          <a:xfrm>
            <a:off x="6172200" y="4681728"/>
            <a:ext cx="5166360" cy="1261872"/>
          </a:xfrm>
          <a:prstGeom prst="roundRect">
            <a:avLst>
              <a:gd name="adj" fmla="val 5797"/>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45" name="Text 43"/>
          <p:cNvSpPr/>
          <p:nvPr/>
        </p:nvSpPr>
        <p:spPr>
          <a:xfrm>
            <a:off x="6327648" y="4809744"/>
            <a:ext cx="48554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“What is real today?”</a:t>
            </a:r>
            <a:endParaRPr lang="en-US" sz="680" dirty="0"/>
          </a:p>
        </p:txBody>
      </p:sp>
      <p:sp>
        <p:nvSpPr>
          <p:cNvPr id="46" name="Text 44"/>
          <p:cNvSpPr/>
          <p:nvPr/>
        </p:nvSpPr>
        <p:spPr>
          <a:xfrm>
            <a:off x="6327648" y="4937760"/>
            <a:ext cx="4855464"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Canonical specification, local reference implementation, tests, proof artifacts, and synthetic regression mechanics. External field proof remains a gate.</a:t>
            </a:r>
            <a:endParaRPr lang="en-US" sz="12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APPENDIX B</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Partner diligence questions worth asking.</a:t>
            </a:r>
            <a:endParaRPr lang="en-US" sz="3100" dirty="0"/>
          </a:p>
        </p:txBody>
      </p:sp>
      <p:sp>
        <p:nvSpPr>
          <p:cNvPr id="29" name="Shape 27"/>
          <p:cNvSpPr/>
          <p:nvPr/>
        </p:nvSpPr>
        <p:spPr>
          <a:xfrm>
            <a:off x="685800" y="1682496"/>
            <a:ext cx="256032" cy="256032"/>
          </a:xfrm>
          <a:prstGeom prst="ellipse">
            <a:avLst/>
          </a:prstGeom>
          <a:solidFill>
            <a:srgbClr val="E7BD62"/>
          </a:solidFill>
          <a:ln w="6350">
            <a:solidFill>
              <a:srgbClr val="E7BD62"/>
            </a:solidFill>
            <a:prstDash val="solid"/>
          </a:ln>
        </p:spPr>
      </p:sp>
      <p:sp>
        <p:nvSpPr>
          <p:cNvPr id="30" name="Text 28"/>
          <p:cNvSpPr/>
          <p:nvPr/>
        </p:nvSpPr>
        <p:spPr>
          <a:xfrm>
            <a:off x="740664" y="1746504"/>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1</a:t>
            </a:r>
            <a:endParaRPr lang="en-US" sz="570" dirty="0"/>
          </a:p>
        </p:txBody>
      </p:sp>
      <p:sp>
        <p:nvSpPr>
          <p:cNvPr id="31" name="Text 29"/>
          <p:cNvSpPr/>
          <p:nvPr/>
        </p:nvSpPr>
        <p:spPr>
          <a:xfrm>
            <a:off x="1051560" y="1645920"/>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Which consequential decision should the first mission support?</a:t>
            </a:r>
            <a:endParaRPr lang="en-US" sz="920" dirty="0"/>
          </a:p>
        </p:txBody>
      </p:sp>
      <p:sp>
        <p:nvSpPr>
          <p:cNvPr id="32" name="Shape 30"/>
          <p:cNvSpPr/>
          <p:nvPr/>
        </p:nvSpPr>
        <p:spPr>
          <a:xfrm>
            <a:off x="6263640" y="1682496"/>
            <a:ext cx="256032" cy="256032"/>
          </a:xfrm>
          <a:prstGeom prst="ellipse">
            <a:avLst/>
          </a:prstGeom>
          <a:solidFill>
            <a:srgbClr val="54D6D0"/>
          </a:solidFill>
          <a:ln w="6350">
            <a:solidFill>
              <a:srgbClr val="54D6D0"/>
            </a:solidFill>
            <a:prstDash val="solid"/>
          </a:ln>
        </p:spPr>
      </p:sp>
      <p:sp>
        <p:nvSpPr>
          <p:cNvPr id="33" name="Text 31"/>
          <p:cNvSpPr/>
          <p:nvPr/>
        </p:nvSpPr>
        <p:spPr>
          <a:xfrm>
            <a:off x="6318504" y="1746504"/>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2</a:t>
            </a:r>
            <a:endParaRPr lang="en-US" sz="570" dirty="0"/>
          </a:p>
        </p:txBody>
      </p:sp>
      <p:sp>
        <p:nvSpPr>
          <p:cNvPr id="34" name="Text 32"/>
          <p:cNvSpPr/>
          <p:nvPr/>
        </p:nvSpPr>
        <p:spPr>
          <a:xfrm>
            <a:off x="6629400" y="1645920"/>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Which material claims are currently treated as fact without inspectable evidence?</a:t>
            </a:r>
            <a:endParaRPr lang="en-US" sz="920" dirty="0"/>
          </a:p>
        </p:txBody>
      </p:sp>
      <p:sp>
        <p:nvSpPr>
          <p:cNvPr id="35" name="Shape 33"/>
          <p:cNvSpPr/>
          <p:nvPr/>
        </p:nvSpPr>
        <p:spPr>
          <a:xfrm>
            <a:off x="685800" y="2532888"/>
            <a:ext cx="256032" cy="256032"/>
          </a:xfrm>
          <a:prstGeom prst="ellipse">
            <a:avLst/>
          </a:prstGeom>
          <a:solidFill>
            <a:srgbClr val="E7BD62"/>
          </a:solidFill>
          <a:ln w="6350">
            <a:solidFill>
              <a:srgbClr val="E7BD62"/>
            </a:solidFill>
            <a:prstDash val="solid"/>
          </a:ln>
        </p:spPr>
      </p:sp>
      <p:sp>
        <p:nvSpPr>
          <p:cNvPr id="36" name="Text 34"/>
          <p:cNvSpPr/>
          <p:nvPr/>
        </p:nvSpPr>
        <p:spPr>
          <a:xfrm>
            <a:off x="740664" y="2596896"/>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3</a:t>
            </a:r>
            <a:endParaRPr lang="en-US" sz="570" dirty="0"/>
          </a:p>
        </p:txBody>
      </p:sp>
      <p:sp>
        <p:nvSpPr>
          <p:cNvPr id="37" name="Text 35"/>
          <p:cNvSpPr/>
          <p:nvPr/>
        </p:nvSpPr>
        <p:spPr>
          <a:xfrm>
            <a:off x="1051560" y="2496312"/>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Who is accountable for accepting, rejecting, or repairing the decision state?</a:t>
            </a:r>
            <a:endParaRPr lang="en-US" sz="920" dirty="0"/>
          </a:p>
        </p:txBody>
      </p:sp>
      <p:sp>
        <p:nvSpPr>
          <p:cNvPr id="38" name="Shape 36"/>
          <p:cNvSpPr/>
          <p:nvPr/>
        </p:nvSpPr>
        <p:spPr>
          <a:xfrm>
            <a:off x="6263640" y="2532888"/>
            <a:ext cx="256032" cy="256032"/>
          </a:xfrm>
          <a:prstGeom prst="ellipse">
            <a:avLst/>
          </a:prstGeom>
          <a:solidFill>
            <a:srgbClr val="54D6D0"/>
          </a:solidFill>
          <a:ln w="6350">
            <a:solidFill>
              <a:srgbClr val="54D6D0"/>
            </a:solidFill>
            <a:prstDash val="solid"/>
          </a:ln>
        </p:spPr>
      </p:sp>
      <p:sp>
        <p:nvSpPr>
          <p:cNvPr id="39" name="Text 37"/>
          <p:cNvSpPr/>
          <p:nvPr/>
        </p:nvSpPr>
        <p:spPr>
          <a:xfrm>
            <a:off x="6318504" y="2596896"/>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4</a:t>
            </a:r>
            <a:endParaRPr lang="en-US" sz="570" dirty="0"/>
          </a:p>
        </p:txBody>
      </p:sp>
      <p:sp>
        <p:nvSpPr>
          <p:cNvPr id="40" name="Text 38"/>
          <p:cNvSpPr/>
          <p:nvPr/>
        </p:nvSpPr>
        <p:spPr>
          <a:xfrm>
            <a:off x="6629400" y="2496312"/>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Which data, tools, actions, and public claims must remain blocked?</a:t>
            </a:r>
            <a:endParaRPr lang="en-US" sz="920" dirty="0"/>
          </a:p>
        </p:txBody>
      </p:sp>
      <p:sp>
        <p:nvSpPr>
          <p:cNvPr id="41" name="Shape 39"/>
          <p:cNvSpPr/>
          <p:nvPr/>
        </p:nvSpPr>
        <p:spPr>
          <a:xfrm>
            <a:off x="685800" y="3383280"/>
            <a:ext cx="256032" cy="256032"/>
          </a:xfrm>
          <a:prstGeom prst="ellipse">
            <a:avLst/>
          </a:prstGeom>
          <a:solidFill>
            <a:srgbClr val="E7BD62"/>
          </a:solidFill>
          <a:ln w="6350">
            <a:solidFill>
              <a:srgbClr val="E7BD62"/>
            </a:solidFill>
            <a:prstDash val="solid"/>
          </a:ln>
        </p:spPr>
      </p:sp>
      <p:sp>
        <p:nvSpPr>
          <p:cNvPr id="42" name="Text 40"/>
          <p:cNvSpPr/>
          <p:nvPr/>
        </p:nvSpPr>
        <p:spPr>
          <a:xfrm>
            <a:off x="740664" y="3447288"/>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5</a:t>
            </a:r>
            <a:endParaRPr lang="en-US" sz="570" dirty="0"/>
          </a:p>
        </p:txBody>
      </p:sp>
      <p:sp>
        <p:nvSpPr>
          <p:cNvPr id="43" name="Text 41"/>
          <p:cNvSpPr/>
          <p:nvPr/>
        </p:nvSpPr>
        <p:spPr>
          <a:xfrm>
            <a:off x="1051560" y="3346704"/>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What would count as independent review in this domain?</a:t>
            </a:r>
            <a:endParaRPr lang="en-US" sz="920" dirty="0"/>
          </a:p>
        </p:txBody>
      </p:sp>
      <p:sp>
        <p:nvSpPr>
          <p:cNvPr id="44" name="Shape 42"/>
          <p:cNvSpPr/>
          <p:nvPr/>
        </p:nvSpPr>
        <p:spPr>
          <a:xfrm>
            <a:off x="6263640" y="3383280"/>
            <a:ext cx="256032" cy="256032"/>
          </a:xfrm>
          <a:prstGeom prst="ellipse">
            <a:avLst/>
          </a:prstGeom>
          <a:solidFill>
            <a:srgbClr val="54D6D0"/>
          </a:solidFill>
          <a:ln w="6350">
            <a:solidFill>
              <a:srgbClr val="54D6D0"/>
            </a:solidFill>
            <a:prstDash val="solid"/>
          </a:ln>
        </p:spPr>
      </p:sp>
      <p:sp>
        <p:nvSpPr>
          <p:cNvPr id="45" name="Text 43"/>
          <p:cNvSpPr/>
          <p:nvPr/>
        </p:nvSpPr>
        <p:spPr>
          <a:xfrm>
            <a:off x="6318504" y="3447288"/>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6</a:t>
            </a:r>
            <a:endParaRPr lang="en-US" sz="570" dirty="0"/>
          </a:p>
        </p:txBody>
      </p:sp>
      <p:sp>
        <p:nvSpPr>
          <p:cNvPr id="46" name="Text 44"/>
          <p:cNvSpPr/>
          <p:nvPr/>
        </p:nvSpPr>
        <p:spPr>
          <a:xfrm>
            <a:off x="6629400" y="3346704"/>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Which part of the output could become reusable capability—and under what scope?</a:t>
            </a:r>
            <a:endParaRPr lang="en-US" sz="920" dirty="0"/>
          </a:p>
        </p:txBody>
      </p:sp>
      <p:sp>
        <p:nvSpPr>
          <p:cNvPr id="47" name="Shape 45"/>
          <p:cNvSpPr/>
          <p:nvPr/>
        </p:nvSpPr>
        <p:spPr>
          <a:xfrm>
            <a:off x="685800" y="4233672"/>
            <a:ext cx="256032" cy="256032"/>
          </a:xfrm>
          <a:prstGeom prst="ellipse">
            <a:avLst/>
          </a:prstGeom>
          <a:solidFill>
            <a:srgbClr val="E7BD62"/>
          </a:solidFill>
          <a:ln w="6350">
            <a:solidFill>
              <a:srgbClr val="E7BD62"/>
            </a:solidFill>
            <a:prstDash val="solid"/>
          </a:ln>
        </p:spPr>
      </p:sp>
      <p:sp>
        <p:nvSpPr>
          <p:cNvPr id="48" name="Text 46"/>
          <p:cNvSpPr/>
          <p:nvPr/>
        </p:nvSpPr>
        <p:spPr>
          <a:xfrm>
            <a:off x="740664" y="4297680"/>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7</a:t>
            </a:r>
            <a:endParaRPr lang="en-US" sz="570" dirty="0"/>
          </a:p>
        </p:txBody>
      </p:sp>
      <p:sp>
        <p:nvSpPr>
          <p:cNvPr id="49" name="Text 47"/>
          <p:cNvSpPr/>
          <p:nvPr/>
        </p:nvSpPr>
        <p:spPr>
          <a:xfrm>
            <a:off x="1051560" y="4197096"/>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What fresh held-out second mission can test transfer under equal constraints?</a:t>
            </a:r>
            <a:endParaRPr lang="en-US" sz="920" dirty="0"/>
          </a:p>
        </p:txBody>
      </p:sp>
      <p:sp>
        <p:nvSpPr>
          <p:cNvPr id="50" name="Shape 48"/>
          <p:cNvSpPr/>
          <p:nvPr/>
        </p:nvSpPr>
        <p:spPr>
          <a:xfrm>
            <a:off x="6263640" y="4233672"/>
            <a:ext cx="256032" cy="256032"/>
          </a:xfrm>
          <a:prstGeom prst="ellipse">
            <a:avLst/>
          </a:prstGeom>
          <a:solidFill>
            <a:srgbClr val="54D6D0"/>
          </a:solidFill>
          <a:ln w="6350">
            <a:solidFill>
              <a:srgbClr val="54D6D0"/>
            </a:solidFill>
            <a:prstDash val="solid"/>
          </a:ln>
        </p:spPr>
      </p:sp>
      <p:sp>
        <p:nvSpPr>
          <p:cNvPr id="51" name="Text 49"/>
          <p:cNvSpPr/>
          <p:nvPr/>
        </p:nvSpPr>
        <p:spPr>
          <a:xfrm>
            <a:off x="6318504" y="4297680"/>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8</a:t>
            </a:r>
            <a:endParaRPr lang="en-US" sz="570" dirty="0"/>
          </a:p>
        </p:txBody>
      </p:sp>
      <p:sp>
        <p:nvSpPr>
          <p:cNvPr id="52" name="Text 50"/>
          <p:cNvSpPr/>
          <p:nvPr/>
        </p:nvSpPr>
        <p:spPr>
          <a:xfrm>
            <a:off x="6629400" y="4197096"/>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What result would falsify the partnership thesis?</a:t>
            </a:r>
            <a:endParaRPr lang="en-US" sz="920" dirty="0"/>
          </a:p>
        </p:txBody>
      </p:sp>
      <p:sp>
        <p:nvSpPr>
          <p:cNvPr id="53" name="Shape 51"/>
          <p:cNvSpPr/>
          <p:nvPr/>
        </p:nvSpPr>
        <p:spPr>
          <a:xfrm>
            <a:off x="685800" y="5084064"/>
            <a:ext cx="256032" cy="256032"/>
          </a:xfrm>
          <a:prstGeom prst="ellipse">
            <a:avLst/>
          </a:prstGeom>
          <a:solidFill>
            <a:srgbClr val="E7BD62"/>
          </a:solidFill>
          <a:ln w="6350">
            <a:solidFill>
              <a:srgbClr val="E7BD62"/>
            </a:solidFill>
            <a:prstDash val="solid"/>
          </a:ln>
        </p:spPr>
      </p:sp>
      <p:sp>
        <p:nvSpPr>
          <p:cNvPr id="54" name="Text 52"/>
          <p:cNvSpPr/>
          <p:nvPr/>
        </p:nvSpPr>
        <p:spPr>
          <a:xfrm>
            <a:off x="740664" y="5148072"/>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9</a:t>
            </a:r>
            <a:endParaRPr lang="en-US" sz="570" dirty="0"/>
          </a:p>
        </p:txBody>
      </p:sp>
      <p:sp>
        <p:nvSpPr>
          <p:cNvPr id="55" name="Text 53"/>
          <p:cNvSpPr/>
          <p:nvPr/>
        </p:nvSpPr>
        <p:spPr>
          <a:xfrm>
            <a:off x="1051560" y="5047488"/>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What must remain private, and what minimum public proof is useful?</a:t>
            </a:r>
            <a:endParaRPr lang="en-US" sz="920" dirty="0"/>
          </a:p>
        </p:txBody>
      </p:sp>
      <p:sp>
        <p:nvSpPr>
          <p:cNvPr id="56" name="Shape 54"/>
          <p:cNvSpPr/>
          <p:nvPr/>
        </p:nvSpPr>
        <p:spPr>
          <a:xfrm>
            <a:off x="6263640" y="5084064"/>
            <a:ext cx="256032" cy="256032"/>
          </a:xfrm>
          <a:prstGeom prst="ellipse">
            <a:avLst/>
          </a:prstGeom>
          <a:solidFill>
            <a:srgbClr val="54D6D0"/>
          </a:solidFill>
          <a:ln w="6350">
            <a:solidFill>
              <a:srgbClr val="54D6D0"/>
            </a:solidFill>
            <a:prstDash val="solid"/>
          </a:ln>
        </p:spPr>
      </p:sp>
      <p:sp>
        <p:nvSpPr>
          <p:cNvPr id="57" name="Text 55"/>
          <p:cNvSpPr/>
          <p:nvPr/>
        </p:nvSpPr>
        <p:spPr>
          <a:xfrm>
            <a:off x="6318504" y="5148072"/>
            <a:ext cx="146304" cy="73152"/>
          </a:xfrm>
          <a:prstGeom prst="rect">
            <a:avLst/>
          </a:prstGeom>
          <a:noFill/>
          <a:ln/>
        </p:spPr>
        <p:txBody>
          <a:bodyPr wrap="square" lIns="0" tIns="0" rIns="0" bIns="0" rtlCol="0" anchor="ctr"/>
          <a:lstStyle/>
          <a:p>
            <a:pPr algn="ctr" indent="0" marL="0">
              <a:buNone/>
            </a:pPr>
            <a:r>
              <a:rPr lang="en-US" sz="570" b="1" dirty="0">
                <a:solidFill>
                  <a:srgbClr val="14273D"/>
                </a:solidFill>
                <a:latin typeface="Inter" pitchFamily="34" charset="0"/>
                <a:ea typeface="Inter" pitchFamily="34" charset="-122"/>
                <a:cs typeface="Inter" pitchFamily="34" charset="-120"/>
              </a:rPr>
              <a:t>10</a:t>
            </a:r>
            <a:endParaRPr lang="en-US" sz="570" dirty="0"/>
          </a:p>
        </p:txBody>
      </p:sp>
      <p:sp>
        <p:nvSpPr>
          <p:cNvPr id="58" name="Text 56"/>
          <p:cNvSpPr/>
          <p:nvPr/>
        </p:nvSpPr>
        <p:spPr>
          <a:xfrm>
            <a:off x="6629400" y="5047488"/>
            <a:ext cx="4892040" cy="475488"/>
          </a:xfrm>
          <a:prstGeom prst="rect">
            <a:avLst/>
          </a:prstGeom>
          <a:noFill/>
          <a:ln/>
        </p:spPr>
        <p:txBody>
          <a:bodyPr wrap="square" lIns="0" tIns="0" rIns="0" bIns="0" rtlCol="0" anchor="ctr">
            <a:normAutofit/>
          </a:bodyPr>
          <a:lstStyle/>
          <a:p>
            <a:pPr indent="0" marL="0">
              <a:buNone/>
            </a:pPr>
            <a:r>
              <a:rPr lang="en-US" sz="920" dirty="0">
                <a:solidFill>
                  <a:srgbClr val="B9C5D2"/>
                </a:solidFill>
                <a:latin typeface="Inter" pitchFamily="34" charset="0"/>
                <a:ea typeface="Inter" pitchFamily="34" charset="-122"/>
                <a:cs typeface="Inter" pitchFamily="34" charset="-120"/>
              </a:rPr>
              <a:t>What rollback and challenge mechanisms are required before any live action?</a:t>
            </a:r>
            <a:endParaRPr lang="en-US" sz="92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APPENDIX C</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Core vocabulary in one page.</a:t>
            </a:r>
            <a:endParaRPr lang="en-US" sz="3100" dirty="0"/>
          </a:p>
        </p:txBody>
      </p:sp>
      <p:sp>
        <p:nvSpPr>
          <p:cNvPr id="29" name="Shape 27"/>
          <p:cNvSpPr/>
          <p:nvPr/>
        </p:nvSpPr>
        <p:spPr>
          <a:xfrm>
            <a:off x="594360" y="1618488"/>
            <a:ext cx="3566160" cy="914400"/>
          </a:xfrm>
          <a:prstGeom prst="roundRect">
            <a:avLst>
              <a:gd name="adj" fmla="val 8000"/>
            </a:avLst>
          </a:prstGeom>
          <a:solidFill>
            <a:srgbClr val="FFFDF8"/>
          </a:solidFill>
          <a:ln w="10160">
            <a:solidFill>
              <a:srgbClr val="E7BD62"/>
            </a:solidFill>
            <a:prstDash val="solid"/>
          </a:ln>
        </p:spPr>
      </p:sp>
      <p:sp>
        <p:nvSpPr>
          <p:cNvPr id="30" name="Text 28"/>
          <p:cNvSpPr/>
          <p:nvPr/>
        </p:nvSpPr>
        <p:spPr>
          <a:xfrm>
            <a:off x="749808" y="1746504"/>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Proof Mission</a:t>
            </a:r>
            <a:endParaRPr lang="en-US" sz="680" dirty="0"/>
          </a:p>
        </p:txBody>
      </p:sp>
      <p:sp>
        <p:nvSpPr>
          <p:cNvPr id="31" name="Text 29"/>
          <p:cNvSpPr/>
          <p:nvPr/>
        </p:nvSpPr>
        <p:spPr>
          <a:xfrm>
            <a:off x="749808" y="1874520"/>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Bounded, evidence-generating institution created from an objective.</a:t>
            </a:r>
            <a:endParaRPr lang="en-US" sz="1060" dirty="0"/>
          </a:p>
        </p:txBody>
      </p:sp>
      <p:sp>
        <p:nvSpPr>
          <p:cNvPr id="32" name="Shape 30"/>
          <p:cNvSpPr/>
          <p:nvPr/>
        </p:nvSpPr>
        <p:spPr>
          <a:xfrm>
            <a:off x="4416552" y="1618488"/>
            <a:ext cx="3566160" cy="914400"/>
          </a:xfrm>
          <a:prstGeom prst="roundRect">
            <a:avLst>
              <a:gd name="adj" fmla="val 8000"/>
            </a:avLst>
          </a:prstGeom>
          <a:solidFill>
            <a:srgbClr val="FFFDF8"/>
          </a:solidFill>
          <a:ln w="10160">
            <a:solidFill>
              <a:srgbClr val="6FB5FF"/>
            </a:solidFill>
            <a:prstDash val="solid"/>
          </a:ln>
        </p:spPr>
      </p:sp>
      <p:sp>
        <p:nvSpPr>
          <p:cNvPr id="33" name="Text 31"/>
          <p:cNvSpPr/>
          <p:nvPr/>
        </p:nvSpPr>
        <p:spPr>
          <a:xfrm>
            <a:off x="4572000" y="1746504"/>
            <a:ext cx="32552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Proof Debt</a:t>
            </a:r>
            <a:endParaRPr lang="en-US" sz="680" dirty="0"/>
          </a:p>
        </p:txBody>
      </p:sp>
      <p:sp>
        <p:nvSpPr>
          <p:cNvPr id="34" name="Text 32"/>
          <p:cNvSpPr/>
          <p:nvPr/>
        </p:nvSpPr>
        <p:spPr>
          <a:xfrm>
            <a:off x="4572000" y="1874520"/>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Explicit gap between desired claim and current support.</a:t>
            </a:r>
            <a:endParaRPr lang="en-US" sz="1060" dirty="0"/>
          </a:p>
        </p:txBody>
      </p:sp>
      <p:sp>
        <p:nvSpPr>
          <p:cNvPr id="35" name="Shape 33"/>
          <p:cNvSpPr/>
          <p:nvPr/>
        </p:nvSpPr>
        <p:spPr>
          <a:xfrm>
            <a:off x="8238744" y="1618488"/>
            <a:ext cx="3566160" cy="914400"/>
          </a:xfrm>
          <a:prstGeom prst="roundRect">
            <a:avLst>
              <a:gd name="adj" fmla="val 8000"/>
            </a:avLst>
          </a:prstGeom>
          <a:solidFill>
            <a:srgbClr val="FFFDF8"/>
          </a:solidFill>
          <a:ln w="10160">
            <a:solidFill>
              <a:srgbClr val="43D79B"/>
            </a:solidFill>
            <a:prstDash val="solid"/>
          </a:ln>
        </p:spPr>
      </p:sp>
      <p:sp>
        <p:nvSpPr>
          <p:cNvPr id="36" name="Text 34"/>
          <p:cNvSpPr/>
          <p:nvPr/>
        </p:nvSpPr>
        <p:spPr>
          <a:xfrm>
            <a:off x="8394192" y="1746504"/>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AGI Job</a:t>
            </a:r>
            <a:endParaRPr lang="en-US" sz="680" dirty="0"/>
          </a:p>
        </p:txBody>
      </p:sp>
      <p:sp>
        <p:nvSpPr>
          <p:cNvPr id="37" name="Text 35"/>
          <p:cNvSpPr/>
          <p:nvPr/>
        </p:nvSpPr>
        <p:spPr>
          <a:xfrm>
            <a:off x="8394192" y="1874520"/>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Proof contract with evidence requirements and acceptance tests.</a:t>
            </a:r>
            <a:endParaRPr lang="en-US" sz="1060" dirty="0"/>
          </a:p>
        </p:txBody>
      </p:sp>
      <p:sp>
        <p:nvSpPr>
          <p:cNvPr id="38" name="Shape 36"/>
          <p:cNvSpPr/>
          <p:nvPr/>
        </p:nvSpPr>
        <p:spPr>
          <a:xfrm>
            <a:off x="594360" y="2779776"/>
            <a:ext cx="3566160" cy="914400"/>
          </a:xfrm>
          <a:prstGeom prst="roundRect">
            <a:avLst>
              <a:gd name="adj" fmla="val 8000"/>
            </a:avLst>
          </a:prstGeom>
          <a:solidFill>
            <a:srgbClr val="FFFDF8"/>
          </a:solidFill>
          <a:ln w="10160">
            <a:solidFill>
              <a:srgbClr val="E7BD62"/>
            </a:solidFill>
            <a:prstDash val="solid"/>
          </a:ln>
        </p:spPr>
      </p:sp>
      <p:sp>
        <p:nvSpPr>
          <p:cNvPr id="39" name="Text 37"/>
          <p:cNvSpPr/>
          <p:nvPr/>
        </p:nvSpPr>
        <p:spPr>
          <a:xfrm>
            <a:off x="749808" y="2907792"/>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ProofBundle</a:t>
            </a:r>
            <a:endParaRPr lang="en-US" sz="680" dirty="0"/>
          </a:p>
        </p:txBody>
      </p:sp>
      <p:sp>
        <p:nvSpPr>
          <p:cNvPr id="40" name="Text 38"/>
          <p:cNvSpPr/>
          <p:nvPr/>
        </p:nvSpPr>
        <p:spPr>
          <a:xfrm>
            <a:off x="749808" y="3035808"/>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Content-addressed execution record, including failures and replay.</a:t>
            </a:r>
            <a:endParaRPr lang="en-US" sz="1060" dirty="0"/>
          </a:p>
        </p:txBody>
      </p:sp>
      <p:sp>
        <p:nvSpPr>
          <p:cNvPr id="41" name="Shape 39"/>
          <p:cNvSpPr/>
          <p:nvPr/>
        </p:nvSpPr>
        <p:spPr>
          <a:xfrm>
            <a:off x="4416552" y="2779776"/>
            <a:ext cx="3566160" cy="914400"/>
          </a:xfrm>
          <a:prstGeom prst="roundRect">
            <a:avLst>
              <a:gd name="adj" fmla="val 8000"/>
            </a:avLst>
          </a:prstGeom>
          <a:solidFill>
            <a:srgbClr val="FFFDF8"/>
          </a:solidFill>
          <a:ln w="10160">
            <a:solidFill>
              <a:srgbClr val="6FB5FF"/>
            </a:solidFill>
            <a:prstDash val="solid"/>
          </a:ln>
        </p:spPr>
      </p:sp>
      <p:sp>
        <p:nvSpPr>
          <p:cNvPr id="42" name="Text 40"/>
          <p:cNvSpPr/>
          <p:nvPr/>
        </p:nvSpPr>
        <p:spPr>
          <a:xfrm>
            <a:off x="4572000" y="2907792"/>
            <a:ext cx="32552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Evidence Docket</a:t>
            </a:r>
            <a:endParaRPr lang="en-US" sz="680" dirty="0"/>
          </a:p>
        </p:txBody>
      </p:sp>
      <p:sp>
        <p:nvSpPr>
          <p:cNvPr id="43" name="Text 41"/>
          <p:cNvSpPr/>
          <p:nvPr/>
        </p:nvSpPr>
        <p:spPr>
          <a:xfrm>
            <a:off x="4572000" y="3035808"/>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Reviewer-ready proof room tying claims to evidence, risk, and decision.</a:t>
            </a:r>
            <a:endParaRPr lang="en-US" sz="1060" dirty="0"/>
          </a:p>
        </p:txBody>
      </p:sp>
      <p:sp>
        <p:nvSpPr>
          <p:cNvPr id="44" name="Shape 42"/>
          <p:cNvSpPr/>
          <p:nvPr/>
        </p:nvSpPr>
        <p:spPr>
          <a:xfrm>
            <a:off x="8238744" y="2779776"/>
            <a:ext cx="3566160" cy="914400"/>
          </a:xfrm>
          <a:prstGeom prst="roundRect">
            <a:avLst>
              <a:gd name="adj" fmla="val 8000"/>
            </a:avLst>
          </a:prstGeom>
          <a:solidFill>
            <a:srgbClr val="FFFDF8"/>
          </a:solidFill>
          <a:ln w="10160">
            <a:solidFill>
              <a:srgbClr val="43D79B"/>
            </a:solidFill>
            <a:prstDash val="solid"/>
          </a:ln>
        </p:spPr>
      </p:sp>
      <p:sp>
        <p:nvSpPr>
          <p:cNvPr id="45" name="Text 43"/>
          <p:cNvSpPr/>
          <p:nvPr/>
        </p:nvSpPr>
        <p:spPr>
          <a:xfrm>
            <a:off x="8394192" y="2907792"/>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Chronicle</a:t>
            </a:r>
            <a:endParaRPr lang="en-US" sz="680" dirty="0"/>
          </a:p>
        </p:txBody>
      </p:sp>
      <p:sp>
        <p:nvSpPr>
          <p:cNvPr id="46" name="Text 44"/>
          <p:cNvSpPr/>
          <p:nvPr/>
        </p:nvSpPr>
        <p:spPr>
          <a:xfrm>
            <a:off x="8394192" y="3035808"/>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Memory firewall deciding what may influence future work.</a:t>
            </a:r>
            <a:endParaRPr lang="en-US" sz="1060" dirty="0"/>
          </a:p>
        </p:txBody>
      </p:sp>
      <p:sp>
        <p:nvSpPr>
          <p:cNvPr id="47" name="Shape 45"/>
          <p:cNvSpPr/>
          <p:nvPr/>
        </p:nvSpPr>
        <p:spPr>
          <a:xfrm>
            <a:off x="594360" y="3941064"/>
            <a:ext cx="3566160" cy="914400"/>
          </a:xfrm>
          <a:prstGeom prst="roundRect">
            <a:avLst>
              <a:gd name="adj" fmla="val 8000"/>
            </a:avLst>
          </a:prstGeom>
          <a:solidFill>
            <a:srgbClr val="FFFDF8"/>
          </a:solidFill>
          <a:ln w="10160">
            <a:solidFill>
              <a:srgbClr val="E7BD62"/>
            </a:solidFill>
            <a:prstDash val="solid"/>
          </a:ln>
        </p:spPr>
      </p:sp>
      <p:sp>
        <p:nvSpPr>
          <p:cNvPr id="48" name="Text 46"/>
          <p:cNvSpPr/>
          <p:nvPr/>
        </p:nvSpPr>
        <p:spPr>
          <a:xfrm>
            <a:off x="749808" y="4069080"/>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Validated Skill</a:t>
            </a:r>
            <a:endParaRPr lang="en-US" sz="680" dirty="0"/>
          </a:p>
        </p:txBody>
      </p:sp>
      <p:sp>
        <p:nvSpPr>
          <p:cNvPr id="49" name="Text 47"/>
          <p:cNvSpPr/>
          <p:nvPr/>
        </p:nvSpPr>
        <p:spPr>
          <a:xfrm>
            <a:off x="749808" y="4197096"/>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Scoped, evidenced, replayable, rollbackable capability object.</a:t>
            </a:r>
            <a:endParaRPr lang="en-US" sz="1060" dirty="0"/>
          </a:p>
        </p:txBody>
      </p:sp>
      <p:sp>
        <p:nvSpPr>
          <p:cNvPr id="50" name="Shape 48"/>
          <p:cNvSpPr/>
          <p:nvPr/>
        </p:nvSpPr>
        <p:spPr>
          <a:xfrm>
            <a:off x="4416552" y="3941064"/>
            <a:ext cx="3566160" cy="914400"/>
          </a:xfrm>
          <a:prstGeom prst="roundRect">
            <a:avLst>
              <a:gd name="adj" fmla="val 8000"/>
            </a:avLst>
          </a:prstGeom>
          <a:solidFill>
            <a:srgbClr val="FFFDF8"/>
          </a:solidFill>
          <a:ln w="10160">
            <a:solidFill>
              <a:srgbClr val="6FB5FF"/>
            </a:solidFill>
            <a:prstDash val="solid"/>
          </a:ln>
        </p:spPr>
      </p:sp>
      <p:sp>
        <p:nvSpPr>
          <p:cNvPr id="51" name="Text 49"/>
          <p:cNvSpPr/>
          <p:nvPr/>
        </p:nvSpPr>
        <p:spPr>
          <a:xfrm>
            <a:off x="4572000" y="4069080"/>
            <a:ext cx="32552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Graph Epoch Root</a:t>
            </a:r>
            <a:endParaRPr lang="en-US" sz="680" dirty="0"/>
          </a:p>
        </p:txBody>
      </p:sp>
      <p:sp>
        <p:nvSpPr>
          <p:cNvPr id="52" name="Text 50"/>
          <p:cNvSpPr/>
          <p:nvPr/>
        </p:nvSpPr>
        <p:spPr>
          <a:xfrm>
            <a:off x="4572000" y="4197096"/>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Typed, policy-bound commitment to admitted graph state.</a:t>
            </a:r>
            <a:endParaRPr lang="en-US" sz="1060" dirty="0"/>
          </a:p>
        </p:txBody>
      </p:sp>
      <p:sp>
        <p:nvSpPr>
          <p:cNvPr id="53" name="Shape 51"/>
          <p:cNvSpPr/>
          <p:nvPr/>
        </p:nvSpPr>
        <p:spPr>
          <a:xfrm>
            <a:off x="8238744" y="3941064"/>
            <a:ext cx="3566160" cy="914400"/>
          </a:xfrm>
          <a:prstGeom prst="roundRect">
            <a:avLst>
              <a:gd name="adj" fmla="val 8000"/>
            </a:avLst>
          </a:prstGeom>
          <a:solidFill>
            <a:srgbClr val="FFFDF8"/>
          </a:solidFill>
          <a:ln w="10160">
            <a:solidFill>
              <a:srgbClr val="43D79B"/>
            </a:solidFill>
            <a:prstDash val="solid"/>
          </a:ln>
        </p:spPr>
      </p:sp>
      <p:sp>
        <p:nvSpPr>
          <p:cNvPr id="54" name="Text 52"/>
          <p:cNvSpPr/>
          <p:nvPr/>
        </p:nvSpPr>
        <p:spPr>
          <a:xfrm>
            <a:off x="8394192" y="4069080"/>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ECI</a:t>
            </a:r>
            <a:endParaRPr lang="en-US" sz="680" dirty="0"/>
          </a:p>
        </p:txBody>
      </p:sp>
      <p:sp>
        <p:nvSpPr>
          <p:cNvPr id="55" name="Text 53"/>
          <p:cNvSpPr/>
          <p:nvPr/>
        </p:nvSpPr>
        <p:spPr>
          <a:xfrm>
            <a:off x="8394192" y="4197096"/>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Evidence Contact Index from simulated to externally validated.</a:t>
            </a:r>
            <a:endParaRPr lang="en-US" sz="1060" dirty="0"/>
          </a:p>
        </p:txBody>
      </p:sp>
      <p:sp>
        <p:nvSpPr>
          <p:cNvPr id="56" name="Shape 54"/>
          <p:cNvSpPr/>
          <p:nvPr/>
        </p:nvSpPr>
        <p:spPr>
          <a:xfrm>
            <a:off x="594360" y="5102352"/>
            <a:ext cx="3566160" cy="914400"/>
          </a:xfrm>
          <a:prstGeom prst="roundRect">
            <a:avLst>
              <a:gd name="adj" fmla="val 8000"/>
            </a:avLst>
          </a:prstGeom>
          <a:solidFill>
            <a:srgbClr val="FFFDF8"/>
          </a:solidFill>
          <a:ln w="10160">
            <a:solidFill>
              <a:srgbClr val="E7BD62"/>
            </a:solidFill>
            <a:prstDash val="solid"/>
          </a:ln>
        </p:spPr>
      </p:sp>
      <p:sp>
        <p:nvSpPr>
          <p:cNvPr id="57" name="Text 55"/>
          <p:cNvSpPr/>
          <p:nvPr/>
        </p:nvSpPr>
        <p:spPr>
          <a:xfrm>
            <a:off x="749808" y="5230368"/>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Move-37</a:t>
            </a:r>
            <a:endParaRPr lang="en-US" sz="680" dirty="0"/>
          </a:p>
        </p:txBody>
      </p:sp>
      <p:sp>
        <p:nvSpPr>
          <p:cNvPr id="58" name="Text 56"/>
          <p:cNvSpPr/>
          <p:nvPr/>
        </p:nvSpPr>
        <p:spPr>
          <a:xfrm>
            <a:off x="749808" y="5358384"/>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High-novelty candidate protocol requiring reproduction and stress.</a:t>
            </a:r>
            <a:endParaRPr lang="en-US" sz="1060" dirty="0"/>
          </a:p>
        </p:txBody>
      </p:sp>
      <p:sp>
        <p:nvSpPr>
          <p:cNvPr id="59" name="Shape 57"/>
          <p:cNvSpPr/>
          <p:nvPr/>
        </p:nvSpPr>
        <p:spPr>
          <a:xfrm>
            <a:off x="4416552" y="5102352"/>
            <a:ext cx="3566160" cy="914400"/>
          </a:xfrm>
          <a:prstGeom prst="roundRect">
            <a:avLst>
              <a:gd name="adj" fmla="val 8000"/>
            </a:avLst>
          </a:prstGeom>
          <a:solidFill>
            <a:srgbClr val="FFFDF8"/>
          </a:solidFill>
          <a:ln w="10160">
            <a:solidFill>
              <a:srgbClr val="6FB5FF"/>
            </a:solidFill>
            <a:prstDash val="solid"/>
          </a:ln>
        </p:spPr>
      </p:sp>
      <p:sp>
        <p:nvSpPr>
          <p:cNvPr id="60" name="Text 58"/>
          <p:cNvSpPr/>
          <p:nvPr/>
        </p:nvSpPr>
        <p:spPr>
          <a:xfrm>
            <a:off x="4572000" y="5230368"/>
            <a:ext cx="32552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Proof Gradient</a:t>
            </a:r>
            <a:endParaRPr lang="en-US" sz="680" dirty="0"/>
          </a:p>
        </p:txBody>
      </p:sp>
      <p:sp>
        <p:nvSpPr>
          <p:cNvPr id="61" name="Text 59"/>
          <p:cNvSpPr/>
          <p:nvPr/>
        </p:nvSpPr>
        <p:spPr>
          <a:xfrm>
            <a:off x="4572000" y="5358384"/>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Advisory ranking plus mandatory promotion gates.</a:t>
            </a:r>
            <a:endParaRPr lang="en-US" sz="1060" dirty="0"/>
          </a:p>
        </p:txBody>
      </p:sp>
      <p:sp>
        <p:nvSpPr>
          <p:cNvPr id="62" name="Shape 60"/>
          <p:cNvSpPr/>
          <p:nvPr/>
        </p:nvSpPr>
        <p:spPr>
          <a:xfrm>
            <a:off x="8238744" y="5102352"/>
            <a:ext cx="3566160" cy="914400"/>
          </a:xfrm>
          <a:prstGeom prst="roundRect">
            <a:avLst>
              <a:gd name="adj" fmla="val 8000"/>
            </a:avLst>
          </a:prstGeom>
          <a:solidFill>
            <a:srgbClr val="FFFDF8"/>
          </a:solidFill>
          <a:ln w="10160">
            <a:solidFill>
              <a:srgbClr val="43D79B"/>
            </a:solidFill>
            <a:prstDash val="solid"/>
          </a:ln>
        </p:spPr>
      </p:sp>
      <p:sp>
        <p:nvSpPr>
          <p:cNvPr id="63" name="Text 61"/>
          <p:cNvSpPr/>
          <p:nvPr/>
        </p:nvSpPr>
        <p:spPr>
          <a:xfrm>
            <a:off x="8394192" y="5230368"/>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Governed RSI</a:t>
            </a:r>
            <a:endParaRPr lang="en-US" sz="680" dirty="0"/>
          </a:p>
        </p:txBody>
      </p:sp>
      <p:sp>
        <p:nvSpPr>
          <p:cNvPr id="64" name="Text 62"/>
          <p:cNvSpPr/>
          <p:nvPr/>
        </p:nvSpPr>
        <p:spPr>
          <a:xfrm>
            <a:off x="8394192" y="5358384"/>
            <a:ext cx="3255264" cy="329184"/>
          </a:xfrm>
          <a:prstGeom prst="rect">
            <a:avLst/>
          </a:prstGeom>
          <a:noFill/>
          <a:ln/>
        </p:spPr>
        <p:txBody>
          <a:bodyPr wrap="square" lIns="0" tIns="0" rIns="0" bIns="0" rtlCol="0" anchor="ctr">
            <a:normAutofit/>
          </a:bodyPr>
          <a:lstStyle/>
          <a:p>
            <a:pPr indent="0" marL="0">
              <a:buNone/>
            </a:pPr>
            <a:r>
              <a:rPr lang="en-US" sz="1060" b="1" dirty="0">
                <a:solidFill>
                  <a:srgbClr val="14273D"/>
                </a:solidFill>
                <a:latin typeface="Inter Display" pitchFamily="34" charset="0"/>
                <a:ea typeface="Inter Display" pitchFamily="34" charset="-122"/>
                <a:cs typeface="Inter Display" pitchFamily="34" charset="-120"/>
              </a:rPr>
              <a:t>Recursive improvement under replay, baselines, canaries, challenge, and rollback.</a:t>
            </a:r>
            <a:endParaRPr lang="en-US" sz="106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APPENDIX D</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Source lineage and claim boundary</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Source lineage and claim boundary.</a:t>
            </a:r>
            <a:endParaRPr lang="en-US" sz="3100" dirty="0"/>
          </a:p>
        </p:txBody>
      </p:sp>
      <p:sp>
        <p:nvSpPr>
          <p:cNvPr id="29" name="Shape 27"/>
          <p:cNvSpPr/>
          <p:nvPr/>
        </p:nvSpPr>
        <p:spPr>
          <a:xfrm>
            <a:off x="658368" y="1737360"/>
            <a:ext cx="5257800" cy="3566160"/>
          </a:xfrm>
          <a:prstGeom prst="roundRect">
            <a:avLst>
              <a:gd name="adj" fmla="val 2051"/>
            </a:avLst>
          </a:prstGeom>
          <a:solidFill>
            <a:srgbClr val="102238"/>
          </a:solidFill>
          <a:ln w="10160">
            <a:solidFill>
              <a:srgbClr val="E7BD62"/>
            </a:solidFill>
            <a:prstDash val="solid"/>
          </a:ln>
        </p:spPr>
      </p:sp>
      <p:sp>
        <p:nvSpPr>
          <p:cNvPr id="30" name="Text 28"/>
          <p:cNvSpPr/>
          <p:nvPr/>
        </p:nvSpPr>
        <p:spPr>
          <a:xfrm>
            <a:off x="813816" y="1865376"/>
            <a:ext cx="494690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CANONICAL SOURCE CORPUS</a:t>
            </a:r>
            <a:endParaRPr lang="en-US" sz="680" dirty="0"/>
          </a:p>
        </p:txBody>
      </p:sp>
      <p:sp>
        <p:nvSpPr>
          <p:cNvPr id="31" name="Text 29"/>
          <p:cNvSpPr/>
          <p:nvPr/>
        </p:nvSpPr>
        <p:spPr>
          <a:xfrm>
            <a:off x="813816" y="1993392"/>
            <a:ext cx="4946904" cy="329184"/>
          </a:xfrm>
          <a:prstGeom prst="rect">
            <a:avLst/>
          </a:prstGeom>
          <a:noFill/>
          <a:ln/>
        </p:spPr>
        <p:txBody>
          <a:bodyPr wrap="square" lIns="0" tIns="0" rIns="0" bIns="0" rtlCol="0" anchor="ctr">
            <a:normAutofit/>
          </a:bodyPr>
          <a:lstStyle/>
          <a:p>
            <a:pPr indent="0" marL="0">
              <a:buNone/>
            </a:pPr>
            <a:r>
              <a:rPr lang="en-US" sz="1700" b="1" dirty="0">
                <a:solidFill>
                  <a:srgbClr val="F7FBFF"/>
                </a:solidFill>
                <a:latin typeface="Inter Display" pitchFamily="34" charset="0"/>
                <a:ea typeface="Inter Display" pitchFamily="34" charset="-122"/>
                <a:cs typeface="Inter Display" pitchFamily="34" charset="-120"/>
              </a:rPr>
              <a:t>GoalOS and AGI ALPHA specifications</a:t>
            </a:r>
            <a:endParaRPr lang="en-US" sz="1700" dirty="0"/>
          </a:p>
        </p:txBody>
      </p:sp>
      <p:sp>
        <p:nvSpPr>
          <p:cNvPr id="32" name="Text 30"/>
          <p:cNvSpPr/>
          <p:nvPr/>
        </p:nvSpPr>
        <p:spPr>
          <a:xfrm>
            <a:off x="813816" y="2395728"/>
            <a:ext cx="4946904" cy="2770632"/>
          </a:xfrm>
          <a:prstGeom prst="rect">
            <a:avLst/>
          </a:prstGeom>
          <a:noFill/>
          <a:ln/>
        </p:spPr>
        <p:txBody>
          <a:bodyPr wrap="square" lIns="0" tIns="0" rIns="0" bIns="0" rtlCol="0" anchor="t">
            <a:normAutofit/>
          </a:bodyPr>
          <a:lstStyle/>
          <a:p>
            <a:pPr indent="0" marL="0">
              <a:buNone/>
            </a:pPr>
            <a:r>
              <a:rPr lang="en-US" sz="1020" dirty="0">
                <a:solidFill>
                  <a:srgbClr val="B9C5D2"/>
                </a:solidFill>
                <a:latin typeface="Inter" pitchFamily="34" charset="0"/>
                <a:ea typeface="Inter" pitchFamily="34" charset="-122"/>
                <a:cs typeface="Inter" pitchFamily="34" charset="-120"/>
              </a:rPr>
              <a:t>GoalOS: Proof-Carrying Autonomy</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PROOF_LOOPS.md</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GoalOS Mission OS</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AEP-001: Proof-of-Evolution Constitution</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Merkle Roots for the Validated Skill Graph</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AGI ALPHA: Scalable Substrate for Intelligence Organizations</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AGI Alpha RSI: Sovereign Invention Governance</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Clean-room implementation mandate and local evidence artifacts</a:t>
            </a:r>
            <a:endParaRPr lang="en-US" sz="1020" dirty="0"/>
          </a:p>
        </p:txBody>
      </p:sp>
      <p:sp>
        <p:nvSpPr>
          <p:cNvPr id="33" name="Shape 31"/>
          <p:cNvSpPr/>
          <p:nvPr/>
        </p:nvSpPr>
        <p:spPr>
          <a:xfrm>
            <a:off x="6263640" y="1737360"/>
            <a:ext cx="5257800" cy="3566160"/>
          </a:xfrm>
          <a:prstGeom prst="roundRect">
            <a:avLst>
              <a:gd name="adj" fmla="val 2051"/>
            </a:avLst>
          </a:prstGeom>
          <a:solidFill>
            <a:srgbClr val="102238"/>
          </a:solidFill>
          <a:ln w="10160">
            <a:solidFill>
              <a:srgbClr val="FF7584"/>
            </a:solidFill>
            <a:prstDash val="solid"/>
          </a:ln>
        </p:spPr>
      </p:sp>
      <p:sp>
        <p:nvSpPr>
          <p:cNvPr id="34" name="Text 32"/>
          <p:cNvSpPr/>
          <p:nvPr/>
        </p:nvSpPr>
        <p:spPr>
          <a:xfrm>
            <a:off x="6419088" y="1865376"/>
            <a:ext cx="49469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THIS MASTERCLASS DOES NOT CLAIM</a:t>
            </a:r>
            <a:endParaRPr lang="en-US" sz="680" dirty="0"/>
          </a:p>
        </p:txBody>
      </p:sp>
      <p:sp>
        <p:nvSpPr>
          <p:cNvPr id="35" name="Text 33"/>
          <p:cNvSpPr/>
          <p:nvPr/>
        </p:nvSpPr>
        <p:spPr>
          <a:xfrm>
            <a:off x="6419088" y="1993392"/>
            <a:ext cx="4946904" cy="329184"/>
          </a:xfrm>
          <a:prstGeom prst="rect">
            <a:avLst/>
          </a:prstGeom>
          <a:noFill/>
          <a:ln/>
        </p:spPr>
        <p:txBody>
          <a:bodyPr wrap="square" lIns="0" tIns="0" rIns="0" bIns="0" rtlCol="0" anchor="ctr">
            <a:normAutofit/>
          </a:bodyPr>
          <a:lstStyle/>
          <a:p>
            <a:pPr indent="0" marL="0">
              <a:buNone/>
            </a:pPr>
            <a:r>
              <a:rPr lang="en-US" sz="1700" b="1" dirty="0">
                <a:solidFill>
                  <a:srgbClr val="F7FBFF"/>
                </a:solidFill>
                <a:latin typeface="Inter Display" pitchFamily="34" charset="0"/>
                <a:ea typeface="Inter Display" pitchFamily="34" charset="-122"/>
                <a:cs typeface="Inter Display" pitchFamily="34" charset="-120"/>
              </a:rPr>
              <a:t>Evidence-bounded presentation</a:t>
            </a:r>
            <a:endParaRPr lang="en-US" sz="1700" dirty="0"/>
          </a:p>
        </p:txBody>
      </p:sp>
      <p:sp>
        <p:nvSpPr>
          <p:cNvPr id="36" name="Text 34"/>
          <p:cNvSpPr/>
          <p:nvPr/>
        </p:nvSpPr>
        <p:spPr>
          <a:xfrm>
            <a:off x="6419088" y="2395728"/>
            <a:ext cx="4946904" cy="2770632"/>
          </a:xfrm>
          <a:prstGeom prst="rect">
            <a:avLst/>
          </a:prstGeom>
          <a:noFill/>
          <a:ln/>
        </p:spPr>
        <p:txBody>
          <a:bodyPr wrap="square" lIns="0" tIns="0" rIns="0" bIns="0" rtlCol="0" anchor="t">
            <a:normAutofit/>
          </a:bodyPr>
          <a:lstStyle/>
          <a:p>
            <a:pPr indent="0" marL="0">
              <a:buNone/>
            </a:pPr>
            <a:r>
              <a:rPr lang="en-US" sz="1020" dirty="0">
                <a:solidFill>
                  <a:srgbClr val="B9C5D2"/>
                </a:solidFill>
                <a:latin typeface="Inter" pitchFamily="34" charset="0"/>
                <a:ea typeface="Inter" pitchFamily="34" charset="-122"/>
                <a:cs typeface="Inter" pitchFamily="34" charset="-120"/>
              </a:rPr>
              <a:t>Achieved AGI or ASI</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Superintelligence achieved</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External validation completed</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Independent validator network live</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Production authorization</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Mainnet deployment or settlement</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ENS ownership or authority</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Real zero-knowledge proofs where mocks are used</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Legal, tax, security, or investment certification</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Guaranteed economic return</a:t>
            </a:r>
            <a:endParaRPr lang="en-US" sz="1020" dirty="0"/>
          </a:p>
        </p:txBody>
      </p:sp>
      <p:sp>
        <p:nvSpPr>
          <p:cNvPr id="37" name="Text 35"/>
          <p:cNvSpPr/>
          <p:nvPr/>
        </p:nvSpPr>
        <p:spPr>
          <a:xfrm>
            <a:off x="960120" y="5650992"/>
            <a:ext cx="10287000" cy="365760"/>
          </a:xfrm>
          <a:prstGeom prst="rect">
            <a:avLst/>
          </a:prstGeom>
          <a:noFill/>
          <a:ln/>
        </p:spPr>
        <p:txBody>
          <a:bodyPr wrap="square" lIns="0" tIns="0" rIns="0" bIns="0" rtlCol="0" anchor="ctr">
            <a:normAutofit/>
          </a:bodyPr>
          <a:lstStyle/>
          <a:p>
            <a:pPr algn="ctr" indent="0" marL="0">
              <a:buNone/>
            </a:pPr>
            <a:r>
              <a:rPr lang="en-US" sz="1100" b="1" dirty="0">
                <a:solidFill>
                  <a:srgbClr val="E7BD62"/>
                </a:solidFill>
                <a:latin typeface="Inter" pitchFamily="34" charset="0"/>
                <a:ea typeface="Inter" pitchFamily="34" charset="-122"/>
                <a:cs typeface="Inter" pitchFamily="34" charset="-120"/>
              </a:rPr>
              <a:t>Architecture becomes empirical through real tasks, baselines, Evidence Dockets, replay, cost/risk ledgers, delayed outcomes, and independent review.</a:t>
            </a:r>
            <a:endParaRPr lang="en-US" sz="11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GRAND INSTITUTIONAL EDITION</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Masterclass module divider</a:t>
            </a:r>
            <a:endParaRPr lang="en-US" sz="640" dirty="0"/>
          </a:p>
        </p:txBody>
      </p:sp>
      <p:sp>
        <p:nvSpPr>
          <p:cNvPr id="28" name="Text 26"/>
          <p:cNvSpPr/>
          <p:nvPr/>
        </p:nvSpPr>
        <p:spPr>
          <a:xfrm>
            <a:off x="640080" y="1097280"/>
            <a:ext cx="1828800" cy="1097280"/>
          </a:xfrm>
          <a:prstGeom prst="rect">
            <a:avLst/>
          </a:prstGeom>
          <a:noFill/>
          <a:ln/>
        </p:spPr>
        <p:txBody>
          <a:bodyPr wrap="square" lIns="0" tIns="0" rIns="0" bIns="0" rtlCol="0" anchor="ctr"/>
          <a:lstStyle/>
          <a:p>
            <a:pPr indent="0" marL="0">
              <a:buNone/>
            </a:pPr>
            <a:r>
              <a:rPr lang="en-US" sz="5800" b="1" dirty="0">
                <a:solidFill>
                  <a:srgbClr val="E7BD62">
                    <a:alpha val="95000"/>
                  </a:srgbClr>
                </a:solidFill>
                <a:latin typeface="Inter Display" pitchFamily="34" charset="0"/>
                <a:ea typeface="Inter Display" pitchFamily="34" charset="-122"/>
                <a:cs typeface="Inter Display" pitchFamily="34" charset="-120"/>
              </a:rPr>
              <a:t>04</a:t>
            </a:r>
            <a:endParaRPr lang="en-US" sz="5800" dirty="0"/>
          </a:p>
        </p:txBody>
      </p:sp>
      <p:sp>
        <p:nvSpPr>
          <p:cNvPr id="29" name="Shape 27"/>
          <p:cNvSpPr/>
          <p:nvPr/>
        </p:nvSpPr>
        <p:spPr>
          <a:xfrm>
            <a:off x="2743200" y="1234440"/>
            <a:ext cx="2560320" cy="301752"/>
          </a:xfrm>
          <a:prstGeom prst="roundRect">
            <a:avLst>
              <a:gd name="adj" fmla="val 24242"/>
            </a:avLst>
          </a:prstGeom>
          <a:solidFill>
            <a:srgbClr val="E7BD62">
              <a:alpha val="12000"/>
            </a:srgbClr>
          </a:solidFill>
          <a:ln w="10160">
            <a:solidFill>
              <a:srgbClr val="E7BD62">
                <a:alpha val="65000"/>
              </a:srgbClr>
            </a:solidFill>
            <a:prstDash val="solid"/>
          </a:ln>
        </p:spPr>
      </p:sp>
      <p:sp>
        <p:nvSpPr>
          <p:cNvPr id="30" name="Text 28"/>
          <p:cNvSpPr/>
          <p:nvPr/>
        </p:nvSpPr>
        <p:spPr>
          <a:xfrm>
            <a:off x="2825496" y="1316736"/>
            <a:ext cx="2395728" cy="109728"/>
          </a:xfrm>
          <a:prstGeom prst="rect">
            <a:avLst/>
          </a:prstGeom>
          <a:noFill/>
          <a:ln/>
        </p:spPr>
        <p:txBody>
          <a:bodyPr wrap="square" lIns="0" tIns="0" rIns="0" bIns="0" rtlCol="0" anchor="ctr"/>
          <a:lstStyle/>
          <a:p>
            <a:pPr algn="ctr" indent="0" marL="0">
              <a:buNone/>
            </a:pPr>
            <a:r>
              <a:rPr lang="en-US" sz="720" b="1" spc="130" kern="0" dirty="0">
                <a:solidFill>
                  <a:srgbClr val="E7BD62"/>
                </a:solidFill>
                <a:latin typeface="Inter" pitchFamily="34" charset="0"/>
                <a:ea typeface="Inter" pitchFamily="34" charset="-122"/>
                <a:cs typeface="Inter" pitchFamily="34" charset="-120"/>
              </a:rPr>
              <a:t>GRAND INSTITUTIONAL EDITION</a:t>
            </a:r>
            <a:endParaRPr lang="en-US" sz="720" dirty="0"/>
          </a:p>
        </p:txBody>
      </p:sp>
      <p:sp>
        <p:nvSpPr>
          <p:cNvPr id="31" name="Text 29"/>
          <p:cNvSpPr/>
          <p:nvPr/>
        </p:nvSpPr>
        <p:spPr>
          <a:xfrm>
            <a:off x="2743200" y="1828800"/>
            <a:ext cx="8412480" cy="1188720"/>
          </a:xfrm>
          <a:prstGeom prst="rect">
            <a:avLst/>
          </a:prstGeom>
          <a:noFill/>
          <a:ln/>
        </p:spPr>
        <p:txBody>
          <a:bodyPr wrap="square" lIns="0" tIns="0" rIns="0" bIns="0" rtlCol="0" anchor="ctr">
            <a:normAutofit/>
          </a:bodyPr>
          <a:lstStyle/>
          <a:p>
            <a:pPr indent="0" marL="0">
              <a:buNone/>
            </a:pPr>
            <a:r>
              <a:rPr lang="en-US" sz="3700" b="1" dirty="0">
                <a:solidFill>
                  <a:srgbClr val="F7FBFF"/>
                </a:solidFill>
                <a:latin typeface="Inter Display" pitchFamily="34" charset="0"/>
                <a:ea typeface="Inter Display" pitchFamily="34" charset="-122"/>
                <a:cs typeface="Inter Display" pitchFamily="34" charset="-120"/>
              </a:rPr>
              <a:t>The masterclass becomes a live partner institution.</a:t>
            </a:r>
            <a:endParaRPr lang="en-US" sz="3700" dirty="0"/>
          </a:p>
        </p:txBody>
      </p:sp>
      <p:sp>
        <p:nvSpPr>
          <p:cNvPr id="32" name="Text 30"/>
          <p:cNvSpPr/>
          <p:nvPr/>
        </p:nvSpPr>
        <p:spPr>
          <a:xfrm>
            <a:off x="2770632" y="3246120"/>
            <a:ext cx="8046720" cy="822960"/>
          </a:xfrm>
          <a:prstGeom prst="rect">
            <a:avLst/>
          </a:prstGeom>
          <a:noFill/>
          <a:ln/>
        </p:spPr>
        <p:txBody>
          <a:bodyPr wrap="square" lIns="0" tIns="0" rIns="0" bIns="0" rtlCol="0" anchor="ctr">
            <a:normAutofit/>
          </a:bodyPr>
          <a:lstStyle/>
          <a:p>
            <a:pPr indent="0" marL="0">
              <a:buNone/>
            </a:pPr>
            <a:r>
              <a:rPr lang="en-US" sz="1600" dirty="0">
                <a:solidFill>
                  <a:srgbClr val="B9C5D2"/>
                </a:solidFill>
                <a:latin typeface="Inter" pitchFamily="34" charset="0"/>
                <a:ea typeface="Inter" pitchFamily="34" charset="-122"/>
                <a:cs typeface="Inter" pitchFamily="34" charset="-120"/>
              </a:rPr>
              <a:t>Boardroom theatre, dynamic AI council, proof stress tests, governed RSI frontier, diligence vault, and a board-ready founding charter.</a:t>
            </a:r>
            <a:endParaRPr lang="en-US" sz="1600" dirty="0"/>
          </a:p>
        </p:txBody>
      </p:sp>
      <p:sp>
        <p:nvSpPr>
          <p:cNvPr id="33" name="Shape 31"/>
          <p:cNvSpPr/>
          <p:nvPr/>
        </p:nvSpPr>
        <p:spPr>
          <a:xfrm>
            <a:off x="2761488" y="4279392"/>
            <a:ext cx="7132320" cy="0"/>
          </a:xfrm>
          <a:prstGeom prst="line">
            <a:avLst/>
          </a:prstGeom>
          <a:noFill/>
          <a:ln w="25400">
            <a:solidFill>
              <a:srgbClr val="E7BD62"/>
            </a:solidFill>
            <a:prstDash val="solid"/>
          </a:ln>
        </p:spPr>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GRAND EDITION</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Shape 26"/>
          <p:cNvSpPr/>
          <p:nvPr/>
        </p:nvSpPr>
        <p:spPr>
          <a:xfrm>
            <a:off x="640080" y="1143000"/>
            <a:ext cx="1325880" cy="301752"/>
          </a:xfrm>
          <a:prstGeom prst="roundRect">
            <a:avLst>
              <a:gd name="adj" fmla="val 24242"/>
            </a:avLst>
          </a:prstGeom>
          <a:solidFill>
            <a:srgbClr val="E7BD62">
              <a:alpha val="12000"/>
            </a:srgbClr>
          </a:solidFill>
          <a:ln w="10160">
            <a:solidFill>
              <a:srgbClr val="E7BD62">
                <a:alpha val="65000"/>
              </a:srgbClr>
            </a:solidFill>
            <a:prstDash val="solid"/>
          </a:ln>
        </p:spPr>
      </p:sp>
      <p:sp>
        <p:nvSpPr>
          <p:cNvPr id="29" name="Text 27"/>
          <p:cNvSpPr/>
          <p:nvPr/>
        </p:nvSpPr>
        <p:spPr>
          <a:xfrm>
            <a:off x="722376" y="1225296"/>
            <a:ext cx="1161288" cy="109728"/>
          </a:xfrm>
          <a:prstGeom prst="rect">
            <a:avLst/>
          </a:prstGeom>
          <a:noFill/>
          <a:ln/>
        </p:spPr>
        <p:txBody>
          <a:bodyPr wrap="square" lIns="0" tIns="0" rIns="0" bIns="0" rtlCol="0" anchor="ctr"/>
          <a:lstStyle/>
          <a:p>
            <a:pPr algn="ctr" indent="0" marL="0">
              <a:buNone/>
            </a:pPr>
            <a:r>
              <a:rPr lang="en-US" sz="720" b="1" spc="130" kern="0" dirty="0">
                <a:solidFill>
                  <a:srgbClr val="E7BD62"/>
                </a:solidFill>
                <a:latin typeface="Inter" pitchFamily="34" charset="0"/>
                <a:ea typeface="Inter" pitchFamily="34" charset="-122"/>
                <a:cs typeface="Inter" pitchFamily="34" charset="-120"/>
              </a:rPr>
              <a:t>THE ANSWER</a:t>
            </a:r>
            <a:endParaRPr lang="en-US" sz="720" dirty="0"/>
          </a:p>
        </p:txBody>
      </p:sp>
      <p:sp>
        <p:nvSpPr>
          <p:cNvPr id="30" name="Text 28"/>
          <p:cNvSpPr/>
          <p:nvPr/>
        </p:nvSpPr>
        <p:spPr>
          <a:xfrm>
            <a:off x="658368" y="1691640"/>
            <a:ext cx="7680960" cy="1280160"/>
          </a:xfrm>
          <a:prstGeom prst="rect">
            <a:avLst/>
          </a:prstGeom>
          <a:noFill/>
          <a:ln/>
        </p:spPr>
        <p:txBody>
          <a:bodyPr wrap="square" lIns="0" tIns="0" rIns="0" bIns="0" rtlCol="0" anchor="ctr">
            <a:normAutofit/>
          </a:bodyPr>
          <a:lstStyle/>
          <a:p>
            <a:pPr indent="0" marL="0">
              <a:buNone/>
            </a:pPr>
            <a:r>
              <a:rPr lang="en-US" sz="3600" b="1" dirty="0">
                <a:solidFill>
                  <a:srgbClr val="F7FBFF"/>
                </a:solidFill>
                <a:latin typeface="Inter Display" pitchFamily="34" charset="0"/>
                <a:ea typeface="Inter Display" pitchFamily="34" charset="-122"/>
                <a:cs typeface="Inter Display" pitchFamily="34" charset="-120"/>
              </a:rPr>
              <a:t>No. The previous masterclass was the foundation—not the ceiling.</a:t>
            </a:r>
            <a:endParaRPr lang="en-US" sz="3600" dirty="0"/>
          </a:p>
        </p:txBody>
      </p:sp>
      <p:sp>
        <p:nvSpPr>
          <p:cNvPr id="31" name="Text 29"/>
          <p:cNvSpPr/>
          <p:nvPr/>
        </p:nvSpPr>
        <p:spPr>
          <a:xfrm>
            <a:off x="685800" y="3154680"/>
            <a:ext cx="6949440" cy="960120"/>
          </a:xfrm>
          <a:prstGeom prst="rect">
            <a:avLst/>
          </a:prstGeom>
          <a:noFill/>
          <a:ln/>
        </p:spPr>
        <p:txBody>
          <a:bodyPr wrap="square" lIns="0" tIns="0" rIns="0" bIns="0" rtlCol="0" anchor="ctr">
            <a:normAutofit/>
          </a:bodyPr>
          <a:lstStyle/>
          <a:p>
            <a:pPr indent="0" marL="0">
              <a:buNone/>
            </a:pPr>
            <a:r>
              <a:rPr lang="en-US" sz="1400" dirty="0">
                <a:solidFill>
                  <a:srgbClr val="B9C5D2"/>
                </a:solidFill>
                <a:latin typeface="Inter" pitchFamily="34" charset="0"/>
                <a:ea typeface="Inter" pitchFamily="34" charset="-122"/>
                <a:cs typeface="Inter" pitchFamily="34" charset="-120"/>
              </a:rPr>
              <a:t>The Grand Institutional Edition is designed to make the partner experience itself behave like GoalOS: every interaction changes visible state, produces artifacts, preserves uncertainty, and ends in a bounded next decision.</a:t>
            </a:r>
            <a:endParaRPr lang="en-US" sz="1400" dirty="0"/>
          </a:p>
        </p:txBody>
      </p:sp>
      <p:sp>
        <p:nvSpPr>
          <p:cNvPr id="32" name="Shape 30"/>
          <p:cNvSpPr/>
          <p:nvPr/>
        </p:nvSpPr>
        <p:spPr>
          <a:xfrm>
            <a:off x="8001000" y="1417320"/>
            <a:ext cx="3429000" cy="4160520"/>
          </a:xfrm>
          <a:prstGeom prst="roundRect">
            <a:avLst>
              <a:gd name="adj" fmla="val 2133"/>
            </a:avLst>
          </a:prstGeom>
          <a:solidFill>
            <a:srgbClr val="10223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3" name="Text 31"/>
          <p:cNvSpPr/>
          <p:nvPr/>
        </p:nvSpPr>
        <p:spPr>
          <a:xfrm>
            <a:off x="8156448" y="1545336"/>
            <a:ext cx="311810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FROM PRESENTATION TO INSTITUTION</a:t>
            </a:r>
            <a:endParaRPr lang="en-US" sz="680" dirty="0"/>
          </a:p>
        </p:txBody>
      </p:sp>
      <p:sp>
        <p:nvSpPr>
          <p:cNvPr id="34" name="Text 32"/>
          <p:cNvSpPr/>
          <p:nvPr/>
        </p:nvSpPr>
        <p:spPr>
          <a:xfrm>
            <a:off x="8156448" y="1673352"/>
            <a:ext cx="3118104" cy="329184"/>
          </a:xfrm>
          <a:prstGeom prst="rect">
            <a:avLst/>
          </a:prstGeom>
          <a:noFill/>
          <a:ln/>
        </p:spPr>
        <p:txBody>
          <a:bodyPr wrap="square" lIns="0" tIns="0" rIns="0" bIns="0" rtlCol="0" anchor="ctr">
            <a:normAutofit/>
          </a:bodyPr>
          <a:lstStyle/>
          <a:p>
            <a:pPr indent="0" marL="0">
              <a:buNone/>
            </a:pPr>
            <a:r>
              <a:rPr lang="en-US" sz="2100" b="1" dirty="0">
                <a:solidFill>
                  <a:srgbClr val="F7FBFF"/>
                </a:solidFill>
                <a:latin typeface="Inter Display" pitchFamily="34" charset="0"/>
                <a:ea typeface="Inter Display" pitchFamily="34" charset="-122"/>
                <a:cs typeface="Inter Display" pitchFamily="34" charset="-120"/>
              </a:rPr>
              <a:t>The room can now operate.</a:t>
            </a:r>
            <a:endParaRPr lang="en-US" sz="2100" dirty="0"/>
          </a:p>
        </p:txBody>
      </p:sp>
      <p:sp>
        <p:nvSpPr>
          <p:cNvPr id="35" name="Text 33"/>
          <p:cNvSpPr/>
          <p:nvPr/>
        </p:nvSpPr>
        <p:spPr>
          <a:xfrm>
            <a:off x="8156448" y="2075688"/>
            <a:ext cx="3118104" cy="3364992"/>
          </a:xfrm>
          <a:prstGeom prst="rect">
            <a:avLst/>
          </a:prstGeom>
          <a:noFill/>
          <a:ln/>
        </p:spPr>
        <p:txBody>
          <a:bodyPr wrap="square" lIns="0" tIns="0" rIns="0" bIns="0" rtlCol="0" anchor="t">
            <a:normAutofit/>
          </a:bodyPr>
          <a:lstStyle/>
          <a:p>
            <a:pPr indent="0" marL="0">
              <a:buNone/>
            </a:pPr>
            <a:r>
              <a:rPr lang="en-US" sz="1050" dirty="0">
                <a:solidFill>
                  <a:srgbClr val="B9C5D2"/>
                </a:solidFill>
                <a:latin typeface="Inter" pitchFamily="34" charset="0"/>
                <a:ea typeface="Inter" pitchFamily="34" charset="-122"/>
                <a:cs typeface="Inter" pitchFamily="34" charset="-120"/>
              </a:rPr>
              <a:t>Cinematic proof theatre</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Adaptive executive paths</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Live Mission Contract and Proof Debt</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AI Architect / Validator Council</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Challenge and rollback simulation</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Deterministic RSI frontier</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Diligence data room</a:t>
            </a:r>
            <a:endParaRPr lang="en-US" sz="1050" dirty="0"/>
          </a:p>
          <a:p>
            <a:pPr indent="0" marL="0">
              <a:buNone/>
            </a:pPr>
            <a:r>
              <a:rPr lang="en-US" sz="1050" dirty="0">
                <a:solidFill>
                  <a:srgbClr val="B9C5D2"/>
                </a:solidFill>
                <a:latin typeface="Inter" pitchFamily="34" charset="0"/>
                <a:ea typeface="Inter" pitchFamily="34" charset="-122"/>
                <a:cs typeface="Inter" pitchFamily="34" charset="-120"/>
              </a:rPr>
              <a:t>Board-ready Partner Charter</a:t>
            </a:r>
            <a:endParaRPr lang="en-US" sz="1050" dirty="0"/>
          </a:p>
        </p:txBody>
      </p:sp>
      <p:sp>
        <p:nvSpPr>
          <p:cNvPr id="36" name="Text 34"/>
          <p:cNvSpPr/>
          <p:nvPr/>
        </p:nvSpPr>
        <p:spPr>
          <a:xfrm>
            <a:off x="731520" y="5074920"/>
            <a:ext cx="6766560" cy="658368"/>
          </a:xfrm>
          <a:prstGeom prst="rect">
            <a:avLst/>
          </a:prstGeom>
          <a:noFill/>
          <a:ln/>
        </p:spPr>
        <p:txBody>
          <a:bodyPr wrap="square" lIns="0" tIns="0" rIns="0" bIns="0" rtlCol="0" anchor="ctr">
            <a:normAutofit/>
          </a:bodyPr>
          <a:lstStyle/>
          <a:p>
            <a:pPr indent="0" marL="0">
              <a:buNone/>
            </a:pPr>
            <a:r>
              <a:rPr lang="en-US" sz="1600" i="1" dirty="0">
                <a:solidFill>
                  <a:srgbClr val="E7BD62"/>
                </a:solidFill>
                <a:latin typeface="Georgia" pitchFamily="34" charset="0"/>
                <a:ea typeface="Georgia" pitchFamily="34" charset="-122"/>
                <a:cs typeface="Georgia" pitchFamily="34" charset="-120"/>
              </a:rPr>
              <a:t>The highest-status demonstration is not “look what the AI generated.” It is “watch what the institution permits, refuses, remembers, and proves.”</a:t>
            </a:r>
            <a:endParaRPr lang="en-US" sz="16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EXPERIENCE ARCHITECTURE</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Eight rooms. One evidence-producing partner experience.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Each room answers a distinct executive question and produces a concrete artifact.</a:t>
            </a:r>
            <a:endParaRPr lang="en-US" sz="1450" dirty="0"/>
          </a:p>
        </p:txBody>
      </p:sp>
      <p:sp>
        <p:nvSpPr>
          <p:cNvPr id="30" name="Shape 28"/>
          <p:cNvSpPr/>
          <p:nvPr/>
        </p:nvSpPr>
        <p:spPr>
          <a:xfrm>
            <a:off x="566928" y="1783080"/>
            <a:ext cx="2633472" cy="1572768"/>
          </a:xfrm>
          <a:prstGeom prst="roundRect">
            <a:avLst>
              <a:gd name="adj" fmla="val 4651"/>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722376" y="1911096"/>
            <a:ext cx="232257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ATRIUM</a:t>
            </a:r>
            <a:endParaRPr lang="en-US" sz="680" dirty="0"/>
          </a:p>
        </p:txBody>
      </p:sp>
      <p:sp>
        <p:nvSpPr>
          <p:cNvPr id="32" name="Text 30"/>
          <p:cNvSpPr/>
          <p:nvPr/>
        </p:nvSpPr>
        <p:spPr>
          <a:xfrm>
            <a:off x="722376" y="2039112"/>
            <a:ext cx="2322576"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Why does this matter now?</a:t>
            </a:r>
            <a:endParaRPr lang="en-US" sz="1250" dirty="0"/>
          </a:p>
        </p:txBody>
      </p:sp>
      <p:sp>
        <p:nvSpPr>
          <p:cNvPr id="33" name="Text 31"/>
          <p:cNvSpPr/>
          <p:nvPr/>
        </p:nvSpPr>
        <p:spPr>
          <a:xfrm>
            <a:off x="722376" y="2441448"/>
            <a:ext cx="2322576" cy="777240"/>
          </a:xfrm>
          <a:prstGeom prst="rect">
            <a:avLst/>
          </a:prstGeom>
          <a:noFill/>
          <a:ln/>
        </p:spPr>
        <p:txBody>
          <a:bodyPr wrap="square" lIns="0" tIns="0" rIns="0" bIns="0" rtlCol="0" anchor="t">
            <a:normAutofit/>
          </a:bodyPr>
          <a:lstStyle/>
          <a:p>
            <a:pPr indent="0" marL="0">
              <a:buNone/>
            </a:pPr>
            <a:r>
              <a:rPr lang="en-US" sz="860" dirty="0">
                <a:solidFill>
                  <a:srgbClr val="43566A"/>
                </a:solidFill>
                <a:latin typeface="Inter" pitchFamily="34" charset="0"/>
                <a:ea typeface="Inter" pitchFamily="34" charset="-122"/>
                <a:cs typeface="Inter" pitchFamily="34" charset="-120"/>
              </a:rPr>
              <a:t>Output: Shared thesis and audience path</a:t>
            </a:r>
            <a:endParaRPr lang="en-US" sz="860" dirty="0"/>
          </a:p>
        </p:txBody>
      </p:sp>
      <p:sp>
        <p:nvSpPr>
          <p:cNvPr id="34" name="Shape 32"/>
          <p:cNvSpPr/>
          <p:nvPr/>
        </p:nvSpPr>
        <p:spPr>
          <a:xfrm>
            <a:off x="3447288" y="1783080"/>
            <a:ext cx="2633472" cy="1572768"/>
          </a:xfrm>
          <a:prstGeom prst="roundRect">
            <a:avLst>
              <a:gd name="adj" fmla="val 4651"/>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3602736" y="1911096"/>
            <a:ext cx="232257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PROOF THEATRE</a:t>
            </a:r>
            <a:endParaRPr lang="en-US" sz="680" dirty="0"/>
          </a:p>
        </p:txBody>
      </p:sp>
      <p:sp>
        <p:nvSpPr>
          <p:cNvPr id="36" name="Text 34"/>
          <p:cNvSpPr/>
          <p:nvPr/>
        </p:nvSpPr>
        <p:spPr>
          <a:xfrm>
            <a:off x="3602736" y="2039112"/>
            <a:ext cx="2322576"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How does authority change?</a:t>
            </a:r>
            <a:endParaRPr lang="en-US" sz="1250" dirty="0"/>
          </a:p>
        </p:txBody>
      </p:sp>
      <p:sp>
        <p:nvSpPr>
          <p:cNvPr id="37" name="Text 35"/>
          <p:cNvSpPr/>
          <p:nvPr/>
        </p:nvSpPr>
        <p:spPr>
          <a:xfrm>
            <a:off x="3602736" y="2441448"/>
            <a:ext cx="2322576" cy="777240"/>
          </a:xfrm>
          <a:prstGeom prst="rect">
            <a:avLst/>
          </a:prstGeom>
          <a:noFill/>
          <a:ln/>
        </p:spPr>
        <p:txBody>
          <a:bodyPr wrap="square" lIns="0" tIns="0" rIns="0" bIns="0" rtlCol="0" anchor="t">
            <a:normAutofit/>
          </a:bodyPr>
          <a:lstStyle/>
          <a:p>
            <a:pPr indent="0" marL="0">
              <a:buNone/>
            </a:pPr>
            <a:r>
              <a:rPr lang="en-US" sz="860" dirty="0">
                <a:solidFill>
                  <a:srgbClr val="43566A"/>
                </a:solidFill>
                <a:latin typeface="Inter" pitchFamily="34" charset="0"/>
                <a:ea typeface="Inter" pitchFamily="34" charset="-122"/>
                <a:cs typeface="Inter" pitchFamily="34" charset="-120"/>
              </a:rPr>
              <a:t>Output: Six-scene institutional narrative</a:t>
            </a:r>
            <a:endParaRPr lang="en-US" sz="860" dirty="0"/>
          </a:p>
        </p:txBody>
      </p:sp>
      <p:sp>
        <p:nvSpPr>
          <p:cNvPr id="38" name="Shape 36"/>
          <p:cNvSpPr/>
          <p:nvPr/>
        </p:nvSpPr>
        <p:spPr>
          <a:xfrm>
            <a:off x="6327648" y="1783080"/>
            <a:ext cx="2633472" cy="1572768"/>
          </a:xfrm>
          <a:prstGeom prst="roundRect">
            <a:avLst>
              <a:gd name="adj" fmla="val 4651"/>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6483096" y="1911096"/>
            <a:ext cx="232257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MISSION STUDIO</a:t>
            </a:r>
            <a:endParaRPr lang="en-US" sz="680" dirty="0"/>
          </a:p>
        </p:txBody>
      </p:sp>
      <p:sp>
        <p:nvSpPr>
          <p:cNvPr id="40" name="Text 38"/>
          <p:cNvSpPr/>
          <p:nvPr/>
        </p:nvSpPr>
        <p:spPr>
          <a:xfrm>
            <a:off x="6483096" y="2039112"/>
            <a:ext cx="2322576"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Can we operate one objective?</a:t>
            </a:r>
            <a:endParaRPr lang="en-US" sz="1250" dirty="0"/>
          </a:p>
        </p:txBody>
      </p:sp>
      <p:sp>
        <p:nvSpPr>
          <p:cNvPr id="41" name="Text 39"/>
          <p:cNvSpPr/>
          <p:nvPr/>
        </p:nvSpPr>
        <p:spPr>
          <a:xfrm>
            <a:off x="6483096" y="2441448"/>
            <a:ext cx="2322576" cy="777240"/>
          </a:xfrm>
          <a:prstGeom prst="rect">
            <a:avLst/>
          </a:prstGeom>
          <a:noFill/>
          <a:ln/>
        </p:spPr>
        <p:txBody>
          <a:bodyPr wrap="square" lIns="0" tIns="0" rIns="0" bIns="0" rtlCol="0" anchor="t">
            <a:normAutofit/>
          </a:bodyPr>
          <a:lstStyle/>
          <a:p>
            <a:pPr indent="0" marL="0">
              <a:buNone/>
            </a:pPr>
            <a:r>
              <a:rPr lang="en-US" sz="860" dirty="0">
                <a:solidFill>
                  <a:srgbClr val="43566A"/>
                </a:solidFill>
                <a:latin typeface="Inter" pitchFamily="34" charset="0"/>
                <a:ea typeface="Inter" pitchFamily="34" charset="-122"/>
                <a:cs typeface="Inter" pitchFamily="34" charset="-120"/>
              </a:rPr>
              <a:t>Output: Mission Contract through root packet</a:t>
            </a:r>
            <a:endParaRPr lang="en-US" sz="860" dirty="0"/>
          </a:p>
        </p:txBody>
      </p:sp>
      <p:sp>
        <p:nvSpPr>
          <p:cNvPr id="42" name="Shape 40"/>
          <p:cNvSpPr/>
          <p:nvPr/>
        </p:nvSpPr>
        <p:spPr>
          <a:xfrm>
            <a:off x="9208008" y="1783080"/>
            <a:ext cx="2633472" cy="1572768"/>
          </a:xfrm>
          <a:prstGeom prst="roundRect">
            <a:avLst>
              <a:gd name="adj" fmla="val 4651"/>
            </a:avLst>
          </a:prstGeom>
          <a:solidFill>
            <a:srgbClr val="FFFDF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43" name="Text 41"/>
          <p:cNvSpPr/>
          <p:nvPr/>
        </p:nvSpPr>
        <p:spPr>
          <a:xfrm>
            <a:off x="9363456" y="1911096"/>
            <a:ext cx="2322576"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AI COUNCIL</a:t>
            </a:r>
            <a:endParaRPr lang="en-US" sz="680" dirty="0"/>
          </a:p>
        </p:txBody>
      </p:sp>
      <p:sp>
        <p:nvSpPr>
          <p:cNvPr id="44" name="Text 42"/>
          <p:cNvSpPr/>
          <p:nvPr/>
        </p:nvSpPr>
        <p:spPr>
          <a:xfrm>
            <a:off x="9363456" y="2039112"/>
            <a:ext cx="2322576"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What would five institutional roles advise?</a:t>
            </a:r>
            <a:endParaRPr lang="en-US" sz="1250" dirty="0"/>
          </a:p>
        </p:txBody>
      </p:sp>
      <p:sp>
        <p:nvSpPr>
          <p:cNvPr id="45" name="Text 43"/>
          <p:cNvSpPr/>
          <p:nvPr/>
        </p:nvSpPr>
        <p:spPr>
          <a:xfrm>
            <a:off x="9363456" y="2441448"/>
            <a:ext cx="2322576" cy="777240"/>
          </a:xfrm>
          <a:prstGeom prst="rect">
            <a:avLst/>
          </a:prstGeom>
          <a:noFill/>
          <a:ln/>
        </p:spPr>
        <p:txBody>
          <a:bodyPr wrap="square" lIns="0" tIns="0" rIns="0" bIns="0" rtlCol="0" anchor="t">
            <a:normAutofit/>
          </a:bodyPr>
          <a:lstStyle/>
          <a:p>
            <a:pPr indent="0" marL="0">
              <a:buNone/>
            </a:pPr>
            <a:r>
              <a:rPr lang="en-US" sz="860" dirty="0">
                <a:solidFill>
                  <a:srgbClr val="43566A"/>
                </a:solidFill>
                <a:latin typeface="Inter" pitchFamily="34" charset="0"/>
                <a:ea typeface="Inter" pitchFamily="34" charset="-122"/>
                <a:cs typeface="Inter" pitchFamily="34" charset="-120"/>
              </a:rPr>
              <a:t>Output: Council memo and kill criteria</a:t>
            </a:r>
            <a:endParaRPr lang="en-US" sz="860" dirty="0"/>
          </a:p>
        </p:txBody>
      </p:sp>
      <p:sp>
        <p:nvSpPr>
          <p:cNvPr id="46" name="Shape 44"/>
          <p:cNvSpPr/>
          <p:nvPr/>
        </p:nvSpPr>
        <p:spPr>
          <a:xfrm>
            <a:off x="566928" y="3685032"/>
            <a:ext cx="2633472" cy="1572768"/>
          </a:xfrm>
          <a:prstGeom prst="roundRect">
            <a:avLst>
              <a:gd name="adj" fmla="val 4651"/>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47" name="Text 45"/>
          <p:cNvSpPr/>
          <p:nvPr/>
        </p:nvSpPr>
        <p:spPr>
          <a:xfrm>
            <a:off x="722376" y="3813048"/>
            <a:ext cx="232257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STRESS THEATRE</a:t>
            </a:r>
            <a:endParaRPr lang="en-US" sz="680" dirty="0"/>
          </a:p>
        </p:txBody>
      </p:sp>
      <p:sp>
        <p:nvSpPr>
          <p:cNvPr id="48" name="Text 46"/>
          <p:cNvSpPr/>
          <p:nvPr/>
        </p:nvSpPr>
        <p:spPr>
          <a:xfrm>
            <a:off x="722376" y="3941064"/>
            <a:ext cx="2322576"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What happens when proof fails?</a:t>
            </a:r>
            <a:endParaRPr lang="en-US" sz="1250" dirty="0"/>
          </a:p>
        </p:txBody>
      </p:sp>
      <p:sp>
        <p:nvSpPr>
          <p:cNvPr id="49" name="Text 47"/>
          <p:cNvSpPr/>
          <p:nvPr/>
        </p:nvSpPr>
        <p:spPr>
          <a:xfrm>
            <a:off x="722376" y="4343400"/>
            <a:ext cx="2322576" cy="777240"/>
          </a:xfrm>
          <a:prstGeom prst="rect">
            <a:avLst/>
          </a:prstGeom>
          <a:noFill/>
          <a:ln/>
        </p:spPr>
        <p:txBody>
          <a:bodyPr wrap="square" lIns="0" tIns="0" rIns="0" bIns="0" rtlCol="0" anchor="t">
            <a:normAutofit/>
          </a:bodyPr>
          <a:lstStyle/>
          <a:p>
            <a:pPr indent="0" marL="0">
              <a:buNone/>
            </a:pPr>
            <a:r>
              <a:rPr lang="en-US" sz="860" dirty="0">
                <a:solidFill>
                  <a:srgbClr val="43566A"/>
                </a:solidFill>
                <a:latin typeface="Inter" pitchFamily="34" charset="0"/>
                <a:ea typeface="Inter" pitchFamily="34" charset="-122"/>
                <a:cs typeface="Inter" pitchFamily="34" charset="-120"/>
              </a:rPr>
              <a:t>Output: Challenge and rollback report</a:t>
            </a:r>
            <a:endParaRPr lang="en-US" sz="860" dirty="0"/>
          </a:p>
        </p:txBody>
      </p:sp>
      <p:sp>
        <p:nvSpPr>
          <p:cNvPr id="50" name="Shape 48"/>
          <p:cNvSpPr/>
          <p:nvPr/>
        </p:nvSpPr>
        <p:spPr>
          <a:xfrm>
            <a:off x="3447288" y="3685032"/>
            <a:ext cx="2633472" cy="1572768"/>
          </a:xfrm>
          <a:prstGeom prst="roundRect">
            <a:avLst>
              <a:gd name="adj" fmla="val 4651"/>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51" name="Text 49"/>
          <p:cNvSpPr/>
          <p:nvPr/>
        </p:nvSpPr>
        <p:spPr>
          <a:xfrm>
            <a:off x="3602736" y="3813048"/>
            <a:ext cx="23225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RSI FRONTIER</a:t>
            </a:r>
            <a:endParaRPr lang="en-US" sz="680" dirty="0"/>
          </a:p>
        </p:txBody>
      </p:sp>
      <p:sp>
        <p:nvSpPr>
          <p:cNvPr id="52" name="Text 50"/>
          <p:cNvSpPr/>
          <p:nvPr/>
        </p:nvSpPr>
        <p:spPr>
          <a:xfrm>
            <a:off x="3602736" y="3941064"/>
            <a:ext cx="2322576"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Can the system improve without self-authorizing?</a:t>
            </a:r>
            <a:endParaRPr lang="en-US" sz="1250" dirty="0"/>
          </a:p>
        </p:txBody>
      </p:sp>
      <p:sp>
        <p:nvSpPr>
          <p:cNvPr id="53" name="Text 51"/>
          <p:cNvSpPr/>
          <p:nvPr/>
        </p:nvSpPr>
        <p:spPr>
          <a:xfrm>
            <a:off x="3602736" y="4343400"/>
            <a:ext cx="2322576" cy="777240"/>
          </a:xfrm>
          <a:prstGeom prst="rect">
            <a:avLst/>
          </a:prstGeom>
          <a:noFill/>
          <a:ln/>
        </p:spPr>
        <p:txBody>
          <a:bodyPr wrap="square" lIns="0" tIns="0" rIns="0" bIns="0" rtlCol="0" anchor="t">
            <a:normAutofit/>
          </a:bodyPr>
          <a:lstStyle/>
          <a:p>
            <a:pPr indent="0" marL="0">
              <a:buNone/>
            </a:pPr>
            <a:r>
              <a:rPr lang="en-US" sz="860" dirty="0">
                <a:solidFill>
                  <a:srgbClr val="43566A"/>
                </a:solidFill>
                <a:latin typeface="Inter" pitchFamily="34" charset="0"/>
                <a:ea typeface="Inter" pitchFamily="34" charset="-122"/>
                <a:cs typeface="Inter" pitchFamily="34" charset="-120"/>
              </a:rPr>
              <a:t>Output: Cycle ledger and dossier</a:t>
            </a:r>
            <a:endParaRPr lang="en-US" sz="860" dirty="0"/>
          </a:p>
        </p:txBody>
      </p:sp>
      <p:sp>
        <p:nvSpPr>
          <p:cNvPr id="54" name="Shape 52"/>
          <p:cNvSpPr/>
          <p:nvPr/>
        </p:nvSpPr>
        <p:spPr>
          <a:xfrm>
            <a:off x="6327648" y="3685032"/>
            <a:ext cx="2633472" cy="1572768"/>
          </a:xfrm>
          <a:prstGeom prst="roundRect">
            <a:avLst>
              <a:gd name="adj" fmla="val 4651"/>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55" name="Text 53"/>
          <p:cNvSpPr/>
          <p:nvPr/>
        </p:nvSpPr>
        <p:spPr>
          <a:xfrm>
            <a:off x="6483096" y="3813048"/>
            <a:ext cx="2322576"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DILIGENCE VAULT</a:t>
            </a:r>
            <a:endParaRPr lang="en-US" sz="680" dirty="0"/>
          </a:p>
        </p:txBody>
      </p:sp>
      <p:sp>
        <p:nvSpPr>
          <p:cNvPr id="56" name="Text 54"/>
          <p:cNvSpPr/>
          <p:nvPr/>
        </p:nvSpPr>
        <p:spPr>
          <a:xfrm>
            <a:off x="6483096" y="3941064"/>
            <a:ext cx="2322576"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What is real, pending, and unproven?</a:t>
            </a:r>
            <a:endParaRPr lang="en-US" sz="1250" dirty="0"/>
          </a:p>
        </p:txBody>
      </p:sp>
      <p:sp>
        <p:nvSpPr>
          <p:cNvPr id="57" name="Text 55"/>
          <p:cNvSpPr/>
          <p:nvPr/>
        </p:nvSpPr>
        <p:spPr>
          <a:xfrm>
            <a:off x="6483096" y="4343400"/>
            <a:ext cx="2322576" cy="777240"/>
          </a:xfrm>
          <a:prstGeom prst="rect">
            <a:avLst/>
          </a:prstGeom>
          <a:noFill/>
          <a:ln/>
        </p:spPr>
        <p:txBody>
          <a:bodyPr wrap="square" lIns="0" tIns="0" rIns="0" bIns="0" rtlCol="0" anchor="t">
            <a:normAutofit/>
          </a:bodyPr>
          <a:lstStyle/>
          <a:p>
            <a:pPr indent="0" marL="0">
              <a:buNone/>
            </a:pPr>
            <a:r>
              <a:rPr lang="en-US" sz="860" dirty="0">
                <a:solidFill>
                  <a:srgbClr val="43566A"/>
                </a:solidFill>
                <a:latin typeface="Inter" pitchFamily="34" charset="0"/>
                <a:ea typeface="Inter" pitchFamily="34" charset="-122"/>
                <a:cs typeface="Inter" pitchFamily="34" charset="-120"/>
              </a:rPr>
              <a:t>Output: Maturity map and data room</a:t>
            </a:r>
            <a:endParaRPr lang="en-US" sz="860" dirty="0"/>
          </a:p>
        </p:txBody>
      </p:sp>
      <p:sp>
        <p:nvSpPr>
          <p:cNvPr id="58" name="Shape 56"/>
          <p:cNvSpPr/>
          <p:nvPr/>
        </p:nvSpPr>
        <p:spPr>
          <a:xfrm>
            <a:off x="9208008" y="3685032"/>
            <a:ext cx="2633472" cy="1572768"/>
          </a:xfrm>
          <a:prstGeom prst="roundRect">
            <a:avLst>
              <a:gd name="adj" fmla="val 4651"/>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59" name="Text 57"/>
          <p:cNvSpPr/>
          <p:nvPr/>
        </p:nvSpPr>
        <p:spPr>
          <a:xfrm>
            <a:off x="9363456" y="3813048"/>
            <a:ext cx="232257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DEAL ARCHITECT</a:t>
            </a:r>
            <a:endParaRPr lang="en-US" sz="680" dirty="0"/>
          </a:p>
        </p:txBody>
      </p:sp>
      <p:sp>
        <p:nvSpPr>
          <p:cNvPr id="60" name="Text 58"/>
          <p:cNvSpPr/>
          <p:nvPr/>
        </p:nvSpPr>
        <p:spPr>
          <a:xfrm>
            <a:off x="9363456" y="3941064"/>
            <a:ext cx="2322576" cy="329184"/>
          </a:xfrm>
          <a:prstGeom prst="rect">
            <a:avLst/>
          </a:prstGeom>
          <a:noFill/>
          <a:ln/>
        </p:spPr>
        <p:txBody>
          <a:bodyPr wrap="square" lIns="0" tIns="0" rIns="0" bIns="0" rtlCol="0" anchor="ctr">
            <a:normAutofit/>
          </a:bodyPr>
          <a:lstStyle/>
          <a:p>
            <a:pPr indent="0" marL="0">
              <a:buNone/>
            </a:pPr>
            <a:r>
              <a:rPr lang="en-US" sz="1250" b="1" dirty="0">
                <a:solidFill>
                  <a:srgbClr val="14273D"/>
                </a:solidFill>
                <a:latin typeface="Inter Display" pitchFamily="34" charset="0"/>
                <a:ea typeface="Inter Display" pitchFamily="34" charset="-122"/>
                <a:cs typeface="Inter Display" pitchFamily="34" charset="-120"/>
              </a:rPr>
              <a:t>What partnership should we actually launch?</a:t>
            </a:r>
            <a:endParaRPr lang="en-US" sz="1250" dirty="0"/>
          </a:p>
        </p:txBody>
      </p:sp>
      <p:sp>
        <p:nvSpPr>
          <p:cNvPr id="61" name="Text 59"/>
          <p:cNvSpPr/>
          <p:nvPr/>
        </p:nvSpPr>
        <p:spPr>
          <a:xfrm>
            <a:off x="9363456" y="4343400"/>
            <a:ext cx="2322576" cy="777240"/>
          </a:xfrm>
          <a:prstGeom prst="rect">
            <a:avLst/>
          </a:prstGeom>
          <a:noFill/>
          <a:ln/>
        </p:spPr>
        <p:txBody>
          <a:bodyPr wrap="square" lIns="0" tIns="0" rIns="0" bIns="0" rtlCol="0" anchor="t">
            <a:normAutofit/>
          </a:bodyPr>
          <a:lstStyle/>
          <a:p>
            <a:pPr indent="0" marL="0">
              <a:buNone/>
            </a:pPr>
            <a:r>
              <a:rPr lang="en-US" sz="860" dirty="0">
                <a:solidFill>
                  <a:srgbClr val="43566A"/>
                </a:solidFill>
                <a:latin typeface="Inter" pitchFamily="34" charset="0"/>
                <a:ea typeface="Inter" pitchFamily="34" charset="-122"/>
                <a:cs typeface="Inter" pitchFamily="34" charset="-120"/>
              </a:rPr>
              <a:t>Output: Board-ready charter and 30-60-90</a:t>
            </a:r>
            <a:endParaRPr lang="en-US" sz="860" dirty="0"/>
          </a:p>
        </p:txBody>
      </p:sp>
      <p:sp>
        <p:nvSpPr>
          <p:cNvPr id="62" name="Text 60"/>
          <p:cNvSpPr/>
          <p:nvPr/>
        </p:nvSpPr>
        <p:spPr>
          <a:xfrm>
            <a:off x="960120" y="5806440"/>
            <a:ext cx="10287000" cy="347472"/>
          </a:xfrm>
          <a:prstGeom prst="rect">
            <a:avLst/>
          </a:prstGeom>
          <a:noFill/>
          <a:ln/>
        </p:spPr>
        <p:txBody>
          <a:bodyPr wrap="square" lIns="0" tIns="0" rIns="0" bIns="0" rtlCol="0" anchor="ctr">
            <a:normAutofit/>
          </a:bodyPr>
          <a:lstStyle/>
          <a:p>
            <a:pPr algn="ctr" indent="0" marL="0">
              <a:buNone/>
            </a:pPr>
            <a:r>
              <a:rPr lang="en-US" sz="1100" b="1" dirty="0">
                <a:solidFill>
                  <a:srgbClr val="14273D"/>
                </a:solidFill>
                <a:latin typeface="Inter" pitchFamily="34" charset="0"/>
                <a:ea typeface="Inter" pitchFamily="34" charset="-122"/>
                <a:cs typeface="Inter" pitchFamily="34" charset="-120"/>
              </a:rPr>
              <a:t>Every room is useful alone. Together they form a complete partner conversion path: understand → inspect → operate → challenge → improve → diligence → commit.</a:t>
            </a:r>
            <a:endParaRPr lang="en-US" sz="11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INSTITUTIONAL PROOF THEATRE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The proof theatre shows what authority is earned at every scene.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audience sees the system move, the artifact produced, the authority earned, and what remains blocked.</a:t>
            </a:r>
            <a:endParaRPr lang="en-US" sz="1450" dirty="0"/>
          </a:p>
        </p:txBody>
      </p:sp>
      <p:sp>
        <p:nvSpPr>
          <p:cNvPr id="30" name="Shape 28"/>
          <p:cNvSpPr/>
          <p:nvPr/>
        </p:nvSpPr>
        <p:spPr>
          <a:xfrm>
            <a:off x="502920" y="2240280"/>
            <a:ext cx="1664208" cy="1965960"/>
          </a:xfrm>
          <a:prstGeom prst="roundRect">
            <a:avLst>
              <a:gd name="adj" fmla="val 4396"/>
            </a:avLst>
          </a:prstGeom>
          <a:solidFill>
            <a:srgbClr val="102238"/>
          </a:solidFill>
          <a:ln w="12700">
            <a:solidFill>
              <a:srgbClr val="6FB5FF"/>
            </a:solidFill>
            <a:prstDash val="solid"/>
          </a:ln>
        </p:spPr>
      </p:sp>
      <p:sp>
        <p:nvSpPr>
          <p:cNvPr id="31" name="Text 29"/>
          <p:cNvSpPr/>
          <p:nvPr/>
        </p:nvSpPr>
        <p:spPr>
          <a:xfrm>
            <a:off x="621792" y="2395728"/>
            <a:ext cx="502920" cy="274320"/>
          </a:xfrm>
          <a:prstGeom prst="rect">
            <a:avLst/>
          </a:prstGeom>
          <a:noFill/>
          <a:ln/>
        </p:spPr>
        <p:txBody>
          <a:bodyPr wrap="square" lIns="0" tIns="0" rIns="0" bIns="0" rtlCol="0" anchor="ctr"/>
          <a:lstStyle/>
          <a:p>
            <a:pPr indent="0" marL="0">
              <a:buNone/>
            </a:pPr>
            <a:r>
              <a:rPr lang="en-US" sz="1700" b="1" dirty="0">
                <a:solidFill>
                  <a:srgbClr val="6FB5FF"/>
                </a:solidFill>
                <a:latin typeface="Georgia" pitchFamily="34" charset="0"/>
                <a:ea typeface="Georgia" pitchFamily="34" charset="-122"/>
                <a:cs typeface="Georgia" pitchFamily="34" charset="-120"/>
              </a:rPr>
              <a:t>01</a:t>
            </a:r>
            <a:endParaRPr lang="en-US" sz="1700" dirty="0"/>
          </a:p>
        </p:txBody>
      </p:sp>
      <p:sp>
        <p:nvSpPr>
          <p:cNvPr id="32" name="Text 30"/>
          <p:cNvSpPr/>
          <p:nvPr/>
        </p:nvSpPr>
        <p:spPr>
          <a:xfrm>
            <a:off x="621792" y="2779776"/>
            <a:ext cx="1389888" cy="384048"/>
          </a:xfrm>
          <a:prstGeom prst="rect">
            <a:avLst/>
          </a:prstGeom>
          <a:noFill/>
          <a:ln/>
        </p:spPr>
        <p:txBody>
          <a:bodyPr wrap="square" lIns="0" tIns="0" rIns="0" bIns="0" rtlCol="0" anchor="ctr">
            <a:normAutofit/>
          </a:bodyP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Candidate output</a:t>
            </a:r>
            <a:endParaRPr lang="en-US" sz="1250" dirty="0"/>
          </a:p>
        </p:txBody>
      </p:sp>
      <p:sp>
        <p:nvSpPr>
          <p:cNvPr id="33" name="Text 31"/>
          <p:cNvSpPr/>
          <p:nvPr/>
        </p:nvSpPr>
        <p:spPr>
          <a:xfrm>
            <a:off x="621792" y="3429000"/>
            <a:ext cx="1389888" cy="420624"/>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Inspectable state only</a:t>
            </a:r>
            <a:endParaRPr lang="en-US" sz="820" dirty="0"/>
          </a:p>
        </p:txBody>
      </p:sp>
      <p:sp>
        <p:nvSpPr>
          <p:cNvPr id="34" name="Shape 32"/>
          <p:cNvSpPr/>
          <p:nvPr/>
        </p:nvSpPr>
        <p:spPr>
          <a:xfrm>
            <a:off x="2167128" y="3218688"/>
            <a:ext cx="256032" cy="0"/>
          </a:xfrm>
          <a:prstGeom prst="line">
            <a:avLst/>
          </a:prstGeom>
          <a:noFill/>
          <a:ln w="12700">
            <a:solidFill>
              <a:srgbClr val="E7BD62"/>
            </a:solidFill>
            <a:prstDash val="solid"/>
            <a:tailEnd type="triangle"/>
          </a:ln>
        </p:spPr>
      </p:sp>
      <p:sp>
        <p:nvSpPr>
          <p:cNvPr id="35" name="Shape 33"/>
          <p:cNvSpPr/>
          <p:nvPr/>
        </p:nvSpPr>
        <p:spPr>
          <a:xfrm>
            <a:off x="2423160" y="2240280"/>
            <a:ext cx="1664208" cy="1965960"/>
          </a:xfrm>
          <a:prstGeom prst="roundRect">
            <a:avLst>
              <a:gd name="adj" fmla="val 4396"/>
            </a:avLst>
          </a:prstGeom>
          <a:solidFill>
            <a:srgbClr val="102238"/>
          </a:solidFill>
          <a:ln w="12700">
            <a:solidFill>
              <a:srgbClr val="FF7584"/>
            </a:solidFill>
            <a:prstDash val="solid"/>
          </a:ln>
        </p:spPr>
      </p:sp>
      <p:sp>
        <p:nvSpPr>
          <p:cNvPr id="36" name="Text 34"/>
          <p:cNvSpPr/>
          <p:nvPr/>
        </p:nvSpPr>
        <p:spPr>
          <a:xfrm>
            <a:off x="2542032" y="2395728"/>
            <a:ext cx="502920" cy="274320"/>
          </a:xfrm>
          <a:prstGeom prst="rect">
            <a:avLst/>
          </a:prstGeom>
          <a:noFill/>
          <a:ln/>
        </p:spPr>
        <p:txBody>
          <a:bodyPr wrap="square" lIns="0" tIns="0" rIns="0" bIns="0" rtlCol="0" anchor="ctr"/>
          <a:lstStyle/>
          <a:p>
            <a:pPr indent="0" marL="0">
              <a:buNone/>
            </a:pPr>
            <a:r>
              <a:rPr lang="en-US" sz="1700" b="1" dirty="0">
                <a:solidFill>
                  <a:srgbClr val="FF7584"/>
                </a:solidFill>
                <a:latin typeface="Georgia" pitchFamily="34" charset="0"/>
                <a:ea typeface="Georgia" pitchFamily="34" charset="-122"/>
                <a:cs typeface="Georgia" pitchFamily="34" charset="-120"/>
              </a:rPr>
              <a:t>02</a:t>
            </a:r>
            <a:endParaRPr lang="en-US" sz="1700" dirty="0"/>
          </a:p>
        </p:txBody>
      </p:sp>
      <p:sp>
        <p:nvSpPr>
          <p:cNvPr id="37" name="Text 35"/>
          <p:cNvSpPr/>
          <p:nvPr/>
        </p:nvSpPr>
        <p:spPr>
          <a:xfrm>
            <a:off x="2542032" y="2779776"/>
            <a:ext cx="1389888" cy="384048"/>
          </a:xfrm>
          <a:prstGeom prst="rect">
            <a:avLst/>
          </a:prstGeom>
          <a:noFill/>
          <a:ln/>
        </p:spPr>
        <p:txBody>
          <a:bodyPr wrap="square" lIns="0" tIns="0" rIns="0" bIns="0" rtlCol="0" anchor="ctr">
            <a:normAutofit/>
          </a:bodyP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Proof Debt</a:t>
            </a:r>
            <a:endParaRPr lang="en-US" sz="1250" dirty="0"/>
          </a:p>
        </p:txBody>
      </p:sp>
      <p:sp>
        <p:nvSpPr>
          <p:cNvPr id="38" name="Text 36"/>
          <p:cNvSpPr/>
          <p:nvPr/>
        </p:nvSpPr>
        <p:spPr>
          <a:xfrm>
            <a:off x="2542032" y="3429000"/>
            <a:ext cx="1389888" cy="420624"/>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Bounded proof program</a:t>
            </a:r>
            <a:endParaRPr lang="en-US" sz="820" dirty="0"/>
          </a:p>
        </p:txBody>
      </p:sp>
      <p:sp>
        <p:nvSpPr>
          <p:cNvPr id="39" name="Shape 37"/>
          <p:cNvSpPr/>
          <p:nvPr/>
        </p:nvSpPr>
        <p:spPr>
          <a:xfrm>
            <a:off x="4087368" y="3218688"/>
            <a:ext cx="256032" cy="0"/>
          </a:xfrm>
          <a:prstGeom prst="line">
            <a:avLst/>
          </a:prstGeom>
          <a:noFill/>
          <a:ln w="12700">
            <a:solidFill>
              <a:srgbClr val="E7BD62"/>
            </a:solidFill>
            <a:prstDash val="solid"/>
            <a:tailEnd type="triangle"/>
          </a:ln>
        </p:spPr>
      </p:sp>
      <p:sp>
        <p:nvSpPr>
          <p:cNvPr id="40" name="Shape 38"/>
          <p:cNvSpPr/>
          <p:nvPr/>
        </p:nvSpPr>
        <p:spPr>
          <a:xfrm>
            <a:off x="4343400" y="2240280"/>
            <a:ext cx="1664208" cy="1965960"/>
          </a:xfrm>
          <a:prstGeom prst="roundRect">
            <a:avLst>
              <a:gd name="adj" fmla="val 4396"/>
            </a:avLst>
          </a:prstGeom>
          <a:solidFill>
            <a:srgbClr val="102238"/>
          </a:solidFill>
          <a:ln w="12700">
            <a:solidFill>
              <a:srgbClr val="54D6D0"/>
            </a:solidFill>
            <a:prstDash val="solid"/>
          </a:ln>
        </p:spPr>
      </p:sp>
      <p:sp>
        <p:nvSpPr>
          <p:cNvPr id="41" name="Text 39"/>
          <p:cNvSpPr/>
          <p:nvPr/>
        </p:nvSpPr>
        <p:spPr>
          <a:xfrm>
            <a:off x="4462272" y="2395728"/>
            <a:ext cx="502920" cy="274320"/>
          </a:xfrm>
          <a:prstGeom prst="rect">
            <a:avLst/>
          </a:prstGeom>
          <a:noFill/>
          <a:ln/>
        </p:spPr>
        <p:txBody>
          <a:bodyPr wrap="square" lIns="0" tIns="0" rIns="0" bIns="0" rtlCol="0" anchor="ctr"/>
          <a:lstStyle/>
          <a:p>
            <a:pPr indent="0" marL="0">
              <a:buNone/>
            </a:pPr>
            <a:r>
              <a:rPr lang="en-US" sz="1700" b="1" dirty="0">
                <a:solidFill>
                  <a:srgbClr val="54D6D0"/>
                </a:solidFill>
                <a:latin typeface="Georgia" pitchFamily="34" charset="0"/>
                <a:ea typeface="Georgia" pitchFamily="34" charset="-122"/>
                <a:cs typeface="Georgia" pitchFamily="34" charset="-120"/>
              </a:rPr>
              <a:t>03</a:t>
            </a:r>
            <a:endParaRPr lang="en-US" sz="1700" dirty="0"/>
          </a:p>
        </p:txBody>
      </p:sp>
      <p:sp>
        <p:nvSpPr>
          <p:cNvPr id="42" name="Text 40"/>
          <p:cNvSpPr/>
          <p:nvPr/>
        </p:nvSpPr>
        <p:spPr>
          <a:xfrm>
            <a:off x="4462272" y="2779776"/>
            <a:ext cx="1389888" cy="384048"/>
          </a:xfrm>
          <a:prstGeom prst="rect">
            <a:avLst/>
          </a:prstGeom>
          <a:noFill/>
          <a:ln/>
        </p:spPr>
        <p:txBody>
          <a:bodyPr wrap="square" lIns="0" tIns="0" rIns="0" bIns="0" rtlCol="0" anchor="ctr">
            <a:normAutofit/>
          </a:bodyP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Evidence Docket</a:t>
            </a:r>
            <a:endParaRPr lang="en-US" sz="1250" dirty="0"/>
          </a:p>
        </p:txBody>
      </p:sp>
      <p:sp>
        <p:nvSpPr>
          <p:cNvPr id="43" name="Text 41"/>
          <p:cNvSpPr/>
          <p:nvPr/>
        </p:nvSpPr>
        <p:spPr>
          <a:xfrm>
            <a:off x="4462272" y="3429000"/>
            <a:ext cx="1389888" cy="420624"/>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Reviewer-ready decision state</a:t>
            </a:r>
            <a:endParaRPr lang="en-US" sz="820" dirty="0"/>
          </a:p>
        </p:txBody>
      </p:sp>
      <p:sp>
        <p:nvSpPr>
          <p:cNvPr id="44" name="Shape 42"/>
          <p:cNvSpPr/>
          <p:nvPr/>
        </p:nvSpPr>
        <p:spPr>
          <a:xfrm>
            <a:off x="6007608" y="3218688"/>
            <a:ext cx="256032" cy="0"/>
          </a:xfrm>
          <a:prstGeom prst="line">
            <a:avLst/>
          </a:prstGeom>
          <a:noFill/>
          <a:ln w="12700">
            <a:solidFill>
              <a:srgbClr val="E7BD62"/>
            </a:solidFill>
            <a:prstDash val="solid"/>
            <a:tailEnd type="triangle"/>
          </a:ln>
        </p:spPr>
      </p:sp>
      <p:sp>
        <p:nvSpPr>
          <p:cNvPr id="45" name="Shape 43"/>
          <p:cNvSpPr/>
          <p:nvPr/>
        </p:nvSpPr>
        <p:spPr>
          <a:xfrm>
            <a:off x="6263640" y="2240280"/>
            <a:ext cx="1664208" cy="1965960"/>
          </a:xfrm>
          <a:prstGeom prst="roundRect">
            <a:avLst>
              <a:gd name="adj" fmla="val 4396"/>
            </a:avLst>
          </a:prstGeom>
          <a:solidFill>
            <a:srgbClr val="102238"/>
          </a:solidFill>
          <a:ln w="12700">
            <a:solidFill>
              <a:srgbClr val="E7BD62"/>
            </a:solidFill>
            <a:prstDash val="solid"/>
          </a:ln>
        </p:spPr>
      </p:sp>
      <p:sp>
        <p:nvSpPr>
          <p:cNvPr id="46" name="Text 44"/>
          <p:cNvSpPr/>
          <p:nvPr/>
        </p:nvSpPr>
        <p:spPr>
          <a:xfrm>
            <a:off x="6382512" y="2395728"/>
            <a:ext cx="502920" cy="274320"/>
          </a:xfrm>
          <a:prstGeom prst="rect">
            <a:avLst/>
          </a:prstGeom>
          <a:noFill/>
          <a:ln/>
        </p:spPr>
        <p:txBody>
          <a:bodyPr wrap="square" lIns="0" tIns="0" rIns="0" bIns="0" rtlCol="0" anchor="ctr"/>
          <a:lstStyle/>
          <a:p>
            <a:pPr indent="0" marL="0">
              <a:buNone/>
            </a:pPr>
            <a:r>
              <a:rPr lang="en-US" sz="1700" b="1" dirty="0">
                <a:solidFill>
                  <a:srgbClr val="E7BD62"/>
                </a:solidFill>
                <a:latin typeface="Georgia" pitchFamily="34" charset="0"/>
                <a:ea typeface="Georgia" pitchFamily="34" charset="-122"/>
                <a:cs typeface="Georgia" pitchFamily="34" charset="-120"/>
              </a:rPr>
              <a:t>04</a:t>
            </a:r>
            <a:endParaRPr lang="en-US" sz="1700" dirty="0"/>
          </a:p>
        </p:txBody>
      </p:sp>
      <p:sp>
        <p:nvSpPr>
          <p:cNvPr id="47" name="Text 45"/>
          <p:cNvSpPr/>
          <p:nvPr/>
        </p:nvSpPr>
        <p:spPr>
          <a:xfrm>
            <a:off x="6382512" y="2779776"/>
            <a:ext cx="1389888" cy="384048"/>
          </a:xfrm>
          <a:prstGeom prst="rect">
            <a:avLst/>
          </a:prstGeom>
          <a:noFill/>
          <a:ln/>
        </p:spPr>
        <p:txBody>
          <a:bodyPr wrap="square" lIns="0" tIns="0" rIns="0" bIns="0" rtlCol="0" anchor="ctr">
            <a:normAutofit/>
          </a:bodyP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Chronicle</a:t>
            </a:r>
            <a:endParaRPr lang="en-US" sz="1250" dirty="0"/>
          </a:p>
        </p:txBody>
      </p:sp>
      <p:sp>
        <p:nvSpPr>
          <p:cNvPr id="48" name="Text 46"/>
          <p:cNvSpPr/>
          <p:nvPr/>
        </p:nvSpPr>
        <p:spPr>
          <a:xfrm>
            <a:off x="6382512" y="3429000"/>
            <a:ext cx="1389888" cy="420624"/>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Scoped memory authority</a:t>
            </a:r>
            <a:endParaRPr lang="en-US" sz="820" dirty="0"/>
          </a:p>
        </p:txBody>
      </p:sp>
      <p:sp>
        <p:nvSpPr>
          <p:cNvPr id="49" name="Shape 47"/>
          <p:cNvSpPr/>
          <p:nvPr/>
        </p:nvSpPr>
        <p:spPr>
          <a:xfrm>
            <a:off x="7927848" y="3218688"/>
            <a:ext cx="256032" cy="0"/>
          </a:xfrm>
          <a:prstGeom prst="line">
            <a:avLst/>
          </a:prstGeom>
          <a:noFill/>
          <a:ln w="12700">
            <a:solidFill>
              <a:srgbClr val="E7BD62"/>
            </a:solidFill>
            <a:prstDash val="solid"/>
            <a:tailEnd type="triangle"/>
          </a:ln>
        </p:spPr>
      </p:sp>
      <p:sp>
        <p:nvSpPr>
          <p:cNvPr id="50" name="Shape 48"/>
          <p:cNvSpPr/>
          <p:nvPr/>
        </p:nvSpPr>
        <p:spPr>
          <a:xfrm>
            <a:off x="8183880" y="2240280"/>
            <a:ext cx="1664208" cy="1965960"/>
          </a:xfrm>
          <a:prstGeom prst="roundRect">
            <a:avLst>
              <a:gd name="adj" fmla="val 4396"/>
            </a:avLst>
          </a:prstGeom>
          <a:solidFill>
            <a:srgbClr val="102238"/>
          </a:solidFill>
          <a:ln w="12700">
            <a:solidFill>
              <a:srgbClr val="A99CFF"/>
            </a:solidFill>
            <a:prstDash val="solid"/>
          </a:ln>
        </p:spPr>
      </p:sp>
      <p:sp>
        <p:nvSpPr>
          <p:cNvPr id="51" name="Text 49"/>
          <p:cNvSpPr/>
          <p:nvPr/>
        </p:nvSpPr>
        <p:spPr>
          <a:xfrm>
            <a:off x="8302752" y="2395728"/>
            <a:ext cx="502920" cy="274320"/>
          </a:xfrm>
          <a:prstGeom prst="rect">
            <a:avLst/>
          </a:prstGeom>
          <a:noFill/>
          <a:ln/>
        </p:spPr>
        <p:txBody>
          <a:bodyPr wrap="square" lIns="0" tIns="0" rIns="0" bIns="0" rtlCol="0" anchor="ctr"/>
          <a:lstStyle/>
          <a:p>
            <a:pPr indent="0" marL="0">
              <a:buNone/>
            </a:pPr>
            <a:r>
              <a:rPr lang="en-US" sz="1700" b="1" dirty="0">
                <a:solidFill>
                  <a:srgbClr val="A99CFF"/>
                </a:solidFill>
                <a:latin typeface="Georgia" pitchFamily="34" charset="0"/>
                <a:ea typeface="Georgia" pitchFamily="34" charset="-122"/>
                <a:cs typeface="Georgia" pitchFamily="34" charset="-120"/>
              </a:rPr>
              <a:t>05</a:t>
            </a:r>
            <a:endParaRPr lang="en-US" sz="1700" dirty="0"/>
          </a:p>
        </p:txBody>
      </p:sp>
      <p:sp>
        <p:nvSpPr>
          <p:cNvPr id="52" name="Text 50"/>
          <p:cNvSpPr/>
          <p:nvPr/>
        </p:nvSpPr>
        <p:spPr>
          <a:xfrm>
            <a:off x="8302752" y="2779776"/>
            <a:ext cx="1389888" cy="384048"/>
          </a:xfrm>
          <a:prstGeom prst="rect">
            <a:avLst/>
          </a:prstGeom>
          <a:noFill/>
          <a:ln/>
        </p:spPr>
        <p:txBody>
          <a:bodyPr wrap="square" lIns="0" tIns="0" rIns="0" bIns="0" rtlCol="0" anchor="ctr">
            <a:normAutofit/>
          </a:bodyP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Merkle root</a:t>
            </a:r>
            <a:endParaRPr lang="en-US" sz="1250" dirty="0"/>
          </a:p>
        </p:txBody>
      </p:sp>
      <p:sp>
        <p:nvSpPr>
          <p:cNvPr id="53" name="Text 51"/>
          <p:cNvSpPr/>
          <p:nvPr/>
        </p:nvSpPr>
        <p:spPr>
          <a:xfrm>
            <a:off x="8302752" y="3429000"/>
            <a:ext cx="1389888" cy="420624"/>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Tamper-evident commitment</a:t>
            </a:r>
            <a:endParaRPr lang="en-US" sz="820" dirty="0"/>
          </a:p>
        </p:txBody>
      </p:sp>
      <p:sp>
        <p:nvSpPr>
          <p:cNvPr id="54" name="Shape 52"/>
          <p:cNvSpPr/>
          <p:nvPr/>
        </p:nvSpPr>
        <p:spPr>
          <a:xfrm>
            <a:off x="9848088" y="3218688"/>
            <a:ext cx="256032" cy="0"/>
          </a:xfrm>
          <a:prstGeom prst="line">
            <a:avLst/>
          </a:prstGeom>
          <a:noFill/>
          <a:ln w="12700">
            <a:solidFill>
              <a:srgbClr val="E7BD62"/>
            </a:solidFill>
            <a:prstDash val="solid"/>
            <a:tailEnd type="triangle"/>
          </a:ln>
        </p:spPr>
      </p:sp>
      <p:sp>
        <p:nvSpPr>
          <p:cNvPr id="55" name="Shape 53"/>
          <p:cNvSpPr/>
          <p:nvPr/>
        </p:nvSpPr>
        <p:spPr>
          <a:xfrm>
            <a:off x="10104120" y="2240280"/>
            <a:ext cx="1664208" cy="1965960"/>
          </a:xfrm>
          <a:prstGeom prst="roundRect">
            <a:avLst>
              <a:gd name="adj" fmla="val 4396"/>
            </a:avLst>
          </a:prstGeom>
          <a:solidFill>
            <a:srgbClr val="102238"/>
          </a:solidFill>
          <a:ln w="12700">
            <a:solidFill>
              <a:srgbClr val="43D79B"/>
            </a:solidFill>
            <a:prstDash val="solid"/>
          </a:ln>
        </p:spPr>
      </p:sp>
      <p:sp>
        <p:nvSpPr>
          <p:cNvPr id="56" name="Text 54"/>
          <p:cNvSpPr/>
          <p:nvPr/>
        </p:nvSpPr>
        <p:spPr>
          <a:xfrm>
            <a:off x="10222992" y="2395728"/>
            <a:ext cx="502920" cy="274320"/>
          </a:xfrm>
          <a:prstGeom prst="rect">
            <a:avLst/>
          </a:prstGeom>
          <a:noFill/>
          <a:ln/>
        </p:spPr>
        <p:txBody>
          <a:bodyPr wrap="square" lIns="0" tIns="0" rIns="0" bIns="0" rtlCol="0" anchor="ctr"/>
          <a:lstStyle/>
          <a:p>
            <a:pPr indent="0" marL="0">
              <a:buNone/>
            </a:pPr>
            <a:r>
              <a:rPr lang="en-US" sz="1700" b="1" dirty="0">
                <a:solidFill>
                  <a:srgbClr val="43D79B"/>
                </a:solidFill>
                <a:latin typeface="Georgia" pitchFamily="34" charset="0"/>
                <a:ea typeface="Georgia" pitchFamily="34" charset="-122"/>
                <a:cs typeface="Georgia" pitchFamily="34" charset="-120"/>
              </a:rPr>
              <a:t>06</a:t>
            </a:r>
            <a:endParaRPr lang="en-US" sz="1700" dirty="0"/>
          </a:p>
        </p:txBody>
      </p:sp>
      <p:sp>
        <p:nvSpPr>
          <p:cNvPr id="57" name="Text 55"/>
          <p:cNvSpPr/>
          <p:nvPr/>
        </p:nvSpPr>
        <p:spPr>
          <a:xfrm>
            <a:off x="10222992" y="2779776"/>
            <a:ext cx="1389888" cy="384048"/>
          </a:xfrm>
          <a:prstGeom prst="rect">
            <a:avLst/>
          </a:prstGeom>
          <a:noFill/>
          <a:ln/>
        </p:spPr>
        <p:txBody>
          <a:bodyPr wrap="square" lIns="0" tIns="0" rIns="0" bIns="0" rtlCol="0" anchor="ctr">
            <a:normAutofit/>
          </a:bodyPr>
          <a:lstStyle/>
          <a:p>
            <a:pPr indent="0" marL="0">
              <a:buNone/>
            </a:pPr>
            <a:r>
              <a:rPr lang="en-US" sz="1250" b="1" dirty="0">
                <a:solidFill>
                  <a:srgbClr val="F7FBFF"/>
                </a:solidFill>
                <a:latin typeface="Inter Display" pitchFamily="34" charset="0"/>
                <a:ea typeface="Inter Display" pitchFamily="34" charset="-122"/>
                <a:cs typeface="Inter Display" pitchFamily="34" charset="-120"/>
              </a:rPr>
              <a:t>Mission 2</a:t>
            </a:r>
            <a:endParaRPr lang="en-US" sz="1250" dirty="0"/>
          </a:p>
        </p:txBody>
      </p:sp>
      <p:sp>
        <p:nvSpPr>
          <p:cNvPr id="58" name="Text 56"/>
          <p:cNvSpPr/>
          <p:nvPr/>
        </p:nvSpPr>
        <p:spPr>
          <a:xfrm>
            <a:off x="10222992" y="3429000"/>
            <a:ext cx="1389888" cy="420624"/>
          </a:xfrm>
          <a:prstGeom prst="rect">
            <a:avLst/>
          </a:prstGeom>
          <a:noFill/>
          <a:ln/>
        </p:spPr>
        <p:txBody>
          <a:bodyPr wrap="square" lIns="0" tIns="0" rIns="0" bIns="0" rtlCol="0" anchor="ctr">
            <a:normAutofit/>
          </a:bodyPr>
          <a:lstStyle/>
          <a:p>
            <a:pPr indent="0" marL="0">
              <a:buNone/>
            </a:pPr>
            <a:r>
              <a:rPr lang="en-US" sz="820" dirty="0">
                <a:solidFill>
                  <a:srgbClr val="B9C5D2"/>
                </a:solidFill>
                <a:latin typeface="Inter" pitchFamily="34" charset="0"/>
                <a:ea typeface="Inter" pitchFamily="34" charset="-122"/>
                <a:cs typeface="Inter" pitchFamily="34" charset="-120"/>
              </a:rPr>
              <a:t>Evidence of bounded lift</a:t>
            </a:r>
            <a:endParaRPr lang="en-US" sz="820" dirty="0"/>
          </a:p>
        </p:txBody>
      </p:sp>
      <p:sp>
        <p:nvSpPr>
          <p:cNvPr id="59" name="Shape 57"/>
          <p:cNvSpPr/>
          <p:nvPr/>
        </p:nvSpPr>
        <p:spPr>
          <a:xfrm>
            <a:off x="1508760" y="4681728"/>
            <a:ext cx="9189720" cy="731520"/>
          </a:xfrm>
          <a:prstGeom prst="roundRect">
            <a:avLst>
              <a:gd name="adj" fmla="val 10000"/>
            </a:avLst>
          </a:prstGeom>
          <a:solidFill>
            <a:srgbClr val="102238"/>
          </a:solidFill>
          <a:ln w="10160">
            <a:solidFill>
              <a:srgbClr val="E7BD62"/>
            </a:solidFill>
            <a:prstDash val="solid"/>
          </a:ln>
        </p:spPr>
      </p:sp>
      <p:sp>
        <p:nvSpPr>
          <p:cNvPr id="60" name="Text 58"/>
          <p:cNvSpPr/>
          <p:nvPr/>
        </p:nvSpPr>
        <p:spPr>
          <a:xfrm>
            <a:off x="1664208" y="4809744"/>
            <a:ext cx="887882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THEATRE LAW</a:t>
            </a:r>
            <a:endParaRPr lang="en-US" sz="680" dirty="0"/>
          </a:p>
        </p:txBody>
      </p:sp>
      <p:sp>
        <p:nvSpPr>
          <p:cNvPr id="61" name="Text 59"/>
          <p:cNvSpPr/>
          <p:nvPr/>
        </p:nvSpPr>
        <p:spPr>
          <a:xfrm>
            <a:off x="1664208" y="4937760"/>
            <a:ext cx="8878824" cy="329184"/>
          </a:xfrm>
          <a:prstGeom prst="rect">
            <a:avLst/>
          </a:prstGeom>
          <a:noFill/>
          <a:ln/>
        </p:spPr>
        <p:txBody>
          <a:bodyPr wrap="square" lIns="0" tIns="0" rIns="0" bIns="0" rtlCol="0" anchor="ctr">
            <a:normAutofit/>
          </a:bodyPr>
          <a:lstStyle/>
          <a:p>
            <a:pPr indent="0" marL="0">
              <a:buNone/>
            </a:pPr>
            <a:r>
              <a:rPr lang="en-US" sz="1530" b="1" dirty="0">
                <a:solidFill>
                  <a:srgbClr val="F7FBFF"/>
                </a:solidFill>
                <a:latin typeface="Inter Display" pitchFamily="34" charset="0"/>
                <a:ea typeface="Inter Display" pitchFamily="34" charset="-122"/>
                <a:cs typeface="Inter Display" pitchFamily="34" charset="-120"/>
              </a:rPr>
              <a:t>The room watches permission change—not merely content accumulate.</a:t>
            </a:r>
            <a:endParaRPr lang="en-US" sz="153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DYNAMIC AI COUNCIL</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Five institutional minds. One bounded recommendation.</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council reads the live mission state and separates design, evidence, memory, improvement, and partnership responsibilities.</a:t>
            </a:r>
            <a:endParaRPr lang="en-US" sz="1450" dirty="0"/>
          </a:p>
        </p:txBody>
      </p:sp>
      <p:sp>
        <p:nvSpPr>
          <p:cNvPr id="30" name="Shape 28"/>
          <p:cNvSpPr/>
          <p:nvPr/>
        </p:nvSpPr>
        <p:spPr>
          <a:xfrm>
            <a:off x="1316736" y="1874520"/>
            <a:ext cx="822960" cy="822960"/>
          </a:xfrm>
          <a:prstGeom prst="ellipse">
            <a:avLst/>
          </a:prstGeom>
          <a:solidFill>
            <a:srgbClr val="E7BD62">
              <a:alpha val="92000"/>
            </a:srgbClr>
          </a:solidFill>
          <a:ln w="13970">
            <a:solidFill>
              <a:srgbClr val="E7BD62"/>
            </a:solidFill>
            <a:prstDash val="solid"/>
          </a:ln>
        </p:spPr>
      </p:sp>
      <p:sp>
        <p:nvSpPr>
          <p:cNvPr id="31" name="Text 29"/>
          <p:cNvSpPr/>
          <p:nvPr/>
        </p:nvSpPr>
        <p:spPr>
          <a:xfrm>
            <a:off x="1563624" y="2148840"/>
            <a:ext cx="320040" cy="128016"/>
          </a:xfrm>
          <a:prstGeom prst="rect">
            <a:avLst/>
          </a:prstGeom>
          <a:noFill/>
          <a:ln/>
        </p:spPr>
        <p:txBody>
          <a:bodyPr wrap="square" lIns="0" tIns="0" rIns="0" bIns="0" rtlCol="0" anchor="ctr"/>
          <a:lstStyle/>
          <a:p>
            <a:pPr algn="ctr" indent="0" marL="0">
              <a:buNone/>
            </a:pPr>
            <a:r>
              <a:rPr lang="en-US" sz="1000" b="1" dirty="0">
                <a:solidFill>
                  <a:srgbClr val="14273D"/>
                </a:solidFill>
                <a:latin typeface="Georgia" pitchFamily="34" charset="0"/>
                <a:ea typeface="Georgia" pitchFamily="34" charset="-122"/>
                <a:cs typeface="Georgia" pitchFamily="34" charset="-120"/>
              </a:rPr>
              <a:t>M</a:t>
            </a:r>
            <a:endParaRPr lang="en-US" sz="1000" dirty="0"/>
          </a:p>
        </p:txBody>
      </p:sp>
      <p:sp>
        <p:nvSpPr>
          <p:cNvPr id="32" name="Shape 30"/>
          <p:cNvSpPr/>
          <p:nvPr/>
        </p:nvSpPr>
        <p:spPr>
          <a:xfrm>
            <a:off x="658368" y="2788920"/>
            <a:ext cx="2148840" cy="1508760"/>
          </a:xfrm>
          <a:prstGeom prst="roundRect">
            <a:avLst>
              <a:gd name="adj" fmla="val 4848"/>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3" name="Text 31"/>
          <p:cNvSpPr/>
          <p:nvPr/>
        </p:nvSpPr>
        <p:spPr>
          <a:xfrm>
            <a:off x="813816" y="2916936"/>
            <a:ext cx="183794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MISSION ARCHITECT</a:t>
            </a:r>
            <a:endParaRPr lang="en-US" sz="680" dirty="0"/>
          </a:p>
        </p:txBody>
      </p:sp>
      <p:sp>
        <p:nvSpPr>
          <p:cNvPr id="34" name="Text 32"/>
          <p:cNvSpPr/>
          <p:nvPr/>
        </p:nvSpPr>
        <p:spPr>
          <a:xfrm>
            <a:off x="813816" y="3044952"/>
            <a:ext cx="1837944" cy="329184"/>
          </a:xfrm>
          <a:prstGeom prst="rect">
            <a:avLst/>
          </a:prstGeom>
          <a:noFill/>
          <a:ln/>
        </p:spPr>
        <p:txBody>
          <a:bodyPr wrap="square" lIns="0" tIns="0" rIns="0" bIns="0" rtlCol="0" anchor="ctr">
            <a:normAutofit/>
          </a:bodyPr>
          <a:lstStyle/>
          <a:p>
            <a:pPr indent="0" marL="0">
              <a:buNone/>
            </a:pPr>
            <a:r>
              <a:rPr lang="en-US" sz="1140" b="1" dirty="0">
                <a:solidFill>
                  <a:srgbClr val="14273D"/>
                </a:solidFill>
                <a:latin typeface="Inter Display" pitchFamily="34" charset="0"/>
                <a:ea typeface="Inter Display" pitchFamily="34" charset="-122"/>
                <a:cs typeface="Inter Display" pitchFamily="34" charset="-120"/>
              </a:rPr>
              <a:t>Decision · scope · proof level · done</a:t>
            </a:r>
            <a:endParaRPr lang="en-US" sz="1140" dirty="0"/>
          </a:p>
        </p:txBody>
      </p:sp>
      <p:sp>
        <p:nvSpPr>
          <p:cNvPr id="35" name="Text 33"/>
          <p:cNvSpPr/>
          <p:nvPr/>
        </p:nvSpPr>
        <p:spPr>
          <a:xfrm>
            <a:off x="813816" y="3447288"/>
            <a:ext cx="1837944" cy="71323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Distinct advice · shared claim boundary</a:t>
            </a:r>
            <a:endParaRPr lang="en-US" sz="780" dirty="0"/>
          </a:p>
        </p:txBody>
      </p:sp>
      <p:sp>
        <p:nvSpPr>
          <p:cNvPr id="36" name="Shape 34"/>
          <p:cNvSpPr/>
          <p:nvPr/>
        </p:nvSpPr>
        <p:spPr>
          <a:xfrm>
            <a:off x="3602736" y="1874520"/>
            <a:ext cx="822960" cy="822960"/>
          </a:xfrm>
          <a:prstGeom prst="ellipse">
            <a:avLst/>
          </a:prstGeom>
          <a:solidFill>
            <a:srgbClr val="6FB5FF">
              <a:alpha val="92000"/>
            </a:srgbClr>
          </a:solidFill>
          <a:ln w="13970">
            <a:solidFill>
              <a:srgbClr val="6FB5FF"/>
            </a:solidFill>
            <a:prstDash val="solid"/>
          </a:ln>
        </p:spPr>
      </p:sp>
      <p:sp>
        <p:nvSpPr>
          <p:cNvPr id="37" name="Text 35"/>
          <p:cNvSpPr/>
          <p:nvPr/>
        </p:nvSpPr>
        <p:spPr>
          <a:xfrm>
            <a:off x="3849624" y="2148840"/>
            <a:ext cx="320040" cy="128016"/>
          </a:xfrm>
          <a:prstGeom prst="rect">
            <a:avLst/>
          </a:prstGeom>
          <a:noFill/>
          <a:ln/>
        </p:spPr>
        <p:txBody>
          <a:bodyPr wrap="square" lIns="0" tIns="0" rIns="0" bIns="0" rtlCol="0" anchor="ctr"/>
          <a:lstStyle/>
          <a:p>
            <a:pPr algn="ctr" indent="0" marL="0">
              <a:buNone/>
            </a:pPr>
            <a:r>
              <a:rPr lang="en-US" sz="1000" b="1" dirty="0">
                <a:solidFill>
                  <a:srgbClr val="14273D"/>
                </a:solidFill>
                <a:latin typeface="Georgia" pitchFamily="34" charset="0"/>
                <a:ea typeface="Georgia" pitchFamily="34" charset="-122"/>
                <a:cs typeface="Georgia" pitchFamily="34" charset="-120"/>
              </a:rPr>
              <a:t>E</a:t>
            </a:r>
            <a:endParaRPr lang="en-US" sz="1000" dirty="0"/>
          </a:p>
        </p:txBody>
      </p:sp>
      <p:sp>
        <p:nvSpPr>
          <p:cNvPr id="38" name="Shape 36"/>
          <p:cNvSpPr/>
          <p:nvPr/>
        </p:nvSpPr>
        <p:spPr>
          <a:xfrm>
            <a:off x="2944368" y="2788920"/>
            <a:ext cx="2148840" cy="1508760"/>
          </a:xfrm>
          <a:prstGeom prst="roundRect">
            <a:avLst>
              <a:gd name="adj" fmla="val 4848"/>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3099816" y="2916936"/>
            <a:ext cx="183794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EVIDENCE MARSHAL</a:t>
            </a:r>
            <a:endParaRPr lang="en-US" sz="680" dirty="0"/>
          </a:p>
        </p:txBody>
      </p:sp>
      <p:sp>
        <p:nvSpPr>
          <p:cNvPr id="40" name="Text 38"/>
          <p:cNvSpPr/>
          <p:nvPr/>
        </p:nvSpPr>
        <p:spPr>
          <a:xfrm>
            <a:off x="3099816" y="3044952"/>
            <a:ext cx="1837944" cy="329184"/>
          </a:xfrm>
          <a:prstGeom prst="rect">
            <a:avLst/>
          </a:prstGeom>
          <a:noFill/>
          <a:ln/>
        </p:spPr>
        <p:txBody>
          <a:bodyPr wrap="square" lIns="0" tIns="0" rIns="0" bIns="0" rtlCol="0" anchor="ctr">
            <a:normAutofit/>
          </a:bodyPr>
          <a:lstStyle/>
          <a:p>
            <a:pPr indent="0" marL="0">
              <a:buNone/>
            </a:pPr>
            <a:r>
              <a:rPr lang="en-US" sz="1140" b="1" dirty="0">
                <a:solidFill>
                  <a:srgbClr val="14273D"/>
                </a:solidFill>
                <a:latin typeface="Inter Display" pitchFamily="34" charset="0"/>
                <a:ea typeface="Inter Display" pitchFamily="34" charset="-122"/>
                <a:cs typeface="Inter Display" pitchFamily="34" charset="-120"/>
              </a:rPr>
              <a:t>Claims · Proof Debt · jobs · Docket</a:t>
            </a:r>
            <a:endParaRPr lang="en-US" sz="1140" dirty="0"/>
          </a:p>
        </p:txBody>
      </p:sp>
      <p:sp>
        <p:nvSpPr>
          <p:cNvPr id="41" name="Text 39"/>
          <p:cNvSpPr/>
          <p:nvPr/>
        </p:nvSpPr>
        <p:spPr>
          <a:xfrm>
            <a:off x="3099816" y="3447288"/>
            <a:ext cx="1837944" cy="71323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Distinct advice · shared claim boundary</a:t>
            </a:r>
            <a:endParaRPr lang="en-US" sz="780" dirty="0"/>
          </a:p>
        </p:txBody>
      </p:sp>
      <p:sp>
        <p:nvSpPr>
          <p:cNvPr id="42" name="Shape 40"/>
          <p:cNvSpPr/>
          <p:nvPr/>
        </p:nvSpPr>
        <p:spPr>
          <a:xfrm>
            <a:off x="5888736" y="1874520"/>
            <a:ext cx="822960" cy="822960"/>
          </a:xfrm>
          <a:prstGeom prst="ellipse">
            <a:avLst/>
          </a:prstGeom>
          <a:solidFill>
            <a:srgbClr val="A99CFF">
              <a:alpha val="92000"/>
            </a:srgbClr>
          </a:solidFill>
          <a:ln w="13970">
            <a:solidFill>
              <a:srgbClr val="A99CFF"/>
            </a:solidFill>
            <a:prstDash val="solid"/>
          </a:ln>
        </p:spPr>
      </p:sp>
      <p:sp>
        <p:nvSpPr>
          <p:cNvPr id="43" name="Text 41"/>
          <p:cNvSpPr/>
          <p:nvPr/>
        </p:nvSpPr>
        <p:spPr>
          <a:xfrm>
            <a:off x="6135624" y="2148840"/>
            <a:ext cx="320040" cy="128016"/>
          </a:xfrm>
          <a:prstGeom prst="rect">
            <a:avLst/>
          </a:prstGeom>
          <a:noFill/>
          <a:ln/>
        </p:spPr>
        <p:txBody>
          <a:bodyPr wrap="square" lIns="0" tIns="0" rIns="0" bIns="0" rtlCol="0" anchor="ctr"/>
          <a:lstStyle/>
          <a:p>
            <a:pPr algn="ctr" indent="0" marL="0">
              <a:buNone/>
            </a:pPr>
            <a:r>
              <a:rPr lang="en-US" sz="1000" b="1" dirty="0">
                <a:solidFill>
                  <a:srgbClr val="14273D"/>
                </a:solidFill>
                <a:latin typeface="Georgia" pitchFamily="34" charset="0"/>
                <a:ea typeface="Georgia" pitchFamily="34" charset="-122"/>
                <a:cs typeface="Georgia" pitchFamily="34" charset="-120"/>
              </a:rPr>
              <a:t>C</a:t>
            </a:r>
            <a:endParaRPr lang="en-US" sz="1000" dirty="0"/>
          </a:p>
        </p:txBody>
      </p:sp>
      <p:sp>
        <p:nvSpPr>
          <p:cNvPr id="44" name="Shape 42"/>
          <p:cNvSpPr/>
          <p:nvPr/>
        </p:nvSpPr>
        <p:spPr>
          <a:xfrm>
            <a:off x="5230368" y="2788920"/>
            <a:ext cx="2148840" cy="1508760"/>
          </a:xfrm>
          <a:prstGeom prst="roundRect">
            <a:avLst>
              <a:gd name="adj" fmla="val 4848"/>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45" name="Text 43"/>
          <p:cNvSpPr/>
          <p:nvPr/>
        </p:nvSpPr>
        <p:spPr>
          <a:xfrm>
            <a:off x="5385816" y="2916936"/>
            <a:ext cx="183794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CHRONICLE GOVERNOR</a:t>
            </a:r>
            <a:endParaRPr lang="en-US" sz="680" dirty="0"/>
          </a:p>
        </p:txBody>
      </p:sp>
      <p:sp>
        <p:nvSpPr>
          <p:cNvPr id="46" name="Text 44"/>
          <p:cNvSpPr/>
          <p:nvPr/>
        </p:nvSpPr>
        <p:spPr>
          <a:xfrm>
            <a:off x="5385816" y="3044952"/>
            <a:ext cx="1837944" cy="329184"/>
          </a:xfrm>
          <a:prstGeom prst="rect">
            <a:avLst/>
          </a:prstGeom>
          <a:noFill/>
          <a:ln/>
        </p:spPr>
        <p:txBody>
          <a:bodyPr wrap="square" lIns="0" tIns="0" rIns="0" bIns="0" rtlCol="0" anchor="ctr">
            <a:normAutofit/>
          </a:bodyPr>
          <a:lstStyle/>
          <a:p>
            <a:pPr indent="0" marL="0">
              <a:buNone/>
            </a:pPr>
            <a:r>
              <a:rPr lang="en-US" sz="1140" b="1" dirty="0">
                <a:solidFill>
                  <a:srgbClr val="14273D"/>
                </a:solidFill>
                <a:latin typeface="Inter Display" pitchFamily="34" charset="0"/>
                <a:ea typeface="Inter Display" pitchFamily="34" charset="-122"/>
                <a:cs typeface="Inter Display" pitchFamily="34" charset="-120"/>
              </a:rPr>
              <a:t>Memory · freshness · challenge · rollback</a:t>
            </a:r>
            <a:endParaRPr lang="en-US" sz="1140" dirty="0"/>
          </a:p>
        </p:txBody>
      </p:sp>
      <p:sp>
        <p:nvSpPr>
          <p:cNvPr id="47" name="Text 45"/>
          <p:cNvSpPr/>
          <p:nvPr/>
        </p:nvSpPr>
        <p:spPr>
          <a:xfrm>
            <a:off x="5385816" y="3447288"/>
            <a:ext cx="1837944" cy="71323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Distinct advice · shared claim boundary</a:t>
            </a:r>
            <a:endParaRPr lang="en-US" sz="780" dirty="0"/>
          </a:p>
        </p:txBody>
      </p:sp>
      <p:sp>
        <p:nvSpPr>
          <p:cNvPr id="48" name="Shape 46"/>
          <p:cNvSpPr/>
          <p:nvPr/>
        </p:nvSpPr>
        <p:spPr>
          <a:xfrm>
            <a:off x="8174736" y="1874520"/>
            <a:ext cx="822960" cy="822960"/>
          </a:xfrm>
          <a:prstGeom prst="ellipse">
            <a:avLst/>
          </a:prstGeom>
          <a:solidFill>
            <a:srgbClr val="43D79B">
              <a:alpha val="92000"/>
            </a:srgbClr>
          </a:solidFill>
          <a:ln w="13970">
            <a:solidFill>
              <a:srgbClr val="43D79B"/>
            </a:solidFill>
            <a:prstDash val="solid"/>
          </a:ln>
        </p:spPr>
      </p:sp>
      <p:sp>
        <p:nvSpPr>
          <p:cNvPr id="49" name="Text 47"/>
          <p:cNvSpPr/>
          <p:nvPr/>
        </p:nvSpPr>
        <p:spPr>
          <a:xfrm>
            <a:off x="8421624" y="2148840"/>
            <a:ext cx="320040" cy="128016"/>
          </a:xfrm>
          <a:prstGeom prst="rect">
            <a:avLst/>
          </a:prstGeom>
          <a:noFill/>
          <a:ln/>
        </p:spPr>
        <p:txBody>
          <a:bodyPr wrap="square" lIns="0" tIns="0" rIns="0" bIns="0" rtlCol="0" anchor="ctr"/>
          <a:lstStyle/>
          <a:p>
            <a:pPr algn="ctr" indent="0" marL="0">
              <a:buNone/>
            </a:pPr>
            <a:r>
              <a:rPr lang="en-US" sz="1000" b="1" dirty="0">
                <a:solidFill>
                  <a:srgbClr val="14273D"/>
                </a:solidFill>
                <a:latin typeface="Georgia" pitchFamily="34" charset="0"/>
                <a:ea typeface="Georgia" pitchFamily="34" charset="-122"/>
                <a:cs typeface="Georgia" pitchFamily="34" charset="-120"/>
              </a:rPr>
              <a:t>R</a:t>
            </a:r>
            <a:endParaRPr lang="en-US" sz="1000" dirty="0"/>
          </a:p>
        </p:txBody>
      </p:sp>
      <p:sp>
        <p:nvSpPr>
          <p:cNvPr id="50" name="Shape 48"/>
          <p:cNvSpPr/>
          <p:nvPr/>
        </p:nvSpPr>
        <p:spPr>
          <a:xfrm>
            <a:off x="7516368" y="2788920"/>
            <a:ext cx="2148840" cy="1508760"/>
          </a:xfrm>
          <a:prstGeom prst="roundRect">
            <a:avLst>
              <a:gd name="adj" fmla="val 4848"/>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51" name="Text 49"/>
          <p:cNvSpPr/>
          <p:nvPr/>
        </p:nvSpPr>
        <p:spPr>
          <a:xfrm>
            <a:off x="7671816" y="2916936"/>
            <a:ext cx="183794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RSI DIRECTOR</a:t>
            </a:r>
            <a:endParaRPr lang="en-US" sz="680" dirty="0"/>
          </a:p>
        </p:txBody>
      </p:sp>
      <p:sp>
        <p:nvSpPr>
          <p:cNvPr id="52" name="Text 50"/>
          <p:cNvSpPr/>
          <p:nvPr/>
        </p:nvSpPr>
        <p:spPr>
          <a:xfrm>
            <a:off x="7671816" y="3044952"/>
            <a:ext cx="1837944" cy="329184"/>
          </a:xfrm>
          <a:prstGeom prst="rect">
            <a:avLst/>
          </a:prstGeom>
          <a:noFill/>
          <a:ln/>
        </p:spPr>
        <p:txBody>
          <a:bodyPr wrap="square" lIns="0" tIns="0" rIns="0" bIns="0" rtlCol="0" anchor="ctr">
            <a:normAutofit/>
          </a:bodyPr>
          <a:lstStyle/>
          <a:p>
            <a:pPr indent="0" marL="0">
              <a:buNone/>
            </a:pPr>
            <a:r>
              <a:rPr lang="en-US" sz="1140" b="1" dirty="0">
                <a:solidFill>
                  <a:srgbClr val="14273D"/>
                </a:solidFill>
                <a:latin typeface="Inter Display" pitchFamily="34" charset="0"/>
                <a:ea typeface="Inter Display" pitchFamily="34" charset="-122"/>
                <a:cs typeface="Inter Display" pitchFamily="34" charset="-120"/>
              </a:rPr>
              <a:t>Baselines · ECI · stress · Mission 2</a:t>
            </a:r>
            <a:endParaRPr lang="en-US" sz="1140" dirty="0"/>
          </a:p>
        </p:txBody>
      </p:sp>
      <p:sp>
        <p:nvSpPr>
          <p:cNvPr id="53" name="Text 51"/>
          <p:cNvSpPr/>
          <p:nvPr/>
        </p:nvSpPr>
        <p:spPr>
          <a:xfrm>
            <a:off x="7671816" y="3447288"/>
            <a:ext cx="1837944" cy="71323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Distinct advice · shared claim boundary</a:t>
            </a:r>
            <a:endParaRPr lang="en-US" sz="780" dirty="0"/>
          </a:p>
        </p:txBody>
      </p:sp>
      <p:sp>
        <p:nvSpPr>
          <p:cNvPr id="54" name="Shape 52"/>
          <p:cNvSpPr/>
          <p:nvPr/>
        </p:nvSpPr>
        <p:spPr>
          <a:xfrm>
            <a:off x="10460736" y="1874520"/>
            <a:ext cx="822960" cy="822960"/>
          </a:xfrm>
          <a:prstGeom prst="ellipse">
            <a:avLst/>
          </a:prstGeom>
          <a:solidFill>
            <a:srgbClr val="F5C46B">
              <a:alpha val="92000"/>
            </a:srgbClr>
          </a:solidFill>
          <a:ln w="13970">
            <a:solidFill>
              <a:srgbClr val="F5C46B"/>
            </a:solidFill>
            <a:prstDash val="solid"/>
          </a:ln>
        </p:spPr>
      </p:sp>
      <p:sp>
        <p:nvSpPr>
          <p:cNvPr id="55" name="Text 53"/>
          <p:cNvSpPr/>
          <p:nvPr/>
        </p:nvSpPr>
        <p:spPr>
          <a:xfrm>
            <a:off x="10707624" y="2148840"/>
            <a:ext cx="320040" cy="128016"/>
          </a:xfrm>
          <a:prstGeom prst="rect">
            <a:avLst/>
          </a:prstGeom>
          <a:noFill/>
          <a:ln/>
        </p:spPr>
        <p:txBody>
          <a:bodyPr wrap="square" lIns="0" tIns="0" rIns="0" bIns="0" rtlCol="0" anchor="ctr"/>
          <a:lstStyle/>
          <a:p>
            <a:pPr algn="ctr" indent="0" marL="0">
              <a:buNone/>
            </a:pPr>
            <a:r>
              <a:rPr lang="en-US" sz="1000" b="1" dirty="0">
                <a:solidFill>
                  <a:srgbClr val="14273D"/>
                </a:solidFill>
                <a:latin typeface="Georgia" pitchFamily="34" charset="0"/>
                <a:ea typeface="Georgia" pitchFamily="34" charset="-122"/>
                <a:cs typeface="Georgia" pitchFamily="34" charset="-120"/>
              </a:rPr>
              <a:t>P</a:t>
            </a:r>
            <a:endParaRPr lang="en-US" sz="1000" dirty="0"/>
          </a:p>
        </p:txBody>
      </p:sp>
      <p:sp>
        <p:nvSpPr>
          <p:cNvPr id="56" name="Shape 54"/>
          <p:cNvSpPr/>
          <p:nvPr/>
        </p:nvSpPr>
        <p:spPr>
          <a:xfrm>
            <a:off x="9802368" y="2788920"/>
            <a:ext cx="2148840" cy="1508760"/>
          </a:xfrm>
          <a:prstGeom prst="roundRect">
            <a:avLst>
              <a:gd name="adj" fmla="val 4848"/>
            </a:avLst>
          </a:prstGeom>
          <a:solidFill>
            <a:srgbClr val="FFFDF8"/>
          </a:solidFill>
          <a:ln w="10160">
            <a:solidFill>
              <a:srgbClr val="F5C46B"/>
            </a:solidFill>
            <a:prstDash val="solid"/>
          </a:ln>
          <a:effectLst>
            <a:outerShdw sx="100000" sy="100000" kx="0" ky="0" algn="bl" rotWithShape="0" blurRad="25400" dist="50800" dir="2700000">
              <a:srgbClr val="000000">
                <a:alpha val="18000"/>
              </a:srgbClr>
            </a:outerShdw>
          </a:effectLst>
        </p:spPr>
      </p:sp>
      <p:sp>
        <p:nvSpPr>
          <p:cNvPr id="57" name="Text 55"/>
          <p:cNvSpPr/>
          <p:nvPr/>
        </p:nvSpPr>
        <p:spPr>
          <a:xfrm>
            <a:off x="9957816" y="2916936"/>
            <a:ext cx="1837944" cy="146304"/>
          </a:xfrm>
          <a:prstGeom prst="rect">
            <a:avLst/>
          </a:prstGeom>
          <a:noFill/>
          <a:ln/>
        </p:spPr>
        <p:txBody>
          <a:bodyPr wrap="square" lIns="0" tIns="0" rIns="0" bIns="0" rtlCol="0" anchor="ctr"/>
          <a:lstStyle/>
          <a:p>
            <a:pPr indent="0" marL="0">
              <a:buNone/>
            </a:pPr>
            <a:r>
              <a:rPr lang="en-US" sz="680" b="1" spc="120" kern="0" dirty="0">
                <a:solidFill>
                  <a:srgbClr val="F5C46B"/>
                </a:solidFill>
                <a:latin typeface="Inter" pitchFamily="34" charset="0"/>
                <a:ea typeface="Inter" pitchFamily="34" charset="-122"/>
                <a:cs typeface="Inter" pitchFamily="34" charset="-120"/>
              </a:rPr>
              <a:t>PARTNER PRINCIPAL</a:t>
            </a:r>
            <a:endParaRPr lang="en-US" sz="680" dirty="0"/>
          </a:p>
        </p:txBody>
      </p:sp>
      <p:sp>
        <p:nvSpPr>
          <p:cNvPr id="58" name="Text 56"/>
          <p:cNvSpPr/>
          <p:nvPr/>
        </p:nvSpPr>
        <p:spPr>
          <a:xfrm>
            <a:off x="9957816" y="3044952"/>
            <a:ext cx="1837944" cy="329184"/>
          </a:xfrm>
          <a:prstGeom prst="rect">
            <a:avLst/>
          </a:prstGeom>
          <a:noFill/>
          <a:ln/>
        </p:spPr>
        <p:txBody>
          <a:bodyPr wrap="square" lIns="0" tIns="0" rIns="0" bIns="0" rtlCol="0" anchor="ctr">
            <a:normAutofit/>
          </a:bodyPr>
          <a:lstStyle/>
          <a:p>
            <a:pPr indent="0" marL="0">
              <a:buNone/>
            </a:pPr>
            <a:r>
              <a:rPr lang="en-US" sz="1140" b="1" dirty="0">
                <a:solidFill>
                  <a:srgbClr val="14273D"/>
                </a:solidFill>
                <a:latin typeface="Inter Display" pitchFamily="34" charset="0"/>
                <a:ea typeface="Inter Display" pitchFamily="34" charset="-122"/>
                <a:cs typeface="Inter Display" pitchFamily="34" charset="-120"/>
              </a:rPr>
              <a:t>Value · roles · scorecard · expansion</a:t>
            </a:r>
            <a:endParaRPr lang="en-US" sz="1140" dirty="0"/>
          </a:p>
        </p:txBody>
      </p:sp>
      <p:sp>
        <p:nvSpPr>
          <p:cNvPr id="59" name="Text 57"/>
          <p:cNvSpPr/>
          <p:nvPr/>
        </p:nvSpPr>
        <p:spPr>
          <a:xfrm>
            <a:off x="9957816" y="3447288"/>
            <a:ext cx="1837944" cy="71323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Distinct advice · shared claim boundary</a:t>
            </a:r>
            <a:endParaRPr lang="en-US" sz="780" dirty="0"/>
          </a:p>
        </p:txBody>
      </p:sp>
      <p:sp>
        <p:nvSpPr>
          <p:cNvPr id="60" name="Shape 58"/>
          <p:cNvSpPr/>
          <p:nvPr/>
        </p:nvSpPr>
        <p:spPr>
          <a:xfrm>
            <a:off x="1920240" y="4800600"/>
            <a:ext cx="8321040" cy="658368"/>
          </a:xfrm>
          <a:prstGeom prst="roundRect">
            <a:avLst>
              <a:gd name="adj" fmla="val 11111"/>
            </a:avLst>
          </a:prstGeom>
          <a:solidFill>
            <a:srgbClr val="FFFDF8"/>
          </a:solidFill>
          <a:ln w="10160">
            <a:solidFill>
              <a:srgbClr val="43D79B"/>
            </a:solidFill>
            <a:prstDash val="solid"/>
          </a:ln>
        </p:spPr>
      </p:sp>
      <p:sp>
        <p:nvSpPr>
          <p:cNvPr id="61" name="Text 59"/>
          <p:cNvSpPr/>
          <p:nvPr/>
        </p:nvSpPr>
        <p:spPr>
          <a:xfrm>
            <a:off x="2075688" y="4928616"/>
            <a:ext cx="801014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CONSENSUS OUTPUT</a:t>
            </a:r>
            <a:endParaRPr lang="en-US" sz="680" dirty="0"/>
          </a:p>
        </p:txBody>
      </p:sp>
      <p:sp>
        <p:nvSpPr>
          <p:cNvPr id="62" name="Text 60"/>
          <p:cNvSpPr/>
          <p:nvPr/>
        </p:nvSpPr>
        <p:spPr>
          <a:xfrm>
            <a:off x="2075688" y="5056632"/>
            <a:ext cx="8010144" cy="329184"/>
          </a:xfrm>
          <a:prstGeom prst="rect">
            <a:avLst/>
          </a:prstGeom>
          <a:noFill/>
          <a:ln/>
        </p:spPr>
        <p:txBody>
          <a:bodyPr wrap="square" lIns="0" tIns="0" rIns="0" bIns="0" rtlCol="0" anchor="ctr">
            <a:normAutofit/>
          </a:bodyPr>
          <a:lstStyle/>
          <a:p>
            <a:pPr indent="0" marL="0">
              <a:buNone/>
            </a:pPr>
            <a:r>
              <a:rPr lang="en-US" sz="1230" b="1" dirty="0">
                <a:solidFill>
                  <a:srgbClr val="14273D"/>
                </a:solidFill>
                <a:latin typeface="Inter Display" pitchFamily="34" charset="0"/>
                <a:ea typeface="Inter Display" pitchFamily="34" charset="-122"/>
                <a:cs typeface="Inter Display" pitchFamily="34" charset="-120"/>
              </a:rPr>
              <a:t>Proceed to mission freeze only with a bounded decision, evidence access, reviewer independence, blocked claims, rollback, and a fresh Mission 2.</a:t>
            </a:r>
            <a:endParaRPr lang="en-US" sz="123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BOARDROOM STRESS THEATRE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Prestige is fail-closed behavior under pressure.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Partners can simulate evidence failure, replay divergence, validator conflict, scope drift, tampering, delayed outcomes, or premature settlement.</a:t>
            </a:r>
            <a:endParaRPr lang="en-US" sz="1450" dirty="0"/>
          </a:p>
        </p:txBody>
      </p:sp>
      <p:sp>
        <p:nvSpPr>
          <p:cNvPr id="30" name="Shape 28"/>
          <p:cNvSpPr/>
          <p:nvPr/>
        </p:nvSpPr>
        <p:spPr>
          <a:xfrm>
            <a:off x="548640" y="2304288"/>
            <a:ext cx="1752600" cy="868680"/>
          </a:xfrm>
          <a:prstGeom prst="roundRect">
            <a:avLst>
              <a:gd name="adj" fmla="val 7368"/>
            </a:avLst>
          </a:prstGeom>
          <a:solidFill>
            <a:srgbClr val="FF7584"/>
          </a:solidFill>
          <a:ln w="12700">
            <a:solidFill>
              <a:srgbClr val="FF7584"/>
            </a:solidFill>
            <a:prstDash val="solid"/>
          </a:ln>
        </p:spPr>
      </p:sp>
      <p:sp>
        <p:nvSpPr>
          <p:cNvPr id="31" name="Text 29"/>
          <p:cNvSpPr/>
          <p:nvPr/>
        </p:nvSpPr>
        <p:spPr>
          <a:xfrm>
            <a:off x="603504" y="2377440"/>
            <a:ext cx="237744" cy="118872"/>
          </a:xfrm>
          <a:prstGeom prst="rect">
            <a:avLst/>
          </a:prstGeom>
          <a:noFill/>
          <a:ln/>
        </p:spPr>
        <p:txBody>
          <a:bodyPr wrap="square" lIns="0" tIns="0" rIns="0" bIns="0" rtlCol="0" anchor="ctr"/>
          <a:lstStyle/>
          <a:p>
            <a:pPr indent="0" marL="0">
              <a:buNone/>
            </a:pPr>
            <a:r>
              <a:rPr lang="en-US" sz="610" b="1" dirty="0">
                <a:solidFill>
                  <a:srgbClr val="FF7584"/>
                </a:solidFill>
                <a:latin typeface="Inter" pitchFamily="34" charset="0"/>
                <a:ea typeface="Inter" pitchFamily="34" charset="-122"/>
                <a:cs typeface="Inter" pitchFamily="34" charset="-120"/>
              </a:rPr>
              <a:t>01</a:t>
            </a:r>
            <a:endParaRPr lang="en-US" sz="610" dirty="0"/>
          </a:p>
        </p:txBody>
      </p:sp>
      <p:sp>
        <p:nvSpPr>
          <p:cNvPr id="32" name="Text 30"/>
          <p:cNvSpPr/>
          <p:nvPr/>
        </p:nvSpPr>
        <p:spPr>
          <a:xfrm>
            <a:off x="630936" y="2542032"/>
            <a:ext cx="1588008"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TRIGGER</a:t>
            </a:r>
            <a:endParaRPr lang="en-US" sz="750" dirty="0"/>
          </a:p>
        </p:txBody>
      </p:sp>
      <p:sp>
        <p:nvSpPr>
          <p:cNvPr id="33" name="Text 31"/>
          <p:cNvSpPr/>
          <p:nvPr/>
        </p:nvSpPr>
        <p:spPr>
          <a:xfrm>
            <a:off x="621792" y="2770632"/>
            <a:ext cx="1606296"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reason-coded event</a:t>
            </a:r>
            <a:endParaRPr lang="en-US" sz="540" dirty="0"/>
          </a:p>
        </p:txBody>
      </p:sp>
      <p:sp>
        <p:nvSpPr>
          <p:cNvPr id="34" name="Shape 32"/>
          <p:cNvSpPr/>
          <p:nvPr/>
        </p:nvSpPr>
        <p:spPr>
          <a:xfrm>
            <a:off x="2301240" y="2738628"/>
            <a:ext cx="109728" cy="0"/>
          </a:xfrm>
          <a:prstGeom prst="line">
            <a:avLst/>
          </a:prstGeom>
          <a:noFill/>
          <a:ln w="15240">
            <a:solidFill>
              <a:srgbClr val="E7BD62"/>
            </a:solidFill>
            <a:prstDash val="solid"/>
            <a:headEnd type="none"/>
            <a:tailEnd type="triangle"/>
          </a:ln>
        </p:spPr>
      </p:sp>
      <p:sp>
        <p:nvSpPr>
          <p:cNvPr id="35" name="Shape 33"/>
          <p:cNvSpPr/>
          <p:nvPr/>
        </p:nvSpPr>
        <p:spPr>
          <a:xfrm>
            <a:off x="2410968" y="2304288"/>
            <a:ext cx="1752600" cy="868680"/>
          </a:xfrm>
          <a:prstGeom prst="roundRect">
            <a:avLst>
              <a:gd name="adj" fmla="val 7368"/>
            </a:avLst>
          </a:prstGeom>
          <a:solidFill>
            <a:srgbClr val="F5C46B"/>
          </a:solidFill>
          <a:ln w="12700">
            <a:solidFill>
              <a:srgbClr val="F5C46B"/>
            </a:solidFill>
            <a:prstDash val="solid"/>
          </a:ln>
        </p:spPr>
      </p:sp>
      <p:sp>
        <p:nvSpPr>
          <p:cNvPr id="36" name="Text 34"/>
          <p:cNvSpPr/>
          <p:nvPr/>
        </p:nvSpPr>
        <p:spPr>
          <a:xfrm>
            <a:off x="2465832" y="2377440"/>
            <a:ext cx="237744" cy="118872"/>
          </a:xfrm>
          <a:prstGeom prst="rect">
            <a:avLst/>
          </a:prstGeom>
          <a:noFill/>
          <a:ln/>
        </p:spPr>
        <p:txBody>
          <a:bodyPr wrap="square" lIns="0" tIns="0" rIns="0" bIns="0" rtlCol="0" anchor="ctr"/>
          <a:lstStyle/>
          <a:p>
            <a:pPr indent="0" marL="0">
              <a:buNone/>
            </a:pPr>
            <a:r>
              <a:rPr lang="en-US" sz="610" b="1" dirty="0">
                <a:solidFill>
                  <a:srgbClr val="F5C46B"/>
                </a:solidFill>
                <a:latin typeface="Inter" pitchFamily="34" charset="0"/>
                <a:ea typeface="Inter" pitchFamily="34" charset="-122"/>
                <a:cs typeface="Inter" pitchFamily="34" charset="-120"/>
              </a:rPr>
              <a:t>02</a:t>
            </a:r>
            <a:endParaRPr lang="en-US" sz="610" dirty="0"/>
          </a:p>
        </p:txBody>
      </p:sp>
      <p:sp>
        <p:nvSpPr>
          <p:cNvPr id="37" name="Text 35"/>
          <p:cNvSpPr/>
          <p:nvPr/>
        </p:nvSpPr>
        <p:spPr>
          <a:xfrm>
            <a:off x="2493264" y="2542032"/>
            <a:ext cx="1588008"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DETECT</a:t>
            </a:r>
            <a:endParaRPr lang="en-US" sz="750" dirty="0"/>
          </a:p>
        </p:txBody>
      </p:sp>
      <p:sp>
        <p:nvSpPr>
          <p:cNvPr id="38" name="Text 36"/>
          <p:cNvSpPr/>
          <p:nvPr/>
        </p:nvSpPr>
        <p:spPr>
          <a:xfrm>
            <a:off x="2484120" y="2770632"/>
            <a:ext cx="1606296"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policy / replay / root</a:t>
            </a:r>
            <a:endParaRPr lang="en-US" sz="540" dirty="0"/>
          </a:p>
        </p:txBody>
      </p:sp>
      <p:sp>
        <p:nvSpPr>
          <p:cNvPr id="39" name="Shape 37"/>
          <p:cNvSpPr/>
          <p:nvPr/>
        </p:nvSpPr>
        <p:spPr>
          <a:xfrm>
            <a:off x="4163568" y="2738628"/>
            <a:ext cx="109728" cy="0"/>
          </a:xfrm>
          <a:prstGeom prst="line">
            <a:avLst/>
          </a:prstGeom>
          <a:noFill/>
          <a:ln w="15240">
            <a:solidFill>
              <a:srgbClr val="E7BD62"/>
            </a:solidFill>
            <a:prstDash val="solid"/>
            <a:headEnd type="none"/>
            <a:tailEnd type="triangle"/>
          </a:ln>
        </p:spPr>
      </p:sp>
      <p:sp>
        <p:nvSpPr>
          <p:cNvPr id="40" name="Shape 38"/>
          <p:cNvSpPr/>
          <p:nvPr/>
        </p:nvSpPr>
        <p:spPr>
          <a:xfrm>
            <a:off x="4273296" y="2304288"/>
            <a:ext cx="1752600" cy="868680"/>
          </a:xfrm>
          <a:prstGeom prst="roundRect">
            <a:avLst>
              <a:gd name="adj" fmla="val 7368"/>
            </a:avLst>
          </a:prstGeom>
          <a:solidFill>
            <a:srgbClr val="6FB5FF"/>
          </a:solidFill>
          <a:ln w="12700">
            <a:solidFill>
              <a:srgbClr val="6FB5FF"/>
            </a:solidFill>
            <a:prstDash val="solid"/>
          </a:ln>
        </p:spPr>
      </p:sp>
      <p:sp>
        <p:nvSpPr>
          <p:cNvPr id="41" name="Text 39"/>
          <p:cNvSpPr/>
          <p:nvPr/>
        </p:nvSpPr>
        <p:spPr>
          <a:xfrm>
            <a:off x="4328160" y="2377440"/>
            <a:ext cx="237744" cy="118872"/>
          </a:xfrm>
          <a:prstGeom prst="rect">
            <a:avLst/>
          </a:prstGeom>
          <a:noFill/>
          <a:ln/>
        </p:spPr>
        <p:txBody>
          <a:bodyPr wrap="square" lIns="0" tIns="0" rIns="0" bIns="0" rtlCol="0" anchor="ctr"/>
          <a:lstStyle/>
          <a:p>
            <a:pPr indent="0" marL="0">
              <a:buNone/>
            </a:pPr>
            <a:r>
              <a:rPr lang="en-US" sz="610" b="1" dirty="0">
                <a:solidFill>
                  <a:srgbClr val="6FB5FF"/>
                </a:solidFill>
                <a:latin typeface="Inter" pitchFamily="34" charset="0"/>
                <a:ea typeface="Inter" pitchFamily="34" charset="-122"/>
                <a:cs typeface="Inter" pitchFamily="34" charset="-120"/>
              </a:rPr>
              <a:t>03</a:t>
            </a:r>
            <a:endParaRPr lang="en-US" sz="610" dirty="0"/>
          </a:p>
        </p:txBody>
      </p:sp>
      <p:sp>
        <p:nvSpPr>
          <p:cNvPr id="42" name="Text 40"/>
          <p:cNvSpPr/>
          <p:nvPr/>
        </p:nvSpPr>
        <p:spPr>
          <a:xfrm>
            <a:off x="4355592" y="2542032"/>
            <a:ext cx="1588008"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CONTAIN</a:t>
            </a:r>
            <a:endParaRPr lang="en-US" sz="750" dirty="0"/>
          </a:p>
        </p:txBody>
      </p:sp>
      <p:sp>
        <p:nvSpPr>
          <p:cNvPr id="43" name="Text 41"/>
          <p:cNvSpPr/>
          <p:nvPr/>
        </p:nvSpPr>
        <p:spPr>
          <a:xfrm>
            <a:off x="4346448" y="2770632"/>
            <a:ext cx="1606296"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freeze authority</a:t>
            </a:r>
            <a:endParaRPr lang="en-US" sz="540" dirty="0"/>
          </a:p>
        </p:txBody>
      </p:sp>
      <p:sp>
        <p:nvSpPr>
          <p:cNvPr id="44" name="Shape 42"/>
          <p:cNvSpPr/>
          <p:nvPr/>
        </p:nvSpPr>
        <p:spPr>
          <a:xfrm>
            <a:off x="6025896" y="2738628"/>
            <a:ext cx="109728" cy="0"/>
          </a:xfrm>
          <a:prstGeom prst="line">
            <a:avLst/>
          </a:prstGeom>
          <a:noFill/>
          <a:ln w="15240">
            <a:solidFill>
              <a:srgbClr val="E7BD62"/>
            </a:solidFill>
            <a:prstDash val="solid"/>
            <a:headEnd type="none"/>
            <a:tailEnd type="triangle"/>
          </a:ln>
        </p:spPr>
      </p:sp>
      <p:sp>
        <p:nvSpPr>
          <p:cNvPr id="45" name="Shape 43"/>
          <p:cNvSpPr/>
          <p:nvPr/>
        </p:nvSpPr>
        <p:spPr>
          <a:xfrm>
            <a:off x="6135624" y="2304288"/>
            <a:ext cx="1752600" cy="868680"/>
          </a:xfrm>
          <a:prstGeom prst="roundRect">
            <a:avLst>
              <a:gd name="adj" fmla="val 7368"/>
            </a:avLst>
          </a:prstGeom>
          <a:solidFill>
            <a:srgbClr val="A99CFF"/>
          </a:solidFill>
          <a:ln w="12700">
            <a:solidFill>
              <a:srgbClr val="A99CFF"/>
            </a:solidFill>
            <a:prstDash val="solid"/>
          </a:ln>
        </p:spPr>
      </p:sp>
      <p:sp>
        <p:nvSpPr>
          <p:cNvPr id="46" name="Text 44"/>
          <p:cNvSpPr/>
          <p:nvPr/>
        </p:nvSpPr>
        <p:spPr>
          <a:xfrm>
            <a:off x="6190488" y="2377440"/>
            <a:ext cx="237744" cy="118872"/>
          </a:xfrm>
          <a:prstGeom prst="rect">
            <a:avLst/>
          </a:prstGeom>
          <a:noFill/>
          <a:ln/>
        </p:spPr>
        <p:txBody>
          <a:bodyPr wrap="square" lIns="0" tIns="0" rIns="0" bIns="0" rtlCol="0" anchor="ctr"/>
          <a:lstStyle/>
          <a:p>
            <a:pPr indent="0" marL="0">
              <a:buNone/>
            </a:pPr>
            <a:r>
              <a:rPr lang="en-US" sz="610" b="1" dirty="0">
                <a:solidFill>
                  <a:srgbClr val="A99CFF"/>
                </a:solidFill>
                <a:latin typeface="Inter" pitchFamily="34" charset="0"/>
                <a:ea typeface="Inter" pitchFamily="34" charset="-122"/>
                <a:cs typeface="Inter" pitchFamily="34" charset="-120"/>
              </a:rPr>
              <a:t>04</a:t>
            </a:r>
            <a:endParaRPr lang="en-US" sz="610" dirty="0"/>
          </a:p>
        </p:txBody>
      </p:sp>
      <p:sp>
        <p:nvSpPr>
          <p:cNvPr id="47" name="Text 45"/>
          <p:cNvSpPr/>
          <p:nvPr/>
        </p:nvSpPr>
        <p:spPr>
          <a:xfrm>
            <a:off x="6217920" y="2542032"/>
            <a:ext cx="1588008"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DECIDE</a:t>
            </a:r>
            <a:endParaRPr lang="en-US" sz="750" dirty="0"/>
          </a:p>
        </p:txBody>
      </p:sp>
      <p:sp>
        <p:nvSpPr>
          <p:cNvPr id="48" name="Text 46"/>
          <p:cNvSpPr/>
          <p:nvPr/>
        </p:nvSpPr>
        <p:spPr>
          <a:xfrm>
            <a:off x="6208776" y="2770632"/>
            <a:ext cx="1606296"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repair / quarantine / revoke</a:t>
            </a:r>
            <a:endParaRPr lang="en-US" sz="540" dirty="0"/>
          </a:p>
        </p:txBody>
      </p:sp>
      <p:sp>
        <p:nvSpPr>
          <p:cNvPr id="49" name="Shape 47"/>
          <p:cNvSpPr/>
          <p:nvPr/>
        </p:nvSpPr>
        <p:spPr>
          <a:xfrm>
            <a:off x="7888224" y="2738628"/>
            <a:ext cx="109728" cy="0"/>
          </a:xfrm>
          <a:prstGeom prst="line">
            <a:avLst/>
          </a:prstGeom>
          <a:noFill/>
          <a:ln w="15240">
            <a:solidFill>
              <a:srgbClr val="E7BD62"/>
            </a:solidFill>
            <a:prstDash val="solid"/>
            <a:headEnd type="none"/>
            <a:tailEnd type="triangle"/>
          </a:ln>
        </p:spPr>
      </p:sp>
      <p:sp>
        <p:nvSpPr>
          <p:cNvPr id="50" name="Shape 48"/>
          <p:cNvSpPr/>
          <p:nvPr/>
        </p:nvSpPr>
        <p:spPr>
          <a:xfrm>
            <a:off x="7997952" y="2304288"/>
            <a:ext cx="1752600" cy="868680"/>
          </a:xfrm>
          <a:prstGeom prst="roundRect">
            <a:avLst>
              <a:gd name="adj" fmla="val 7368"/>
            </a:avLst>
          </a:prstGeom>
          <a:solidFill>
            <a:srgbClr val="43D79B"/>
          </a:solidFill>
          <a:ln w="12700">
            <a:solidFill>
              <a:srgbClr val="43D79B"/>
            </a:solidFill>
            <a:prstDash val="solid"/>
          </a:ln>
        </p:spPr>
      </p:sp>
      <p:sp>
        <p:nvSpPr>
          <p:cNvPr id="51" name="Text 49"/>
          <p:cNvSpPr/>
          <p:nvPr/>
        </p:nvSpPr>
        <p:spPr>
          <a:xfrm>
            <a:off x="8052816" y="2377440"/>
            <a:ext cx="237744" cy="118872"/>
          </a:xfrm>
          <a:prstGeom prst="rect">
            <a:avLst/>
          </a:prstGeom>
          <a:noFill/>
          <a:ln/>
        </p:spPr>
        <p:txBody>
          <a:bodyPr wrap="square" lIns="0" tIns="0" rIns="0" bIns="0" rtlCol="0" anchor="ctr"/>
          <a:lstStyle/>
          <a:p>
            <a:pPr indent="0" marL="0">
              <a:buNone/>
            </a:pPr>
            <a:r>
              <a:rPr lang="en-US" sz="610" b="1" dirty="0">
                <a:solidFill>
                  <a:srgbClr val="43D79B"/>
                </a:solidFill>
                <a:latin typeface="Inter" pitchFamily="34" charset="0"/>
                <a:ea typeface="Inter" pitchFamily="34" charset="-122"/>
                <a:cs typeface="Inter" pitchFamily="34" charset="-120"/>
              </a:rPr>
              <a:t>05</a:t>
            </a:r>
            <a:endParaRPr lang="en-US" sz="610" dirty="0"/>
          </a:p>
        </p:txBody>
      </p:sp>
      <p:sp>
        <p:nvSpPr>
          <p:cNvPr id="52" name="Text 50"/>
          <p:cNvSpPr/>
          <p:nvPr/>
        </p:nvSpPr>
        <p:spPr>
          <a:xfrm>
            <a:off x="8080248" y="2542032"/>
            <a:ext cx="1588008"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MEMORY</a:t>
            </a:r>
            <a:endParaRPr lang="en-US" sz="750" dirty="0"/>
          </a:p>
        </p:txBody>
      </p:sp>
      <p:sp>
        <p:nvSpPr>
          <p:cNvPr id="53" name="Text 51"/>
          <p:cNvSpPr/>
          <p:nvPr/>
        </p:nvSpPr>
        <p:spPr>
          <a:xfrm>
            <a:off x="8071104" y="2770632"/>
            <a:ext cx="1606296"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preserve lineage</a:t>
            </a:r>
            <a:endParaRPr lang="en-US" sz="540" dirty="0"/>
          </a:p>
        </p:txBody>
      </p:sp>
      <p:sp>
        <p:nvSpPr>
          <p:cNvPr id="54" name="Shape 52"/>
          <p:cNvSpPr/>
          <p:nvPr/>
        </p:nvSpPr>
        <p:spPr>
          <a:xfrm>
            <a:off x="9750552" y="2738628"/>
            <a:ext cx="109728" cy="0"/>
          </a:xfrm>
          <a:prstGeom prst="line">
            <a:avLst/>
          </a:prstGeom>
          <a:noFill/>
          <a:ln w="15240">
            <a:solidFill>
              <a:srgbClr val="E7BD62"/>
            </a:solidFill>
            <a:prstDash val="solid"/>
            <a:headEnd type="none"/>
            <a:tailEnd type="triangle"/>
          </a:ln>
        </p:spPr>
      </p:sp>
      <p:sp>
        <p:nvSpPr>
          <p:cNvPr id="55" name="Shape 53"/>
          <p:cNvSpPr/>
          <p:nvPr/>
        </p:nvSpPr>
        <p:spPr>
          <a:xfrm>
            <a:off x="9860280" y="2304288"/>
            <a:ext cx="1752600" cy="868680"/>
          </a:xfrm>
          <a:prstGeom prst="roundRect">
            <a:avLst>
              <a:gd name="adj" fmla="val 7368"/>
            </a:avLst>
          </a:prstGeom>
          <a:solidFill>
            <a:srgbClr val="E7BD62"/>
          </a:solidFill>
          <a:ln w="12700">
            <a:solidFill>
              <a:srgbClr val="E7BD62"/>
            </a:solidFill>
            <a:prstDash val="solid"/>
          </a:ln>
        </p:spPr>
      </p:sp>
      <p:sp>
        <p:nvSpPr>
          <p:cNvPr id="56" name="Text 54"/>
          <p:cNvSpPr/>
          <p:nvPr/>
        </p:nvSpPr>
        <p:spPr>
          <a:xfrm>
            <a:off x="9915144" y="2377440"/>
            <a:ext cx="237744" cy="118872"/>
          </a:xfrm>
          <a:prstGeom prst="rect">
            <a:avLst/>
          </a:prstGeom>
          <a:noFill/>
          <a:ln/>
        </p:spPr>
        <p:txBody>
          <a:bodyPr wrap="square" lIns="0" tIns="0" rIns="0" bIns="0" rtlCol="0" anchor="ctr"/>
          <a:lstStyle/>
          <a:p>
            <a:pPr indent="0" marL="0">
              <a:buNone/>
            </a:pPr>
            <a:r>
              <a:rPr lang="en-US" sz="610" b="1" dirty="0">
                <a:solidFill>
                  <a:srgbClr val="E7BD62"/>
                </a:solidFill>
                <a:latin typeface="Inter" pitchFamily="34" charset="0"/>
                <a:ea typeface="Inter" pitchFamily="34" charset="-122"/>
                <a:cs typeface="Inter" pitchFamily="34" charset="-120"/>
              </a:rPr>
              <a:t>06</a:t>
            </a:r>
            <a:endParaRPr lang="en-US" sz="610" dirty="0"/>
          </a:p>
        </p:txBody>
      </p:sp>
      <p:sp>
        <p:nvSpPr>
          <p:cNvPr id="57" name="Text 55"/>
          <p:cNvSpPr/>
          <p:nvPr/>
        </p:nvSpPr>
        <p:spPr>
          <a:xfrm>
            <a:off x="9942576" y="2542032"/>
            <a:ext cx="1588008"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ECONOMY</a:t>
            </a:r>
            <a:endParaRPr lang="en-US" sz="750" dirty="0"/>
          </a:p>
        </p:txBody>
      </p:sp>
      <p:sp>
        <p:nvSpPr>
          <p:cNvPr id="58" name="Text 56"/>
          <p:cNvSpPr/>
          <p:nvPr/>
        </p:nvSpPr>
        <p:spPr>
          <a:xfrm>
            <a:off x="9933432" y="2770632"/>
            <a:ext cx="1606296"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block or reverse by policy</a:t>
            </a:r>
            <a:endParaRPr lang="en-US" sz="540" dirty="0"/>
          </a:p>
        </p:txBody>
      </p:sp>
      <p:sp>
        <p:nvSpPr>
          <p:cNvPr id="59" name="Shape 57"/>
          <p:cNvSpPr/>
          <p:nvPr/>
        </p:nvSpPr>
        <p:spPr>
          <a:xfrm>
            <a:off x="713232" y="3703320"/>
            <a:ext cx="2578608" cy="1325880"/>
          </a:xfrm>
          <a:prstGeom prst="roundRect">
            <a:avLst>
              <a:gd name="adj" fmla="val 5517"/>
            </a:avLst>
          </a:prstGeom>
          <a:solidFill>
            <a:srgbClr val="102238"/>
          </a:solidFill>
          <a:ln w="10160">
            <a:solidFill>
              <a:srgbClr val="FF7584"/>
            </a:solidFill>
            <a:prstDash val="solid"/>
          </a:ln>
        </p:spPr>
      </p:sp>
      <p:sp>
        <p:nvSpPr>
          <p:cNvPr id="60" name="Text 58"/>
          <p:cNvSpPr/>
          <p:nvPr/>
        </p:nvSpPr>
        <p:spPr>
          <a:xfrm>
            <a:off x="868680" y="3831336"/>
            <a:ext cx="2267712"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Replay fails</a:t>
            </a:r>
            <a:endParaRPr lang="en-US" sz="680" dirty="0"/>
          </a:p>
        </p:txBody>
      </p:sp>
      <p:sp>
        <p:nvSpPr>
          <p:cNvPr id="61" name="Text 59"/>
          <p:cNvSpPr/>
          <p:nvPr/>
        </p:nvSpPr>
        <p:spPr>
          <a:xfrm>
            <a:off x="868680" y="3959352"/>
            <a:ext cx="2267712" cy="329184"/>
          </a:xfrm>
          <a:prstGeom prst="rect">
            <a:avLst/>
          </a:prstGeom>
          <a:noFill/>
          <a:ln/>
        </p:spPr>
        <p:txBody>
          <a:bodyPr wrap="square" lIns="0" tIns="0" rIns="0" bIns="0" rtlCol="0" anchor="ctr">
            <a:normAutofit/>
          </a:bodyPr>
          <a:lstStyle/>
          <a:p>
            <a:pPr indent="0" marL="0">
              <a:buNone/>
            </a:pPr>
            <a:r>
              <a:rPr lang="en-US" sz="1210" b="1" dirty="0">
                <a:solidFill>
                  <a:srgbClr val="F7FBFF"/>
                </a:solidFill>
                <a:latin typeface="Inter Display" pitchFamily="34" charset="0"/>
                <a:ea typeface="Inter Display" pitchFamily="34" charset="-122"/>
                <a:cs typeface="Inter Display" pitchFamily="34" charset="-120"/>
              </a:rPr>
              <a:t>Settlement and future influence stop.</a:t>
            </a:r>
            <a:endParaRPr lang="en-US" sz="1210" dirty="0"/>
          </a:p>
        </p:txBody>
      </p:sp>
      <p:sp>
        <p:nvSpPr>
          <p:cNvPr id="62" name="Text 60"/>
          <p:cNvSpPr/>
          <p:nvPr/>
        </p:nvSpPr>
        <p:spPr>
          <a:xfrm>
            <a:off x="868680" y="4361688"/>
            <a:ext cx="2267712" cy="530352"/>
          </a:xfrm>
          <a:prstGeom prst="rect">
            <a:avLst/>
          </a:prstGeom>
          <a:noFill/>
          <a:ln/>
        </p:spPr>
        <p:txBody>
          <a:bodyPr wrap="square" lIns="0" tIns="0" rIns="0" bIns="0" rtlCol="0" anchor="t">
            <a:normAutofit/>
          </a:bodyPr>
          <a:lstStyle/>
          <a:p>
            <a:pPr indent="0" marL="0">
              <a:buNone/>
            </a:pPr>
            <a:r>
              <a:rPr lang="en-US" sz="800" dirty="0">
                <a:solidFill>
                  <a:srgbClr val="B9C5D2"/>
                </a:solidFill>
                <a:latin typeface="Inter" pitchFamily="34" charset="0"/>
                <a:ea typeface="Inter" pitchFamily="34" charset="-122"/>
                <a:cs typeface="Inter" pitchFamily="34" charset="-120"/>
              </a:rPr>
              <a:t>Failure remains visible as evidence.</a:t>
            </a:r>
            <a:endParaRPr lang="en-US" sz="800" dirty="0"/>
          </a:p>
        </p:txBody>
      </p:sp>
      <p:sp>
        <p:nvSpPr>
          <p:cNvPr id="63" name="Shape 61"/>
          <p:cNvSpPr/>
          <p:nvPr/>
        </p:nvSpPr>
        <p:spPr>
          <a:xfrm>
            <a:off x="3575304" y="3703320"/>
            <a:ext cx="2578608" cy="1325880"/>
          </a:xfrm>
          <a:prstGeom prst="roundRect">
            <a:avLst>
              <a:gd name="adj" fmla="val 5517"/>
            </a:avLst>
          </a:prstGeom>
          <a:solidFill>
            <a:srgbClr val="102238"/>
          </a:solidFill>
          <a:ln w="10160">
            <a:solidFill>
              <a:srgbClr val="F5C46B"/>
            </a:solidFill>
            <a:prstDash val="solid"/>
          </a:ln>
        </p:spPr>
      </p:sp>
      <p:sp>
        <p:nvSpPr>
          <p:cNvPr id="64" name="Text 62"/>
          <p:cNvSpPr/>
          <p:nvPr/>
        </p:nvSpPr>
        <p:spPr>
          <a:xfrm>
            <a:off x="3730752" y="3831336"/>
            <a:ext cx="2267712" cy="146304"/>
          </a:xfrm>
          <a:prstGeom prst="rect">
            <a:avLst/>
          </a:prstGeom>
          <a:noFill/>
          <a:ln/>
        </p:spPr>
        <p:txBody>
          <a:bodyPr wrap="square" lIns="0" tIns="0" rIns="0" bIns="0" rtlCol="0" anchor="ctr"/>
          <a:lstStyle/>
          <a:p>
            <a:pPr indent="0" marL="0">
              <a:buNone/>
            </a:pPr>
            <a:r>
              <a:rPr lang="en-US" sz="680" b="1" spc="120" kern="0" dirty="0">
                <a:solidFill>
                  <a:srgbClr val="F5C46B"/>
                </a:solidFill>
                <a:latin typeface="Inter" pitchFamily="34" charset="0"/>
                <a:ea typeface="Inter" pitchFamily="34" charset="-122"/>
                <a:cs typeface="Inter" pitchFamily="34" charset="-120"/>
              </a:rPr>
              <a:t>Validator conflict</a:t>
            </a:r>
            <a:endParaRPr lang="en-US" sz="680" dirty="0"/>
          </a:p>
        </p:txBody>
      </p:sp>
      <p:sp>
        <p:nvSpPr>
          <p:cNvPr id="65" name="Text 63"/>
          <p:cNvSpPr/>
          <p:nvPr/>
        </p:nvSpPr>
        <p:spPr>
          <a:xfrm>
            <a:off x="3730752" y="3959352"/>
            <a:ext cx="2267712" cy="329184"/>
          </a:xfrm>
          <a:prstGeom prst="rect">
            <a:avLst/>
          </a:prstGeom>
          <a:noFill/>
          <a:ln/>
        </p:spPr>
        <p:txBody>
          <a:bodyPr wrap="square" lIns="0" tIns="0" rIns="0" bIns="0" rtlCol="0" anchor="ctr">
            <a:normAutofit/>
          </a:bodyPr>
          <a:lstStyle/>
          <a:p>
            <a:pPr indent="0" marL="0">
              <a:buNone/>
            </a:pPr>
            <a:r>
              <a:rPr lang="en-US" sz="1210" b="1" dirty="0">
                <a:solidFill>
                  <a:srgbClr val="F7FBFF"/>
                </a:solidFill>
                <a:latin typeface="Inter Display" pitchFamily="34" charset="0"/>
                <a:ea typeface="Inter Display" pitchFamily="34" charset="-122"/>
                <a:cs typeface="Inter Display" pitchFamily="34" charset="-120"/>
              </a:rPr>
              <a:t>Conflicted votes do not count toward quorum.</a:t>
            </a:r>
            <a:endParaRPr lang="en-US" sz="1210" dirty="0"/>
          </a:p>
        </p:txBody>
      </p:sp>
      <p:sp>
        <p:nvSpPr>
          <p:cNvPr id="66" name="Text 64"/>
          <p:cNvSpPr/>
          <p:nvPr/>
        </p:nvSpPr>
        <p:spPr>
          <a:xfrm>
            <a:off x="3730752" y="4361688"/>
            <a:ext cx="2267712" cy="530352"/>
          </a:xfrm>
          <a:prstGeom prst="rect">
            <a:avLst/>
          </a:prstGeom>
          <a:noFill/>
          <a:ln/>
        </p:spPr>
        <p:txBody>
          <a:bodyPr wrap="square" lIns="0" tIns="0" rIns="0" bIns="0" rtlCol="0" anchor="t">
            <a:normAutofit/>
          </a:bodyPr>
          <a:lstStyle/>
          <a:p>
            <a:pPr indent="0" marL="0">
              <a:buNone/>
            </a:pPr>
            <a:r>
              <a:rPr lang="en-US" sz="800" dirty="0">
                <a:solidFill>
                  <a:srgbClr val="B9C5D2"/>
                </a:solidFill>
                <a:latin typeface="Inter" pitchFamily="34" charset="0"/>
                <a:ea typeface="Inter" pitchFamily="34" charset="-122"/>
                <a:cs typeface="Inter" pitchFamily="34" charset="-120"/>
              </a:rPr>
              <a:t>Failure remains visible as evidence.</a:t>
            </a:r>
            <a:endParaRPr lang="en-US" sz="800" dirty="0"/>
          </a:p>
        </p:txBody>
      </p:sp>
      <p:sp>
        <p:nvSpPr>
          <p:cNvPr id="67" name="Shape 65"/>
          <p:cNvSpPr/>
          <p:nvPr/>
        </p:nvSpPr>
        <p:spPr>
          <a:xfrm>
            <a:off x="6437376" y="3703320"/>
            <a:ext cx="2578608" cy="1325880"/>
          </a:xfrm>
          <a:prstGeom prst="roundRect">
            <a:avLst>
              <a:gd name="adj" fmla="val 5517"/>
            </a:avLst>
          </a:prstGeom>
          <a:solidFill>
            <a:srgbClr val="102238"/>
          </a:solidFill>
          <a:ln w="10160">
            <a:solidFill>
              <a:srgbClr val="A99CFF"/>
            </a:solidFill>
            <a:prstDash val="solid"/>
          </a:ln>
        </p:spPr>
      </p:sp>
      <p:sp>
        <p:nvSpPr>
          <p:cNvPr id="68" name="Text 66"/>
          <p:cNvSpPr/>
          <p:nvPr/>
        </p:nvSpPr>
        <p:spPr>
          <a:xfrm>
            <a:off x="6592824" y="3831336"/>
            <a:ext cx="2267712"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Artifact tampered</a:t>
            </a:r>
            <a:endParaRPr lang="en-US" sz="680" dirty="0"/>
          </a:p>
        </p:txBody>
      </p:sp>
      <p:sp>
        <p:nvSpPr>
          <p:cNvPr id="69" name="Text 67"/>
          <p:cNvSpPr/>
          <p:nvPr/>
        </p:nvSpPr>
        <p:spPr>
          <a:xfrm>
            <a:off x="6592824" y="3959352"/>
            <a:ext cx="2267712" cy="329184"/>
          </a:xfrm>
          <a:prstGeom prst="rect">
            <a:avLst/>
          </a:prstGeom>
          <a:noFill/>
          <a:ln/>
        </p:spPr>
        <p:txBody>
          <a:bodyPr wrap="square" lIns="0" tIns="0" rIns="0" bIns="0" rtlCol="0" anchor="ctr">
            <a:normAutofit/>
          </a:bodyPr>
          <a:lstStyle/>
          <a:p>
            <a:pPr indent="0" marL="0">
              <a:buNone/>
            </a:pPr>
            <a:r>
              <a:rPr lang="en-US" sz="1210" b="1" dirty="0">
                <a:solidFill>
                  <a:srgbClr val="F7FBFF"/>
                </a:solidFill>
                <a:latin typeface="Inter Display" pitchFamily="34" charset="0"/>
                <a:ea typeface="Inter Display" pitchFamily="34" charset="-122"/>
                <a:cs typeface="Inter Display" pitchFamily="34" charset="-120"/>
              </a:rPr>
              <a:t>Proof mismatch triggers challenge and revocation.</a:t>
            </a:r>
            <a:endParaRPr lang="en-US" sz="1210" dirty="0"/>
          </a:p>
        </p:txBody>
      </p:sp>
      <p:sp>
        <p:nvSpPr>
          <p:cNvPr id="70" name="Text 68"/>
          <p:cNvSpPr/>
          <p:nvPr/>
        </p:nvSpPr>
        <p:spPr>
          <a:xfrm>
            <a:off x="6592824" y="4361688"/>
            <a:ext cx="2267712" cy="530352"/>
          </a:xfrm>
          <a:prstGeom prst="rect">
            <a:avLst/>
          </a:prstGeom>
          <a:noFill/>
          <a:ln/>
        </p:spPr>
        <p:txBody>
          <a:bodyPr wrap="square" lIns="0" tIns="0" rIns="0" bIns="0" rtlCol="0" anchor="t">
            <a:normAutofit/>
          </a:bodyPr>
          <a:lstStyle/>
          <a:p>
            <a:pPr indent="0" marL="0">
              <a:buNone/>
            </a:pPr>
            <a:r>
              <a:rPr lang="en-US" sz="800" dirty="0">
                <a:solidFill>
                  <a:srgbClr val="B9C5D2"/>
                </a:solidFill>
                <a:latin typeface="Inter" pitchFamily="34" charset="0"/>
                <a:ea typeface="Inter" pitchFamily="34" charset="-122"/>
                <a:cs typeface="Inter" pitchFamily="34" charset="-120"/>
              </a:rPr>
              <a:t>Failure remains visible as evidence.</a:t>
            </a:r>
            <a:endParaRPr lang="en-US" sz="800" dirty="0"/>
          </a:p>
        </p:txBody>
      </p:sp>
      <p:sp>
        <p:nvSpPr>
          <p:cNvPr id="71" name="Shape 69"/>
          <p:cNvSpPr/>
          <p:nvPr/>
        </p:nvSpPr>
        <p:spPr>
          <a:xfrm>
            <a:off x="9299448" y="3703320"/>
            <a:ext cx="2578608" cy="1325880"/>
          </a:xfrm>
          <a:prstGeom prst="roundRect">
            <a:avLst>
              <a:gd name="adj" fmla="val 5517"/>
            </a:avLst>
          </a:prstGeom>
          <a:solidFill>
            <a:srgbClr val="102238"/>
          </a:solidFill>
          <a:ln w="10160">
            <a:solidFill>
              <a:srgbClr val="43D79B"/>
            </a:solidFill>
            <a:prstDash val="solid"/>
          </a:ln>
        </p:spPr>
      </p:sp>
      <p:sp>
        <p:nvSpPr>
          <p:cNvPr id="72" name="Text 70"/>
          <p:cNvSpPr/>
          <p:nvPr/>
        </p:nvSpPr>
        <p:spPr>
          <a:xfrm>
            <a:off x="9454896" y="3831336"/>
            <a:ext cx="2267712"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Delayed outcome reverses</a:t>
            </a:r>
            <a:endParaRPr lang="en-US" sz="680" dirty="0"/>
          </a:p>
        </p:txBody>
      </p:sp>
      <p:sp>
        <p:nvSpPr>
          <p:cNvPr id="73" name="Text 71"/>
          <p:cNvSpPr/>
          <p:nvPr/>
        </p:nvSpPr>
        <p:spPr>
          <a:xfrm>
            <a:off x="9454896" y="3959352"/>
            <a:ext cx="2267712" cy="329184"/>
          </a:xfrm>
          <a:prstGeom prst="rect">
            <a:avLst/>
          </a:prstGeom>
          <a:noFill/>
          <a:ln/>
        </p:spPr>
        <p:txBody>
          <a:bodyPr wrap="square" lIns="0" tIns="0" rIns="0" bIns="0" rtlCol="0" anchor="ctr">
            <a:normAutofit/>
          </a:bodyPr>
          <a:lstStyle/>
          <a:p>
            <a:pPr indent="0" marL="0">
              <a:buNone/>
            </a:pPr>
            <a:r>
              <a:rPr lang="en-US" sz="1210" b="1" dirty="0">
                <a:solidFill>
                  <a:srgbClr val="F7FBFF"/>
                </a:solidFill>
                <a:latin typeface="Inter Display" pitchFamily="34" charset="0"/>
                <a:ea typeface="Inter Display" pitchFamily="34" charset="-122"/>
                <a:cs typeface="Inter Display" pitchFamily="34" charset="-120"/>
              </a:rPr>
              <a:t>Audit, retire/supersede, and rollback activate.</a:t>
            </a:r>
            <a:endParaRPr lang="en-US" sz="1210" dirty="0"/>
          </a:p>
        </p:txBody>
      </p:sp>
      <p:sp>
        <p:nvSpPr>
          <p:cNvPr id="74" name="Text 72"/>
          <p:cNvSpPr/>
          <p:nvPr/>
        </p:nvSpPr>
        <p:spPr>
          <a:xfrm>
            <a:off x="9454896" y="4361688"/>
            <a:ext cx="2267712" cy="530352"/>
          </a:xfrm>
          <a:prstGeom prst="rect">
            <a:avLst/>
          </a:prstGeom>
          <a:noFill/>
          <a:ln/>
        </p:spPr>
        <p:txBody>
          <a:bodyPr wrap="square" lIns="0" tIns="0" rIns="0" bIns="0" rtlCol="0" anchor="t">
            <a:normAutofit/>
          </a:bodyPr>
          <a:lstStyle/>
          <a:p>
            <a:pPr indent="0" marL="0">
              <a:buNone/>
            </a:pPr>
            <a:r>
              <a:rPr lang="en-US" sz="800" dirty="0">
                <a:solidFill>
                  <a:srgbClr val="B9C5D2"/>
                </a:solidFill>
                <a:latin typeface="Inter" pitchFamily="34" charset="0"/>
                <a:ea typeface="Inter" pitchFamily="34" charset="-122"/>
                <a:cs typeface="Inter" pitchFamily="34" charset="-120"/>
              </a:rPr>
              <a:t>Failure remains visible as evidence.</a:t>
            </a:r>
            <a:endParaRPr lang="en-US" sz="800" dirty="0"/>
          </a:p>
        </p:txBody>
      </p:sp>
      <p:sp>
        <p:nvSpPr>
          <p:cNvPr id="75" name="Text 73"/>
          <p:cNvSpPr/>
          <p:nvPr/>
        </p:nvSpPr>
        <p:spPr>
          <a:xfrm>
            <a:off x="1234440" y="5532120"/>
            <a:ext cx="9738360" cy="347472"/>
          </a:xfrm>
          <a:prstGeom prst="rect">
            <a:avLst/>
          </a:prstGeom>
          <a:noFill/>
          <a:ln/>
        </p:spPr>
        <p:txBody>
          <a:bodyPr wrap="square" lIns="0" tIns="0" rIns="0" bIns="0" rtlCol="0" anchor="ctr"/>
          <a:lstStyle/>
          <a:p>
            <a:pPr algn="ctr" indent="0" marL="0">
              <a:buNone/>
            </a:pPr>
            <a:r>
              <a:rPr lang="en-US" sz="1540" i="1" dirty="0">
                <a:solidFill>
                  <a:srgbClr val="E7BD62"/>
                </a:solidFill>
                <a:latin typeface="Georgia" pitchFamily="34" charset="0"/>
                <a:ea typeface="Georgia" pitchFamily="34" charset="-122"/>
                <a:cs typeface="Georgia" pitchFamily="34" charset="-120"/>
              </a:rPr>
              <a:t>A failed mission can still produce valuable institutional knowledge—provided the failure cannot silently earn authority.</a:t>
            </a:r>
            <a:endParaRPr lang="en-US" sz="154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LIVE MISSION OPERATING ROOM</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700" b="1" dirty="0">
                <a:solidFill>
                  <a:srgbClr val="14273D"/>
                </a:solidFill>
                <a:latin typeface="Inter Display" pitchFamily="34" charset="0"/>
                <a:ea typeface="Inter Display" pitchFamily="34" charset="-122"/>
                <a:cs typeface="Inter Display" pitchFamily="34" charset="-120"/>
              </a:rPr>
              <a:t>One objective becomes an inspectable chain of authority-bearing artifacts.</a:t>
            </a:r>
            <a:endParaRPr lang="en-US" sz="27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live mission studio creates the complete path from clean boot to root verification and a controlled second mission.</a:t>
            </a:r>
            <a:endParaRPr lang="en-US" sz="1450" dirty="0"/>
          </a:p>
        </p:txBody>
      </p:sp>
      <p:sp>
        <p:nvSpPr>
          <p:cNvPr id="30" name="Shape 28"/>
          <p:cNvSpPr/>
          <p:nvPr/>
        </p:nvSpPr>
        <p:spPr>
          <a:xfrm>
            <a:off x="530352" y="1627632"/>
            <a:ext cx="2651760" cy="1143000"/>
          </a:xfrm>
          <a:prstGeom prst="roundRect">
            <a:avLst>
              <a:gd name="adj" fmla="val 6400"/>
            </a:avLst>
          </a:prstGeom>
          <a:solidFill>
            <a:srgbClr val="FFFDF8"/>
          </a:solidFill>
          <a:ln w="10160">
            <a:solidFill>
              <a:srgbClr val="6FB5FF"/>
            </a:solidFill>
            <a:prstDash val="solid"/>
          </a:ln>
        </p:spPr>
      </p:sp>
      <p:sp>
        <p:nvSpPr>
          <p:cNvPr id="31" name="Text 29"/>
          <p:cNvSpPr/>
          <p:nvPr/>
        </p:nvSpPr>
        <p:spPr>
          <a:xfrm>
            <a:off x="685800" y="1755648"/>
            <a:ext cx="23408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01 · Mission Contract</a:t>
            </a:r>
            <a:endParaRPr lang="en-US" sz="680" dirty="0"/>
          </a:p>
        </p:txBody>
      </p:sp>
      <p:sp>
        <p:nvSpPr>
          <p:cNvPr id="32" name="Text 30"/>
          <p:cNvSpPr/>
          <p:nvPr/>
        </p:nvSpPr>
        <p:spPr>
          <a:xfrm>
            <a:off x="685800" y="188366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First authority-bearing object</a:t>
            </a:r>
            <a:endParaRPr lang="en-US" sz="1080" dirty="0"/>
          </a:p>
        </p:txBody>
      </p:sp>
      <p:sp>
        <p:nvSpPr>
          <p:cNvPr id="33" name="Text 31"/>
          <p:cNvSpPr/>
          <p:nvPr/>
        </p:nvSpPr>
        <p:spPr>
          <a:xfrm>
            <a:off x="685800" y="228600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34" name="Shape 32"/>
          <p:cNvSpPr/>
          <p:nvPr/>
        </p:nvSpPr>
        <p:spPr>
          <a:xfrm>
            <a:off x="3429000" y="1627632"/>
            <a:ext cx="2651760" cy="1143000"/>
          </a:xfrm>
          <a:prstGeom prst="roundRect">
            <a:avLst>
              <a:gd name="adj" fmla="val 6400"/>
            </a:avLst>
          </a:prstGeom>
          <a:solidFill>
            <a:srgbClr val="FFFDF8"/>
          </a:solidFill>
          <a:ln w="10160">
            <a:solidFill>
              <a:srgbClr val="FF7584"/>
            </a:solidFill>
            <a:prstDash val="solid"/>
          </a:ln>
        </p:spPr>
      </p:sp>
      <p:sp>
        <p:nvSpPr>
          <p:cNvPr id="35" name="Text 33"/>
          <p:cNvSpPr/>
          <p:nvPr/>
        </p:nvSpPr>
        <p:spPr>
          <a:xfrm>
            <a:off x="3584448" y="1755648"/>
            <a:ext cx="23408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02 · Claims matrix</a:t>
            </a:r>
            <a:endParaRPr lang="en-US" sz="680" dirty="0"/>
          </a:p>
        </p:txBody>
      </p:sp>
      <p:sp>
        <p:nvSpPr>
          <p:cNvPr id="36" name="Text 34"/>
          <p:cNvSpPr/>
          <p:nvPr/>
        </p:nvSpPr>
        <p:spPr>
          <a:xfrm>
            <a:off x="3584448" y="188366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Support, uncertainty, and blocked claims</a:t>
            </a:r>
            <a:endParaRPr lang="en-US" sz="1080" dirty="0"/>
          </a:p>
        </p:txBody>
      </p:sp>
      <p:sp>
        <p:nvSpPr>
          <p:cNvPr id="37" name="Text 35"/>
          <p:cNvSpPr/>
          <p:nvPr/>
        </p:nvSpPr>
        <p:spPr>
          <a:xfrm>
            <a:off x="3584448" y="228600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38" name="Shape 36"/>
          <p:cNvSpPr/>
          <p:nvPr/>
        </p:nvSpPr>
        <p:spPr>
          <a:xfrm>
            <a:off x="6327648" y="1627632"/>
            <a:ext cx="2651760" cy="1143000"/>
          </a:xfrm>
          <a:prstGeom prst="roundRect">
            <a:avLst>
              <a:gd name="adj" fmla="val 6400"/>
            </a:avLst>
          </a:prstGeom>
          <a:solidFill>
            <a:srgbClr val="FFFDF8"/>
          </a:solidFill>
          <a:ln w="10160">
            <a:solidFill>
              <a:srgbClr val="FF7584"/>
            </a:solidFill>
            <a:prstDash val="solid"/>
          </a:ln>
        </p:spPr>
      </p:sp>
      <p:sp>
        <p:nvSpPr>
          <p:cNvPr id="39" name="Text 37"/>
          <p:cNvSpPr/>
          <p:nvPr/>
        </p:nvSpPr>
        <p:spPr>
          <a:xfrm>
            <a:off x="6483096" y="1755648"/>
            <a:ext cx="23408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03 · Proof Debt</a:t>
            </a:r>
            <a:endParaRPr lang="en-US" sz="680" dirty="0"/>
          </a:p>
        </p:txBody>
      </p:sp>
      <p:sp>
        <p:nvSpPr>
          <p:cNvPr id="40" name="Text 38"/>
          <p:cNvSpPr/>
          <p:nvPr/>
        </p:nvSpPr>
        <p:spPr>
          <a:xfrm>
            <a:off x="6483096" y="188366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Prioritized missing proof</a:t>
            </a:r>
            <a:endParaRPr lang="en-US" sz="1080" dirty="0"/>
          </a:p>
        </p:txBody>
      </p:sp>
      <p:sp>
        <p:nvSpPr>
          <p:cNvPr id="41" name="Text 39"/>
          <p:cNvSpPr/>
          <p:nvPr/>
        </p:nvSpPr>
        <p:spPr>
          <a:xfrm>
            <a:off x="6483096" y="228600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42" name="Shape 40"/>
          <p:cNvSpPr/>
          <p:nvPr/>
        </p:nvSpPr>
        <p:spPr>
          <a:xfrm>
            <a:off x="9226296" y="1627632"/>
            <a:ext cx="2651760" cy="1143000"/>
          </a:xfrm>
          <a:prstGeom prst="roundRect">
            <a:avLst>
              <a:gd name="adj" fmla="val 6400"/>
            </a:avLst>
          </a:prstGeom>
          <a:solidFill>
            <a:srgbClr val="FFFDF8"/>
          </a:solidFill>
          <a:ln w="10160">
            <a:solidFill>
              <a:srgbClr val="E7BD62"/>
            </a:solidFill>
            <a:prstDash val="solid"/>
          </a:ln>
        </p:spPr>
      </p:sp>
      <p:sp>
        <p:nvSpPr>
          <p:cNvPr id="43" name="Text 41"/>
          <p:cNvSpPr/>
          <p:nvPr/>
        </p:nvSpPr>
        <p:spPr>
          <a:xfrm>
            <a:off x="9381744" y="1755648"/>
            <a:ext cx="23408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04 · AGI Jobs</a:t>
            </a:r>
            <a:endParaRPr lang="en-US" sz="680" dirty="0"/>
          </a:p>
        </p:txBody>
      </p:sp>
      <p:sp>
        <p:nvSpPr>
          <p:cNvPr id="44" name="Text 42"/>
          <p:cNvSpPr/>
          <p:nvPr/>
        </p:nvSpPr>
        <p:spPr>
          <a:xfrm>
            <a:off x="9381744" y="188366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Acceptance-test-bound work</a:t>
            </a:r>
            <a:endParaRPr lang="en-US" sz="1080" dirty="0"/>
          </a:p>
        </p:txBody>
      </p:sp>
      <p:sp>
        <p:nvSpPr>
          <p:cNvPr id="45" name="Text 43"/>
          <p:cNvSpPr/>
          <p:nvPr/>
        </p:nvSpPr>
        <p:spPr>
          <a:xfrm>
            <a:off x="9381744" y="228600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46" name="Shape 44"/>
          <p:cNvSpPr/>
          <p:nvPr/>
        </p:nvSpPr>
        <p:spPr>
          <a:xfrm>
            <a:off x="530352" y="3044952"/>
            <a:ext cx="2651760" cy="1143000"/>
          </a:xfrm>
          <a:prstGeom prst="roundRect">
            <a:avLst>
              <a:gd name="adj" fmla="val 6400"/>
            </a:avLst>
          </a:prstGeom>
          <a:solidFill>
            <a:srgbClr val="FFFDF8"/>
          </a:solidFill>
          <a:ln w="10160">
            <a:solidFill>
              <a:srgbClr val="54D6D0"/>
            </a:solidFill>
            <a:prstDash val="solid"/>
          </a:ln>
        </p:spPr>
      </p:sp>
      <p:sp>
        <p:nvSpPr>
          <p:cNvPr id="47" name="Text 45"/>
          <p:cNvSpPr/>
          <p:nvPr/>
        </p:nvSpPr>
        <p:spPr>
          <a:xfrm>
            <a:off x="685800" y="3172968"/>
            <a:ext cx="23408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05 · ProofBundles</a:t>
            </a:r>
            <a:endParaRPr lang="en-US" sz="680" dirty="0"/>
          </a:p>
        </p:txBody>
      </p:sp>
      <p:sp>
        <p:nvSpPr>
          <p:cNvPr id="48" name="Text 46"/>
          <p:cNvSpPr/>
          <p:nvPr/>
        </p:nvSpPr>
        <p:spPr>
          <a:xfrm>
            <a:off x="685800" y="330098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Artifacts, traces, tests, failures</a:t>
            </a:r>
            <a:endParaRPr lang="en-US" sz="1080" dirty="0"/>
          </a:p>
        </p:txBody>
      </p:sp>
      <p:sp>
        <p:nvSpPr>
          <p:cNvPr id="49" name="Text 47"/>
          <p:cNvSpPr/>
          <p:nvPr/>
        </p:nvSpPr>
        <p:spPr>
          <a:xfrm>
            <a:off x="685800" y="370332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50" name="Shape 48"/>
          <p:cNvSpPr/>
          <p:nvPr/>
        </p:nvSpPr>
        <p:spPr>
          <a:xfrm>
            <a:off x="3429000" y="3044952"/>
            <a:ext cx="2651760" cy="1143000"/>
          </a:xfrm>
          <a:prstGeom prst="roundRect">
            <a:avLst>
              <a:gd name="adj" fmla="val 6400"/>
            </a:avLst>
          </a:prstGeom>
          <a:solidFill>
            <a:srgbClr val="FFFDF8"/>
          </a:solidFill>
          <a:ln w="10160">
            <a:solidFill>
              <a:srgbClr val="6FB5FF"/>
            </a:solidFill>
            <a:prstDash val="solid"/>
          </a:ln>
        </p:spPr>
      </p:sp>
      <p:sp>
        <p:nvSpPr>
          <p:cNvPr id="51" name="Text 49"/>
          <p:cNvSpPr/>
          <p:nvPr/>
        </p:nvSpPr>
        <p:spPr>
          <a:xfrm>
            <a:off x="3584448" y="3172968"/>
            <a:ext cx="23408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06 · Evidence Docket</a:t>
            </a:r>
            <a:endParaRPr lang="en-US" sz="680" dirty="0"/>
          </a:p>
        </p:txBody>
      </p:sp>
      <p:sp>
        <p:nvSpPr>
          <p:cNvPr id="52" name="Text 50"/>
          <p:cNvSpPr/>
          <p:nvPr/>
        </p:nvSpPr>
        <p:spPr>
          <a:xfrm>
            <a:off x="3584448" y="330098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Proof room and decision state</a:t>
            </a:r>
            <a:endParaRPr lang="en-US" sz="1080" dirty="0"/>
          </a:p>
        </p:txBody>
      </p:sp>
      <p:sp>
        <p:nvSpPr>
          <p:cNvPr id="53" name="Text 51"/>
          <p:cNvSpPr/>
          <p:nvPr/>
        </p:nvSpPr>
        <p:spPr>
          <a:xfrm>
            <a:off x="3584448" y="370332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54" name="Shape 52"/>
          <p:cNvSpPr/>
          <p:nvPr/>
        </p:nvSpPr>
        <p:spPr>
          <a:xfrm>
            <a:off x="6327648" y="3044952"/>
            <a:ext cx="2651760" cy="1143000"/>
          </a:xfrm>
          <a:prstGeom prst="roundRect">
            <a:avLst>
              <a:gd name="adj" fmla="val 6400"/>
            </a:avLst>
          </a:prstGeom>
          <a:solidFill>
            <a:srgbClr val="FFFDF8"/>
          </a:solidFill>
          <a:ln w="10160">
            <a:solidFill>
              <a:srgbClr val="43D79B"/>
            </a:solidFill>
            <a:prstDash val="solid"/>
          </a:ln>
        </p:spPr>
      </p:sp>
      <p:sp>
        <p:nvSpPr>
          <p:cNvPr id="55" name="Text 53"/>
          <p:cNvSpPr/>
          <p:nvPr/>
        </p:nvSpPr>
        <p:spPr>
          <a:xfrm>
            <a:off x="6483096" y="3172968"/>
            <a:ext cx="23408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07 · Validator report</a:t>
            </a:r>
            <a:endParaRPr lang="en-US" sz="680" dirty="0"/>
          </a:p>
        </p:txBody>
      </p:sp>
      <p:sp>
        <p:nvSpPr>
          <p:cNvPr id="56" name="Text 54"/>
          <p:cNvSpPr/>
          <p:nvPr/>
        </p:nvSpPr>
        <p:spPr>
          <a:xfrm>
            <a:off x="6483096" y="330098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Replay, conflicts, reason codes</a:t>
            </a:r>
            <a:endParaRPr lang="en-US" sz="1080" dirty="0"/>
          </a:p>
        </p:txBody>
      </p:sp>
      <p:sp>
        <p:nvSpPr>
          <p:cNvPr id="57" name="Text 55"/>
          <p:cNvSpPr/>
          <p:nvPr/>
        </p:nvSpPr>
        <p:spPr>
          <a:xfrm>
            <a:off x="6483096" y="370332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58" name="Shape 56"/>
          <p:cNvSpPr/>
          <p:nvPr/>
        </p:nvSpPr>
        <p:spPr>
          <a:xfrm>
            <a:off x="9226296" y="3044952"/>
            <a:ext cx="2651760" cy="1143000"/>
          </a:xfrm>
          <a:prstGeom prst="roundRect">
            <a:avLst>
              <a:gd name="adj" fmla="val 6400"/>
            </a:avLst>
          </a:prstGeom>
          <a:solidFill>
            <a:srgbClr val="FFFDF8"/>
          </a:solidFill>
          <a:ln w="10160">
            <a:solidFill>
              <a:srgbClr val="A99CFF"/>
            </a:solidFill>
            <a:prstDash val="solid"/>
          </a:ln>
        </p:spPr>
      </p:sp>
      <p:sp>
        <p:nvSpPr>
          <p:cNvPr id="59" name="Text 57"/>
          <p:cNvSpPr/>
          <p:nvPr/>
        </p:nvSpPr>
        <p:spPr>
          <a:xfrm>
            <a:off x="9381744" y="3172968"/>
            <a:ext cx="234086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08 · Chronicle decision</a:t>
            </a:r>
            <a:endParaRPr lang="en-US" sz="680" dirty="0"/>
          </a:p>
        </p:txBody>
      </p:sp>
      <p:sp>
        <p:nvSpPr>
          <p:cNvPr id="60" name="Text 58"/>
          <p:cNvSpPr/>
          <p:nvPr/>
        </p:nvSpPr>
        <p:spPr>
          <a:xfrm>
            <a:off x="9381744" y="330098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Admit, repair, reject, quarantine</a:t>
            </a:r>
            <a:endParaRPr lang="en-US" sz="1080" dirty="0"/>
          </a:p>
        </p:txBody>
      </p:sp>
      <p:sp>
        <p:nvSpPr>
          <p:cNvPr id="61" name="Text 59"/>
          <p:cNvSpPr/>
          <p:nvPr/>
        </p:nvSpPr>
        <p:spPr>
          <a:xfrm>
            <a:off x="9381744" y="370332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62" name="Shape 60"/>
          <p:cNvSpPr/>
          <p:nvPr/>
        </p:nvSpPr>
        <p:spPr>
          <a:xfrm>
            <a:off x="530352" y="4462272"/>
            <a:ext cx="2651760" cy="1143000"/>
          </a:xfrm>
          <a:prstGeom prst="roundRect">
            <a:avLst>
              <a:gd name="adj" fmla="val 6400"/>
            </a:avLst>
          </a:prstGeom>
          <a:solidFill>
            <a:srgbClr val="FFFDF8"/>
          </a:solidFill>
          <a:ln w="10160">
            <a:solidFill>
              <a:srgbClr val="43D79B"/>
            </a:solidFill>
            <a:prstDash val="solid"/>
          </a:ln>
        </p:spPr>
      </p:sp>
      <p:sp>
        <p:nvSpPr>
          <p:cNvPr id="63" name="Text 61"/>
          <p:cNvSpPr/>
          <p:nvPr/>
        </p:nvSpPr>
        <p:spPr>
          <a:xfrm>
            <a:off x="685800" y="4590288"/>
            <a:ext cx="23408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09 · Skill Passport</a:t>
            </a:r>
            <a:endParaRPr lang="en-US" sz="680" dirty="0"/>
          </a:p>
        </p:txBody>
      </p:sp>
      <p:sp>
        <p:nvSpPr>
          <p:cNvPr id="64" name="Text 62"/>
          <p:cNvSpPr/>
          <p:nvPr/>
        </p:nvSpPr>
        <p:spPr>
          <a:xfrm>
            <a:off x="685800" y="471830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Scoped reusable capability</a:t>
            </a:r>
            <a:endParaRPr lang="en-US" sz="1080" dirty="0"/>
          </a:p>
        </p:txBody>
      </p:sp>
      <p:sp>
        <p:nvSpPr>
          <p:cNvPr id="65" name="Text 63"/>
          <p:cNvSpPr/>
          <p:nvPr/>
        </p:nvSpPr>
        <p:spPr>
          <a:xfrm>
            <a:off x="685800" y="512064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66" name="Shape 64"/>
          <p:cNvSpPr/>
          <p:nvPr/>
        </p:nvSpPr>
        <p:spPr>
          <a:xfrm>
            <a:off x="3429000" y="4462272"/>
            <a:ext cx="2651760" cy="1143000"/>
          </a:xfrm>
          <a:prstGeom prst="roundRect">
            <a:avLst>
              <a:gd name="adj" fmla="val 6400"/>
            </a:avLst>
          </a:prstGeom>
          <a:solidFill>
            <a:srgbClr val="FFFDF8"/>
          </a:solidFill>
          <a:ln w="10160">
            <a:solidFill>
              <a:srgbClr val="A99CFF"/>
            </a:solidFill>
            <a:prstDash val="solid"/>
          </a:ln>
        </p:spPr>
      </p:sp>
      <p:sp>
        <p:nvSpPr>
          <p:cNvPr id="67" name="Text 65"/>
          <p:cNvSpPr/>
          <p:nvPr/>
        </p:nvSpPr>
        <p:spPr>
          <a:xfrm>
            <a:off x="3584448" y="4590288"/>
            <a:ext cx="234086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10 · Root packet</a:t>
            </a:r>
            <a:endParaRPr lang="en-US" sz="680" dirty="0"/>
          </a:p>
        </p:txBody>
      </p:sp>
      <p:sp>
        <p:nvSpPr>
          <p:cNvPr id="68" name="Text 66"/>
          <p:cNvSpPr/>
          <p:nvPr/>
        </p:nvSpPr>
        <p:spPr>
          <a:xfrm>
            <a:off x="3584448" y="471830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Typed commitment and inclusion proof</a:t>
            </a:r>
            <a:endParaRPr lang="en-US" sz="1080" dirty="0"/>
          </a:p>
        </p:txBody>
      </p:sp>
      <p:sp>
        <p:nvSpPr>
          <p:cNvPr id="69" name="Text 67"/>
          <p:cNvSpPr/>
          <p:nvPr/>
        </p:nvSpPr>
        <p:spPr>
          <a:xfrm>
            <a:off x="3584448" y="512064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70" name="Shape 68"/>
          <p:cNvSpPr/>
          <p:nvPr/>
        </p:nvSpPr>
        <p:spPr>
          <a:xfrm>
            <a:off x="6327648" y="4462272"/>
            <a:ext cx="2651760" cy="1143000"/>
          </a:xfrm>
          <a:prstGeom prst="roundRect">
            <a:avLst>
              <a:gd name="adj" fmla="val 6400"/>
            </a:avLst>
          </a:prstGeom>
          <a:solidFill>
            <a:srgbClr val="FFFDF8"/>
          </a:solidFill>
          <a:ln w="10160">
            <a:solidFill>
              <a:srgbClr val="E7BD62"/>
            </a:solidFill>
            <a:prstDash val="solid"/>
          </a:ln>
        </p:spPr>
      </p:sp>
      <p:sp>
        <p:nvSpPr>
          <p:cNvPr id="71" name="Text 69"/>
          <p:cNvSpPr/>
          <p:nvPr/>
        </p:nvSpPr>
        <p:spPr>
          <a:xfrm>
            <a:off x="6483096" y="4590288"/>
            <a:ext cx="23408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11 · Mission 2 design</a:t>
            </a:r>
            <a:endParaRPr lang="en-US" sz="680" dirty="0"/>
          </a:p>
        </p:txBody>
      </p:sp>
      <p:sp>
        <p:nvSpPr>
          <p:cNvPr id="72" name="Text 70"/>
          <p:cNvSpPr/>
          <p:nvPr/>
        </p:nvSpPr>
        <p:spPr>
          <a:xfrm>
            <a:off x="6483096" y="471830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Fresh work and equal constraints</a:t>
            </a:r>
            <a:endParaRPr lang="en-US" sz="1080" dirty="0"/>
          </a:p>
        </p:txBody>
      </p:sp>
      <p:sp>
        <p:nvSpPr>
          <p:cNvPr id="73" name="Text 71"/>
          <p:cNvSpPr/>
          <p:nvPr/>
        </p:nvSpPr>
        <p:spPr>
          <a:xfrm>
            <a:off x="6483096" y="512064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74" name="Shape 72"/>
          <p:cNvSpPr/>
          <p:nvPr/>
        </p:nvSpPr>
        <p:spPr>
          <a:xfrm>
            <a:off x="9226296" y="4462272"/>
            <a:ext cx="2651760" cy="1143000"/>
          </a:xfrm>
          <a:prstGeom prst="roundRect">
            <a:avLst>
              <a:gd name="adj" fmla="val 6400"/>
            </a:avLst>
          </a:prstGeom>
          <a:solidFill>
            <a:srgbClr val="FFFDF8"/>
          </a:solidFill>
          <a:ln w="10160">
            <a:solidFill>
              <a:srgbClr val="FF7584"/>
            </a:solidFill>
            <a:prstDash val="solid"/>
          </a:ln>
        </p:spPr>
      </p:sp>
      <p:sp>
        <p:nvSpPr>
          <p:cNvPr id="75" name="Text 73"/>
          <p:cNvSpPr/>
          <p:nvPr/>
        </p:nvSpPr>
        <p:spPr>
          <a:xfrm>
            <a:off x="9381744" y="4590288"/>
            <a:ext cx="23408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12 · Challenge / rollback</a:t>
            </a:r>
            <a:endParaRPr lang="en-US" sz="680" dirty="0"/>
          </a:p>
        </p:txBody>
      </p:sp>
      <p:sp>
        <p:nvSpPr>
          <p:cNvPr id="76" name="Text 74"/>
          <p:cNvSpPr/>
          <p:nvPr/>
        </p:nvSpPr>
        <p:spPr>
          <a:xfrm>
            <a:off x="9381744" y="4718304"/>
            <a:ext cx="2340864" cy="329184"/>
          </a:xfrm>
          <a:prstGeom prst="rect">
            <a:avLst/>
          </a:prstGeom>
          <a:noFill/>
          <a:ln/>
        </p:spPr>
        <p:txBody>
          <a:bodyPr wrap="square" lIns="0" tIns="0" rIns="0" bIns="0" rtlCol="0" anchor="ctr">
            <a:normAutofit/>
          </a:bodyPr>
          <a:lstStyle/>
          <a:p>
            <a:pPr indent="0" marL="0">
              <a:buNone/>
            </a:pPr>
            <a:r>
              <a:rPr lang="en-US" sz="1080" b="1" dirty="0">
                <a:solidFill>
                  <a:srgbClr val="14273D"/>
                </a:solidFill>
                <a:latin typeface="Inter Display" pitchFamily="34" charset="0"/>
                <a:ea typeface="Inter Display" pitchFamily="34" charset="-122"/>
                <a:cs typeface="Inter Display" pitchFamily="34" charset="-120"/>
              </a:rPr>
              <a:t>Authority can be reversed</a:t>
            </a:r>
            <a:endParaRPr lang="en-US" sz="1080" dirty="0"/>
          </a:p>
        </p:txBody>
      </p:sp>
      <p:sp>
        <p:nvSpPr>
          <p:cNvPr id="77" name="Text 75"/>
          <p:cNvSpPr/>
          <p:nvPr/>
        </p:nvSpPr>
        <p:spPr>
          <a:xfrm>
            <a:off x="9381744" y="5120640"/>
            <a:ext cx="2340864" cy="347472"/>
          </a:xfrm>
          <a:prstGeom prst="rect">
            <a:avLst/>
          </a:prstGeom>
          <a:noFill/>
          <a:ln/>
        </p:spPr>
        <p:txBody>
          <a:bodyPr wrap="square" lIns="0" tIns="0" rIns="0" bIns="0" rtlCol="0" anchor="t">
            <a:normAutofit/>
          </a:bodyPr>
          <a:lstStyle/>
          <a:p>
            <a:pPr indent="0" marL="0">
              <a:buNone/>
            </a:pPr>
            <a:r>
              <a:rPr lang="en-US" sz="770" dirty="0">
                <a:solidFill>
                  <a:srgbClr val="43566A"/>
                </a:solidFill>
                <a:latin typeface="Inter" pitchFamily="34" charset="0"/>
                <a:ea typeface="Inter" pitchFamily="34" charset="-122"/>
                <a:cs typeface="Inter" pitchFamily="34" charset="-120"/>
              </a:rPr>
              <a:t>Exportable artifact</a:t>
            </a:r>
            <a:endParaRPr lang="en-US" sz="77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EVIDENCE DOCKET SALON</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The flagship deliverable is a governed decision state.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A report tells a story. A Docket lets a reviewer reconstruct and challenge the decision.</a:t>
            </a:r>
            <a:endParaRPr lang="en-US" sz="1450" dirty="0"/>
          </a:p>
        </p:txBody>
      </p:sp>
      <p:sp>
        <p:nvSpPr>
          <p:cNvPr id="30" name="Shape 28"/>
          <p:cNvSpPr/>
          <p:nvPr/>
        </p:nvSpPr>
        <p:spPr>
          <a:xfrm>
            <a:off x="640080" y="1783080"/>
            <a:ext cx="2633472" cy="1325880"/>
          </a:xfrm>
          <a:prstGeom prst="roundRect">
            <a:avLst>
              <a:gd name="adj" fmla="val 5517"/>
            </a:avLst>
          </a:prstGeom>
          <a:solidFill>
            <a:srgbClr val="102238"/>
          </a:solidFill>
          <a:ln w="10160">
            <a:solidFill>
              <a:srgbClr val="E7BD62"/>
            </a:solidFill>
            <a:prstDash val="solid"/>
          </a:ln>
        </p:spPr>
      </p:sp>
      <p:sp>
        <p:nvSpPr>
          <p:cNvPr id="31" name="Text 29"/>
          <p:cNvSpPr/>
          <p:nvPr/>
        </p:nvSpPr>
        <p:spPr>
          <a:xfrm>
            <a:off x="795528" y="1911096"/>
            <a:ext cx="232257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MISSION</a:t>
            </a:r>
            <a:endParaRPr lang="en-US" sz="680" dirty="0"/>
          </a:p>
        </p:txBody>
      </p:sp>
      <p:sp>
        <p:nvSpPr>
          <p:cNvPr id="32" name="Text 30"/>
          <p:cNvSpPr/>
          <p:nvPr/>
        </p:nvSpPr>
        <p:spPr>
          <a:xfrm>
            <a:off x="795528" y="2039112"/>
            <a:ext cx="2322576" cy="329184"/>
          </a:xfrm>
          <a:prstGeom prst="rect">
            <a:avLst/>
          </a:prstGeom>
          <a:noFill/>
          <a:ln/>
        </p:spPr>
        <p:txBody>
          <a:bodyPr wrap="square" lIns="0" tIns="0" rIns="0" bIns="0" rtlCol="0" anchor="ctr">
            <a:normAutofit/>
          </a:bodyPr>
          <a:lstStyle/>
          <a:p>
            <a:pPr indent="0" marL="0">
              <a:buNone/>
            </a:pPr>
            <a:r>
              <a:rPr lang="en-US" sz="1120" b="1" dirty="0">
                <a:solidFill>
                  <a:srgbClr val="F7FBFF"/>
                </a:solidFill>
                <a:latin typeface="Inter Display" pitchFamily="34" charset="0"/>
                <a:ea typeface="Inter Display" pitchFamily="34" charset="-122"/>
                <a:cs typeface="Inter Display" pitchFamily="34" charset="-120"/>
              </a:rPr>
              <a:t>Contract, objective, proof level, boundaries</a:t>
            </a:r>
            <a:endParaRPr lang="en-US" sz="1120" dirty="0"/>
          </a:p>
        </p:txBody>
      </p:sp>
      <p:sp>
        <p:nvSpPr>
          <p:cNvPr id="33" name="Text 31"/>
          <p:cNvSpPr/>
          <p:nvPr/>
        </p:nvSpPr>
        <p:spPr>
          <a:xfrm>
            <a:off x="795528" y="2441448"/>
            <a:ext cx="2322576" cy="530352"/>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Inspectable and challengeable.</a:t>
            </a:r>
            <a:endParaRPr lang="en-US" sz="780" dirty="0"/>
          </a:p>
        </p:txBody>
      </p:sp>
      <p:sp>
        <p:nvSpPr>
          <p:cNvPr id="34" name="Shape 32"/>
          <p:cNvSpPr/>
          <p:nvPr/>
        </p:nvSpPr>
        <p:spPr>
          <a:xfrm>
            <a:off x="3520440" y="1783080"/>
            <a:ext cx="2633472" cy="1325880"/>
          </a:xfrm>
          <a:prstGeom prst="roundRect">
            <a:avLst>
              <a:gd name="adj" fmla="val 5517"/>
            </a:avLst>
          </a:prstGeom>
          <a:solidFill>
            <a:srgbClr val="102238"/>
          </a:solidFill>
          <a:ln w="10160">
            <a:solidFill>
              <a:srgbClr val="FF7584"/>
            </a:solidFill>
            <a:prstDash val="solid"/>
          </a:ln>
        </p:spPr>
      </p:sp>
      <p:sp>
        <p:nvSpPr>
          <p:cNvPr id="35" name="Text 33"/>
          <p:cNvSpPr/>
          <p:nvPr/>
        </p:nvSpPr>
        <p:spPr>
          <a:xfrm>
            <a:off x="3675888" y="1911096"/>
            <a:ext cx="232257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CLAIMS</a:t>
            </a:r>
            <a:endParaRPr lang="en-US" sz="680" dirty="0"/>
          </a:p>
        </p:txBody>
      </p:sp>
      <p:sp>
        <p:nvSpPr>
          <p:cNvPr id="36" name="Text 34"/>
          <p:cNvSpPr/>
          <p:nvPr/>
        </p:nvSpPr>
        <p:spPr>
          <a:xfrm>
            <a:off x="3675888" y="2039112"/>
            <a:ext cx="2322576" cy="329184"/>
          </a:xfrm>
          <a:prstGeom prst="rect">
            <a:avLst/>
          </a:prstGeom>
          <a:noFill/>
          <a:ln/>
        </p:spPr>
        <p:txBody>
          <a:bodyPr wrap="square" lIns="0" tIns="0" rIns="0" bIns="0" rtlCol="0" anchor="ctr">
            <a:normAutofit/>
          </a:bodyPr>
          <a:lstStyle/>
          <a:p>
            <a:pPr indent="0" marL="0">
              <a:buNone/>
            </a:pPr>
            <a:r>
              <a:rPr lang="en-US" sz="1120" b="1" dirty="0">
                <a:solidFill>
                  <a:srgbClr val="F7FBFF"/>
                </a:solidFill>
                <a:latin typeface="Inter Display" pitchFamily="34" charset="0"/>
                <a:ea typeface="Inter Display" pitchFamily="34" charset="-122"/>
                <a:cs typeface="Inter Display" pitchFamily="34" charset="-120"/>
              </a:rPr>
              <a:t>Supported, limited, unresolved, blocked</a:t>
            </a:r>
            <a:endParaRPr lang="en-US" sz="1120" dirty="0"/>
          </a:p>
        </p:txBody>
      </p:sp>
      <p:sp>
        <p:nvSpPr>
          <p:cNvPr id="37" name="Text 35"/>
          <p:cNvSpPr/>
          <p:nvPr/>
        </p:nvSpPr>
        <p:spPr>
          <a:xfrm>
            <a:off x="3675888" y="2441448"/>
            <a:ext cx="2322576" cy="530352"/>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Inspectable and challengeable.</a:t>
            </a:r>
            <a:endParaRPr lang="en-US" sz="780" dirty="0"/>
          </a:p>
        </p:txBody>
      </p:sp>
      <p:sp>
        <p:nvSpPr>
          <p:cNvPr id="38" name="Shape 36"/>
          <p:cNvSpPr/>
          <p:nvPr/>
        </p:nvSpPr>
        <p:spPr>
          <a:xfrm>
            <a:off x="6400800" y="1783080"/>
            <a:ext cx="2633472" cy="1325880"/>
          </a:xfrm>
          <a:prstGeom prst="roundRect">
            <a:avLst>
              <a:gd name="adj" fmla="val 5517"/>
            </a:avLst>
          </a:prstGeom>
          <a:solidFill>
            <a:srgbClr val="102238"/>
          </a:solidFill>
          <a:ln w="10160">
            <a:solidFill>
              <a:srgbClr val="6FB5FF"/>
            </a:solidFill>
            <a:prstDash val="solid"/>
          </a:ln>
        </p:spPr>
      </p:sp>
      <p:sp>
        <p:nvSpPr>
          <p:cNvPr id="39" name="Text 37"/>
          <p:cNvSpPr/>
          <p:nvPr/>
        </p:nvSpPr>
        <p:spPr>
          <a:xfrm>
            <a:off x="6556248" y="1911096"/>
            <a:ext cx="232257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PROVENANCE</a:t>
            </a:r>
            <a:endParaRPr lang="en-US" sz="680" dirty="0"/>
          </a:p>
        </p:txBody>
      </p:sp>
      <p:sp>
        <p:nvSpPr>
          <p:cNvPr id="40" name="Text 38"/>
          <p:cNvSpPr/>
          <p:nvPr/>
        </p:nvSpPr>
        <p:spPr>
          <a:xfrm>
            <a:off x="6556248" y="2039112"/>
            <a:ext cx="2322576" cy="329184"/>
          </a:xfrm>
          <a:prstGeom prst="rect">
            <a:avLst/>
          </a:prstGeom>
          <a:noFill/>
          <a:ln/>
        </p:spPr>
        <p:txBody>
          <a:bodyPr wrap="square" lIns="0" tIns="0" rIns="0" bIns="0" rtlCol="0" anchor="ctr">
            <a:normAutofit/>
          </a:bodyPr>
          <a:lstStyle/>
          <a:p>
            <a:pPr indent="0" marL="0">
              <a:buNone/>
            </a:pPr>
            <a:r>
              <a:rPr lang="en-US" sz="1120" b="1" dirty="0">
                <a:solidFill>
                  <a:srgbClr val="F7FBFF"/>
                </a:solidFill>
                <a:latin typeface="Inter Display" pitchFamily="34" charset="0"/>
                <a:ea typeface="Inter Display" pitchFamily="34" charset="-122"/>
                <a:cs typeface="Inter Display" pitchFamily="34" charset="-120"/>
              </a:rPr>
              <a:t>Sources, artifacts, hashes, contradictions</a:t>
            </a:r>
            <a:endParaRPr lang="en-US" sz="1120" dirty="0"/>
          </a:p>
        </p:txBody>
      </p:sp>
      <p:sp>
        <p:nvSpPr>
          <p:cNvPr id="41" name="Text 39"/>
          <p:cNvSpPr/>
          <p:nvPr/>
        </p:nvSpPr>
        <p:spPr>
          <a:xfrm>
            <a:off x="6556248" y="2441448"/>
            <a:ext cx="2322576" cy="530352"/>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Inspectable and challengeable.</a:t>
            </a:r>
            <a:endParaRPr lang="en-US" sz="780" dirty="0"/>
          </a:p>
        </p:txBody>
      </p:sp>
      <p:sp>
        <p:nvSpPr>
          <p:cNvPr id="42" name="Shape 40"/>
          <p:cNvSpPr/>
          <p:nvPr/>
        </p:nvSpPr>
        <p:spPr>
          <a:xfrm>
            <a:off x="9281160" y="1783080"/>
            <a:ext cx="2633472" cy="1325880"/>
          </a:xfrm>
          <a:prstGeom prst="roundRect">
            <a:avLst>
              <a:gd name="adj" fmla="val 5517"/>
            </a:avLst>
          </a:prstGeom>
          <a:solidFill>
            <a:srgbClr val="102238"/>
          </a:solidFill>
          <a:ln w="10160">
            <a:solidFill>
              <a:srgbClr val="54D6D0"/>
            </a:solidFill>
            <a:prstDash val="solid"/>
          </a:ln>
        </p:spPr>
      </p:sp>
      <p:sp>
        <p:nvSpPr>
          <p:cNvPr id="43" name="Text 41"/>
          <p:cNvSpPr/>
          <p:nvPr/>
        </p:nvSpPr>
        <p:spPr>
          <a:xfrm>
            <a:off x="9436608" y="1911096"/>
            <a:ext cx="2322576"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REPLAY</a:t>
            </a:r>
            <a:endParaRPr lang="en-US" sz="680" dirty="0"/>
          </a:p>
        </p:txBody>
      </p:sp>
      <p:sp>
        <p:nvSpPr>
          <p:cNvPr id="44" name="Text 42"/>
          <p:cNvSpPr/>
          <p:nvPr/>
        </p:nvSpPr>
        <p:spPr>
          <a:xfrm>
            <a:off x="9436608" y="2039112"/>
            <a:ext cx="2322576" cy="329184"/>
          </a:xfrm>
          <a:prstGeom prst="rect">
            <a:avLst/>
          </a:prstGeom>
          <a:noFill/>
          <a:ln/>
        </p:spPr>
        <p:txBody>
          <a:bodyPr wrap="square" lIns="0" tIns="0" rIns="0" bIns="0" rtlCol="0" anchor="ctr">
            <a:normAutofit/>
          </a:bodyPr>
          <a:lstStyle/>
          <a:p>
            <a:pPr indent="0" marL="0">
              <a:buNone/>
            </a:pPr>
            <a:r>
              <a:rPr lang="en-US" sz="1120" b="1" dirty="0">
                <a:solidFill>
                  <a:srgbClr val="F7FBFF"/>
                </a:solidFill>
                <a:latin typeface="Inter Display" pitchFamily="34" charset="0"/>
                <a:ea typeface="Inter Display" pitchFamily="34" charset="-122"/>
                <a:cs typeface="Inter Display" pitchFamily="34" charset="-120"/>
              </a:rPr>
              <a:t>Environment, seeds, manifests, differences</a:t>
            </a:r>
            <a:endParaRPr lang="en-US" sz="1120" dirty="0"/>
          </a:p>
        </p:txBody>
      </p:sp>
      <p:sp>
        <p:nvSpPr>
          <p:cNvPr id="45" name="Text 43"/>
          <p:cNvSpPr/>
          <p:nvPr/>
        </p:nvSpPr>
        <p:spPr>
          <a:xfrm>
            <a:off x="9436608" y="2441448"/>
            <a:ext cx="2322576" cy="530352"/>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Inspectable and challengeable.</a:t>
            </a:r>
            <a:endParaRPr lang="en-US" sz="780" dirty="0"/>
          </a:p>
        </p:txBody>
      </p:sp>
      <p:sp>
        <p:nvSpPr>
          <p:cNvPr id="46" name="Shape 44"/>
          <p:cNvSpPr/>
          <p:nvPr/>
        </p:nvSpPr>
        <p:spPr>
          <a:xfrm>
            <a:off x="640080" y="3383280"/>
            <a:ext cx="2633472" cy="1325880"/>
          </a:xfrm>
          <a:prstGeom prst="roundRect">
            <a:avLst>
              <a:gd name="adj" fmla="val 5517"/>
            </a:avLst>
          </a:prstGeom>
          <a:solidFill>
            <a:srgbClr val="102238"/>
          </a:solidFill>
          <a:ln w="10160">
            <a:solidFill>
              <a:srgbClr val="43D79B"/>
            </a:solidFill>
            <a:prstDash val="solid"/>
          </a:ln>
        </p:spPr>
      </p:sp>
      <p:sp>
        <p:nvSpPr>
          <p:cNvPr id="47" name="Text 45"/>
          <p:cNvSpPr/>
          <p:nvPr/>
        </p:nvSpPr>
        <p:spPr>
          <a:xfrm>
            <a:off x="795528" y="3511296"/>
            <a:ext cx="23225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VALIDATION</a:t>
            </a:r>
            <a:endParaRPr lang="en-US" sz="680" dirty="0"/>
          </a:p>
        </p:txBody>
      </p:sp>
      <p:sp>
        <p:nvSpPr>
          <p:cNvPr id="48" name="Text 46"/>
          <p:cNvSpPr/>
          <p:nvPr/>
        </p:nvSpPr>
        <p:spPr>
          <a:xfrm>
            <a:off x="795528" y="3639312"/>
            <a:ext cx="2322576" cy="329184"/>
          </a:xfrm>
          <a:prstGeom prst="rect">
            <a:avLst/>
          </a:prstGeom>
          <a:noFill/>
          <a:ln/>
        </p:spPr>
        <p:txBody>
          <a:bodyPr wrap="square" lIns="0" tIns="0" rIns="0" bIns="0" rtlCol="0" anchor="ctr">
            <a:normAutofit/>
          </a:bodyPr>
          <a:lstStyle/>
          <a:p>
            <a:pPr indent="0" marL="0">
              <a:buNone/>
            </a:pPr>
            <a:r>
              <a:rPr lang="en-US" sz="1120" b="1" dirty="0">
                <a:solidFill>
                  <a:srgbClr val="F7FBFF"/>
                </a:solidFill>
                <a:latin typeface="Inter Display" pitchFamily="34" charset="0"/>
                <a:ea typeface="Inter Display" pitchFamily="34" charset="-122"/>
                <a:cs typeface="Inter Display" pitchFamily="34" charset="-120"/>
              </a:rPr>
              <a:t>Quorum, independence, reasons, conflicts</a:t>
            </a:r>
            <a:endParaRPr lang="en-US" sz="1120" dirty="0"/>
          </a:p>
        </p:txBody>
      </p:sp>
      <p:sp>
        <p:nvSpPr>
          <p:cNvPr id="49" name="Text 47"/>
          <p:cNvSpPr/>
          <p:nvPr/>
        </p:nvSpPr>
        <p:spPr>
          <a:xfrm>
            <a:off x="795528" y="4041648"/>
            <a:ext cx="2322576" cy="530352"/>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Inspectable and challengeable.</a:t>
            </a:r>
            <a:endParaRPr lang="en-US" sz="780" dirty="0"/>
          </a:p>
        </p:txBody>
      </p:sp>
      <p:sp>
        <p:nvSpPr>
          <p:cNvPr id="50" name="Shape 48"/>
          <p:cNvSpPr/>
          <p:nvPr/>
        </p:nvSpPr>
        <p:spPr>
          <a:xfrm>
            <a:off x="3520440" y="3383280"/>
            <a:ext cx="2633472" cy="1325880"/>
          </a:xfrm>
          <a:prstGeom prst="roundRect">
            <a:avLst>
              <a:gd name="adj" fmla="val 5517"/>
            </a:avLst>
          </a:prstGeom>
          <a:solidFill>
            <a:srgbClr val="102238"/>
          </a:solidFill>
          <a:ln w="10160">
            <a:solidFill>
              <a:srgbClr val="F5C46B"/>
            </a:solidFill>
            <a:prstDash val="solid"/>
          </a:ln>
        </p:spPr>
      </p:sp>
      <p:sp>
        <p:nvSpPr>
          <p:cNvPr id="51" name="Text 49"/>
          <p:cNvSpPr/>
          <p:nvPr/>
        </p:nvSpPr>
        <p:spPr>
          <a:xfrm>
            <a:off x="3675888" y="3511296"/>
            <a:ext cx="2322576" cy="146304"/>
          </a:xfrm>
          <a:prstGeom prst="rect">
            <a:avLst/>
          </a:prstGeom>
          <a:noFill/>
          <a:ln/>
        </p:spPr>
        <p:txBody>
          <a:bodyPr wrap="square" lIns="0" tIns="0" rIns="0" bIns="0" rtlCol="0" anchor="ctr"/>
          <a:lstStyle/>
          <a:p>
            <a:pPr indent="0" marL="0">
              <a:buNone/>
            </a:pPr>
            <a:r>
              <a:rPr lang="en-US" sz="680" b="1" spc="120" kern="0" dirty="0">
                <a:solidFill>
                  <a:srgbClr val="F5C46B"/>
                </a:solidFill>
                <a:latin typeface="Inter" pitchFamily="34" charset="0"/>
                <a:ea typeface="Inter" pitchFamily="34" charset="-122"/>
                <a:cs typeface="Inter" pitchFamily="34" charset="-120"/>
              </a:rPr>
              <a:t>RISK + COST</a:t>
            </a:r>
            <a:endParaRPr lang="en-US" sz="680" dirty="0"/>
          </a:p>
        </p:txBody>
      </p:sp>
      <p:sp>
        <p:nvSpPr>
          <p:cNvPr id="52" name="Text 50"/>
          <p:cNvSpPr/>
          <p:nvPr/>
        </p:nvSpPr>
        <p:spPr>
          <a:xfrm>
            <a:off x="3675888" y="3639312"/>
            <a:ext cx="2322576" cy="329184"/>
          </a:xfrm>
          <a:prstGeom prst="rect">
            <a:avLst/>
          </a:prstGeom>
          <a:noFill/>
          <a:ln/>
        </p:spPr>
        <p:txBody>
          <a:bodyPr wrap="square" lIns="0" tIns="0" rIns="0" bIns="0" rtlCol="0" anchor="ctr">
            <a:normAutofit/>
          </a:bodyPr>
          <a:lstStyle/>
          <a:p>
            <a:pPr indent="0" marL="0">
              <a:buNone/>
            </a:pPr>
            <a:r>
              <a:rPr lang="en-US" sz="1120" b="1" dirty="0">
                <a:solidFill>
                  <a:srgbClr val="F7FBFF"/>
                </a:solidFill>
                <a:latin typeface="Inter Display" pitchFamily="34" charset="0"/>
                <a:ea typeface="Inter Display" pitchFamily="34" charset="-122"/>
                <a:cs typeface="Inter Display" pitchFamily="34" charset="-120"/>
              </a:rPr>
              <a:t>Residual risk, latency, budget, reviewer burden</a:t>
            </a:r>
            <a:endParaRPr lang="en-US" sz="1120" dirty="0"/>
          </a:p>
        </p:txBody>
      </p:sp>
      <p:sp>
        <p:nvSpPr>
          <p:cNvPr id="53" name="Text 51"/>
          <p:cNvSpPr/>
          <p:nvPr/>
        </p:nvSpPr>
        <p:spPr>
          <a:xfrm>
            <a:off x="3675888" y="4041648"/>
            <a:ext cx="2322576" cy="530352"/>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Inspectable and challengeable.</a:t>
            </a:r>
            <a:endParaRPr lang="en-US" sz="780" dirty="0"/>
          </a:p>
        </p:txBody>
      </p:sp>
      <p:sp>
        <p:nvSpPr>
          <p:cNvPr id="54" name="Shape 52"/>
          <p:cNvSpPr/>
          <p:nvPr/>
        </p:nvSpPr>
        <p:spPr>
          <a:xfrm>
            <a:off x="6400800" y="3383280"/>
            <a:ext cx="2633472" cy="1325880"/>
          </a:xfrm>
          <a:prstGeom prst="roundRect">
            <a:avLst>
              <a:gd name="adj" fmla="val 5517"/>
            </a:avLst>
          </a:prstGeom>
          <a:solidFill>
            <a:srgbClr val="102238"/>
          </a:solidFill>
          <a:ln w="10160">
            <a:solidFill>
              <a:srgbClr val="A99CFF"/>
            </a:solidFill>
            <a:prstDash val="solid"/>
          </a:ln>
        </p:spPr>
      </p:sp>
      <p:sp>
        <p:nvSpPr>
          <p:cNvPr id="55" name="Text 53"/>
          <p:cNvSpPr/>
          <p:nvPr/>
        </p:nvSpPr>
        <p:spPr>
          <a:xfrm>
            <a:off x="6556248" y="3511296"/>
            <a:ext cx="2322576"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DECISION</a:t>
            </a:r>
            <a:endParaRPr lang="en-US" sz="680" dirty="0"/>
          </a:p>
        </p:txBody>
      </p:sp>
      <p:sp>
        <p:nvSpPr>
          <p:cNvPr id="56" name="Text 54"/>
          <p:cNvSpPr/>
          <p:nvPr/>
        </p:nvSpPr>
        <p:spPr>
          <a:xfrm>
            <a:off x="6556248" y="3639312"/>
            <a:ext cx="2322576" cy="329184"/>
          </a:xfrm>
          <a:prstGeom prst="rect">
            <a:avLst/>
          </a:prstGeom>
          <a:noFill/>
          <a:ln/>
        </p:spPr>
        <p:txBody>
          <a:bodyPr wrap="square" lIns="0" tIns="0" rIns="0" bIns="0" rtlCol="0" anchor="ctr">
            <a:normAutofit/>
          </a:bodyPr>
          <a:lstStyle/>
          <a:p>
            <a:pPr indent="0" marL="0">
              <a:buNone/>
            </a:pPr>
            <a:r>
              <a:rPr lang="en-US" sz="1120" b="1" dirty="0">
                <a:solidFill>
                  <a:srgbClr val="F7FBFF"/>
                </a:solidFill>
                <a:latin typeface="Inter Display" pitchFamily="34" charset="0"/>
                <a:ea typeface="Inter Display" pitchFamily="34" charset="-122"/>
                <a:cs typeface="Inter Display" pitchFamily="34" charset="-120"/>
              </a:rPr>
              <a:t>Proceed, repair, hold, reject, conditions</a:t>
            </a:r>
            <a:endParaRPr lang="en-US" sz="1120" dirty="0"/>
          </a:p>
        </p:txBody>
      </p:sp>
      <p:sp>
        <p:nvSpPr>
          <p:cNvPr id="57" name="Text 55"/>
          <p:cNvSpPr/>
          <p:nvPr/>
        </p:nvSpPr>
        <p:spPr>
          <a:xfrm>
            <a:off x="6556248" y="4041648"/>
            <a:ext cx="2322576" cy="530352"/>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Inspectable and challengeable.</a:t>
            </a:r>
            <a:endParaRPr lang="en-US" sz="780" dirty="0"/>
          </a:p>
        </p:txBody>
      </p:sp>
      <p:sp>
        <p:nvSpPr>
          <p:cNvPr id="58" name="Shape 56"/>
          <p:cNvSpPr/>
          <p:nvPr/>
        </p:nvSpPr>
        <p:spPr>
          <a:xfrm>
            <a:off x="9281160" y="3383280"/>
            <a:ext cx="2633472" cy="1325880"/>
          </a:xfrm>
          <a:prstGeom prst="roundRect">
            <a:avLst>
              <a:gd name="adj" fmla="val 5517"/>
            </a:avLst>
          </a:prstGeom>
          <a:solidFill>
            <a:srgbClr val="102238"/>
          </a:solidFill>
          <a:ln w="10160">
            <a:solidFill>
              <a:srgbClr val="43D79B"/>
            </a:solidFill>
            <a:prstDash val="solid"/>
          </a:ln>
        </p:spPr>
      </p:sp>
      <p:sp>
        <p:nvSpPr>
          <p:cNvPr id="59" name="Text 57"/>
          <p:cNvSpPr/>
          <p:nvPr/>
        </p:nvSpPr>
        <p:spPr>
          <a:xfrm>
            <a:off x="9436608" y="3511296"/>
            <a:ext cx="23225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MEMORY</a:t>
            </a:r>
            <a:endParaRPr lang="en-US" sz="680" dirty="0"/>
          </a:p>
        </p:txBody>
      </p:sp>
      <p:sp>
        <p:nvSpPr>
          <p:cNvPr id="60" name="Text 58"/>
          <p:cNvSpPr/>
          <p:nvPr/>
        </p:nvSpPr>
        <p:spPr>
          <a:xfrm>
            <a:off x="9436608" y="3639312"/>
            <a:ext cx="2322576" cy="329184"/>
          </a:xfrm>
          <a:prstGeom prst="rect">
            <a:avLst/>
          </a:prstGeom>
          <a:noFill/>
          <a:ln/>
        </p:spPr>
        <p:txBody>
          <a:bodyPr wrap="square" lIns="0" tIns="0" rIns="0" bIns="0" rtlCol="0" anchor="ctr">
            <a:normAutofit/>
          </a:bodyPr>
          <a:lstStyle/>
          <a:p>
            <a:pPr indent="0" marL="0">
              <a:buNone/>
            </a:pPr>
            <a:r>
              <a:rPr lang="en-US" sz="1120" b="1" dirty="0">
                <a:solidFill>
                  <a:srgbClr val="F7FBFF"/>
                </a:solidFill>
                <a:latin typeface="Inter Display" pitchFamily="34" charset="0"/>
                <a:ea typeface="Inter Display" pitchFamily="34" charset="-122"/>
                <a:cs typeface="Inter Display" pitchFamily="34" charset="-120"/>
              </a:rPr>
              <a:t>Chronicle recommendation, skill, rollback</a:t>
            </a:r>
            <a:endParaRPr lang="en-US" sz="1120" dirty="0"/>
          </a:p>
        </p:txBody>
      </p:sp>
      <p:sp>
        <p:nvSpPr>
          <p:cNvPr id="61" name="Text 59"/>
          <p:cNvSpPr/>
          <p:nvPr/>
        </p:nvSpPr>
        <p:spPr>
          <a:xfrm>
            <a:off x="9436608" y="4041648"/>
            <a:ext cx="2322576" cy="530352"/>
          </a:xfrm>
          <a:prstGeom prst="rect">
            <a:avLst/>
          </a:prstGeom>
          <a:noFill/>
          <a:ln/>
        </p:spPr>
        <p:txBody>
          <a:bodyPr wrap="square" lIns="0" tIns="0" rIns="0" bIns="0" rtlCol="0" anchor="t">
            <a:normAutofit/>
          </a:bodyPr>
          <a:lstStyle/>
          <a:p>
            <a:pPr indent="0" marL="0">
              <a:buNone/>
            </a:pPr>
            <a:r>
              <a:rPr lang="en-US" sz="780" dirty="0">
                <a:solidFill>
                  <a:srgbClr val="B9C5D2"/>
                </a:solidFill>
                <a:latin typeface="Inter" pitchFamily="34" charset="0"/>
                <a:ea typeface="Inter" pitchFamily="34" charset="-122"/>
                <a:cs typeface="Inter" pitchFamily="34" charset="-120"/>
              </a:rPr>
              <a:t>Inspectable and challengeable.</a:t>
            </a:r>
            <a:endParaRPr lang="en-US" sz="780" dirty="0"/>
          </a:p>
        </p:txBody>
      </p:sp>
      <p:sp>
        <p:nvSpPr>
          <p:cNvPr id="62" name="Text 60"/>
          <p:cNvSpPr/>
          <p:nvPr/>
        </p:nvSpPr>
        <p:spPr>
          <a:xfrm>
            <a:off x="1188720" y="5074920"/>
            <a:ext cx="411480" cy="640080"/>
          </a:xfrm>
          <a:prstGeom prst="rect">
            <a:avLst/>
          </a:prstGeom>
          <a:noFill/>
          <a:ln/>
        </p:spPr>
        <p:txBody>
          <a:bodyPr wrap="square" lIns="0" tIns="0" rIns="0" bIns="0" rtlCol="0" anchor="ctr"/>
          <a:lstStyle/>
          <a:p>
            <a:pPr indent="0" marL="0">
              <a:buNone/>
            </a:pPr>
            <a:r>
              <a:rPr lang="en-US" sz="4800" dirty="0">
                <a:solidFill>
                  <a:srgbClr val="E7BD62"/>
                </a:solidFill>
                <a:latin typeface="Georgia" pitchFamily="34" charset="0"/>
                <a:ea typeface="Georgia" pitchFamily="34" charset="-122"/>
                <a:cs typeface="Georgia" pitchFamily="34" charset="-120"/>
              </a:rPr>
              <a:t>“</a:t>
            </a:r>
            <a:endParaRPr lang="en-US" sz="4800" dirty="0"/>
          </a:p>
        </p:txBody>
      </p:sp>
      <p:sp>
        <p:nvSpPr>
          <p:cNvPr id="63" name="Text 61"/>
          <p:cNvSpPr/>
          <p:nvPr/>
        </p:nvSpPr>
        <p:spPr>
          <a:xfrm>
            <a:off x="1600200" y="5120640"/>
            <a:ext cx="9326880" cy="502920"/>
          </a:xfrm>
          <a:prstGeom prst="rect">
            <a:avLst/>
          </a:prstGeom>
          <a:noFill/>
          <a:ln/>
        </p:spPr>
        <p:txBody>
          <a:bodyPr wrap="square" lIns="0" tIns="0" rIns="0" bIns="0" rtlCol="0" anchor="ctr">
            <a:normAutofit/>
          </a:bodyPr>
          <a:lstStyle/>
          <a:p>
            <a:pPr indent="0" marL="0">
              <a:buNone/>
            </a:pPr>
            <a:r>
              <a:rPr lang="en-US" sz="1800" i="1" dirty="0">
                <a:solidFill>
                  <a:srgbClr val="F7FBFF"/>
                </a:solidFill>
                <a:latin typeface="Georgia" pitchFamily="34" charset="0"/>
                <a:ea typeface="Georgia" pitchFamily="34" charset="-122"/>
                <a:cs typeface="Georgia" pitchFamily="34" charset="-120"/>
              </a:rPr>
              <a:t>The point is not to store more files. The point is to make trust inspectable.</a:t>
            </a:r>
            <a:endParaRPr lang="en-US" sz="1800" dirty="0"/>
          </a:p>
        </p:txBody>
      </p:sp>
      <p:sp>
        <p:nvSpPr>
          <p:cNvPr id="64" name="Text 62"/>
          <p:cNvSpPr/>
          <p:nvPr/>
        </p:nvSpPr>
        <p:spPr>
          <a:xfrm>
            <a:off x="1618488" y="5705856"/>
            <a:ext cx="6400800" cy="228600"/>
          </a:xfrm>
          <a:prstGeom prst="rect">
            <a:avLst/>
          </a:prstGeom>
          <a:noFill/>
          <a:ln/>
        </p:spPr>
        <p:txBody>
          <a:bodyPr wrap="square" lIns="0" tIns="0" rIns="0" bIns="0" rtlCol="0" anchor="ctr"/>
          <a:lstStyle/>
          <a:p>
            <a:pPr indent="0" marL="0">
              <a:buNone/>
            </a:pPr>
            <a:r>
              <a:rPr lang="en-US" sz="900" b="1" dirty="0">
                <a:solidFill>
                  <a:srgbClr val="97A8BC"/>
                </a:solidFill>
                <a:latin typeface="Inter" pitchFamily="34" charset="0"/>
                <a:ea typeface="Inter" pitchFamily="34" charset="-122"/>
                <a:cs typeface="Inter" pitchFamily="34" charset="-120"/>
              </a:rPr>
              <a:t>GoalOS Docket Law</a:t>
            </a:r>
            <a:endParaRPr lang="en-US" sz="9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VALIDATOR INDEPENDENCE</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Eight validator names are not eight independent validators.</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Independence must be measured by effective control, model, cloud, jurisdiction, conflicts, and replay—not identity count alone.</a:t>
            </a:r>
            <a:endParaRPr lang="en-US" sz="1450" dirty="0"/>
          </a:p>
        </p:txBody>
      </p:sp>
      <p:sp>
        <p:nvSpPr>
          <p:cNvPr id="30" name="Shape 28"/>
          <p:cNvSpPr/>
          <p:nvPr/>
        </p:nvSpPr>
        <p:spPr>
          <a:xfrm>
            <a:off x="594360" y="1719072"/>
            <a:ext cx="2651760" cy="1325880"/>
          </a:xfrm>
          <a:prstGeom prst="roundRect">
            <a:avLst>
              <a:gd name="adj" fmla="val 5517"/>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749808" y="1847088"/>
            <a:ext cx="23408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Operator control</a:t>
            </a:r>
            <a:endParaRPr lang="en-US" sz="680" dirty="0"/>
          </a:p>
        </p:txBody>
      </p:sp>
      <p:sp>
        <p:nvSpPr>
          <p:cNvPr id="32" name="Text 30"/>
          <p:cNvSpPr/>
          <p:nvPr/>
        </p:nvSpPr>
        <p:spPr>
          <a:xfrm>
            <a:off x="749808" y="1975104"/>
            <a:ext cx="2340864" cy="329184"/>
          </a:xfrm>
          <a:prstGeom prst="rect">
            <a:avLst/>
          </a:prstGeom>
          <a:noFill/>
          <a:ln/>
        </p:spPr>
        <p:txBody>
          <a:bodyPr wrap="square" lIns="0" tIns="0" rIns="0" bIns="0" rtlCol="0" anchor="ctr">
            <a:normAutofit/>
          </a:bodyPr>
          <a:lstStyle/>
          <a:p>
            <a:pPr indent="0" marL="0">
              <a:buNone/>
            </a:pPr>
            <a:r>
              <a:rPr lang="en-US" sz="1110" b="1" dirty="0">
                <a:solidFill>
                  <a:srgbClr val="14273D"/>
                </a:solidFill>
                <a:latin typeface="Inter Display" pitchFamily="34" charset="0"/>
                <a:ea typeface="Inter Display" pitchFamily="34" charset="-122"/>
                <a:cs typeface="Inter Display" pitchFamily="34" charset="-120"/>
              </a:rPr>
              <a:t>Distinct accountable operators</a:t>
            </a:r>
            <a:endParaRPr lang="en-US" sz="1110" dirty="0"/>
          </a:p>
        </p:txBody>
      </p:sp>
      <p:sp>
        <p:nvSpPr>
          <p:cNvPr id="33" name="Text 31"/>
          <p:cNvSpPr/>
          <p:nvPr/>
        </p:nvSpPr>
        <p:spPr>
          <a:xfrm>
            <a:off x="749808" y="2377440"/>
            <a:ext cx="2340864" cy="53035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Committee eligibility input</a:t>
            </a:r>
            <a:endParaRPr lang="en-US" sz="780" dirty="0"/>
          </a:p>
        </p:txBody>
      </p:sp>
      <p:sp>
        <p:nvSpPr>
          <p:cNvPr id="34" name="Shape 32"/>
          <p:cNvSpPr/>
          <p:nvPr/>
        </p:nvSpPr>
        <p:spPr>
          <a:xfrm>
            <a:off x="3483864" y="1719072"/>
            <a:ext cx="2651760" cy="1325880"/>
          </a:xfrm>
          <a:prstGeom prst="roundRect">
            <a:avLst>
              <a:gd name="adj" fmla="val 5517"/>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3639312" y="1847088"/>
            <a:ext cx="23408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Wallet / key control</a:t>
            </a:r>
            <a:endParaRPr lang="en-US" sz="680" dirty="0"/>
          </a:p>
        </p:txBody>
      </p:sp>
      <p:sp>
        <p:nvSpPr>
          <p:cNvPr id="36" name="Text 34"/>
          <p:cNvSpPr/>
          <p:nvPr/>
        </p:nvSpPr>
        <p:spPr>
          <a:xfrm>
            <a:off x="3639312" y="1975104"/>
            <a:ext cx="2340864" cy="329184"/>
          </a:xfrm>
          <a:prstGeom prst="rect">
            <a:avLst/>
          </a:prstGeom>
          <a:noFill/>
          <a:ln/>
        </p:spPr>
        <p:txBody>
          <a:bodyPr wrap="square" lIns="0" tIns="0" rIns="0" bIns="0" rtlCol="0" anchor="ctr">
            <a:normAutofit/>
          </a:bodyPr>
          <a:lstStyle/>
          <a:p>
            <a:pPr indent="0" marL="0">
              <a:buNone/>
            </a:pPr>
            <a:r>
              <a:rPr lang="en-US" sz="1110" b="1" dirty="0">
                <a:solidFill>
                  <a:srgbClr val="14273D"/>
                </a:solidFill>
                <a:latin typeface="Inter Display" pitchFamily="34" charset="0"/>
                <a:ea typeface="Inter Display" pitchFamily="34" charset="-122"/>
                <a:cs typeface="Inter Display" pitchFamily="34" charset="-120"/>
              </a:rPr>
              <a:t>No shared effective signer where prohibited</a:t>
            </a:r>
            <a:endParaRPr lang="en-US" sz="1110" dirty="0"/>
          </a:p>
        </p:txBody>
      </p:sp>
      <p:sp>
        <p:nvSpPr>
          <p:cNvPr id="37" name="Text 35"/>
          <p:cNvSpPr/>
          <p:nvPr/>
        </p:nvSpPr>
        <p:spPr>
          <a:xfrm>
            <a:off x="3639312" y="2377440"/>
            <a:ext cx="2340864" cy="53035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Committee eligibility input</a:t>
            </a:r>
            <a:endParaRPr lang="en-US" sz="780" dirty="0"/>
          </a:p>
        </p:txBody>
      </p:sp>
      <p:sp>
        <p:nvSpPr>
          <p:cNvPr id="38" name="Shape 36"/>
          <p:cNvSpPr/>
          <p:nvPr/>
        </p:nvSpPr>
        <p:spPr>
          <a:xfrm>
            <a:off x="6373368" y="1719072"/>
            <a:ext cx="2651760" cy="1325880"/>
          </a:xfrm>
          <a:prstGeom prst="roundRect">
            <a:avLst>
              <a:gd name="adj" fmla="val 5517"/>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6528816" y="1847088"/>
            <a:ext cx="2340864"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Model family</a:t>
            </a:r>
            <a:endParaRPr lang="en-US" sz="680" dirty="0"/>
          </a:p>
        </p:txBody>
      </p:sp>
      <p:sp>
        <p:nvSpPr>
          <p:cNvPr id="40" name="Text 38"/>
          <p:cNvSpPr/>
          <p:nvPr/>
        </p:nvSpPr>
        <p:spPr>
          <a:xfrm>
            <a:off x="6528816" y="1975104"/>
            <a:ext cx="2340864" cy="329184"/>
          </a:xfrm>
          <a:prstGeom prst="rect">
            <a:avLst/>
          </a:prstGeom>
          <a:noFill/>
          <a:ln/>
        </p:spPr>
        <p:txBody>
          <a:bodyPr wrap="square" lIns="0" tIns="0" rIns="0" bIns="0" rtlCol="0" anchor="ctr">
            <a:normAutofit/>
          </a:bodyPr>
          <a:lstStyle/>
          <a:p>
            <a:pPr indent="0" marL="0">
              <a:buNone/>
            </a:pPr>
            <a:r>
              <a:rPr lang="en-US" sz="1110" b="1" dirty="0">
                <a:solidFill>
                  <a:srgbClr val="14273D"/>
                </a:solidFill>
                <a:latin typeface="Inter Display" pitchFamily="34" charset="0"/>
                <a:ea typeface="Inter Display" pitchFamily="34" charset="-122"/>
                <a:cs typeface="Inter Display" pitchFamily="34" charset="-120"/>
              </a:rPr>
              <a:t>Reduce correlated reasoning failure</a:t>
            </a:r>
            <a:endParaRPr lang="en-US" sz="1110" dirty="0"/>
          </a:p>
        </p:txBody>
      </p:sp>
      <p:sp>
        <p:nvSpPr>
          <p:cNvPr id="41" name="Text 39"/>
          <p:cNvSpPr/>
          <p:nvPr/>
        </p:nvSpPr>
        <p:spPr>
          <a:xfrm>
            <a:off x="6528816" y="2377440"/>
            <a:ext cx="2340864" cy="53035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Committee eligibility input</a:t>
            </a:r>
            <a:endParaRPr lang="en-US" sz="780" dirty="0"/>
          </a:p>
        </p:txBody>
      </p:sp>
      <p:sp>
        <p:nvSpPr>
          <p:cNvPr id="42" name="Shape 40"/>
          <p:cNvSpPr/>
          <p:nvPr/>
        </p:nvSpPr>
        <p:spPr>
          <a:xfrm>
            <a:off x="9262872" y="1719072"/>
            <a:ext cx="2651760" cy="1325880"/>
          </a:xfrm>
          <a:prstGeom prst="roundRect">
            <a:avLst>
              <a:gd name="adj" fmla="val 5517"/>
            </a:avLst>
          </a:prstGeom>
          <a:solidFill>
            <a:srgbClr val="FFFDF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43" name="Text 41"/>
          <p:cNvSpPr/>
          <p:nvPr/>
        </p:nvSpPr>
        <p:spPr>
          <a:xfrm>
            <a:off x="9418320" y="1847088"/>
            <a:ext cx="23408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Cloud / hardware</a:t>
            </a:r>
            <a:endParaRPr lang="en-US" sz="680" dirty="0"/>
          </a:p>
        </p:txBody>
      </p:sp>
      <p:sp>
        <p:nvSpPr>
          <p:cNvPr id="44" name="Text 42"/>
          <p:cNvSpPr/>
          <p:nvPr/>
        </p:nvSpPr>
        <p:spPr>
          <a:xfrm>
            <a:off x="9418320" y="1975104"/>
            <a:ext cx="2340864" cy="329184"/>
          </a:xfrm>
          <a:prstGeom prst="rect">
            <a:avLst/>
          </a:prstGeom>
          <a:noFill/>
          <a:ln/>
        </p:spPr>
        <p:txBody>
          <a:bodyPr wrap="square" lIns="0" tIns="0" rIns="0" bIns="0" rtlCol="0" anchor="ctr">
            <a:normAutofit/>
          </a:bodyPr>
          <a:lstStyle/>
          <a:p>
            <a:pPr indent="0" marL="0">
              <a:buNone/>
            </a:pPr>
            <a:r>
              <a:rPr lang="en-US" sz="1110" b="1" dirty="0">
                <a:solidFill>
                  <a:srgbClr val="14273D"/>
                </a:solidFill>
                <a:latin typeface="Inter Display" pitchFamily="34" charset="0"/>
                <a:ea typeface="Inter Display" pitchFamily="34" charset="-122"/>
                <a:cs typeface="Inter Display" pitchFamily="34" charset="-120"/>
              </a:rPr>
              <a:t>Reduce common-mode infrastructure risk</a:t>
            </a:r>
            <a:endParaRPr lang="en-US" sz="1110" dirty="0"/>
          </a:p>
        </p:txBody>
      </p:sp>
      <p:sp>
        <p:nvSpPr>
          <p:cNvPr id="45" name="Text 43"/>
          <p:cNvSpPr/>
          <p:nvPr/>
        </p:nvSpPr>
        <p:spPr>
          <a:xfrm>
            <a:off x="9418320" y="2377440"/>
            <a:ext cx="2340864" cy="53035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Committee eligibility input</a:t>
            </a:r>
            <a:endParaRPr lang="en-US" sz="780" dirty="0"/>
          </a:p>
        </p:txBody>
      </p:sp>
      <p:sp>
        <p:nvSpPr>
          <p:cNvPr id="46" name="Shape 44"/>
          <p:cNvSpPr/>
          <p:nvPr/>
        </p:nvSpPr>
        <p:spPr>
          <a:xfrm>
            <a:off x="594360" y="3319272"/>
            <a:ext cx="2651760" cy="1325880"/>
          </a:xfrm>
          <a:prstGeom prst="roundRect">
            <a:avLst>
              <a:gd name="adj" fmla="val 5517"/>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47" name="Text 45"/>
          <p:cNvSpPr/>
          <p:nvPr/>
        </p:nvSpPr>
        <p:spPr>
          <a:xfrm>
            <a:off x="749808" y="3447288"/>
            <a:ext cx="2340864"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Region / jurisdiction</a:t>
            </a:r>
            <a:endParaRPr lang="en-US" sz="680" dirty="0"/>
          </a:p>
        </p:txBody>
      </p:sp>
      <p:sp>
        <p:nvSpPr>
          <p:cNvPr id="48" name="Text 46"/>
          <p:cNvSpPr/>
          <p:nvPr/>
        </p:nvSpPr>
        <p:spPr>
          <a:xfrm>
            <a:off x="749808" y="3575304"/>
            <a:ext cx="2340864" cy="329184"/>
          </a:xfrm>
          <a:prstGeom prst="rect">
            <a:avLst/>
          </a:prstGeom>
          <a:noFill/>
          <a:ln/>
        </p:spPr>
        <p:txBody>
          <a:bodyPr wrap="square" lIns="0" tIns="0" rIns="0" bIns="0" rtlCol="0" anchor="ctr">
            <a:normAutofit/>
          </a:bodyPr>
          <a:lstStyle/>
          <a:p>
            <a:pPr indent="0" marL="0">
              <a:buNone/>
            </a:pPr>
            <a:r>
              <a:rPr lang="en-US" sz="1110" b="1" dirty="0">
                <a:solidFill>
                  <a:srgbClr val="14273D"/>
                </a:solidFill>
                <a:latin typeface="Inter Display" pitchFamily="34" charset="0"/>
                <a:ea typeface="Inter Display" pitchFamily="34" charset="-122"/>
                <a:cs typeface="Inter Display" pitchFamily="34" charset="-120"/>
              </a:rPr>
              <a:t>Policy and failure diversity</a:t>
            </a:r>
            <a:endParaRPr lang="en-US" sz="1110" dirty="0"/>
          </a:p>
        </p:txBody>
      </p:sp>
      <p:sp>
        <p:nvSpPr>
          <p:cNvPr id="49" name="Text 47"/>
          <p:cNvSpPr/>
          <p:nvPr/>
        </p:nvSpPr>
        <p:spPr>
          <a:xfrm>
            <a:off x="749808" y="3977640"/>
            <a:ext cx="2340864" cy="53035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Committee eligibility input</a:t>
            </a:r>
            <a:endParaRPr lang="en-US" sz="780" dirty="0"/>
          </a:p>
        </p:txBody>
      </p:sp>
      <p:sp>
        <p:nvSpPr>
          <p:cNvPr id="50" name="Shape 48"/>
          <p:cNvSpPr/>
          <p:nvPr/>
        </p:nvSpPr>
        <p:spPr>
          <a:xfrm>
            <a:off x="3483864" y="3319272"/>
            <a:ext cx="2651760" cy="1325880"/>
          </a:xfrm>
          <a:prstGeom prst="roundRect">
            <a:avLst>
              <a:gd name="adj" fmla="val 5517"/>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51" name="Text 49"/>
          <p:cNvSpPr/>
          <p:nvPr/>
        </p:nvSpPr>
        <p:spPr>
          <a:xfrm>
            <a:off x="3639312" y="3447288"/>
            <a:ext cx="234086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Conflict disclosure</a:t>
            </a:r>
            <a:endParaRPr lang="en-US" sz="680" dirty="0"/>
          </a:p>
        </p:txBody>
      </p:sp>
      <p:sp>
        <p:nvSpPr>
          <p:cNvPr id="52" name="Text 50"/>
          <p:cNvSpPr/>
          <p:nvPr/>
        </p:nvSpPr>
        <p:spPr>
          <a:xfrm>
            <a:off x="3639312" y="3575304"/>
            <a:ext cx="2340864" cy="329184"/>
          </a:xfrm>
          <a:prstGeom prst="rect">
            <a:avLst/>
          </a:prstGeom>
          <a:noFill/>
          <a:ln/>
        </p:spPr>
        <p:txBody>
          <a:bodyPr wrap="square" lIns="0" tIns="0" rIns="0" bIns="0" rtlCol="0" anchor="ctr">
            <a:normAutofit/>
          </a:bodyPr>
          <a:lstStyle/>
          <a:p>
            <a:pPr indent="0" marL="0">
              <a:buNone/>
            </a:pPr>
            <a:r>
              <a:rPr lang="en-US" sz="1110" b="1" dirty="0">
                <a:solidFill>
                  <a:srgbClr val="14273D"/>
                </a:solidFill>
                <a:latin typeface="Inter Display" pitchFamily="34" charset="0"/>
                <a:ea typeface="Inter Display" pitchFamily="34" charset="-122"/>
                <a:cs typeface="Inter Display" pitchFamily="34" charset="-120"/>
              </a:rPr>
              <a:t>Exclude direct or indirect interests</a:t>
            </a:r>
            <a:endParaRPr lang="en-US" sz="1110" dirty="0"/>
          </a:p>
        </p:txBody>
      </p:sp>
      <p:sp>
        <p:nvSpPr>
          <p:cNvPr id="53" name="Text 51"/>
          <p:cNvSpPr/>
          <p:nvPr/>
        </p:nvSpPr>
        <p:spPr>
          <a:xfrm>
            <a:off x="3639312" y="3977640"/>
            <a:ext cx="2340864" cy="53035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Committee eligibility input</a:t>
            </a:r>
            <a:endParaRPr lang="en-US" sz="780" dirty="0"/>
          </a:p>
        </p:txBody>
      </p:sp>
      <p:sp>
        <p:nvSpPr>
          <p:cNvPr id="54" name="Shape 52"/>
          <p:cNvSpPr/>
          <p:nvPr/>
        </p:nvSpPr>
        <p:spPr>
          <a:xfrm>
            <a:off x="6373368" y="3319272"/>
            <a:ext cx="2651760" cy="1325880"/>
          </a:xfrm>
          <a:prstGeom prst="roundRect">
            <a:avLst>
              <a:gd name="adj" fmla="val 5517"/>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55" name="Text 53"/>
          <p:cNvSpPr/>
          <p:nvPr/>
        </p:nvSpPr>
        <p:spPr>
          <a:xfrm>
            <a:off x="6528816" y="3447288"/>
            <a:ext cx="23408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Replay capability</a:t>
            </a:r>
            <a:endParaRPr lang="en-US" sz="680" dirty="0"/>
          </a:p>
        </p:txBody>
      </p:sp>
      <p:sp>
        <p:nvSpPr>
          <p:cNvPr id="56" name="Text 54"/>
          <p:cNvSpPr/>
          <p:nvPr/>
        </p:nvSpPr>
        <p:spPr>
          <a:xfrm>
            <a:off x="6528816" y="3575304"/>
            <a:ext cx="2340864" cy="329184"/>
          </a:xfrm>
          <a:prstGeom prst="rect">
            <a:avLst/>
          </a:prstGeom>
          <a:noFill/>
          <a:ln/>
        </p:spPr>
        <p:txBody>
          <a:bodyPr wrap="square" lIns="0" tIns="0" rIns="0" bIns="0" rtlCol="0" anchor="ctr">
            <a:normAutofit/>
          </a:bodyPr>
          <a:lstStyle/>
          <a:p>
            <a:pPr indent="0" marL="0">
              <a:buNone/>
            </a:pPr>
            <a:r>
              <a:rPr lang="en-US" sz="1110" b="1" dirty="0">
                <a:solidFill>
                  <a:srgbClr val="14273D"/>
                </a:solidFill>
                <a:latin typeface="Inter Display" pitchFamily="34" charset="0"/>
                <a:ea typeface="Inter Display" pitchFamily="34" charset="-122"/>
                <a:cs typeface="Inter Display" pitchFamily="34" charset="-120"/>
              </a:rPr>
              <a:t>Can reproduce required checks</a:t>
            </a:r>
            <a:endParaRPr lang="en-US" sz="1110" dirty="0"/>
          </a:p>
        </p:txBody>
      </p:sp>
      <p:sp>
        <p:nvSpPr>
          <p:cNvPr id="57" name="Text 55"/>
          <p:cNvSpPr/>
          <p:nvPr/>
        </p:nvSpPr>
        <p:spPr>
          <a:xfrm>
            <a:off x="6528816" y="3977640"/>
            <a:ext cx="2340864" cy="53035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Committee eligibility input</a:t>
            </a:r>
            <a:endParaRPr lang="en-US" sz="780" dirty="0"/>
          </a:p>
        </p:txBody>
      </p:sp>
      <p:sp>
        <p:nvSpPr>
          <p:cNvPr id="58" name="Shape 56"/>
          <p:cNvSpPr/>
          <p:nvPr/>
        </p:nvSpPr>
        <p:spPr>
          <a:xfrm>
            <a:off x="9262872" y="3319272"/>
            <a:ext cx="2651760" cy="1325880"/>
          </a:xfrm>
          <a:prstGeom prst="roundRect">
            <a:avLst>
              <a:gd name="adj" fmla="val 5517"/>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59" name="Text 57"/>
          <p:cNvSpPr/>
          <p:nvPr/>
        </p:nvSpPr>
        <p:spPr>
          <a:xfrm>
            <a:off x="9418320" y="3447288"/>
            <a:ext cx="23408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Bond / reputation</a:t>
            </a:r>
            <a:endParaRPr lang="en-US" sz="680" dirty="0"/>
          </a:p>
        </p:txBody>
      </p:sp>
      <p:sp>
        <p:nvSpPr>
          <p:cNvPr id="60" name="Text 58"/>
          <p:cNvSpPr/>
          <p:nvPr/>
        </p:nvSpPr>
        <p:spPr>
          <a:xfrm>
            <a:off x="9418320" y="3575304"/>
            <a:ext cx="2340864" cy="329184"/>
          </a:xfrm>
          <a:prstGeom prst="rect">
            <a:avLst/>
          </a:prstGeom>
          <a:noFill/>
          <a:ln/>
        </p:spPr>
        <p:txBody>
          <a:bodyPr wrap="square" lIns="0" tIns="0" rIns="0" bIns="0" rtlCol="0" anchor="ctr">
            <a:normAutofit/>
          </a:bodyPr>
          <a:lstStyle/>
          <a:p>
            <a:pPr indent="0" marL="0">
              <a:buNone/>
            </a:pPr>
            <a:r>
              <a:rPr lang="en-US" sz="1110" b="1" dirty="0">
                <a:solidFill>
                  <a:srgbClr val="14273D"/>
                </a:solidFill>
                <a:latin typeface="Inter Display" pitchFamily="34" charset="0"/>
                <a:ea typeface="Inter Display" pitchFamily="34" charset="-122"/>
                <a:cs typeface="Inter Display" pitchFamily="34" charset="-120"/>
              </a:rPr>
              <a:t>Capacity and accountability</a:t>
            </a:r>
            <a:endParaRPr lang="en-US" sz="1110" dirty="0"/>
          </a:p>
        </p:txBody>
      </p:sp>
      <p:sp>
        <p:nvSpPr>
          <p:cNvPr id="61" name="Text 59"/>
          <p:cNvSpPr/>
          <p:nvPr/>
        </p:nvSpPr>
        <p:spPr>
          <a:xfrm>
            <a:off x="9418320" y="3977640"/>
            <a:ext cx="2340864" cy="530352"/>
          </a:xfrm>
          <a:prstGeom prst="rect">
            <a:avLst/>
          </a:prstGeom>
          <a:noFill/>
          <a:ln/>
        </p:spPr>
        <p:txBody>
          <a:bodyPr wrap="square" lIns="0" tIns="0" rIns="0" bIns="0" rtlCol="0" anchor="t">
            <a:normAutofit/>
          </a:bodyPr>
          <a:lstStyle/>
          <a:p>
            <a:pPr indent="0" marL="0">
              <a:buNone/>
            </a:pPr>
            <a:r>
              <a:rPr lang="en-US" sz="780" dirty="0">
                <a:solidFill>
                  <a:srgbClr val="43566A"/>
                </a:solidFill>
                <a:latin typeface="Inter" pitchFamily="34" charset="0"/>
                <a:ea typeface="Inter" pitchFamily="34" charset="-122"/>
                <a:cs typeface="Inter" pitchFamily="34" charset="-120"/>
              </a:rPr>
              <a:t>Committee eligibility input</a:t>
            </a:r>
            <a:endParaRPr lang="en-US" sz="780" dirty="0"/>
          </a:p>
        </p:txBody>
      </p:sp>
      <p:sp>
        <p:nvSpPr>
          <p:cNvPr id="62" name="Shape 60"/>
          <p:cNvSpPr/>
          <p:nvPr/>
        </p:nvSpPr>
        <p:spPr>
          <a:xfrm>
            <a:off x="2011680" y="5212080"/>
            <a:ext cx="8138160" cy="594360"/>
          </a:xfrm>
          <a:prstGeom prst="roundRect">
            <a:avLst>
              <a:gd name="adj" fmla="val 12308"/>
            </a:avLst>
          </a:prstGeom>
          <a:solidFill>
            <a:srgbClr val="FFFDF8"/>
          </a:solidFill>
          <a:ln w="10160">
            <a:solidFill>
              <a:srgbClr val="43D79B"/>
            </a:solidFill>
            <a:prstDash val="solid"/>
          </a:ln>
        </p:spPr>
      </p:sp>
      <p:sp>
        <p:nvSpPr>
          <p:cNvPr id="63" name="Text 61"/>
          <p:cNvSpPr/>
          <p:nvPr/>
        </p:nvSpPr>
        <p:spPr>
          <a:xfrm>
            <a:off x="2167128" y="5340096"/>
            <a:ext cx="7827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COMMIT–REVEAL</a:t>
            </a:r>
            <a:endParaRPr lang="en-US" sz="680" dirty="0"/>
          </a:p>
        </p:txBody>
      </p:sp>
      <p:sp>
        <p:nvSpPr>
          <p:cNvPr id="64" name="Text 62"/>
          <p:cNvSpPr/>
          <p:nvPr/>
        </p:nvSpPr>
        <p:spPr>
          <a:xfrm>
            <a:off x="2167128" y="5468112"/>
            <a:ext cx="7827264" cy="329184"/>
          </a:xfrm>
          <a:prstGeom prst="rect">
            <a:avLst/>
          </a:prstGeom>
          <a:noFill/>
          <a:ln/>
        </p:spPr>
        <p:txBody>
          <a:bodyPr wrap="square" lIns="0" tIns="0" rIns="0" bIns="0" rtlCol="0" anchor="ctr">
            <a:normAutofit/>
          </a:bodyPr>
          <a:lstStyle/>
          <a:p>
            <a:pPr indent="0" marL="0">
              <a:buNone/>
            </a:pPr>
            <a:r>
              <a:rPr lang="en-US" sz="1190" b="1" dirty="0">
                <a:solidFill>
                  <a:srgbClr val="14273D"/>
                </a:solidFill>
                <a:latin typeface="Inter Display" pitchFamily="34" charset="0"/>
                <a:ea typeface="Inter Display" pitchFamily="34" charset="-122"/>
                <a:cs typeface="Inter Display" pitchFamily="34" charset="-120"/>
              </a:rPr>
              <a:t>Verdicts are committed before reveal; mismatches, equivocation, lateness, conflicts, and abstentions remain auditable.</a:t>
            </a:r>
            <a:endParaRPr lang="en-US" sz="119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CHALLENGE AND ROLLBACK</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Authority remains challengeable after admission.</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Revocation preserves history while removing future influence. Appeals require stricter review and explicit finality.</a:t>
            </a:r>
            <a:endParaRPr lang="en-US" sz="1450" dirty="0"/>
          </a:p>
        </p:txBody>
      </p:sp>
      <p:sp>
        <p:nvSpPr>
          <p:cNvPr id="30" name="Shape 28"/>
          <p:cNvSpPr/>
          <p:nvPr/>
        </p:nvSpPr>
        <p:spPr>
          <a:xfrm>
            <a:off x="548640" y="2240280"/>
            <a:ext cx="1486553" cy="822960"/>
          </a:xfrm>
          <a:prstGeom prst="roundRect">
            <a:avLst>
              <a:gd name="adj" fmla="val 7778"/>
            </a:avLst>
          </a:prstGeom>
          <a:solidFill>
            <a:srgbClr val="FF7584"/>
          </a:solidFill>
          <a:ln w="12700">
            <a:solidFill>
              <a:srgbClr val="FF7584"/>
            </a:solidFill>
            <a:prstDash val="solid"/>
          </a:ln>
        </p:spPr>
      </p:sp>
      <p:sp>
        <p:nvSpPr>
          <p:cNvPr id="31" name="Text 29"/>
          <p:cNvSpPr/>
          <p:nvPr/>
        </p:nvSpPr>
        <p:spPr>
          <a:xfrm>
            <a:off x="603504" y="2313432"/>
            <a:ext cx="237744" cy="118872"/>
          </a:xfrm>
          <a:prstGeom prst="rect">
            <a:avLst/>
          </a:prstGeom>
          <a:noFill/>
          <a:ln/>
        </p:spPr>
        <p:txBody>
          <a:bodyPr wrap="square" lIns="0" tIns="0" rIns="0" bIns="0" rtlCol="0" anchor="ctr"/>
          <a:lstStyle/>
          <a:p>
            <a:pPr indent="0" marL="0">
              <a:buNone/>
            </a:pPr>
            <a:r>
              <a:rPr lang="en-US" sz="610" b="1" dirty="0">
                <a:solidFill>
                  <a:srgbClr val="FF7584"/>
                </a:solidFill>
                <a:latin typeface="Inter" pitchFamily="34" charset="0"/>
                <a:ea typeface="Inter" pitchFamily="34" charset="-122"/>
                <a:cs typeface="Inter" pitchFamily="34" charset="-120"/>
              </a:rPr>
              <a:t>01</a:t>
            </a:r>
            <a:endParaRPr lang="en-US" sz="610" dirty="0"/>
          </a:p>
        </p:txBody>
      </p:sp>
      <p:sp>
        <p:nvSpPr>
          <p:cNvPr id="32" name="Text 30"/>
          <p:cNvSpPr/>
          <p:nvPr/>
        </p:nvSpPr>
        <p:spPr>
          <a:xfrm>
            <a:off x="630936"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CHALLENGE</a:t>
            </a:r>
            <a:endParaRPr lang="en-US" sz="750" dirty="0"/>
          </a:p>
        </p:txBody>
      </p:sp>
      <p:sp>
        <p:nvSpPr>
          <p:cNvPr id="33" name="Text 31"/>
          <p:cNvSpPr/>
          <p:nvPr/>
        </p:nvSpPr>
        <p:spPr>
          <a:xfrm>
            <a:off x="621792"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grounds + evidence + bond</a:t>
            </a:r>
            <a:endParaRPr lang="en-US" sz="540" dirty="0"/>
          </a:p>
        </p:txBody>
      </p:sp>
      <p:sp>
        <p:nvSpPr>
          <p:cNvPr id="34" name="Shape 32"/>
          <p:cNvSpPr/>
          <p:nvPr/>
        </p:nvSpPr>
        <p:spPr>
          <a:xfrm>
            <a:off x="2035193" y="2651760"/>
            <a:ext cx="109728" cy="0"/>
          </a:xfrm>
          <a:prstGeom prst="line">
            <a:avLst/>
          </a:prstGeom>
          <a:noFill/>
          <a:ln w="15240">
            <a:solidFill>
              <a:srgbClr val="E7BD62"/>
            </a:solidFill>
            <a:prstDash val="solid"/>
            <a:headEnd type="none"/>
            <a:tailEnd type="triangle"/>
          </a:ln>
        </p:spPr>
      </p:sp>
      <p:sp>
        <p:nvSpPr>
          <p:cNvPr id="35" name="Shape 33"/>
          <p:cNvSpPr/>
          <p:nvPr/>
        </p:nvSpPr>
        <p:spPr>
          <a:xfrm>
            <a:off x="2144921" y="2240280"/>
            <a:ext cx="1486553" cy="822960"/>
          </a:xfrm>
          <a:prstGeom prst="roundRect">
            <a:avLst>
              <a:gd name="adj" fmla="val 7778"/>
            </a:avLst>
          </a:prstGeom>
          <a:solidFill>
            <a:srgbClr val="6FB5FF"/>
          </a:solidFill>
          <a:ln w="12700">
            <a:solidFill>
              <a:srgbClr val="6FB5FF"/>
            </a:solidFill>
            <a:prstDash val="solid"/>
          </a:ln>
        </p:spPr>
      </p:sp>
      <p:sp>
        <p:nvSpPr>
          <p:cNvPr id="36" name="Text 34"/>
          <p:cNvSpPr/>
          <p:nvPr/>
        </p:nvSpPr>
        <p:spPr>
          <a:xfrm>
            <a:off x="2199785" y="2313432"/>
            <a:ext cx="237744" cy="118872"/>
          </a:xfrm>
          <a:prstGeom prst="rect">
            <a:avLst/>
          </a:prstGeom>
          <a:noFill/>
          <a:ln/>
        </p:spPr>
        <p:txBody>
          <a:bodyPr wrap="square" lIns="0" tIns="0" rIns="0" bIns="0" rtlCol="0" anchor="ctr"/>
          <a:lstStyle/>
          <a:p>
            <a:pPr indent="0" marL="0">
              <a:buNone/>
            </a:pPr>
            <a:r>
              <a:rPr lang="en-US" sz="610" b="1" dirty="0">
                <a:solidFill>
                  <a:srgbClr val="6FB5FF"/>
                </a:solidFill>
                <a:latin typeface="Inter" pitchFamily="34" charset="0"/>
                <a:ea typeface="Inter" pitchFamily="34" charset="-122"/>
                <a:cs typeface="Inter" pitchFamily="34" charset="-120"/>
              </a:rPr>
              <a:t>02</a:t>
            </a:r>
            <a:endParaRPr lang="en-US" sz="610" dirty="0"/>
          </a:p>
        </p:txBody>
      </p:sp>
      <p:sp>
        <p:nvSpPr>
          <p:cNvPr id="37" name="Text 35"/>
          <p:cNvSpPr/>
          <p:nvPr/>
        </p:nvSpPr>
        <p:spPr>
          <a:xfrm>
            <a:off x="2227217"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RESPONSE</a:t>
            </a:r>
            <a:endParaRPr lang="en-US" sz="750" dirty="0"/>
          </a:p>
        </p:txBody>
      </p:sp>
      <p:sp>
        <p:nvSpPr>
          <p:cNvPr id="38" name="Text 36"/>
          <p:cNvSpPr/>
          <p:nvPr/>
        </p:nvSpPr>
        <p:spPr>
          <a:xfrm>
            <a:off x="2218073"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deadline + counterevidence</a:t>
            </a:r>
            <a:endParaRPr lang="en-US" sz="540" dirty="0"/>
          </a:p>
        </p:txBody>
      </p:sp>
      <p:sp>
        <p:nvSpPr>
          <p:cNvPr id="39" name="Shape 37"/>
          <p:cNvSpPr/>
          <p:nvPr/>
        </p:nvSpPr>
        <p:spPr>
          <a:xfrm>
            <a:off x="3631474" y="2651760"/>
            <a:ext cx="109728" cy="0"/>
          </a:xfrm>
          <a:prstGeom prst="line">
            <a:avLst/>
          </a:prstGeom>
          <a:noFill/>
          <a:ln w="15240">
            <a:solidFill>
              <a:srgbClr val="E7BD62"/>
            </a:solidFill>
            <a:prstDash val="solid"/>
            <a:headEnd type="none"/>
            <a:tailEnd type="triangle"/>
          </a:ln>
        </p:spPr>
      </p:sp>
      <p:sp>
        <p:nvSpPr>
          <p:cNvPr id="40" name="Shape 38"/>
          <p:cNvSpPr/>
          <p:nvPr/>
        </p:nvSpPr>
        <p:spPr>
          <a:xfrm>
            <a:off x="3741202" y="2240280"/>
            <a:ext cx="1486553" cy="822960"/>
          </a:xfrm>
          <a:prstGeom prst="roundRect">
            <a:avLst>
              <a:gd name="adj" fmla="val 7778"/>
            </a:avLst>
          </a:prstGeom>
          <a:solidFill>
            <a:srgbClr val="E7BD62"/>
          </a:solidFill>
          <a:ln w="12700">
            <a:solidFill>
              <a:srgbClr val="E7BD62"/>
            </a:solidFill>
            <a:prstDash val="solid"/>
          </a:ln>
        </p:spPr>
      </p:sp>
      <p:sp>
        <p:nvSpPr>
          <p:cNvPr id="41" name="Text 39"/>
          <p:cNvSpPr/>
          <p:nvPr/>
        </p:nvSpPr>
        <p:spPr>
          <a:xfrm>
            <a:off x="3796066" y="2313432"/>
            <a:ext cx="237744" cy="118872"/>
          </a:xfrm>
          <a:prstGeom prst="rect">
            <a:avLst/>
          </a:prstGeom>
          <a:noFill/>
          <a:ln/>
        </p:spPr>
        <p:txBody>
          <a:bodyPr wrap="square" lIns="0" tIns="0" rIns="0" bIns="0" rtlCol="0" anchor="ctr"/>
          <a:lstStyle/>
          <a:p>
            <a:pPr indent="0" marL="0">
              <a:buNone/>
            </a:pPr>
            <a:r>
              <a:rPr lang="en-US" sz="610" b="1" dirty="0">
                <a:solidFill>
                  <a:srgbClr val="E7BD62"/>
                </a:solidFill>
                <a:latin typeface="Inter" pitchFamily="34" charset="0"/>
                <a:ea typeface="Inter" pitchFamily="34" charset="-122"/>
                <a:cs typeface="Inter" pitchFamily="34" charset="-120"/>
              </a:rPr>
              <a:t>03</a:t>
            </a:r>
            <a:endParaRPr lang="en-US" sz="610" dirty="0"/>
          </a:p>
        </p:txBody>
      </p:sp>
      <p:sp>
        <p:nvSpPr>
          <p:cNvPr id="42" name="Text 40"/>
          <p:cNvSpPr/>
          <p:nvPr/>
        </p:nvSpPr>
        <p:spPr>
          <a:xfrm>
            <a:off x="3823498"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COMMIT</a:t>
            </a:r>
            <a:endParaRPr lang="en-US" sz="750" dirty="0"/>
          </a:p>
        </p:txBody>
      </p:sp>
      <p:sp>
        <p:nvSpPr>
          <p:cNvPr id="43" name="Text 41"/>
          <p:cNvSpPr/>
          <p:nvPr/>
        </p:nvSpPr>
        <p:spPr>
          <a:xfrm>
            <a:off x="3814354"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independent committee</a:t>
            </a:r>
            <a:endParaRPr lang="en-US" sz="540" dirty="0"/>
          </a:p>
        </p:txBody>
      </p:sp>
      <p:sp>
        <p:nvSpPr>
          <p:cNvPr id="44" name="Shape 42"/>
          <p:cNvSpPr/>
          <p:nvPr/>
        </p:nvSpPr>
        <p:spPr>
          <a:xfrm>
            <a:off x="5227755" y="2651760"/>
            <a:ext cx="109728" cy="0"/>
          </a:xfrm>
          <a:prstGeom prst="line">
            <a:avLst/>
          </a:prstGeom>
          <a:noFill/>
          <a:ln w="15240">
            <a:solidFill>
              <a:srgbClr val="E7BD62"/>
            </a:solidFill>
            <a:prstDash val="solid"/>
            <a:headEnd type="none"/>
            <a:tailEnd type="triangle"/>
          </a:ln>
        </p:spPr>
      </p:sp>
      <p:sp>
        <p:nvSpPr>
          <p:cNvPr id="45" name="Shape 43"/>
          <p:cNvSpPr/>
          <p:nvPr/>
        </p:nvSpPr>
        <p:spPr>
          <a:xfrm>
            <a:off x="5337483" y="2240280"/>
            <a:ext cx="1486553" cy="822960"/>
          </a:xfrm>
          <a:prstGeom prst="roundRect">
            <a:avLst>
              <a:gd name="adj" fmla="val 7778"/>
            </a:avLst>
          </a:prstGeom>
          <a:solidFill>
            <a:srgbClr val="54D6D0"/>
          </a:solidFill>
          <a:ln w="12700">
            <a:solidFill>
              <a:srgbClr val="54D6D0"/>
            </a:solidFill>
            <a:prstDash val="solid"/>
          </a:ln>
        </p:spPr>
      </p:sp>
      <p:sp>
        <p:nvSpPr>
          <p:cNvPr id="46" name="Text 44"/>
          <p:cNvSpPr/>
          <p:nvPr/>
        </p:nvSpPr>
        <p:spPr>
          <a:xfrm>
            <a:off x="5392347" y="2313432"/>
            <a:ext cx="237744" cy="118872"/>
          </a:xfrm>
          <a:prstGeom prst="rect">
            <a:avLst/>
          </a:prstGeom>
          <a:noFill/>
          <a:ln/>
        </p:spPr>
        <p:txBody>
          <a:bodyPr wrap="square" lIns="0" tIns="0" rIns="0" bIns="0" rtlCol="0" anchor="ctr"/>
          <a:lstStyle/>
          <a:p>
            <a:pPr indent="0" marL="0">
              <a:buNone/>
            </a:pPr>
            <a:r>
              <a:rPr lang="en-US" sz="610" b="1" dirty="0">
                <a:solidFill>
                  <a:srgbClr val="54D6D0"/>
                </a:solidFill>
                <a:latin typeface="Inter" pitchFamily="34" charset="0"/>
                <a:ea typeface="Inter" pitchFamily="34" charset="-122"/>
                <a:cs typeface="Inter" pitchFamily="34" charset="-120"/>
              </a:rPr>
              <a:t>04</a:t>
            </a:r>
            <a:endParaRPr lang="en-US" sz="610" dirty="0"/>
          </a:p>
        </p:txBody>
      </p:sp>
      <p:sp>
        <p:nvSpPr>
          <p:cNvPr id="47" name="Text 45"/>
          <p:cNvSpPr/>
          <p:nvPr/>
        </p:nvSpPr>
        <p:spPr>
          <a:xfrm>
            <a:off x="5419779"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REVEAL</a:t>
            </a:r>
            <a:endParaRPr lang="en-US" sz="750" dirty="0"/>
          </a:p>
        </p:txBody>
      </p:sp>
      <p:sp>
        <p:nvSpPr>
          <p:cNvPr id="48" name="Text 46"/>
          <p:cNvSpPr/>
          <p:nvPr/>
        </p:nvSpPr>
        <p:spPr>
          <a:xfrm>
            <a:off x="5410635"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signed reasons</a:t>
            </a:r>
            <a:endParaRPr lang="en-US" sz="540" dirty="0"/>
          </a:p>
        </p:txBody>
      </p:sp>
      <p:sp>
        <p:nvSpPr>
          <p:cNvPr id="49" name="Shape 47"/>
          <p:cNvSpPr/>
          <p:nvPr/>
        </p:nvSpPr>
        <p:spPr>
          <a:xfrm>
            <a:off x="6824037" y="2651760"/>
            <a:ext cx="109728" cy="0"/>
          </a:xfrm>
          <a:prstGeom prst="line">
            <a:avLst/>
          </a:prstGeom>
          <a:noFill/>
          <a:ln w="15240">
            <a:solidFill>
              <a:srgbClr val="E7BD62"/>
            </a:solidFill>
            <a:prstDash val="solid"/>
            <a:headEnd type="none"/>
            <a:tailEnd type="triangle"/>
          </a:ln>
        </p:spPr>
      </p:sp>
      <p:sp>
        <p:nvSpPr>
          <p:cNvPr id="50" name="Shape 48"/>
          <p:cNvSpPr/>
          <p:nvPr/>
        </p:nvSpPr>
        <p:spPr>
          <a:xfrm>
            <a:off x="6933765" y="2240280"/>
            <a:ext cx="1486553" cy="822960"/>
          </a:xfrm>
          <a:prstGeom prst="roundRect">
            <a:avLst>
              <a:gd name="adj" fmla="val 7778"/>
            </a:avLst>
          </a:prstGeom>
          <a:solidFill>
            <a:srgbClr val="A99CFF"/>
          </a:solidFill>
          <a:ln w="12700">
            <a:solidFill>
              <a:srgbClr val="A99CFF"/>
            </a:solidFill>
            <a:prstDash val="solid"/>
          </a:ln>
        </p:spPr>
      </p:sp>
      <p:sp>
        <p:nvSpPr>
          <p:cNvPr id="51" name="Text 49"/>
          <p:cNvSpPr/>
          <p:nvPr/>
        </p:nvSpPr>
        <p:spPr>
          <a:xfrm>
            <a:off x="6988629" y="2313432"/>
            <a:ext cx="237744" cy="118872"/>
          </a:xfrm>
          <a:prstGeom prst="rect">
            <a:avLst/>
          </a:prstGeom>
          <a:noFill/>
          <a:ln/>
        </p:spPr>
        <p:txBody>
          <a:bodyPr wrap="square" lIns="0" tIns="0" rIns="0" bIns="0" rtlCol="0" anchor="ctr"/>
          <a:lstStyle/>
          <a:p>
            <a:pPr indent="0" marL="0">
              <a:buNone/>
            </a:pPr>
            <a:r>
              <a:rPr lang="en-US" sz="610" b="1" dirty="0">
                <a:solidFill>
                  <a:srgbClr val="A99CFF"/>
                </a:solidFill>
                <a:latin typeface="Inter" pitchFamily="34" charset="0"/>
                <a:ea typeface="Inter" pitchFamily="34" charset="-122"/>
                <a:cs typeface="Inter" pitchFamily="34" charset="-120"/>
              </a:rPr>
              <a:t>05</a:t>
            </a:r>
            <a:endParaRPr lang="en-US" sz="610" dirty="0"/>
          </a:p>
        </p:txBody>
      </p:sp>
      <p:sp>
        <p:nvSpPr>
          <p:cNvPr id="52" name="Text 50"/>
          <p:cNvSpPr/>
          <p:nvPr/>
        </p:nvSpPr>
        <p:spPr>
          <a:xfrm>
            <a:off x="7016061"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RESOLVE</a:t>
            </a:r>
            <a:endParaRPr lang="en-US" sz="750" dirty="0"/>
          </a:p>
        </p:txBody>
      </p:sp>
      <p:sp>
        <p:nvSpPr>
          <p:cNvPr id="53" name="Text 51"/>
          <p:cNvSpPr/>
          <p:nvPr/>
        </p:nvSpPr>
        <p:spPr>
          <a:xfrm>
            <a:off x="7006917"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release / slash / repair</a:t>
            </a:r>
            <a:endParaRPr lang="en-US" sz="540" dirty="0"/>
          </a:p>
        </p:txBody>
      </p:sp>
      <p:sp>
        <p:nvSpPr>
          <p:cNvPr id="54" name="Shape 52"/>
          <p:cNvSpPr/>
          <p:nvPr/>
        </p:nvSpPr>
        <p:spPr>
          <a:xfrm>
            <a:off x="8420318" y="2651760"/>
            <a:ext cx="109728" cy="0"/>
          </a:xfrm>
          <a:prstGeom prst="line">
            <a:avLst/>
          </a:prstGeom>
          <a:noFill/>
          <a:ln w="15240">
            <a:solidFill>
              <a:srgbClr val="E7BD62"/>
            </a:solidFill>
            <a:prstDash val="solid"/>
            <a:headEnd type="none"/>
            <a:tailEnd type="triangle"/>
          </a:ln>
        </p:spPr>
      </p:sp>
      <p:sp>
        <p:nvSpPr>
          <p:cNvPr id="55" name="Shape 53"/>
          <p:cNvSpPr/>
          <p:nvPr/>
        </p:nvSpPr>
        <p:spPr>
          <a:xfrm>
            <a:off x="8530046" y="2240280"/>
            <a:ext cx="1486553" cy="822960"/>
          </a:xfrm>
          <a:prstGeom prst="roundRect">
            <a:avLst>
              <a:gd name="adj" fmla="val 7778"/>
            </a:avLst>
          </a:prstGeom>
          <a:solidFill>
            <a:srgbClr val="43D79B"/>
          </a:solidFill>
          <a:ln w="12700">
            <a:solidFill>
              <a:srgbClr val="43D79B"/>
            </a:solidFill>
            <a:prstDash val="solid"/>
          </a:ln>
        </p:spPr>
      </p:sp>
      <p:sp>
        <p:nvSpPr>
          <p:cNvPr id="56" name="Text 54"/>
          <p:cNvSpPr/>
          <p:nvPr/>
        </p:nvSpPr>
        <p:spPr>
          <a:xfrm>
            <a:off x="8584910" y="2313432"/>
            <a:ext cx="237744" cy="118872"/>
          </a:xfrm>
          <a:prstGeom prst="rect">
            <a:avLst/>
          </a:prstGeom>
          <a:noFill/>
          <a:ln/>
        </p:spPr>
        <p:txBody>
          <a:bodyPr wrap="square" lIns="0" tIns="0" rIns="0" bIns="0" rtlCol="0" anchor="ctr"/>
          <a:lstStyle/>
          <a:p>
            <a:pPr indent="0" marL="0">
              <a:buNone/>
            </a:pPr>
            <a:r>
              <a:rPr lang="en-US" sz="610" b="1" dirty="0">
                <a:solidFill>
                  <a:srgbClr val="43D79B"/>
                </a:solidFill>
                <a:latin typeface="Inter" pitchFamily="34" charset="0"/>
                <a:ea typeface="Inter" pitchFamily="34" charset="-122"/>
                <a:cs typeface="Inter" pitchFamily="34" charset="-120"/>
              </a:rPr>
              <a:t>06</a:t>
            </a:r>
            <a:endParaRPr lang="en-US" sz="610" dirty="0"/>
          </a:p>
        </p:txBody>
      </p:sp>
      <p:sp>
        <p:nvSpPr>
          <p:cNvPr id="57" name="Text 55"/>
          <p:cNvSpPr/>
          <p:nvPr/>
        </p:nvSpPr>
        <p:spPr>
          <a:xfrm>
            <a:off x="8612342"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UPDATE</a:t>
            </a:r>
            <a:endParaRPr lang="en-US" sz="750" dirty="0"/>
          </a:p>
        </p:txBody>
      </p:sp>
      <p:sp>
        <p:nvSpPr>
          <p:cNvPr id="58" name="Text 56"/>
          <p:cNvSpPr/>
          <p:nvPr/>
        </p:nvSpPr>
        <p:spPr>
          <a:xfrm>
            <a:off x="8603198"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Chronicle + graph root</a:t>
            </a:r>
            <a:endParaRPr lang="en-US" sz="540" dirty="0"/>
          </a:p>
        </p:txBody>
      </p:sp>
      <p:sp>
        <p:nvSpPr>
          <p:cNvPr id="59" name="Shape 57"/>
          <p:cNvSpPr/>
          <p:nvPr/>
        </p:nvSpPr>
        <p:spPr>
          <a:xfrm>
            <a:off x="10016599" y="2651760"/>
            <a:ext cx="109728" cy="0"/>
          </a:xfrm>
          <a:prstGeom prst="line">
            <a:avLst/>
          </a:prstGeom>
          <a:noFill/>
          <a:ln w="15240">
            <a:solidFill>
              <a:srgbClr val="E7BD62"/>
            </a:solidFill>
            <a:prstDash val="solid"/>
            <a:headEnd type="none"/>
            <a:tailEnd type="triangle"/>
          </a:ln>
        </p:spPr>
      </p:sp>
      <p:sp>
        <p:nvSpPr>
          <p:cNvPr id="60" name="Shape 58"/>
          <p:cNvSpPr/>
          <p:nvPr/>
        </p:nvSpPr>
        <p:spPr>
          <a:xfrm>
            <a:off x="10126327" y="2240280"/>
            <a:ext cx="1486553" cy="822960"/>
          </a:xfrm>
          <a:prstGeom prst="roundRect">
            <a:avLst>
              <a:gd name="adj" fmla="val 7778"/>
            </a:avLst>
          </a:prstGeom>
          <a:solidFill>
            <a:srgbClr val="FF7584"/>
          </a:solidFill>
          <a:ln w="12700">
            <a:solidFill>
              <a:srgbClr val="FF7584"/>
            </a:solidFill>
            <a:prstDash val="solid"/>
          </a:ln>
        </p:spPr>
      </p:sp>
      <p:sp>
        <p:nvSpPr>
          <p:cNvPr id="61" name="Text 59"/>
          <p:cNvSpPr/>
          <p:nvPr/>
        </p:nvSpPr>
        <p:spPr>
          <a:xfrm>
            <a:off x="10181191" y="2313432"/>
            <a:ext cx="237744" cy="118872"/>
          </a:xfrm>
          <a:prstGeom prst="rect">
            <a:avLst/>
          </a:prstGeom>
          <a:noFill/>
          <a:ln/>
        </p:spPr>
        <p:txBody>
          <a:bodyPr wrap="square" lIns="0" tIns="0" rIns="0" bIns="0" rtlCol="0" anchor="ctr"/>
          <a:lstStyle/>
          <a:p>
            <a:pPr indent="0" marL="0">
              <a:buNone/>
            </a:pPr>
            <a:r>
              <a:rPr lang="en-US" sz="610" b="1" dirty="0">
                <a:solidFill>
                  <a:srgbClr val="FF7584"/>
                </a:solidFill>
                <a:latin typeface="Inter" pitchFamily="34" charset="0"/>
                <a:ea typeface="Inter" pitchFamily="34" charset="-122"/>
                <a:cs typeface="Inter" pitchFamily="34" charset="-120"/>
              </a:rPr>
              <a:t>07</a:t>
            </a:r>
            <a:endParaRPr lang="en-US" sz="610" dirty="0"/>
          </a:p>
        </p:txBody>
      </p:sp>
      <p:sp>
        <p:nvSpPr>
          <p:cNvPr id="62" name="Text 60"/>
          <p:cNvSpPr/>
          <p:nvPr/>
        </p:nvSpPr>
        <p:spPr>
          <a:xfrm>
            <a:off x="10208623" y="2478024"/>
            <a:ext cx="1321961" cy="210312"/>
          </a:xfrm>
          <a:prstGeom prst="rect">
            <a:avLst/>
          </a:prstGeom>
          <a:noFill/>
          <a:ln/>
        </p:spPr>
        <p:txBody>
          <a:bodyPr wrap="square" lIns="0" tIns="0" rIns="0" bIns="0" rtlCol="0" anchor="ctr">
            <a:normAutofit/>
          </a:bodyPr>
          <a:lstStyle/>
          <a:p>
            <a:pPr algn="ctr" indent="0" marL="0">
              <a:buNone/>
            </a:pPr>
            <a:r>
              <a:rPr lang="en-US" sz="750" b="1" dirty="0">
                <a:solidFill>
                  <a:srgbClr val="F7FBFF"/>
                </a:solidFill>
                <a:latin typeface="Inter" pitchFamily="34" charset="0"/>
                <a:ea typeface="Inter" pitchFamily="34" charset="-122"/>
                <a:cs typeface="Inter" pitchFamily="34" charset="-120"/>
              </a:rPr>
              <a:t>APPEAL</a:t>
            </a:r>
            <a:endParaRPr lang="en-US" sz="750" dirty="0"/>
          </a:p>
        </p:txBody>
      </p:sp>
      <p:sp>
        <p:nvSpPr>
          <p:cNvPr id="63" name="Text 61"/>
          <p:cNvSpPr/>
          <p:nvPr/>
        </p:nvSpPr>
        <p:spPr>
          <a:xfrm>
            <a:off x="10199479" y="2706624"/>
            <a:ext cx="1340249" cy="109728"/>
          </a:xfrm>
          <a:prstGeom prst="rect">
            <a:avLst/>
          </a:prstGeom>
          <a:noFill/>
          <a:ln/>
        </p:spPr>
        <p:txBody>
          <a:bodyPr wrap="square" lIns="0" tIns="0" rIns="0" bIns="0" rtlCol="0" anchor="ctr">
            <a:normAutofit/>
          </a:bodyPr>
          <a:lstStyle/>
          <a:p>
            <a:pPr algn="ctr" indent="0" marL="0">
              <a:buNone/>
            </a:pPr>
            <a:r>
              <a:rPr lang="en-US" sz="540" dirty="0">
                <a:solidFill>
                  <a:srgbClr val="97A8BC"/>
                </a:solidFill>
                <a:latin typeface="Inter" pitchFamily="34" charset="0"/>
                <a:ea typeface="Inter" pitchFamily="34" charset="-122"/>
                <a:cs typeface="Inter" pitchFamily="34" charset="-120"/>
              </a:rPr>
              <a:t>stricter finality</a:t>
            </a:r>
            <a:endParaRPr lang="en-US" sz="540" dirty="0"/>
          </a:p>
        </p:txBody>
      </p:sp>
      <p:sp>
        <p:nvSpPr>
          <p:cNvPr id="64" name="Shape 62"/>
          <p:cNvSpPr/>
          <p:nvPr/>
        </p:nvSpPr>
        <p:spPr>
          <a:xfrm>
            <a:off x="685800" y="3703320"/>
            <a:ext cx="2011680"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65" name="Text 63"/>
          <p:cNvSpPr/>
          <p:nvPr/>
        </p:nvSpPr>
        <p:spPr>
          <a:xfrm>
            <a:off x="740664" y="3781044"/>
            <a:ext cx="1901952" cy="109728"/>
          </a:xfrm>
          <a:prstGeom prst="rect">
            <a:avLst/>
          </a:prstGeom>
          <a:noFill/>
          <a:ln/>
        </p:spPr>
        <p:txBody>
          <a:bodyPr wrap="square" lIns="0" tIns="0" rIns="0" bIns="0" rtlCol="0" anchor="ctr"/>
          <a:lstStyle/>
          <a:p>
            <a:pPr algn="ctr" indent="0" marL="0">
              <a:buNone/>
            </a:pPr>
            <a:r>
              <a:rPr lang="en-US" sz="690" b="1" dirty="0">
                <a:solidFill>
                  <a:srgbClr val="FF7584"/>
                </a:solidFill>
                <a:latin typeface="Inter" pitchFamily="34" charset="0"/>
                <a:ea typeface="Inter" pitchFamily="34" charset="-122"/>
                <a:cs typeface="Inter" pitchFamily="34" charset="-120"/>
              </a:rPr>
              <a:t>FABRICATION</a:t>
            </a:r>
            <a:endParaRPr lang="en-US" sz="690" dirty="0"/>
          </a:p>
        </p:txBody>
      </p:sp>
      <p:sp>
        <p:nvSpPr>
          <p:cNvPr id="66" name="Shape 64"/>
          <p:cNvSpPr/>
          <p:nvPr/>
        </p:nvSpPr>
        <p:spPr>
          <a:xfrm>
            <a:off x="2926080" y="3703320"/>
            <a:ext cx="2011680" cy="283464"/>
          </a:xfrm>
          <a:prstGeom prst="roundRect">
            <a:avLst>
              <a:gd name="adj" fmla="val 38710"/>
            </a:avLst>
          </a:prstGeom>
          <a:solidFill>
            <a:srgbClr val="E7BD62">
              <a:alpha val="13000"/>
            </a:srgbClr>
          </a:solidFill>
          <a:ln w="10160">
            <a:solidFill>
              <a:srgbClr val="E7BD62">
                <a:alpha val="60000"/>
              </a:srgbClr>
            </a:solidFill>
            <a:prstDash val="solid"/>
          </a:ln>
        </p:spPr>
      </p:sp>
      <p:sp>
        <p:nvSpPr>
          <p:cNvPr id="67" name="Text 65"/>
          <p:cNvSpPr/>
          <p:nvPr/>
        </p:nvSpPr>
        <p:spPr>
          <a:xfrm>
            <a:off x="2980944" y="3781044"/>
            <a:ext cx="1901952" cy="109728"/>
          </a:xfrm>
          <a:prstGeom prst="rect">
            <a:avLst/>
          </a:prstGeom>
          <a:noFill/>
          <a:ln/>
        </p:spPr>
        <p:txBody>
          <a:bodyPr wrap="square" lIns="0" tIns="0" rIns="0" bIns="0" rtlCol="0" anchor="ctr"/>
          <a:lstStyle/>
          <a:p>
            <a:pPr algn="ctr" indent="0" marL="0">
              <a:buNone/>
            </a:pPr>
            <a:r>
              <a:rPr lang="en-US" sz="690" b="1" dirty="0">
                <a:solidFill>
                  <a:srgbClr val="E7BD62"/>
                </a:solidFill>
                <a:latin typeface="Inter" pitchFamily="34" charset="0"/>
                <a:ea typeface="Inter" pitchFamily="34" charset="-122"/>
                <a:cs typeface="Inter" pitchFamily="34" charset="-120"/>
              </a:rPr>
              <a:t>TASK LEAKAGE</a:t>
            </a:r>
            <a:endParaRPr lang="en-US" sz="690" dirty="0"/>
          </a:p>
        </p:txBody>
      </p:sp>
      <p:sp>
        <p:nvSpPr>
          <p:cNvPr id="68" name="Shape 66"/>
          <p:cNvSpPr/>
          <p:nvPr/>
        </p:nvSpPr>
        <p:spPr>
          <a:xfrm>
            <a:off x="5166360" y="3703320"/>
            <a:ext cx="2011680" cy="283464"/>
          </a:xfrm>
          <a:prstGeom prst="roundRect">
            <a:avLst>
              <a:gd name="adj" fmla="val 38710"/>
            </a:avLst>
          </a:prstGeom>
          <a:solidFill>
            <a:srgbClr val="6FB5FF">
              <a:alpha val="13000"/>
            </a:srgbClr>
          </a:solidFill>
          <a:ln w="10160">
            <a:solidFill>
              <a:srgbClr val="6FB5FF">
                <a:alpha val="60000"/>
              </a:srgbClr>
            </a:solidFill>
            <a:prstDash val="solid"/>
          </a:ln>
        </p:spPr>
      </p:sp>
      <p:sp>
        <p:nvSpPr>
          <p:cNvPr id="69" name="Text 67"/>
          <p:cNvSpPr/>
          <p:nvPr/>
        </p:nvSpPr>
        <p:spPr>
          <a:xfrm>
            <a:off x="5221224" y="3781044"/>
            <a:ext cx="1901952" cy="109728"/>
          </a:xfrm>
          <a:prstGeom prst="rect">
            <a:avLst/>
          </a:prstGeom>
          <a:noFill/>
          <a:ln/>
        </p:spPr>
        <p:txBody>
          <a:bodyPr wrap="square" lIns="0" tIns="0" rIns="0" bIns="0" rtlCol="0" anchor="ctr"/>
          <a:lstStyle/>
          <a:p>
            <a:pPr algn="ctr" indent="0" marL="0">
              <a:buNone/>
            </a:pPr>
            <a:r>
              <a:rPr lang="en-US" sz="690" b="1" dirty="0">
                <a:solidFill>
                  <a:srgbClr val="6FB5FF"/>
                </a:solidFill>
                <a:latin typeface="Inter" pitchFamily="34" charset="0"/>
                <a:ea typeface="Inter" pitchFamily="34" charset="-122"/>
                <a:cs typeface="Inter" pitchFamily="34" charset="-120"/>
              </a:rPr>
              <a:t>REWARD HACKING</a:t>
            </a:r>
            <a:endParaRPr lang="en-US" sz="690" dirty="0"/>
          </a:p>
        </p:txBody>
      </p:sp>
      <p:sp>
        <p:nvSpPr>
          <p:cNvPr id="70" name="Shape 68"/>
          <p:cNvSpPr/>
          <p:nvPr/>
        </p:nvSpPr>
        <p:spPr>
          <a:xfrm>
            <a:off x="7406640" y="3703320"/>
            <a:ext cx="2011680" cy="283464"/>
          </a:xfrm>
          <a:prstGeom prst="roundRect">
            <a:avLst>
              <a:gd name="adj" fmla="val 38710"/>
            </a:avLst>
          </a:prstGeom>
          <a:solidFill>
            <a:srgbClr val="54D6D0">
              <a:alpha val="13000"/>
            </a:srgbClr>
          </a:solidFill>
          <a:ln w="10160">
            <a:solidFill>
              <a:srgbClr val="54D6D0">
                <a:alpha val="60000"/>
              </a:srgbClr>
            </a:solidFill>
            <a:prstDash val="solid"/>
          </a:ln>
        </p:spPr>
      </p:sp>
      <p:sp>
        <p:nvSpPr>
          <p:cNvPr id="71" name="Text 69"/>
          <p:cNvSpPr/>
          <p:nvPr/>
        </p:nvSpPr>
        <p:spPr>
          <a:xfrm>
            <a:off x="7461504" y="3781044"/>
            <a:ext cx="1901952" cy="109728"/>
          </a:xfrm>
          <a:prstGeom prst="rect">
            <a:avLst/>
          </a:prstGeom>
          <a:noFill/>
          <a:ln/>
        </p:spPr>
        <p:txBody>
          <a:bodyPr wrap="square" lIns="0" tIns="0" rIns="0" bIns="0" rtlCol="0" anchor="ctr"/>
          <a:lstStyle/>
          <a:p>
            <a:pPr algn="ctr" indent="0" marL="0">
              <a:buNone/>
            </a:pPr>
            <a:r>
              <a:rPr lang="en-US" sz="690" b="1" dirty="0">
                <a:solidFill>
                  <a:srgbClr val="54D6D0"/>
                </a:solidFill>
                <a:latin typeface="Inter" pitchFamily="34" charset="0"/>
                <a:ea typeface="Inter" pitchFamily="34" charset="-122"/>
                <a:cs typeface="Inter" pitchFamily="34" charset="-120"/>
              </a:rPr>
              <a:t>SCOPE MISMATCH</a:t>
            </a:r>
            <a:endParaRPr lang="en-US" sz="690" dirty="0"/>
          </a:p>
        </p:txBody>
      </p:sp>
      <p:sp>
        <p:nvSpPr>
          <p:cNvPr id="72" name="Shape 70"/>
          <p:cNvSpPr/>
          <p:nvPr/>
        </p:nvSpPr>
        <p:spPr>
          <a:xfrm>
            <a:off x="9646920" y="3703320"/>
            <a:ext cx="2011680" cy="283464"/>
          </a:xfrm>
          <a:prstGeom prst="roundRect">
            <a:avLst>
              <a:gd name="adj" fmla="val 38710"/>
            </a:avLst>
          </a:prstGeom>
          <a:solidFill>
            <a:srgbClr val="A99CFF">
              <a:alpha val="13000"/>
            </a:srgbClr>
          </a:solidFill>
          <a:ln w="10160">
            <a:solidFill>
              <a:srgbClr val="A99CFF">
                <a:alpha val="60000"/>
              </a:srgbClr>
            </a:solidFill>
            <a:prstDash val="solid"/>
          </a:ln>
        </p:spPr>
      </p:sp>
      <p:sp>
        <p:nvSpPr>
          <p:cNvPr id="73" name="Text 71"/>
          <p:cNvSpPr/>
          <p:nvPr/>
        </p:nvSpPr>
        <p:spPr>
          <a:xfrm>
            <a:off x="9701784" y="3781044"/>
            <a:ext cx="1901952" cy="109728"/>
          </a:xfrm>
          <a:prstGeom prst="rect">
            <a:avLst/>
          </a:prstGeom>
          <a:noFill/>
          <a:ln/>
        </p:spPr>
        <p:txBody>
          <a:bodyPr wrap="square" lIns="0" tIns="0" rIns="0" bIns="0" rtlCol="0" anchor="ctr"/>
          <a:lstStyle/>
          <a:p>
            <a:pPr algn="ctr" indent="0" marL="0">
              <a:buNone/>
            </a:pPr>
            <a:r>
              <a:rPr lang="en-US" sz="690" b="1" dirty="0">
                <a:solidFill>
                  <a:srgbClr val="A99CFF"/>
                </a:solidFill>
                <a:latin typeface="Inter" pitchFamily="34" charset="0"/>
                <a:ea typeface="Inter" pitchFamily="34" charset="-122"/>
                <a:cs typeface="Inter" pitchFamily="34" charset="-120"/>
              </a:rPr>
              <a:t>COLLUSION</a:t>
            </a:r>
            <a:endParaRPr lang="en-US" sz="690" dirty="0"/>
          </a:p>
        </p:txBody>
      </p:sp>
      <p:sp>
        <p:nvSpPr>
          <p:cNvPr id="74" name="Shape 72"/>
          <p:cNvSpPr/>
          <p:nvPr/>
        </p:nvSpPr>
        <p:spPr>
          <a:xfrm>
            <a:off x="685800" y="4233672"/>
            <a:ext cx="2011680" cy="283464"/>
          </a:xfrm>
          <a:prstGeom prst="roundRect">
            <a:avLst>
              <a:gd name="adj" fmla="val 38710"/>
            </a:avLst>
          </a:prstGeom>
          <a:solidFill>
            <a:srgbClr val="FF7584">
              <a:alpha val="13000"/>
            </a:srgbClr>
          </a:solidFill>
          <a:ln w="10160">
            <a:solidFill>
              <a:srgbClr val="FF7584">
                <a:alpha val="60000"/>
              </a:srgbClr>
            </a:solidFill>
            <a:prstDash val="solid"/>
          </a:ln>
        </p:spPr>
      </p:sp>
      <p:sp>
        <p:nvSpPr>
          <p:cNvPr id="75" name="Text 73"/>
          <p:cNvSpPr/>
          <p:nvPr/>
        </p:nvSpPr>
        <p:spPr>
          <a:xfrm>
            <a:off x="740664" y="4311396"/>
            <a:ext cx="1901952" cy="109728"/>
          </a:xfrm>
          <a:prstGeom prst="rect">
            <a:avLst/>
          </a:prstGeom>
          <a:noFill/>
          <a:ln/>
        </p:spPr>
        <p:txBody>
          <a:bodyPr wrap="square" lIns="0" tIns="0" rIns="0" bIns="0" rtlCol="0" anchor="ctr"/>
          <a:lstStyle/>
          <a:p>
            <a:pPr algn="ctr" indent="0" marL="0">
              <a:buNone/>
            </a:pPr>
            <a:r>
              <a:rPr lang="en-US" sz="690" b="1" dirty="0">
                <a:solidFill>
                  <a:srgbClr val="FF7584"/>
                </a:solidFill>
                <a:latin typeface="Inter" pitchFamily="34" charset="0"/>
                <a:ea typeface="Inter" pitchFamily="34" charset="-122"/>
                <a:cs typeface="Inter" pitchFamily="34" charset="-120"/>
              </a:rPr>
              <a:t>REPLAY DIVERGENCE</a:t>
            </a:r>
            <a:endParaRPr lang="en-US" sz="690" dirty="0"/>
          </a:p>
        </p:txBody>
      </p:sp>
      <p:sp>
        <p:nvSpPr>
          <p:cNvPr id="76" name="Shape 74"/>
          <p:cNvSpPr/>
          <p:nvPr/>
        </p:nvSpPr>
        <p:spPr>
          <a:xfrm>
            <a:off x="2926080" y="4233672"/>
            <a:ext cx="2011680" cy="283464"/>
          </a:xfrm>
          <a:prstGeom prst="roundRect">
            <a:avLst>
              <a:gd name="adj" fmla="val 38710"/>
            </a:avLst>
          </a:prstGeom>
          <a:solidFill>
            <a:srgbClr val="E7BD62">
              <a:alpha val="13000"/>
            </a:srgbClr>
          </a:solidFill>
          <a:ln w="10160">
            <a:solidFill>
              <a:srgbClr val="E7BD62">
                <a:alpha val="60000"/>
              </a:srgbClr>
            </a:solidFill>
            <a:prstDash val="solid"/>
          </a:ln>
        </p:spPr>
      </p:sp>
      <p:sp>
        <p:nvSpPr>
          <p:cNvPr id="77" name="Text 75"/>
          <p:cNvSpPr/>
          <p:nvPr/>
        </p:nvSpPr>
        <p:spPr>
          <a:xfrm>
            <a:off x="2980944" y="4311396"/>
            <a:ext cx="1901952" cy="109728"/>
          </a:xfrm>
          <a:prstGeom prst="rect">
            <a:avLst/>
          </a:prstGeom>
          <a:noFill/>
          <a:ln/>
        </p:spPr>
        <p:txBody>
          <a:bodyPr wrap="square" lIns="0" tIns="0" rIns="0" bIns="0" rtlCol="0" anchor="ctr"/>
          <a:lstStyle/>
          <a:p>
            <a:pPr algn="ctr" indent="0" marL="0">
              <a:buNone/>
            </a:pPr>
            <a:r>
              <a:rPr lang="en-US" sz="690" b="1" dirty="0">
                <a:solidFill>
                  <a:srgbClr val="E7BD62"/>
                </a:solidFill>
                <a:latin typeface="Inter" pitchFamily="34" charset="0"/>
                <a:ea typeface="Inter" pitchFamily="34" charset="-122"/>
                <a:cs typeface="Inter" pitchFamily="34" charset="-120"/>
              </a:rPr>
              <a:t>STALE EVIDENCE</a:t>
            </a:r>
            <a:endParaRPr lang="en-US" sz="690" dirty="0"/>
          </a:p>
        </p:txBody>
      </p:sp>
      <p:sp>
        <p:nvSpPr>
          <p:cNvPr id="78" name="Shape 76"/>
          <p:cNvSpPr/>
          <p:nvPr/>
        </p:nvSpPr>
        <p:spPr>
          <a:xfrm>
            <a:off x="5166360" y="4233672"/>
            <a:ext cx="2011680" cy="283464"/>
          </a:xfrm>
          <a:prstGeom prst="roundRect">
            <a:avLst>
              <a:gd name="adj" fmla="val 38710"/>
            </a:avLst>
          </a:prstGeom>
          <a:solidFill>
            <a:srgbClr val="6FB5FF">
              <a:alpha val="13000"/>
            </a:srgbClr>
          </a:solidFill>
          <a:ln w="10160">
            <a:solidFill>
              <a:srgbClr val="6FB5FF">
                <a:alpha val="60000"/>
              </a:srgbClr>
            </a:solidFill>
            <a:prstDash val="solid"/>
          </a:ln>
        </p:spPr>
      </p:sp>
      <p:sp>
        <p:nvSpPr>
          <p:cNvPr id="79" name="Text 77"/>
          <p:cNvSpPr/>
          <p:nvPr/>
        </p:nvSpPr>
        <p:spPr>
          <a:xfrm>
            <a:off x="5221224" y="4311396"/>
            <a:ext cx="1901952" cy="109728"/>
          </a:xfrm>
          <a:prstGeom prst="rect">
            <a:avLst/>
          </a:prstGeom>
          <a:noFill/>
          <a:ln/>
        </p:spPr>
        <p:txBody>
          <a:bodyPr wrap="square" lIns="0" tIns="0" rIns="0" bIns="0" rtlCol="0" anchor="ctr"/>
          <a:lstStyle/>
          <a:p>
            <a:pPr algn="ctr" indent="0" marL="0">
              <a:buNone/>
            </a:pPr>
            <a:r>
              <a:rPr lang="en-US" sz="690" b="1" dirty="0">
                <a:solidFill>
                  <a:srgbClr val="6FB5FF"/>
                </a:solidFill>
                <a:latin typeface="Inter" pitchFamily="34" charset="0"/>
                <a:ea typeface="Inter" pitchFamily="34" charset="-122"/>
                <a:cs typeface="Inter" pitchFamily="34" charset="-120"/>
              </a:rPr>
              <a:t>PRIVACY VIOLATION</a:t>
            </a:r>
            <a:endParaRPr lang="en-US" sz="690" dirty="0"/>
          </a:p>
        </p:txBody>
      </p:sp>
      <p:sp>
        <p:nvSpPr>
          <p:cNvPr id="80" name="Shape 78"/>
          <p:cNvSpPr/>
          <p:nvPr/>
        </p:nvSpPr>
        <p:spPr>
          <a:xfrm>
            <a:off x="7406640" y="4233672"/>
            <a:ext cx="2011680" cy="283464"/>
          </a:xfrm>
          <a:prstGeom prst="roundRect">
            <a:avLst>
              <a:gd name="adj" fmla="val 38710"/>
            </a:avLst>
          </a:prstGeom>
          <a:solidFill>
            <a:srgbClr val="54D6D0">
              <a:alpha val="13000"/>
            </a:srgbClr>
          </a:solidFill>
          <a:ln w="10160">
            <a:solidFill>
              <a:srgbClr val="54D6D0">
                <a:alpha val="60000"/>
              </a:srgbClr>
            </a:solidFill>
            <a:prstDash val="solid"/>
          </a:ln>
        </p:spPr>
      </p:sp>
      <p:sp>
        <p:nvSpPr>
          <p:cNvPr id="81" name="Text 79"/>
          <p:cNvSpPr/>
          <p:nvPr/>
        </p:nvSpPr>
        <p:spPr>
          <a:xfrm>
            <a:off x="7461504" y="4311396"/>
            <a:ext cx="1901952" cy="109728"/>
          </a:xfrm>
          <a:prstGeom prst="rect">
            <a:avLst/>
          </a:prstGeom>
          <a:noFill/>
          <a:ln/>
        </p:spPr>
        <p:txBody>
          <a:bodyPr wrap="square" lIns="0" tIns="0" rIns="0" bIns="0" rtlCol="0" anchor="ctr"/>
          <a:lstStyle/>
          <a:p>
            <a:pPr algn="ctr" indent="0" marL="0">
              <a:buNone/>
            </a:pPr>
            <a:r>
              <a:rPr lang="en-US" sz="690" b="1" dirty="0">
                <a:solidFill>
                  <a:srgbClr val="54D6D0"/>
                </a:solidFill>
                <a:latin typeface="Inter" pitchFamily="34" charset="0"/>
                <a:ea typeface="Inter" pitchFamily="34" charset="-122"/>
                <a:cs typeface="Inter" pitchFamily="34" charset="-120"/>
              </a:rPr>
              <a:t>TAMPERING</a:t>
            </a:r>
            <a:endParaRPr lang="en-US" sz="690" dirty="0"/>
          </a:p>
        </p:txBody>
      </p:sp>
      <p:sp>
        <p:nvSpPr>
          <p:cNvPr id="82" name="Shape 80"/>
          <p:cNvSpPr/>
          <p:nvPr/>
        </p:nvSpPr>
        <p:spPr>
          <a:xfrm>
            <a:off x="1828800" y="5074920"/>
            <a:ext cx="8503920" cy="621792"/>
          </a:xfrm>
          <a:prstGeom prst="roundRect">
            <a:avLst>
              <a:gd name="adj" fmla="val 11765"/>
            </a:avLst>
          </a:prstGeom>
          <a:solidFill>
            <a:srgbClr val="102238"/>
          </a:solidFill>
          <a:ln w="10160">
            <a:solidFill>
              <a:srgbClr val="43D79B"/>
            </a:solidFill>
            <a:prstDash val="solid"/>
          </a:ln>
        </p:spPr>
      </p:sp>
      <p:sp>
        <p:nvSpPr>
          <p:cNvPr id="83" name="Text 81"/>
          <p:cNvSpPr/>
          <p:nvPr/>
        </p:nvSpPr>
        <p:spPr>
          <a:xfrm>
            <a:off x="1984248" y="5202936"/>
            <a:ext cx="819302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HISTORICAL LAW</a:t>
            </a:r>
            <a:endParaRPr lang="en-US" sz="680" dirty="0"/>
          </a:p>
        </p:txBody>
      </p:sp>
      <p:sp>
        <p:nvSpPr>
          <p:cNvPr id="84" name="Text 82"/>
          <p:cNvSpPr/>
          <p:nvPr/>
        </p:nvSpPr>
        <p:spPr>
          <a:xfrm>
            <a:off x="1984248" y="5330952"/>
            <a:ext cx="8193024" cy="329184"/>
          </a:xfrm>
          <a:prstGeom prst="rect">
            <a:avLst/>
          </a:prstGeom>
          <a:noFill/>
          <a:ln/>
        </p:spPr>
        <p:txBody>
          <a:bodyPr wrap="square" lIns="0" tIns="0" rIns="0" bIns="0" rtlCol="0" anchor="ctr">
            <a:normAutofit/>
          </a:bodyPr>
          <a:lstStyle/>
          <a:p>
            <a:pPr indent="0" marL="0">
              <a:buNone/>
            </a:pPr>
            <a:r>
              <a:rPr lang="en-US" sz="1330" b="1" dirty="0">
                <a:solidFill>
                  <a:srgbClr val="F7FBFF"/>
                </a:solidFill>
                <a:latin typeface="Inter Display" pitchFamily="34" charset="0"/>
                <a:ea typeface="Inter Display" pitchFamily="34" charset="-122"/>
                <a:cs typeface="Inter Display" pitchFamily="34" charset="-120"/>
              </a:rPr>
              <a:t>A revoked skill remains in lineage but loses future-mission influence.</a:t>
            </a:r>
            <a:endParaRPr lang="en-US" sz="133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GOVERNED RSI FRONTIER</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800" b="1" dirty="0">
                <a:solidFill>
                  <a:srgbClr val="14273D"/>
                </a:solidFill>
                <a:latin typeface="Inter Display" pitchFamily="34" charset="0"/>
                <a:ea typeface="Inter Display" pitchFamily="34" charset="-122"/>
                <a:cs typeface="Inter Display" pitchFamily="34" charset="-120"/>
              </a:rPr>
              <a:t>Explore broadly. Promote narrowly. Preserve every consequential reason.</a:t>
            </a:r>
            <a:endParaRPr lang="en-US" sz="28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live frontier plots novelty against risk-adjusted verified advantage and colors candidates by mechanical gate outcome.</a:t>
            </a:r>
            <a:endParaRPr lang="en-US" sz="1450" dirty="0"/>
          </a:p>
        </p:txBody>
      </p:sp>
      <p:sp>
        <p:nvSpPr>
          <p:cNvPr id="30" name="Shape 28"/>
          <p:cNvSpPr/>
          <p:nvPr/>
        </p:nvSpPr>
        <p:spPr>
          <a:xfrm>
            <a:off x="685800" y="1874520"/>
            <a:ext cx="6949440" cy="3383280"/>
          </a:xfrm>
          <a:prstGeom prst="rect">
            <a:avLst/>
          </a:prstGeom>
          <a:solidFill>
            <a:srgbClr val="FDFBF6"/>
          </a:solidFill>
          <a:ln w="10160">
            <a:solidFill>
              <a:srgbClr val="D9D0BE"/>
            </a:solidFill>
            <a:prstDash val="solid"/>
          </a:ln>
        </p:spPr>
      </p:sp>
      <p:sp>
        <p:nvSpPr>
          <p:cNvPr id="31" name="Shape 29"/>
          <p:cNvSpPr/>
          <p:nvPr/>
        </p:nvSpPr>
        <p:spPr>
          <a:xfrm>
            <a:off x="1051560" y="2148840"/>
            <a:ext cx="0" cy="2743200"/>
          </a:xfrm>
          <a:prstGeom prst="line">
            <a:avLst/>
          </a:prstGeom>
          <a:noFill/>
          <a:ln w="5080">
            <a:solidFill>
              <a:srgbClr val="DDD4C2">
                <a:alpha val="80000"/>
              </a:srgbClr>
            </a:solidFill>
            <a:prstDash val="solid"/>
          </a:ln>
        </p:spPr>
      </p:sp>
      <p:sp>
        <p:nvSpPr>
          <p:cNvPr id="32" name="Shape 30"/>
          <p:cNvSpPr/>
          <p:nvPr/>
        </p:nvSpPr>
        <p:spPr>
          <a:xfrm>
            <a:off x="2011680" y="2148840"/>
            <a:ext cx="0" cy="2743200"/>
          </a:xfrm>
          <a:prstGeom prst="line">
            <a:avLst/>
          </a:prstGeom>
          <a:noFill/>
          <a:ln w="5080">
            <a:solidFill>
              <a:srgbClr val="DDD4C2">
                <a:alpha val="80000"/>
              </a:srgbClr>
            </a:solidFill>
            <a:prstDash val="solid"/>
          </a:ln>
        </p:spPr>
      </p:sp>
      <p:sp>
        <p:nvSpPr>
          <p:cNvPr id="33" name="Shape 31"/>
          <p:cNvSpPr/>
          <p:nvPr/>
        </p:nvSpPr>
        <p:spPr>
          <a:xfrm>
            <a:off x="2971800" y="2148840"/>
            <a:ext cx="0" cy="2743200"/>
          </a:xfrm>
          <a:prstGeom prst="line">
            <a:avLst/>
          </a:prstGeom>
          <a:noFill/>
          <a:ln w="5080">
            <a:solidFill>
              <a:srgbClr val="DDD4C2">
                <a:alpha val="80000"/>
              </a:srgbClr>
            </a:solidFill>
            <a:prstDash val="solid"/>
          </a:ln>
        </p:spPr>
      </p:sp>
      <p:sp>
        <p:nvSpPr>
          <p:cNvPr id="34" name="Shape 32"/>
          <p:cNvSpPr/>
          <p:nvPr/>
        </p:nvSpPr>
        <p:spPr>
          <a:xfrm>
            <a:off x="3931920" y="2148840"/>
            <a:ext cx="0" cy="2743200"/>
          </a:xfrm>
          <a:prstGeom prst="line">
            <a:avLst/>
          </a:prstGeom>
          <a:noFill/>
          <a:ln w="5080">
            <a:solidFill>
              <a:srgbClr val="DDD4C2">
                <a:alpha val="80000"/>
              </a:srgbClr>
            </a:solidFill>
            <a:prstDash val="solid"/>
          </a:ln>
        </p:spPr>
      </p:sp>
      <p:sp>
        <p:nvSpPr>
          <p:cNvPr id="35" name="Shape 33"/>
          <p:cNvSpPr/>
          <p:nvPr/>
        </p:nvSpPr>
        <p:spPr>
          <a:xfrm>
            <a:off x="4892040" y="2148840"/>
            <a:ext cx="0" cy="2743200"/>
          </a:xfrm>
          <a:prstGeom prst="line">
            <a:avLst/>
          </a:prstGeom>
          <a:noFill/>
          <a:ln w="5080">
            <a:solidFill>
              <a:srgbClr val="DDD4C2">
                <a:alpha val="80000"/>
              </a:srgbClr>
            </a:solidFill>
            <a:prstDash val="solid"/>
          </a:ln>
        </p:spPr>
      </p:sp>
      <p:sp>
        <p:nvSpPr>
          <p:cNvPr id="36" name="Shape 34"/>
          <p:cNvSpPr/>
          <p:nvPr/>
        </p:nvSpPr>
        <p:spPr>
          <a:xfrm>
            <a:off x="5852160" y="2148840"/>
            <a:ext cx="0" cy="2743200"/>
          </a:xfrm>
          <a:prstGeom prst="line">
            <a:avLst/>
          </a:prstGeom>
          <a:noFill/>
          <a:ln w="5080">
            <a:solidFill>
              <a:srgbClr val="DDD4C2">
                <a:alpha val="80000"/>
              </a:srgbClr>
            </a:solidFill>
            <a:prstDash val="solid"/>
          </a:ln>
        </p:spPr>
      </p:sp>
      <p:sp>
        <p:nvSpPr>
          <p:cNvPr id="37" name="Shape 35"/>
          <p:cNvSpPr/>
          <p:nvPr/>
        </p:nvSpPr>
        <p:spPr>
          <a:xfrm>
            <a:off x="6812280" y="2148840"/>
            <a:ext cx="0" cy="2743200"/>
          </a:xfrm>
          <a:prstGeom prst="line">
            <a:avLst/>
          </a:prstGeom>
          <a:noFill/>
          <a:ln w="5080">
            <a:solidFill>
              <a:srgbClr val="DDD4C2">
                <a:alpha val="80000"/>
              </a:srgbClr>
            </a:solidFill>
            <a:prstDash val="solid"/>
          </a:ln>
        </p:spPr>
      </p:sp>
      <p:sp>
        <p:nvSpPr>
          <p:cNvPr id="38" name="Shape 36"/>
          <p:cNvSpPr/>
          <p:nvPr/>
        </p:nvSpPr>
        <p:spPr>
          <a:xfrm>
            <a:off x="1051560" y="2240280"/>
            <a:ext cx="6172200" cy="0"/>
          </a:xfrm>
          <a:prstGeom prst="line">
            <a:avLst/>
          </a:prstGeom>
          <a:noFill/>
          <a:ln w="5080">
            <a:solidFill>
              <a:srgbClr val="DDD4C2">
                <a:alpha val="80000"/>
              </a:srgbClr>
            </a:solidFill>
            <a:prstDash val="solid"/>
          </a:ln>
        </p:spPr>
      </p:sp>
      <p:sp>
        <p:nvSpPr>
          <p:cNvPr id="39" name="Shape 37"/>
          <p:cNvSpPr/>
          <p:nvPr/>
        </p:nvSpPr>
        <p:spPr>
          <a:xfrm>
            <a:off x="1051560" y="2834640"/>
            <a:ext cx="6172200" cy="0"/>
          </a:xfrm>
          <a:prstGeom prst="line">
            <a:avLst/>
          </a:prstGeom>
          <a:noFill/>
          <a:ln w="5080">
            <a:solidFill>
              <a:srgbClr val="DDD4C2">
                <a:alpha val="80000"/>
              </a:srgbClr>
            </a:solidFill>
            <a:prstDash val="solid"/>
          </a:ln>
        </p:spPr>
      </p:sp>
      <p:sp>
        <p:nvSpPr>
          <p:cNvPr id="40" name="Shape 38"/>
          <p:cNvSpPr/>
          <p:nvPr/>
        </p:nvSpPr>
        <p:spPr>
          <a:xfrm>
            <a:off x="1051560" y="3429000"/>
            <a:ext cx="6172200" cy="0"/>
          </a:xfrm>
          <a:prstGeom prst="line">
            <a:avLst/>
          </a:prstGeom>
          <a:noFill/>
          <a:ln w="5080">
            <a:solidFill>
              <a:srgbClr val="DDD4C2">
                <a:alpha val="80000"/>
              </a:srgbClr>
            </a:solidFill>
            <a:prstDash val="solid"/>
          </a:ln>
        </p:spPr>
      </p:sp>
      <p:sp>
        <p:nvSpPr>
          <p:cNvPr id="41" name="Shape 39"/>
          <p:cNvSpPr/>
          <p:nvPr/>
        </p:nvSpPr>
        <p:spPr>
          <a:xfrm>
            <a:off x="1051560" y="4023360"/>
            <a:ext cx="6172200" cy="0"/>
          </a:xfrm>
          <a:prstGeom prst="line">
            <a:avLst/>
          </a:prstGeom>
          <a:noFill/>
          <a:ln w="5080">
            <a:solidFill>
              <a:srgbClr val="DDD4C2">
                <a:alpha val="80000"/>
              </a:srgbClr>
            </a:solidFill>
            <a:prstDash val="solid"/>
          </a:ln>
        </p:spPr>
      </p:sp>
      <p:sp>
        <p:nvSpPr>
          <p:cNvPr id="42" name="Shape 40"/>
          <p:cNvSpPr/>
          <p:nvPr/>
        </p:nvSpPr>
        <p:spPr>
          <a:xfrm>
            <a:off x="1051560" y="4617720"/>
            <a:ext cx="6172200" cy="0"/>
          </a:xfrm>
          <a:prstGeom prst="line">
            <a:avLst/>
          </a:prstGeom>
          <a:noFill/>
          <a:ln w="5080">
            <a:solidFill>
              <a:srgbClr val="DDD4C2">
                <a:alpha val="80000"/>
              </a:srgbClr>
            </a:solidFill>
            <a:prstDash val="solid"/>
          </a:ln>
        </p:spPr>
      </p:sp>
      <p:sp>
        <p:nvSpPr>
          <p:cNvPr id="43" name="Shape 41"/>
          <p:cNvSpPr/>
          <p:nvPr/>
        </p:nvSpPr>
        <p:spPr>
          <a:xfrm>
            <a:off x="1463040" y="4343400"/>
            <a:ext cx="109728" cy="109728"/>
          </a:xfrm>
          <a:prstGeom prst="ellipse">
            <a:avLst/>
          </a:prstGeom>
          <a:solidFill>
            <a:srgbClr val="FF7584"/>
          </a:solidFill>
          <a:ln w="6350">
            <a:solidFill>
              <a:srgbClr val="FF7584"/>
            </a:solidFill>
            <a:prstDash val="solid"/>
          </a:ln>
        </p:spPr>
      </p:sp>
      <p:sp>
        <p:nvSpPr>
          <p:cNvPr id="44" name="Shape 42"/>
          <p:cNvSpPr/>
          <p:nvPr/>
        </p:nvSpPr>
        <p:spPr>
          <a:xfrm>
            <a:off x="1920240" y="3337560"/>
            <a:ext cx="137160" cy="137160"/>
          </a:xfrm>
          <a:prstGeom prst="ellipse">
            <a:avLst/>
          </a:prstGeom>
          <a:solidFill>
            <a:srgbClr val="6FB5FF"/>
          </a:solidFill>
          <a:ln w="6350">
            <a:solidFill>
              <a:srgbClr val="6FB5FF"/>
            </a:solidFill>
            <a:prstDash val="solid"/>
          </a:ln>
        </p:spPr>
      </p:sp>
      <p:sp>
        <p:nvSpPr>
          <p:cNvPr id="45" name="Shape 43"/>
          <p:cNvSpPr/>
          <p:nvPr/>
        </p:nvSpPr>
        <p:spPr>
          <a:xfrm>
            <a:off x="2651760" y="3794760"/>
            <a:ext cx="173736" cy="173736"/>
          </a:xfrm>
          <a:prstGeom prst="ellipse">
            <a:avLst/>
          </a:prstGeom>
          <a:solidFill>
            <a:srgbClr val="E7BD62"/>
          </a:solidFill>
          <a:ln w="6350">
            <a:solidFill>
              <a:srgbClr val="E7BD62"/>
            </a:solidFill>
            <a:prstDash val="solid"/>
          </a:ln>
        </p:spPr>
      </p:sp>
      <p:sp>
        <p:nvSpPr>
          <p:cNvPr id="46" name="Shape 44"/>
          <p:cNvSpPr/>
          <p:nvPr/>
        </p:nvSpPr>
        <p:spPr>
          <a:xfrm>
            <a:off x="3383280" y="2880360"/>
            <a:ext cx="164592" cy="164592"/>
          </a:xfrm>
          <a:prstGeom prst="ellipse">
            <a:avLst/>
          </a:prstGeom>
          <a:solidFill>
            <a:srgbClr val="43D79B"/>
          </a:solidFill>
          <a:ln w="6350">
            <a:solidFill>
              <a:srgbClr val="43D79B"/>
            </a:solidFill>
            <a:prstDash val="solid"/>
          </a:ln>
        </p:spPr>
      </p:sp>
      <p:sp>
        <p:nvSpPr>
          <p:cNvPr id="47" name="Shape 45"/>
          <p:cNvSpPr/>
          <p:nvPr/>
        </p:nvSpPr>
        <p:spPr>
          <a:xfrm>
            <a:off x="4023360" y="4160520"/>
            <a:ext cx="118872" cy="118872"/>
          </a:xfrm>
          <a:prstGeom prst="ellipse">
            <a:avLst/>
          </a:prstGeom>
          <a:solidFill>
            <a:srgbClr val="FF7584"/>
          </a:solidFill>
          <a:ln w="6350">
            <a:solidFill>
              <a:srgbClr val="FF7584"/>
            </a:solidFill>
            <a:prstDash val="solid"/>
          </a:ln>
        </p:spPr>
      </p:sp>
      <p:sp>
        <p:nvSpPr>
          <p:cNvPr id="48" name="Shape 46"/>
          <p:cNvSpPr/>
          <p:nvPr/>
        </p:nvSpPr>
        <p:spPr>
          <a:xfrm>
            <a:off x="4572000" y="2606040"/>
            <a:ext cx="201168" cy="201168"/>
          </a:xfrm>
          <a:prstGeom prst="ellipse">
            <a:avLst/>
          </a:prstGeom>
          <a:solidFill>
            <a:srgbClr val="43D79B"/>
          </a:solidFill>
          <a:ln w="6350">
            <a:solidFill>
              <a:srgbClr val="43D79B"/>
            </a:solidFill>
            <a:prstDash val="solid"/>
          </a:ln>
        </p:spPr>
      </p:sp>
      <p:sp>
        <p:nvSpPr>
          <p:cNvPr id="49" name="Shape 47"/>
          <p:cNvSpPr/>
          <p:nvPr/>
        </p:nvSpPr>
        <p:spPr>
          <a:xfrm>
            <a:off x="5257800" y="3246120"/>
            <a:ext cx="155448" cy="155448"/>
          </a:xfrm>
          <a:prstGeom prst="ellipse">
            <a:avLst/>
          </a:prstGeom>
          <a:solidFill>
            <a:srgbClr val="E7BD62"/>
          </a:solidFill>
          <a:ln w="6350">
            <a:solidFill>
              <a:srgbClr val="E7BD62"/>
            </a:solidFill>
            <a:prstDash val="solid"/>
          </a:ln>
        </p:spPr>
      </p:sp>
      <p:sp>
        <p:nvSpPr>
          <p:cNvPr id="50" name="Shape 48"/>
          <p:cNvSpPr/>
          <p:nvPr/>
        </p:nvSpPr>
        <p:spPr>
          <a:xfrm>
            <a:off x="5943600" y="2331720"/>
            <a:ext cx="228600" cy="228600"/>
          </a:xfrm>
          <a:prstGeom prst="ellipse">
            <a:avLst/>
          </a:prstGeom>
          <a:solidFill>
            <a:srgbClr val="43D79B"/>
          </a:solidFill>
          <a:ln w="6350">
            <a:solidFill>
              <a:srgbClr val="43D79B"/>
            </a:solidFill>
            <a:prstDash val="solid"/>
          </a:ln>
        </p:spPr>
      </p:sp>
      <p:sp>
        <p:nvSpPr>
          <p:cNvPr id="51" name="Shape 49"/>
          <p:cNvSpPr/>
          <p:nvPr/>
        </p:nvSpPr>
        <p:spPr>
          <a:xfrm>
            <a:off x="6492240" y="2834640"/>
            <a:ext cx="146304" cy="146304"/>
          </a:xfrm>
          <a:prstGeom prst="ellipse">
            <a:avLst/>
          </a:prstGeom>
          <a:solidFill>
            <a:srgbClr val="A99CFF"/>
          </a:solidFill>
          <a:ln w="6350">
            <a:solidFill>
              <a:srgbClr val="A99CFF"/>
            </a:solidFill>
            <a:prstDash val="solid"/>
          </a:ln>
        </p:spPr>
      </p:sp>
      <p:sp>
        <p:nvSpPr>
          <p:cNvPr id="52" name="Text 50"/>
          <p:cNvSpPr/>
          <p:nvPr/>
        </p:nvSpPr>
        <p:spPr>
          <a:xfrm>
            <a:off x="6126480" y="4846320"/>
            <a:ext cx="1097280" cy="182880"/>
          </a:xfrm>
          <a:prstGeom prst="rect">
            <a:avLst/>
          </a:prstGeom>
          <a:noFill/>
          <a:ln/>
        </p:spPr>
        <p:txBody>
          <a:bodyPr wrap="square" lIns="0" tIns="0" rIns="0" bIns="0" rtlCol="0" anchor="ctr"/>
          <a:lstStyle/>
          <a:p>
            <a:pPr indent="0" marL="0">
              <a:buNone/>
            </a:pPr>
            <a:r>
              <a:rPr lang="en-US" sz="800" b="1" dirty="0">
                <a:solidFill>
                  <a:srgbClr val="14273D"/>
                </a:solidFill>
                <a:latin typeface="Inter" pitchFamily="34" charset="0"/>
                <a:ea typeface="Inter" pitchFamily="34" charset="-122"/>
                <a:cs typeface="Inter" pitchFamily="34" charset="-120"/>
              </a:rPr>
              <a:t>Novelty →</a:t>
            </a:r>
            <a:endParaRPr lang="en-US" sz="800" dirty="0"/>
          </a:p>
        </p:txBody>
      </p:sp>
      <p:sp>
        <p:nvSpPr>
          <p:cNvPr id="53" name="Text 51"/>
          <p:cNvSpPr/>
          <p:nvPr/>
        </p:nvSpPr>
        <p:spPr>
          <a:xfrm rot="16200000">
            <a:off x="758952" y="1938528"/>
            <a:ext cx="1463040" cy="182880"/>
          </a:xfrm>
          <a:prstGeom prst="rect">
            <a:avLst/>
          </a:prstGeom>
          <a:noFill/>
          <a:ln/>
        </p:spPr>
        <p:txBody>
          <a:bodyPr wrap="square" lIns="0" tIns="0" rIns="0" bIns="0" rtlCol="0" anchor="ctr"/>
          <a:lstStyle/>
          <a:p>
            <a:pPr indent="0" marL="0">
              <a:buNone/>
            </a:pPr>
            <a:r>
              <a:rPr lang="en-US" sz="720" b="1" dirty="0">
                <a:solidFill>
                  <a:srgbClr val="14273D"/>
                </a:solidFill>
                <a:latin typeface="Inter" pitchFamily="34" charset="0"/>
                <a:ea typeface="Inter" pitchFamily="34" charset="-122"/>
                <a:cs typeface="Inter" pitchFamily="34" charset="-120"/>
              </a:rPr>
              <a:t>Verified advantage →</a:t>
            </a:r>
            <a:endParaRPr lang="en-US" sz="720" dirty="0"/>
          </a:p>
        </p:txBody>
      </p:sp>
      <p:sp>
        <p:nvSpPr>
          <p:cNvPr id="54" name="Shape 52"/>
          <p:cNvSpPr/>
          <p:nvPr/>
        </p:nvSpPr>
        <p:spPr>
          <a:xfrm>
            <a:off x="7973568" y="1874520"/>
            <a:ext cx="3520440" cy="914400"/>
          </a:xfrm>
          <a:prstGeom prst="roundRect">
            <a:avLst>
              <a:gd name="adj" fmla="val 8000"/>
            </a:avLst>
          </a:prstGeom>
          <a:solidFill>
            <a:srgbClr val="FFFDF8"/>
          </a:solidFill>
          <a:ln w="10160">
            <a:solidFill>
              <a:srgbClr val="43D79B"/>
            </a:solidFill>
            <a:prstDash val="solid"/>
          </a:ln>
        </p:spPr>
      </p:sp>
      <p:sp>
        <p:nvSpPr>
          <p:cNvPr id="55" name="Text 53"/>
          <p:cNvSpPr/>
          <p:nvPr/>
        </p:nvSpPr>
        <p:spPr>
          <a:xfrm>
            <a:off x="8129016" y="2002536"/>
            <a:ext cx="320954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GREEN</a:t>
            </a:r>
            <a:endParaRPr lang="en-US" sz="680" dirty="0"/>
          </a:p>
        </p:txBody>
      </p:sp>
      <p:sp>
        <p:nvSpPr>
          <p:cNvPr id="56" name="Text 54"/>
          <p:cNvSpPr/>
          <p:nvPr/>
        </p:nvSpPr>
        <p:spPr>
          <a:xfrm>
            <a:off x="8129016" y="2130552"/>
            <a:ext cx="3209544" cy="329184"/>
          </a:xfrm>
          <a:prstGeom prst="rect">
            <a:avLst/>
          </a:prstGeom>
          <a:noFill/>
          <a:ln/>
        </p:spPr>
        <p:txBody>
          <a:bodyPr wrap="square" lIns="0" tIns="0" rIns="0" bIns="0" rtlCol="0" anchor="ctr">
            <a:normAutofit/>
          </a:bodyPr>
          <a:lstStyle/>
          <a:p>
            <a:pPr indent="0" marL="0">
              <a:buNone/>
            </a:pPr>
            <a:r>
              <a:rPr lang="en-US" sz="1400" b="1" dirty="0">
                <a:solidFill>
                  <a:srgbClr val="14273D"/>
                </a:solidFill>
                <a:latin typeface="Inter Display" pitchFamily="34" charset="0"/>
                <a:ea typeface="Inter Display" pitchFamily="34" charset="-122"/>
                <a:cs typeface="Inter Display" pitchFamily="34" charset="-120"/>
              </a:rPr>
              <a:t>Canary / promote</a:t>
            </a:r>
            <a:endParaRPr lang="en-US" sz="1400" dirty="0"/>
          </a:p>
        </p:txBody>
      </p:sp>
      <p:sp>
        <p:nvSpPr>
          <p:cNvPr id="57" name="Text 55"/>
          <p:cNvSpPr/>
          <p:nvPr/>
        </p:nvSpPr>
        <p:spPr>
          <a:xfrm>
            <a:off x="8129016" y="2532888"/>
            <a:ext cx="3209544" cy="118872"/>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Evidence, baselines, replay, risk, persistence, scope, and rollback clear.</a:t>
            </a:r>
            <a:endParaRPr lang="en-US" sz="800" dirty="0"/>
          </a:p>
        </p:txBody>
      </p:sp>
      <p:sp>
        <p:nvSpPr>
          <p:cNvPr id="58" name="Shape 56"/>
          <p:cNvSpPr/>
          <p:nvPr/>
        </p:nvSpPr>
        <p:spPr>
          <a:xfrm>
            <a:off x="7973568" y="2971800"/>
            <a:ext cx="3520440" cy="914400"/>
          </a:xfrm>
          <a:prstGeom prst="roundRect">
            <a:avLst>
              <a:gd name="adj" fmla="val 8000"/>
            </a:avLst>
          </a:prstGeom>
          <a:solidFill>
            <a:srgbClr val="FFFDF8"/>
          </a:solidFill>
          <a:ln w="10160">
            <a:solidFill>
              <a:srgbClr val="E7BD62"/>
            </a:solidFill>
            <a:prstDash val="solid"/>
          </a:ln>
        </p:spPr>
      </p:sp>
      <p:sp>
        <p:nvSpPr>
          <p:cNvPr id="59" name="Text 57"/>
          <p:cNvSpPr/>
          <p:nvPr/>
        </p:nvSpPr>
        <p:spPr>
          <a:xfrm>
            <a:off x="8129016" y="3099816"/>
            <a:ext cx="320954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GOLD</a:t>
            </a:r>
            <a:endParaRPr lang="en-US" sz="680" dirty="0"/>
          </a:p>
        </p:txBody>
      </p:sp>
      <p:sp>
        <p:nvSpPr>
          <p:cNvPr id="60" name="Text 58"/>
          <p:cNvSpPr/>
          <p:nvPr/>
        </p:nvSpPr>
        <p:spPr>
          <a:xfrm>
            <a:off x="8129016" y="3227832"/>
            <a:ext cx="3209544" cy="329184"/>
          </a:xfrm>
          <a:prstGeom prst="rect">
            <a:avLst/>
          </a:prstGeom>
          <a:noFill/>
          <a:ln/>
        </p:spPr>
        <p:txBody>
          <a:bodyPr wrap="square" lIns="0" tIns="0" rIns="0" bIns="0" rtlCol="0" anchor="ctr">
            <a:normAutofit/>
          </a:bodyPr>
          <a:lstStyle/>
          <a:p>
            <a:pPr indent="0" marL="0">
              <a:buNone/>
            </a:pPr>
            <a:r>
              <a:rPr lang="en-US" sz="1400" b="1" dirty="0">
                <a:solidFill>
                  <a:srgbClr val="14273D"/>
                </a:solidFill>
                <a:latin typeface="Inter Display" pitchFamily="34" charset="0"/>
                <a:ea typeface="Inter Display" pitchFamily="34" charset="-122"/>
                <a:cs typeface="Inter Display" pitchFamily="34" charset="-120"/>
              </a:rPr>
              <a:t>Probe / Move-37 stress</a:t>
            </a:r>
            <a:endParaRPr lang="en-US" sz="1400" dirty="0"/>
          </a:p>
        </p:txBody>
      </p:sp>
      <p:sp>
        <p:nvSpPr>
          <p:cNvPr id="61" name="Text 59"/>
          <p:cNvSpPr/>
          <p:nvPr/>
        </p:nvSpPr>
        <p:spPr>
          <a:xfrm>
            <a:off x="8129016" y="3630168"/>
            <a:ext cx="3209544" cy="118872"/>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Interesting enough to test; not yet authorized to insert.</a:t>
            </a:r>
            <a:endParaRPr lang="en-US" sz="800" dirty="0"/>
          </a:p>
        </p:txBody>
      </p:sp>
      <p:sp>
        <p:nvSpPr>
          <p:cNvPr id="62" name="Shape 60"/>
          <p:cNvSpPr/>
          <p:nvPr/>
        </p:nvSpPr>
        <p:spPr>
          <a:xfrm>
            <a:off x="7973568" y="4069080"/>
            <a:ext cx="3520440" cy="914400"/>
          </a:xfrm>
          <a:prstGeom prst="roundRect">
            <a:avLst>
              <a:gd name="adj" fmla="val 8000"/>
            </a:avLst>
          </a:prstGeom>
          <a:solidFill>
            <a:srgbClr val="FFFDF8"/>
          </a:solidFill>
          <a:ln w="10160">
            <a:solidFill>
              <a:srgbClr val="FF7584"/>
            </a:solidFill>
            <a:prstDash val="solid"/>
          </a:ln>
        </p:spPr>
      </p:sp>
      <p:sp>
        <p:nvSpPr>
          <p:cNvPr id="63" name="Text 61"/>
          <p:cNvSpPr/>
          <p:nvPr/>
        </p:nvSpPr>
        <p:spPr>
          <a:xfrm>
            <a:off x="8129016" y="4197096"/>
            <a:ext cx="320954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RED / BLUE</a:t>
            </a:r>
            <a:endParaRPr lang="en-US" sz="680" dirty="0"/>
          </a:p>
        </p:txBody>
      </p:sp>
      <p:sp>
        <p:nvSpPr>
          <p:cNvPr id="64" name="Text 62"/>
          <p:cNvSpPr/>
          <p:nvPr/>
        </p:nvSpPr>
        <p:spPr>
          <a:xfrm>
            <a:off x="8129016" y="4325112"/>
            <a:ext cx="3209544" cy="329184"/>
          </a:xfrm>
          <a:prstGeom prst="rect">
            <a:avLst/>
          </a:prstGeom>
          <a:noFill/>
          <a:ln/>
        </p:spPr>
        <p:txBody>
          <a:bodyPr wrap="square" lIns="0" tIns="0" rIns="0" bIns="0" rtlCol="0" anchor="ctr">
            <a:normAutofit/>
          </a:bodyPr>
          <a:lstStyle/>
          <a:p>
            <a:pPr indent="0" marL="0">
              <a:buNone/>
            </a:pPr>
            <a:r>
              <a:rPr lang="en-US" sz="1400" b="1" dirty="0">
                <a:solidFill>
                  <a:srgbClr val="14273D"/>
                </a:solidFill>
                <a:latin typeface="Inter Display" pitchFamily="34" charset="0"/>
                <a:ea typeface="Inter Display" pitchFamily="34" charset="-122"/>
                <a:cs typeface="Inter Display" pitchFamily="34" charset="-120"/>
              </a:rPr>
              <a:t>Reject, quarantine, or repair</a:t>
            </a:r>
            <a:endParaRPr lang="en-US" sz="1400" dirty="0"/>
          </a:p>
        </p:txBody>
      </p:sp>
      <p:sp>
        <p:nvSpPr>
          <p:cNvPr id="65" name="Text 63"/>
          <p:cNvSpPr/>
          <p:nvPr/>
        </p:nvSpPr>
        <p:spPr>
          <a:xfrm>
            <a:off x="8129016" y="4727448"/>
            <a:ext cx="3209544" cy="118872"/>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Risk, drift, baseline, evidence, or persistence gate failed.</a:t>
            </a:r>
            <a:endParaRPr lang="en-US" sz="80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MOVE-37 DOSSIER</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A breakthrough is a dossier-backed state transition—not a narrative.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High novelty raises the proof burden and forces reproduction, policy shocks, persistence testing, and explicit governance review.</a:t>
            </a:r>
            <a:endParaRPr lang="en-US" sz="1450" dirty="0"/>
          </a:p>
        </p:txBody>
      </p:sp>
      <p:sp>
        <p:nvSpPr>
          <p:cNvPr id="30" name="Shape 28"/>
          <p:cNvSpPr/>
          <p:nvPr/>
        </p:nvSpPr>
        <p:spPr>
          <a:xfrm>
            <a:off x="960120" y="1783080"/>
            <a:ext cx="10012680" cy="484632"/>
          </a:xfrm>
          <a:prstGeom prst="roundRect">
            <a:avLst>
              <a:gd name="adj" fmla="val 11321"/>
            </a:avLst>
          </a:prstGeom>
          <a:solidFill>
            <a:srgbClr val="102238"/>
          </a:solidFill>
          <a:ln w="12700">
            <a:solidFill>
              <a:srgbClr val="E7BD62"/>
            </a:solidFill>
            <a:prstDash val="solid"/>
          </a:ln>
        </p:spPr>
      </p:sp>
      <p:sp>
        <p:nvSpPr>
          <p:cNvPr id="31" name="Text 29"/>
          <p:cNvSpPr/>
          <p:nvPr/>
        </p:nvSpPr>
        <p:spPr>
          <a:xfrm>
            <a:off x="1188720" y="1920240"/>
            <a:ext cx="1143000" cy="118872"/>
          </a:xfrm>
          <a:prstGeom prst="rect">
            <a:avLst/>
          </a:prstGeom>
          <a:noFill/>
          <a:ln/>
        </p:spPr>
        <p:txBody>
          <a:bodyPr wrap="square" lIns="0" tIns="0" rIns="0" bIns="0" rtlCol="0" anchor="ctr"/>
          <a:lstStyle/>
          <a:p>
            <a:pPr indent="0" marL="0">
              <a:buNone/>
            </a:pPr>
            <a:r>
              <a:rPr lang="en-US" sz="710" b="1" dirty="0">
                <a:solidFill>
                  <a:srgbClr val="E7BD62"/>
                </a:solidFill>
                <a:latin typeface="Inter" pitchFamily="34" charset="0"/>
                <a:ea typeface="Inter" pitchFamily="34" charset="-122"/>
                <a:cs typeface="Inter" pitchFamily="34" charset="-120"/>
              </a:rPr>
              <a:t>RECOGNIZE</a:t>
            </a:r>
            <a:endParaRPr lang="en-US" sz="710" dirty="0"/>
          </a:p>
        </p:txBody>
      </p:sp>
      <p:sp>
        <p:nvSpPr>
          <p:cNvPr id="32" name="Text 30"/>
          <p:cNvSpPr/>
          <p:nvPr/>
        </p:nvSpPr>
        <p:spPr>
          <a:xfrm>
            <a:off x="2423160" y="1892808"/>
            <a:ext cx="8183880" cy="182880"/>
          </a:xfrm>
          <a:prstGeom prst="rect">
            <a:avLst/>
          </a:prstGeom>
          <a:noFill/>
          <a:ln/>
        </p:spPr>
        <p:txBody>
          <a:bodyPr wrap="square" lIns="0" tIns="0" rIns="0" bIns="0" rtlCol="0" anchor="ctr">
            <a:normAutofit/>
          </a:bodyPr>
          <a:lstStyle/>
          <a:p>
            <a:pPr indent="0" marL="0">
              <a:buNone/>
            </a:pPr>
            <a:r>
              <a:rPr lang="en-US" sz="880" dirty="0">
                <a:solidFill>
                  <a:srgbClr val="B9C5D2"/>
                </a:solidFill>
                <a:latin typeface="Inter" pitchFamily="34" charset="0"/>
                <a:ea typeface="Inter" pitchFamily="34" charset="-122"/>
                <a:cs typeface="Inter" pitchFamily="34" charset="-120"/>
              </a:rPr>
              <a:t>NoveltyDistance + AdvantageDelta + risk + ECI</a:t>
            </a:r>
            <a:endParaRPr lang="en-US" sz="880" dirty="0"/>
          </a:p>
        </p:txBody>
      </p:sp>
      <p:sp>
        <p:nvSpPr>
          <p:cNvPr id="33" name="Shape 31"/>
          <p:cNvSpPr/>
          <p:nvPr/>
        </p:nvSpPr>
        <p:spPr>
          <a:xfrm>
            <a:off x="960120" y="2441448"/>
            <a:ext cx="10012680" cy="484632"/>
          </a:xfrm>
          <a:prstGeom prst="roundRect">
            <a:avLst>
              <a:gd name="adj" fmla="val 11321"/>
            </a:avLst>
          </a:prstGeom>
          <a:solidFill>
            <a:srgbClr val="102238"/>
          </a:solidFill>
          <a:ln w="12700">
            <a:solidFill>
              <a:srgbClr val="6FB5FF"/>
            </a:solidFill>
            <a:prstDash val="solid"/>
          </a:ln>
        </p:spPr>
      </p:sp>
      <p:sp>
        <p:nvSpPr>
          <p:cNvPr id="34" name="Text 32"/>
          <p:cNvSpPr/>
          <p:nvPr/>
        </p:nvSpPr>
        <p:spPr>
          <a:xfrm>
            <a:off x="1188720" y="2578608"/>
            <a:ext cx="1143000" cy="118872"/>
          </a:xfrm>
          <a:prstGeom prst="rect">
            <a:avLst/>
          </a:prstGeom>
          <a:noFill/>
          <a:ln/>
        </p:spPr>
        <p:txBody>
          <a:bodyPr wrap="square" lIns="0" tIns="0" rIns="0" bIns="0" rtlCol="0" anchor="ctr"/>
          <a:lstStyle/>
          <a:p>
            <a:pPr indent="0" marL="0">
              <a:buNone/>
            </a:pPr>
            <a:r>
              <a:rPr lang="en-US" sz="710" b="1" dirty="0">
                <a:solidFill>
                  <a:srgbClr val="6FB5FF"/>
                </a:solidFill>
                <a:latin typeface="Inter" pitchFamily="34" charset="0"/>
                <a:ea typeface="Inter" pitchFamily="34" charset="-122"/>
                <a:cs typeface="Inter" pitchFamily="34" charset="-120"/>
              </a:rPr>
              <a:t>REPRODUCE</a:t>
            </a:r>
            <a:endParaRPr lang="en-US" sz="710" dirty="0"/>
          </a:p>
        </p:txBody>
      </p:sp>
      <p:sp>
        <p:nvSpPr>
          <p:cNvPr id="35" name="Text 33"/>
          <p:cNvSpPr/>
          <p:nvPr/>
        </p:nvSpPr>
        <p:spPr>
          <a:xfrm>
            <a:off x="2423160" y="2551176"/>
            <a:ext cx="8183880" cy="182880"/>
          </a:xfrm>
          <a:prstGeom prst="rect">
            <a:avLst/>
          </a:prstGeom>
          <a:noFill/>
          <a:ln/>
        </p:spPr>
        <p:txBody>
          <a:bodyPr wrap="square" lIns="0" tIns="0" rIns="0" bIns="0" rtlCol="0" anchor="ctr">
            <a:normAutofit/>
          </a:bodyPr>
          <a:lstStyle/>
          <a:p>
            <a:pPr indent="0" marL="0">
              <a:buNone/>
            </a:pPr>
            <a:r>
              <a:rPr lang="en-US" sz="880" dirty="0">
                <a:solidFill>
                  <a:srgbClr val="B9C5D2"/>
                </a:solidFill>
                <a:latin typeface="Inter" pitchFamily="34" charset="0"/>
                <a:ea typeface="Inter" pitchFamily="34" charset="-122"/>
                <a:cs typeface="Inter" pitchFamily="34" charset="-120"/>
              </a:rPr>
              <a:t>Candidate and baselines · fixed seeds · hash checks</a:t>
            </a:r>
            <a:endParaRPr lang="en-US" sz="880" dirty="0"/>
          </a:p>
        </p:txBody>
      </p:sp>
      <p:sp>
        <p:nvSpPr>
          <p:cNvPr id="36" name="Shape 34"/>
          <p:cNvSpPr/>
          <p:nvPr/>
        </p:nvSpPr>
        <p:spPr>
          <a:xfrm>
            <a:off x="960120" y="3099816"/>
            <a:ext cx="10012680" cy="484632"/>
          </a:xfrm>
          <a:prstGeom prst="roundRect">
            <a:avLst>
              <a:gd name="adj" fmla="val 11321"/>
            </a:avLst>
          </a:prstGeom>
          <a:solidFill>
            <a:srgbClr val="102238"/>
          </a:solidFill>
          <a:ln w="12700">
            <a:solidFill>
              <a:srgbClr val="FF7584"/>
            </a:solidFill>
            <a:prstDash val="solid"/>
          </a:ln>
        </p:spPr>
      </p:sp>
      <p:sp>
        <p:nvSpPr>
          <p:cNvPr id="37" name="Text 35"/>
          <p:cNvSpPr/>
          <p:nvPr/>
        </p:nvSpPr>
        <p:spPr>
          <a:xfrm>
            <a:off x="1188720" y="3236976"/>
            <a:ext cx="1143000" cy="118872"/>
          </a:xfrm>
          <a:prstGeom prst="rect">
            <a:avLst/>
          </a:prstGeom>
          <a:noFill/>
          <a:ln/>
        </p:spPr>
        <p:txBody>
          <a:bodyPr wrap="square" lIns="0" tIns="0" rIns="0" bIns="0" rtlCol="0" anchor="ctr"/>
          <a:lstStyle/>
          <a:p>
            <a:pPr indent="0" marL="0">
              <a:buNone/>
            </a:pPr>
            <a:r>
              <a:rPr lang="en-US" sz="710" b="1" dirty="0">
                <a:solidFill>
                  <a:srgbClr val="FF7584"/>
                </a:solidFill>
                <a:latin typeface="Inter" pitchFamily="34" charset="0"/>
                <a:ea typeface="Inter" pitchFamily="34" charset="-122"/>
                <a:cs typeface="Inter" pitchFamily="34" charset="-120"/>
              </a:rPr>
              <a:t>STRESS</a:t>
            </a:r>
            <a:endParaRPr lang="en-US" sz="710" dirty="0"/>
          </a:p>
        </p:txBody>
      </p:sp>
      <p:sp>
        <p:nvSpPr>
          <p:cNvPr id="38" name="Text 36"/>
          <p:cNvSpPr/>
          <p:nvPr/>
        </p:nvSpPr>
        <p:spPr>
          <a:xfrm>
            <a:off x="2423160" y="3209544"/>
            <a:ext cx="8183880" cy="182880"/>
          </a:xfrm>
          <a:prstGeom prst="rect">
            <a:avLst/>
          </a:prstGeom>
          <a:noFill/>
          <a:ln/>
        </p:spPr>
        <p:txBody>
          <a:bodyPr wrap="square" lIns="0" tIns="0" rIns="0" bIns="0" rtlCol="0" anchor="ctr">
            <a:normAutofit/>
          </a:bodyPr>
          <a:lstStyle/>
          <a:p>
            <a:pPr indent="0" marL="0">
              <a:buNone/>
            </a:pPr>
            <a:r>
              <a:rPr lang="en-US" sz="880" dirty="0">
                <a:solidFill>
                  <a:srgbClr val="B9C5D2"/>
                </a:solidFill>
                <a:latin typeface="Inter" pitchFamily="34" charset="0"/>
                <a:ea typeface="Inter" pitchFamily="34" charset="-122"/>
                <a:cs typeface="Inter" pitchFamily="34" charset="-120"/>
              </a:rPr>
              <a:t>Policy shocks · perturbations · side-effect scans</a:t>
            </a:r>
            <a:endParaRPr lang="en-US" sz="880" dirty="0"/>
          </a:p>
        </p:txBody>
      </p:sp>
      <p:sp>
        <p:nvSpPr>
          <p:cNvPr id="39" name="Shape 37"/>
          <p:cNvSpPr/>
          <p:nvPr/>
        </p:nvSpPr>
        <p:spPr>
          <a:xfrm>
            <a:off x="960120" y="3758184"/>
            <a:ext cx="10012680" cy="484632"/>
          </a:xfrm>
          <a:prstGeom prst="roundRect">
            <a:avLst>
              <a:gd name="adj" fmla="val 11321"/>
            </a:avLst>
          </a:prstGeom>
          <a:solidFill>
            <a:srgbClr val="102238"/>
          </a:solidFill>
          <a:ln w="12700">
            <a:solidFill>
              <a:srgbClr val="43D79B"/>
            </a:solidFill>
            <a:prstDash val="solid"/>
          </a:ln>
        </p:spPr>
      </p:sp>
      <p:sp>
        <p:nvSpPr>
          <p:cNvPr id="40" name="Text 38"/>
          <p:cNvSpPr/>
          <p:nvPr/>
        </p:nvSpPr>
        <p:spPr>
          <a:xfrm>
            <a:off x="1188720" y="3895344"/>
            <a:ext cx="1143000" cy="118872"/>
          </a:xfrm>
          <a:prstGeom prst="rect">
            <a:avLst/>
          </a:prstGeom>
          <a:noFill/>
          <a:ln/>
        </p:spPr>
        <p:txBody>
          <a:bodyPr wrap="square" lIns="0" tIns="0" rIns="0" bIns="0" rtlCol="0" anchor="ctr"/>
          <a:lstStyle/>
          <a:p>
            <a:pPr indent="0" marL="0">
              <a:buNone/>
            </a:pPr>
            <a:r>
              <a:rPr lang="en-US" sz="710" b="1" dirty="0">
                <a:solidFill>
                  <a:srgbClr val="43D79B"/>
                </a:solidFill>
                <a:latin typeface="Inter" pitchFamily="34" charset="0"/>
                <a:ea typeface="Inter" pitchFamily="34" charset="-122"/>
                <a:cs typeface="Inter" pitchFamily="34" charset="-120"/>
              </a:rPr>
              <a:t>PERSIST</a:t>
            </a:r>
            <a:endParaRPr lang="en-US" sz="710" dirty="0"/>
          </a:p>
        </p:txBody>
      </p:sp>
      <p:sp>
        <p:nvSpPr>
          <p:cNvPr id="41" name="Text 39"/>
          <p:cNvSpPr/>
          <p:nvPr/>
        </p:nvSpPr>
        <p:spPr>
          <a:xfrm>
            <a:off x="2423160" y="3867912"/>
            <a:ext cx="8183880" cy="182880"/>
          </a:xfrm>
          <a:prstGeom prst="rect">
            <a:avLst/>
          </a:prstGeom>
          <a:noFill/>
          <a:ln/>
        </p:spPr>
        <p:txBody>
          <a:bodyPr wrap="square" lIns="0" tIns="0" rIns="0" bIns="0" rtlCol="0" anchor="ctr">
            <a:normAutofit/>
          </a:bodyPr>
          <a:lstStyle/>
          <a:p>
            <a:pPr indent="0" marL="0">
              <a:buNone/>
            </a:pPr>
            <a:r>
              <a:rPr lang="en-US" sz="880" dirty="0">
                <a:solidFill>
                  <a:srgbClr val="B9C5D2"/>
                </a:solidFill>
                <a:latin typeface="Inter" pitchFamily="34" charset="0"/>
                <a:ea typeface="Inter" pitchFamily="34" charset="-122"/>
                <a:cs typeface="Inter" pitchFamily="34" charset="-120"/>
              </a:rPr>
              <a:t>Positive advantage across minimum replays and shocks</a:t>
            </a:r>
            <a:endParaRPr lang="en-US" sz="880" dirty="0"/>
          </a:p>
        </p:txBody>
      </p:sp>
      <p:sp>
        <p:nvSpPr>
          <p:cNvPr id="42" name="Shape 40"/>
          <p:cNvSpPr/>
          <p:nvPr/>
        </p:nvSpPr>
        <p:spPr>
          <a:xfrm>
            <a:off x="960120" y="4416552"/>
            <a:ext cx="10012680" cy="484632"/>
          </a:xfrm>
          <a:prstGeom prst="roundRect">
            <a:avLst>
              <a:gd name="adj" fmla="val 11321"/>
            </a:avLst>
          </a:prstGeom>
          <a:solidFill>
            <a:srgbClr val="102238"/>
          </a:solidFill>
          <a:ln w="12700">
            <a:solidFill>
              <a:srgbClr val="54D6D0"/>
            </a:solidFill>
            <a:prstDash val="solid"/>
          </a:ln>
        </p:spPr>
      </p:sp>
      <p:sp>
        <p:nvSpPr>
          <p:cNvPr id="43" name="Text 41"/>
          <p:cNvSpPr/>
          <p:nvPr/>
        </p:nvSpPr>
        <p:spPr>
          <a:xfrm>
            <a:off x="1188720" y="4553712"/>
            <a:ext cx="1143000" cy="118872"/>
          </a:xfrm>
          <a:prstGeom prst="rect">
            <a:avLst/>
          </a:prstGeom>
          <a:noFill/>
          <a:ln/>
        </p:spPr>
        <p:txBody>
          <a:bodyPr wrap="square" lIns="0" tIns="0" rIns="0" bIns="0" rtlCol="0" anchor="ctr"/>
          <a:lstStyle/>
          <a:p>
            <a:pPr indent="0" marL="0">
              <a:buNone/>
            </a:pPr>
            <a:r>
              <a:rPr lang="en-US" sz="710" b="1" dirty="0">
                <a:solidFill>
                  <a:srgbClr val="54D6D0"/>
                </a:solidFill>
                <a:latin typeface="Inter" pitchFamily="34" charset="0"/>
                <a:ea typeface="Inter" pitchFamily="34" charset="-122"/>
                <a:cs typeface="Inter" pitchFamily="34" charset="-120"/>
              </a:rPr>
              <a:t>PACKAGE</a:t>
            </a:r>
            <a:endParaRPr lang="en-US" sz="710" dirty="0"/>
          </a:p>
        </p:txBody>
      </p:sp>
      <p:sp>
        <p:nvSpPr>
          <p:cNvPr id="44" name="Text 42"/>
          <p:cNvSpPr/>
          <p:nvPr/>
        </p:nvSpPr>
        <p:spPr>
          <a:xfrm>
            <a:off x="2423160" y="4526280"/>
            <a:ext cx="8183880" cy="182880"/>
          </a:xfrm>
          <a:prstGeom prst="rect">
            <a:avLst/>
          </a:prstGeom>
          <a:noFill/>
          <a:ln/>
        </p:spPr>
        <p:txBody>
          <a:bodyPr wrap="square" lIns="0" tIns="0" rIns="0" bIns="0" rtlCol="0" anchor="ctr">
            <a:normAutofit/>
          </a:bodyPr>
          <a:lstStyle/>
          <a:p>
            <a:pPr indent="0" marL="0">
              <a:buNone/>
            </a:pPr>
            <a:r>
              <a:rPr lang="en-US" sz="880" dirty="0">
                <a:solidFill>
                  <a:srgbClr val="B9C5D2"/>
                </a:solidFill>
                <a:latin typeface="Inter" pitchFamily="34" charset="0"/>
                <a:ea typeface="Inter" pitchFamily="34" charset="-122"/>
                <a:cs typeface="Inter" pitchFamily="34" charset="-120"/>
              </a:rPr>
              <a:t>Public summary + private appendix + ProofBundles</a:t>
            </a:r>
            <a:endParaRPr lang="en-US" sz="880" dirty="0"/>
          </a:p>
        </p:txBody>
      </p:sp>
      <p:sp>
        <p:nvSpPr>
          <p:cNvPr id="45" name="Shape 43"/>
          <p:cNvSpPr/>
          <p:nvPr/>
        </p:nvSpPr>
        <p:spPr>
          <a:xfrm>
            <a:off x="960120" y="5074920"/>
            <a:ext cx="10012680" cy="484632"/>
          </a:xfrm>
          <a:prstGeom prst="roundRect">
            <a:avLst>
              <a:gd name="adj" fmla="val 11321"/>
            </a:avLst>
          </a:prstGeom>
          <a:solidFill>
            <a:srgbClr val="102238"/>
          </a:solidFill>
          <a:ln w="12700">
            <a:solidFill>
              <a:srgbClr val="A99CFF"/>
            </a:solidFill>
            <a:prstDash val="solid"/>
          </a:ln>
        </p:spPr>
      </p:sp>
      <p:sp>
        <p:nvSpPr>
          <p:cNvPr id="46" name="Text 44"/>
          <p:cNvSpPr/>
          <p:nvPr/>
        </p:nvSpPr>
        <p:spPr>
          <a:xfrm>
            <a:off x="1188720" y="5212080"/>
            <a:ext cx="1143000" cy="118872"/>
          </a:xfrm>
          <a:prstGeom prst="rect">
            <a:avLst/>
          </a:prstGeom>
          <a:noFill/>
          <a:ln/>
        </p:spPr>
        <p:txBody>
          <a:bodyPr wrap="square" lIns="0" tIns="0" rIns="0" bIns="0" rtlCol="0" anchor="ctr"/>
          <a:lstStyle/>
          <a:p>
            <a:pPr indent="0" marL="0">
              <a:buNone/>
            </a:pPr>
            <a:r>
              <a:rPr lang="en-US" sz="710" b="1" dirty="0">
                <a:solidFill>
                  <a:srgbClr val="A99CFF"/>
                </a:solidFill>
                <a:latin typeface="Inter" pitchFamily="34" charset="0"/>
                <a:ea typeface="Inter" pitchFamily="34" charset="-122"/>
                <a:cs typeface="Inter" pitchFamily="34" charset="-120"/>
              </a:rPr>
              <a:t>CANARY</a:t>
            </a:r>
            <a:endParaRPr lang="en-US" sz="710" dirty="0"/>
          </a:p>
        </p:txBody>
      </p:sp>
      <p:sp>
        <p:nvSpPr>
          <p:cNvPr id="47" name="Text 45"/>
          <p:cNvSpPr/>
          <p:nvPr/>
        </p:nvSpPr>
        <p:spPr>
          <a:xfrm>
            <a:off x="2423160" y="5184648"/>
            <a:ext cx="8183880" cy="182880"/>
          </a:xfrm>
          <a:prstGeom prst="rect">
            <a:avLst/>
          </a:prstGeom>
          <a:noFill/>
          <a:ln/>
        </p:spPr>
        <p:txBody>
          <a:bodyPr wrap="square" lIns="0" tIns="0" rIns="0" bIns="0" rtlCol="0" anchor="ctr">
            <a:normAutofit/>
          </a:bodyPr>
          <a:lstStyle/>
          <a:p>
            <a:pPr indent="0" marL="0">
              <a:buNone/>
            </a:pPr>
            <a:r>
              <a:rPr lang="en-US" sz="880" dirty="0">
                <a:solidFill>
                  <a:srgbClr val="B9C5D2"/>
                </a:solidFill>
                <a:latin typeface="Inter" pitchFamily="34" charset="0"/>
                <a:ea typeface="Inter" pitchFamily="34" charset="-122"/>
                <a:cs typeface="Inter" pitchFamily="34" charset="-120"/>
              </a:rPr>
              <a:t>Monitoring · challenge · rollback · delayed outcomes</a:t>
            </a:r>
            <a:endParaRPr lang="en-US" sz="880" dirty="0"/>
          </a:p>
        </p:txBody>
      </p:sp>
      <p:sp>
        <p:nvSpPr>
          <p:cNvPr id="48" name="Shape 46"/>
          <p:cNvSpPr/>
          <p:nvPr/>
        </p:nvSpPr>
        <p:spPr>
          <a:xfrm>
            <a:off x="1965960" y="5715000"/>
            <a:ext cx="8183880" cy="502920"/>
          </a:xfrm>
          <a:prstGeom prst="roundRect">
            <a:avLst>
              <a:gd name="adj" fmla="val 14545"/>
            </a:avLst>
          </a:prstGeom>
          <a:solidFill>
            <a:srgbClr val="102238"/>
          </a:solidFill>
          <a:ln w="10160">
            <a:solidFill>
              <a:srgbClr val="E7BD62"/>
            </a:solidFill>
            <a:prstDash val="solid"/>
          </a:ln>
        </p:spPr>
      </p:sp>
      <p:sp>
        <p:nvSpPr>
          <p:cNvPr id="49" name="Text 47"/>
          <p:cNvSpPr/>
          <p:nvPr/>
        </p:nvSpPr>
        <p:spPr>
          <a:xfrm>
            <a:off x="2121408" y="5843016"/>
            <a:ext cx="787298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RULE</a:t>
            </a:r>
            <a:endParaRPr lang="en-US" sz="680" dirty="0"/>
          </a:p>
        </p:txBody>
      </p:sp>
      <p:sp>
        <p:nvSpPr>
          <p:cNvPr id="50" name="Text 48"/>
          <p:cNvSpPr/>
          <p:nvPr/>
        </p:nvSpPr>
        <p:spPr>
          <a:xfrm>
            <a:off x="2121408" y="5971032"/>
            <a:ext cx="7872984" cy="329184"/>
          </a:xfrm>
          <a:prstGeom prst="rect">
            <a:avLst/>
          </a:prstGeom>
          <a:noFill/>
          <a:ln/>
        </p:spPr>
        <p:txBody>
          <a:bodyPr wrap="square" lIns="0" tIns="0" rIns="0" bIns="0" rtlCol="0" anchor="ctr">
            <a:normAutofit/>
          </a:bodyPr>
          <a:lstStyle/>
          <a:p>
            <a:pPr indent="0" marL="0">
              <a:buNone/>
            </a:pPr>
            <a:r>
              <a:rPr lang="en-US" sz="1190" b="1" dirty="0">
                <a:solidFill>
                  <a:srgbClr val="F7FBFF"/>
                </a:solidFill>
                <a:latin typeface="Inter Display" pitchFamily="34" charset="0"/>
                <a:ea typeface="Inter Display" pitchFamily="34" charset="-122"/>
                <a:cs typeface="Inter Display" pitchFamily="34" charset="-120"/>
              </a:rPr>
              <a:t>No Move-37 claim without a replayable dossier. No strategic promotion without persistence.</a:t>
            </a:r>
            <a:endParaRPr lang="en-US" sz="119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RSI CONTROL ROOM</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14273D"/>
                </a:solidFill>
                <a:latin typeface="Inter Display" pitchFamily="34" charset="0"/>
                <a:ea typeface="Inter Display" pitchFamily="34" charset="-122"/>
                <a:cs typeface="Inter Display" pitchFamily="34" charset="-120"/>
              </a:rPr>
              <a:t>The RSI dashboard measures state capacity—not merely candidate scores.</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Compounding depends on legibility, control, continuity, coordination, and evidence-preserving memory.</a:t>
            </a:r>
            <a:endParaRPr lang="en-US" sz="1450" dirty="0"/>
          </a:p>
        </p:txBody>
      </p:sp>
      <p:sp>
        <p:nvSpPr>
          <p:cNvPr id="30" name="Shape 28"/>
          <p:cNvSpPr/>
          <p:nvPr/>
        </p:nvSpPr>
        <p:spPr>
          <a:xfrm>
            <a:off x="640080" y="1755648"/>
            <a:ext cx="3547872" cy="1325880"/>
          </a:xfrm>
          <a:prstGeom prst="roundRect">
            <a:avLst>
              <a:gd name="adj" fmla="val 5517"/>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795528" y="1883664"/>
            <a:ext cx="323697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REPLAYABILITY</a:t>
            </a:r>
            <a:endParaRPr lang="en-US" sz="680" dirty="0"/>
          </a:p>
        </p:txBody>
      </p:sp>
      <p:sp>
        <p:nvSpPr>
          <p:cNvPr id="32" name="Text 30"/>
          <p:cNvSpPr/>
          <p:nvPr/>
        </p:nvSpPr>
        <p:spPr>
          <a:xfrm>
            <a:off x="795528" y="2011680"/>
            <a:ext cx="3236976" cy="329184"/>
          </a:xfrm>
          <a:prstGeom prst="rect">
            <a:avLst/>
          </a:prstGeom>
          <a:noFill/>
          <a:ln/>
        </p:spPr>
        <p:txBody>
          <a:bodyPr wrap="square" lIns="0" tIns="0" rIns="0" bIns="0" rtlCol="0" anchor="ctr">
            <a:normAutofit/>
          </a:bodyPr>
          <a:lstStyle/>
          <a:p>
            <a:pPr indent="0" marL="0">
              <a:buNone/>
            </a:pPr>
            <a:r>
              <a:rPr lang="en-US" sz="1200" b="1" dirty="0">
                <a:solidFill>
                  <a:srgbClr val="14273D"/>
                </a:solidFill>
                <a:latin typeface="Inter Display" pitchFamily="34" charset="0"/>
                <a:ea typeface="Inter Display" pitchFamily="34" charset="-122"/>
                <a:cs typeface="Inter Display" pitchFamily="34" charset="-120"/>
              </a:rPr>
              <a:t>% cycles reproducible · schema failures · drift failures</a:t>
            </a:r>
            <a:endParaRPr lang="en-US" sz="1200" dirty="0"/>
          </a:p>
        </p:txBody>
      </p:sp>
      <p:sp>
        <p:nvSpPr>
          <p:cNvPr id="33" name="Text 31"/>
          <p:cNvSpPr/>
          <p:nvPr/>
        </p:nvSpPr>
        <p:spPr>
          <a:xfrm>
            <a:off x="795528" y="2414016"/>
            <a:ext cx="3236976" cy="530352"/>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Board-level operational metric</a:t>
            </a:r>
            <a:endParaRPr lang="en-US" sz="800" dirty="0"/>
          </a:p>
        </p:txBody>
      </p:sp>
      <p:sp>
        <p:nvSpPr>
          <p:cNvPr id="34" name="Shape 32"/>
          <p:cNvSpPr/>
          <p:nvPr/>
        </p:nvSpPr>
        <p:spPr>
          <a:xfrm>
            <a:off x="4443984" y="1755648"/>
            <a:ext cx="3547872" cy="1325880"/>
          </a:xfrm>
          <a:prstGeom prst="roundRect">
            <a:avLst>
              <a:gd name="adj" fmla="val 5517"/>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4599432" y="1883664"/>
            <a:ext cx="32369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EVIDENCE QUALITY</a:t>
            </a:r>
            <a:endParaRPr lang="en-US" sz="680" dirty="0"/>
          </a:p>
        </p:txBody>
      </p:sp>
      <p:sp>
        <p:nvSpPr>
          <p:cNvPr id="36" name="Text 34"/>
          <p:cNvSpPr/>
          <p:nvPr/>
        </p:nvSpPr>
        <p:spPr>
          <a:xfrm>
            <a:off x="4599432" y="2011680"/>
            <a:ext cx="3236976" cy="329184"/>
          </a:xfrm>
          <a:prstGeom prst="rect">
            <a:avLst/>
          </a:prstGeom>
          <a:noFill/>
          <a:ln/>
        </p:spPr>
        <p:txBody>
          <a:bodyPr wrap="square" lIns="0" tIns="0" rIns="0" bIns="0" rtlCol="0" anchor="ctr">
            <a:normAutofit/>
          </a:bodyPr>
          <a:lstStyle/>
          <a:p>
            <a:pPr indent="0" marL="0">
              <a:buNone/>
            </a:pPr>
            <a:r>
              <a:rPr lang="en-US" sz="1200" b="1" dirty="0">
                <a:solidFill>
                  <a:srgbClr val="14273D"/>
                </a:solidFill>
                <a:latin typeface="Inter Display" pitchFamily="34" charset="0"/>
                <a:ea typeface="Inter Display" pitchFamily="34" charset="-122"/>
                <a:cs typeface="Inter Display" pitchFamily="34" charset="-120"/>
              </a:rPr>
              <a:t>Executed vs simulated · ECI · ProofBundle completeness</a:t>
            </a:r>
            <a:endParaRPr lang="en-US" sz="1200" dirty="0"/>
          </a:p>
        </p:txBody>
      </p:sp>
      <p:sp>
        <p:nvSpPr>
          <p:cNvPr id="37" name="Text 35"/>
          <p:cNvSpPr/>
          <p:nvPr/>
        </p:nvSpPr>
        <p:spPr>
          <a:xfrm>
            <a:off x="4599432" y="2414016"/>
            <a:ext cx="3236976" cy="530352"/>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Board-level operational metric</a:t>
            </a:r>
            <a:endParaRPr lang="en-US" sz="800" dirty="0"/>
          </a:p>
        </p:txBody>
      </p:sp>
      <p:sp>
        <p:nvSpPr>
          <p:cNvPr id="38" name="Shape 36"/>
          <p:cNvSpPr/>
          <p:nvPr/>
        </p:nvSpPr>
        <p:spPr>
          <a:xfrm>
            <a:off x="8247888" y="1755648"/>
            <a:ext cx="3547872" cy="1325880"/>
          </a:xfrm>
          <a:prstGeom prst="roundRect">
            <a:avLst>
              <a:gd name="adj" fmla="val 5517"/>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8403336" y="1883664"/>
            <a:ext cx="323697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EXPLORATION</a:t>
            </a:r>
            <a:endParaRPr lang="en-US" sz="680" dirty="0"/>
          </a:p>
        </p:txBody>
      </p:sp>
      <p:sp>
        <p:nvSpPr>
          <p:cNvPr id="40" name="Text 38"/>
          <p:cNvSpPr/>
          <p:nvPr/>
        </p:nvSpPr>
        <p:spPr>
          <a:xfrm>
            <a:off x="8403336" y="2011680"/>
            <a:ext cx="3236976" cy="329184"/>
          </a:xfrm>
          <a:prstGeom prst="rect">
            <a:avLst/>
          </a:prstGeom>
          <a:noFill/>
          <a:ln/>
        </p:spPr>
        <p:txBody>
          <a:bodyPr wrap="square" lIns="0" tIns="0" rIns="0" bIns="0" rtlCol="0" anchor="ctr">
            <a:normAutofit/>
          </a:bodyPr>
          <a:lstStyle/>
          <a:p>
            <a:pPr indent="0" marL="0">
              <a:buNone/>
            </a:pPr>
            <a:r>
              <a:rPr lang="en-US" sz="1200" b="1" dirty="0">
                <a:solidFill>
                  <a:srgbClr val="14273D"/>
                </a:solidFill>
                <a:latin typeface="Inter Display" pitchFamily="34" charset="0"/>
                <a:ea typeface="Inter Display" pitchFamily="34" charset="-122"/>
                <a:cs typeface="Inter Display" pitchFamily="34" charset="-120"/>
              </a:rPr>
              <a:t>Novelty distribution · probe ROI · archive coverage</a:t>
            </a:r>
            <a:endParaRPr lang="en-US" sz="1200" dirty="0"/>
          </a:p>
        </p:txBody>
      </p:sp>
      <p:sp>
        <p:nvSpPr>
          <p:cNvPr id="41" name="Text 39"/>
          <p:cNvSpPr/>
          <p:nvPr/>
        </p:nvSpPr>
        <p:spPr>
          <a:xfrm>
            <a:off x="8403336" y="2414016"/>
            <a:ext cx="3236976" cy="530352"/>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Board-level operational metric</a:t>
            </a:r>
            <a:endParaRPr lang="en-US" sz="800" dirty="0"/>
          </a:p>
        </p:txBody>
      </p:sp>
      <p:sp>
        <p:nvSpPr>
          <p:cNvPr id="42" name="Shape 40"/>
          <p:cNvSpPr/>
          <p:nvPr/>
        </p:nvSpPr>
        <p:spPr>
          <a:xfrm>
            <a:off x="640080" y="3355848"/>
            <a:ext cx="3547872" cy="1325880"/>
          </a:xfrm>
          <a:prstGeom prst="roundRect">
            <a:avLst>
              <a:gd name="adj" fmla="val 5517"/>
            </a:avLst>
          </a:prstGeom>
          <a:solidFill>
            <a:srgbClr val="FFFDF8"/>
          </a:solidFill>
          <a:ln w="10160">
            <a:solidFill>
              <a:srgbClr val="A99CFF"/>
            </a:solidFill>
            <a:prstDash val="solid"/>
          </a:ln>
          <a:effectLst>
            <a:outerShdw sx="100000" sy="100000" kx="0" ky="0" algn="bl" rotWithShape="0" blurRad="25400" dist="50800" dir="2700000">
              <a:srgbClr val="000000">
                <a:alpha val="18000"/>
              </a:srgbClr>
            </a:outerShdw>
          </a:effectLst>
        </p:spPr>
      </p:sp>
      <p:sp>
        <p:nvSpPr>
          <p:cNvPr id="43" name="Text 41"/>
          <p:cNvSpPr/>
          <p:nvPr/>
        </p:nvSpPr>
        <p:spPr>
          <a:xfrm>
            <a:off x="795528" y="3483864"/>
            <a:ext cx="3236976" cy="146304"/>
          </a:xfrm>
          <a:prstGeom prst="rect">
            <a:avLst/>
          </a:prstGeom>
          <a:noFill/>
          <a:ln/>
        </p:spPr>
        <p:txBody>
          <a:bodyPr wrap="square" lIns="0" tIns="0" rIns="0" bIns="0" rtlCol="0" anchor="ctr"/>
          <a:lstStyle/>
          <a:p>
            <a:pPr indent="0" marL="0">
              <a:buNone/>
            </a:pPr>
            <a:r>
              <a:rPr lang="en-US" sz="680" b="1" spc="120" kern="0" dirty="0">
                <a:solidFill>
                  <a:srgbClr val="A99CFF"/>
                </a:solidFill>
                <a:latin typeface="Inter" pitchFamily="34" charset="0"/>
                <a:ea typeface="Inter" pitchFamily="34" charset="-122"/>
                <a:cs typeface="Inter" pitchFamily="34" charset="-120"/>
              </a:rPr>
              <a:t>ADVANTAGE</a:t>
            </a:r>
            <a:endParaRPr lang="en-US" sz="680" dirty="0"/>
          </a:p>
        </p:txBody>
      </p:sp>
      <p:sp>
        <p:nvSpPr>
          <p:cNvPr id="44" name="Text 42"/>
          <p:cNvSpPr/>
          <p:nvPr/>
        </p:nvSpPr>
        <p:spPr>
          <a:xfrm>
            <a:off x="795528" y="3611880"/>
            <a:ext cx="3236976" cy="329184"/>
          </a:xfrm>
          <a:prstGeom prst="rect">
            <a:avLst/>
          </a:prstGeom>
          <a:noFill/>
          <a:ln/>
        </p:spPr>
        <p:txBody>
          <a:bodyPr wrap="square" lIns="0" tIns="0" rIns="0" bIns="0" rtlCol="0" anchor="ctr">
            <a:normAutofit/>
          </a:bodyPr>
          <a:lstStyle/>
          <a:p>
            <a:pPr indent="0" marL="0">
              <a:buNone/>
            </a:pPr>
            <a:r>
              <a:rPr lang="en-US" sz="1200" b="1" dirty="0">
                <a:solidFill>
                  <a:srgbClr val="14273D"/>
                </a:solidFill>
                <a:latin typeface="Inter Display" pitchFamily="34" charset="0"/>
                <a:ea typeface="Inter Display" pitchFamily="34" charset="-122"/>
                <a:cs typeface="Inter Display" pitchFamily="34" charset="-120"/>
              </a:rPr>
              <a:t>Delta vs baselines · persistence under shocks</a:t>
            </a:r>
            <a:endParaRPr lang="en-US" sz="1200" dirty="0"/>
          </a:p>
        </p:txBody>
      </p:sp>
      <p:sp>
        <p:nvSpPr>
          <p:cNvPr id="45" name="Text 43"/>
          <p:cNvSpPr/>
          <p:nvPr/>
        </p:nvSpPr>
        <p:spPr>
          <a:xfrm>
            <a:off x="795528" y="4014216"/>
            <a:ext cx="3236976" cy="530352"/>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Board-level operational metric</a:t>
            </a:r>
            <a:endParaRPr lang="en-US" sz="800" dirty="0"/>
          </a:p>
        </p:txBody>
      </p:sp>
      <p:sp>
        <p:nvSpPr>
          <p:cNvPr id="46" name="Shape 44"/>
          <p:cNvSpPr/>
          <p:nvPr/>
        </p:nvSpPr>
        <p:spPr>
          <a:xfrm>
            <a:off x="4443984" y="3355848"/>
            <a:ext cx="3547872" cy="1325880"/>
          </a:xfrm>
          <a:prstGeom prst="roundRect">
            <a:avLst>
              <a:gd name="adj" fmla="val 5517"/>
            </a:avLst>
          </a:prstGeom>
          <a:solidFill>
            <a:srgbClr val="FFFDF8"/>
          </a:solidFill>
          <a:ln w="10160">
            <a:solidFill>
              <a:srgbClr val="FF7584"/>
            </a:solidFill>
            <a:prstDash val="solid"/>
          </a:ln>
          <a:effectLst>
            <a:outerShdw sx="100000" sy="100000" kx="0" ky="0" algn="bl" rotWithShape="0" blurRad="25400" dist="50800" dir="2700000">
              <a:srgbClr val="000000">
                <a:alpha val="18000"/>
              </a:srgbClr>
            </a:outerShdw>
          </a:effectLst>
        </p:spPr>
      </p:sp>
      <p:sp>
        <p:nvSpPr>
          <p:cNvPr id="47" name="Text 45"/>
          <p:cNvSpPr/>
          <p:nvPr/>
        </p:nvSpPr>
        <p:spPr>
          <a:xfrm>
            <a:off x="4599432" y="3483864"/>
            <a:ext cx="3236976"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SAFETY</a:t>
            </a:r>
            <a:endParaRPr lang="en-US" sz="680" dirty="0"/>
          </a:p>
        </p:txBody>
      </p:sp>
      <p:sp>
        <p:nvSpPr>
          <p:cNvPr id="48" name="Text 46"/>
          <p:cNvSpPr/>
          <p:nvPr/>
        </p:nvSpPr>
        <p:spPr>
          <a:xfrm>
            <a:off x="4599432" y="3611880"/>
            <a:ext cx="3236976" cy="329184"/>
          </a:xfrm>
          <a:prstGeom prst="rect">
            <a:avLst/>
          </a:prstGeom>
          <a:noFill/>
          <a:ln/>
        </p:spPr>
        <p:txBody>
          <a:bodyPr wrap="square" lIns="0" tIns="0" rIns="0" bIns="0" rtlCol="0" anchor="ctr">
            <a:normAutofit/>
          </a:bodyPr>
          <a:lstStyle/>
          <a:p>
            <a:pPr indent="0" marL="0">
              <a:buNone/>
            </a:pPr>
            <a:r>
              <a:rPr lang="en-US" sz="1200" b="1" dirty="0">
                <a:solidFill>
                  <a:srgbClr val="14273D"/>
                </a:solidFill>
                <a:latin typeface="Inter Display" pitchFamily="34" charset="0"/>
                <a:ea typeface="Inter Display" pitchFamily="34" charset="-122"/>
                <a:cs typeface="Inter Display" pitchFamily="34" charset="-120"/>
              </a:rPr>
              <a:t>Risk blocks · red-team catches · quarantine · incidents</a:t>
            </a:r>
            <a:endParaRPr lang="en-US" sz="1200" dirty="0"/>
          </a:p>
        </p:txBody>
      </p:sp>
      <p:sp>
        <p:nvSpPr>
          <p:cNvPr id="49" name="Text 47"/>
          <p:cNvSpPr/>
          <p:nvPr/>
        </p:nvSpPr>
        <p:spPr>
          <a:xfrm>
            <a:off x="4599432" y="4014216"/>
            <a:ext cx="3236976" cy="530352"/>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Board-level operational metric</a:t>
            </a:r>
            <a:endParaRPr lang="en-US" sz="800" dirty="0"/>
          </a:p>
        </p:txBody>
      </p:sp>
      <p:sp>
        <p:nvSpPr>
          <p:cNvPr id="50" name="Shape 48"/>
          <p:cNvSpPr/>
          <p:nvPr/>
        </p:nvSpPr>
        <p:spPr>
          <a:xfrm>
            <a:off x="8247888" y="3355848"/>
            <a:ext cx="3547872" cy="1325880"/>
          </a:xfrm>
          <a:prstGeom prst="roundRect">
            <a:avLst>
              <a:gd name="adj" fmla="val 5517"/>
            </a:avLst>
          </a:prstGeom>
          <a:solidFill>
            <a:srgbClr val="FFFDF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51" name="Text 49"/>
          <p:cNvSpPr/>
          <p:nvPr/>
        </p:nvSpPr>
        <p:spPr>
          <a:xfrm>
            <a:off x="8403336" y="3483864"/>
            <a:ext cx="3236976"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STATE INTEGRITY</a:t>
            </a:r>
            <a:endParaRPr lang="en-US" sz="680" dirty="0"/>
          </a:p>
        </p:txBody>
      </p:sp>
      <p:sp>
        <p:nvSpPr>
          <p:cNvPr id="52" name="Text 50"/>
          <p:cNvSpPr/>
          <p:nvPr/>
        </p:nvSpPr>
        <p:spPr>
          <a:xfrm>
            <a:off x="8403336" y="3611880"/>
            <a:ext cx="3236976" cy="329184"/>
          </a:xfrm>
          <a:prstGeom prst="rect">
            <a:avLst/>
          </a:prstGeom>
          <a:noFill/>
          <a:ln/>
        </p:spPr>
        <p:txBody>
          <a:bodyPr wrap="square" lIns="0" tIns="0" rIns="0" bIns="0" rtlCol="0" anchor="ctr">
            <a:normAutofit/>
          </a:bodyPr>
          <a:lstStyle/>
          <a:p>
            <a:pPr indent="0" marL="0">
              <a:buNone/>
            </a:pPr>
            <a:r>
              <a:rPr lang="en-US" sz="1200" b="1" dirty="0">
                <a:solidFill>
                  <a:srgbClr val="14273D"/>
                </a:solidFill>
                <a:latin typeface="Inter Display" pitchFamily="34" charset="0"/>
                <a:ea typeface="Inter Display" pitchFamily="34" charset="-122"/>
                <a:cs typeface="Inter Display" pitchFamily="34" charset="-120"/>
              </a:rPr>
              <a:t>Cycle continuity · append-only archive · hash continuity</a:t>
            </a:r>
            <a:endParaRPr lang="en-US" sz="1200" dirty="0"/>
          </a:p>
        </p:txBody>
      </p:sp>
      <p:sp>
        <p:nvSpPr>
          <p:cNvPr id="53" name="Text 51"/>
          <p:cNvSpPr/>
          <p:nvPr/>
        </p:nvSpPr>
        <p:spPr>
          <a:xfrm>
            <a:off x="8403336" y="4014216"/>
            <a:ext cx="3236976" cy="530352"/>
          </a:xfrm>
          <a:prstGeom prst="rect">
            <a:avLst/>
          </a:prstGeom>
          <a:noFill/>
          <a:ln/>
        </p:spPr>
        <p:txBody>
          <a:bodyPr wrap="square" lIns="0" tIns="0" rIns="0" bIns="0" rtlCol="0" anchor="t">
            <a:normAutofit/>
          </a:bodyPr>
          <a:lstStyle/>
          <a:p>
            <a:pPr indent="0" marL="0">
              <a:buNone/>
            </a:pPr>
            <a:r>
              <a:rPr lang="en-US" sz="800" dirty="0">
                <a:solidFill>
                  <a:srgbClr val="43566A"/>
                </a:solidFill>
                <a:latin typeface="Inter" pitchFamily="34" charset="0"/>
                <a:ea typeface="Inter" pitchFamily="34" charset="-122"/>
                <a:cs typeface="Inter" pitchFamily="34" charset="-120"/>
              </a:rPr>
              <a:t>Board-level operational metric</a:t>
            </a:r>
            <a:endParaRPr lang="en-US" sz="800" dirty="0"/>
          </a:p>
        </p:txBody>
      </p:sp>
      <p:sp>
        <p:nvSpPr>
          <p:cNvPr id="54" name="Shape 52"/>
          <p:cNvSpPr/>
          <p:nvPr/>
        </p:nvSpPr>
        <p:spPr>
          <a:xfrm>
            <a:off x="1325880" y="5166360"/>
            <a:ext cx="9555480" cy="640080"/>
          </a:xfrm>
          <a:prstGeom prst="roundRect">
            <a:avLst>
              <a:gd name="adj" fmla="val 11429"/>
            </a:avLst>
          </a:prstGeom>
          <a:solidFill>
            <a:srgbClr val="FFFDF8"/>
          </a:solidFill>
          <a:ln w="10160">
            <a:solidFill>
              <a:srgbClr val="43D79B"/>
            </a:solidFill>
            <a:prstDash val="solid"/>
          </a:ln>
        </p:spPr>
      </p:sp>
      <p:sp>
        <p:nvSpPr>
          <p:cNvPr id="55" name="Text 53"/>
          <p:cNvSpPr/>
          <p:nvPr/>
        </p:nvSpPr>
        <p:spPr>
          <a:xfrm>
            <a:off x="1481328" y="5294376"/>
            <a:ext cx="924458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RSI DESIGN INVARIANT</a:t>
            </a:r>
            <a:endParaRPr lang="en-US" sz="680" dirty="0"/>
          </a:p>
        </p:txBody>
      </p:sp>
      <p:sp>
        <p:nvSpPr>
          <p:cNvPr id="56" name="Text 54"/>
          <p:cNvSpPr/>
          <p:nvPr/>
        </p:nvSpPr>
        <p:spPr>
          <a:xfrm>
            <a:off x="1481328" y="5422392"/>
            <a:ext cx="9244584" cy="329184"/>
          </a:xfrm>
          <a:prstGeom prst="rect">
            <a:avLst/>
          </a:prstGeom>
          <a:noFill/>
          <a:ln/>
        </p:spPr>
        <p:txBody>
          <a:bodyPr wrap="square" lIns="0" tIns="0" rIns="0" bIns="0" rtlCol="0" anchor="ctr">
            <a:normAutofit/>
          </a:bodyPr>
          <a:lstStyle/>
          <a:p>
            <a:pPr indent="0" marL="0">
              <a:buNone/>
            </a:pPr>
            <a:r>
              <a:rPr lang="en-US" sz="1260" b="1" dirty="0">
                <a:solidFill>
                  <a:srgbClr val="14273D"/>
                </a:solidFill>
                <a:latin typeface="Inter Display" pitchFamily="34" charset="0"/>
                <a:ea typeface="Inter Display" pitchFamily="34" charset="-122"/>
                <a:cs typeface="Inter Display" pitchFamily="34" charset="-120"/>
              </a:rPr>
              <a:t>Exploration is allowed. Outcome authority is mechanical. Promotion requires evidence. Compounding requires persistence.</a:t>
            </a:r>
            <a:endParaRPr lang="en-US" sz="126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PUBLIC PROOF / PRIVATE INTELLIGENCE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Publish the minimum proof required for trust. Protect the intelligence.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Grand Edition demonstrates the boundary explicitly rather than treating privacy as a footnote.</a:t>
            </a:r>
            <a:endParaRPr lang="en-US" sz="1450" dirty="0"/>
          </a:p>
        </p:txBody>
      </p:sp>
      <p:sp>
        <p:nvSpPr>
          <p:cNvPr id="30" name="Shape 28"/>
          <p:cNvSpPr/>
          <p:nvPr/>
        </p:nvSpPr>
        <p:spPr>
          <a:xfrm>
            <a:off x="658368" y="1965960"/>
            <a:ext cx="5166360" cy="3474720"/>
          </a:xfrm>
          <a:prstGeom prst="roundRect">
            <a:avLst>
              <a:gd name="adj" fmla="val 2105"/>
            </a:avLst>
          </a:prstGeom>
          <a:solidFill>
            <a:srgbClr val="102238"/>
          </a:solidFill>
          <a:ln w="10160">
            <a:solidFill>
              <a:srgbClr val="E7BD62"/>
            </a:solidFill>
            <a:prstDash val="solid"/>
          </a:ln>
        </p:spPr>
      </p:sp>
      <p:sp>
        <p:nvSpPr>
          <p:cNvPr id="31" name="Text 29"/>
          <p:cNvSpPr/>
          <p:nvPr/>
        </p:nvSpPr>
        <p:spPr>
          <a:xfrm>
            <a:off x="813816" y="2093976"/>
            <a:ext cx="48554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PUBLIC PROOF</a:t>
            </a:r>
            <a:endParaRPr lang="en-US" sz="680" dirty="0"/>
          </a:p>
        </p:txBody>
      </p:sp>
      <p:sp>
        <p:nvSpPr>
          <p:cNvPr id="32" name="Text 30"/>
          <p:cNvSpPr/>
          <p:nvPr/>
        </p:nvSpPr>
        <p:spPr>
          <a:xfrm>
            <a:off x="813816" y="2221992"/>
            <a:ext cx="485546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Compact, verifiable, challengeable</a:t>
            </a:r>
            <a:endParaRPr lang="en-US" sz="1900" dirty="0"/>
          </a:p>
        </p:txBody>
      </p:sp>
      <p:sp>
        <p:nvSpPr>
          <p:cNvPr id="33" name="Text 31"/>
          <p:cNvSpPr/>
          <p:nvPr/>
        </p:nvSpPr>
        <p:spPr>
          <a:xfrm>
            <a:off x="813816" y="2624328"/>
            <a:ext cx="4855464" cy="2679192"/>
          </a:xfrm>
          <a:prstGeom prst="rect">
            <a:avLst/>
          </a:prstGeom>
          <a:noFill/>
          <a:ln/>
        </p:spPr>
        <p:txBody>
          <a:bodyPr wrap="square" lIns="0" tIns="0" rIns="0" bIns="0" rtlCol="0" anchor="t">
            <a:normAutofit/>
          </a:bodyPr>
          <a:lstStyle/>
          <a:p>
            <a:pPr indent="0" marL="0">
              <a:buNone/>
            </a:pPr>
            <a:r>
              <a:rPr lang="en-US" sz="1030" dirty="0">
                <a:solidFill>
                  <a:srgbClr val="B9C5D2"/>
                </a:solidFill>
                <a:latin typeface="Inter" pitchFamily="34" charset="0"/>
                <a:ea typeface="Inter" pitchFamily="34" charset="-122"/>
                <a:cs typeface="Inter" pitchFamily="34" charset="-120"/>
              </a:rPr>
              <a:t>Artifact IDs and version hashes</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Typed Merkle roots and inclusion proofs</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Policy and schema hashes</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Validator attestations and conflicts</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Replay, rollout, rollback, and bond receipts</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Public-safe Evidence Docket manifest</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Claim boundary and evidence status</a:t>
            </a:r>
            <a:endParaRPr lang="en-US" sz="1030" dirty="0"/>
          </a:p>
        </p:txBody>
      </p:sp>
      <p:sp>
        <p:nvSpPr>
          <p:cNvPr id="34" name="Shape 32"/>
          <p:cNvSpPr/>
          <p:nvPr/>
        </p:nvSpPr>
        <p:spPr>
          <a:xfrm>
            <a:off x="6355080" y="1965960"/>
            <a:ext cx="5166360" cy="3474720"/>
          </a:xfrm>
          <a:prstGeom prst="roundRect">
            <a:avLst>
              <a:gd name="adj" fmla="val 2105"/>
            </a:avLst>
          </a:prstGeom>
          <a:solidFill>
            <a:srgbClr val="102238"/>
          </a:solidFill>
          <a:ln w="10160">
            <a:solidFill>
              <a:srgbClr val="54D6D0"/>
            </a:solidFill>
            <a:prstDash val="solid"/>
          </a:ln>
        </p:spPr>
      </p:sp>
      <p:sp>
        <p:nvSpPr>
          <p:cNvPr id="35" name="Text 33"/>
          <p:cNvSpPr/>
          <p:nvPr/>
        </p:nvSpPr>
        <p:spPr>
          <a:xfrm>
            <a:off x="6510528" y="2093976"/>
            <a:ext cx="48554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PRIVATE INTELLIGENCE</a:t>
            </a:r>
            <a:endParaRPr lang="en-US" sz="680" dirty="0"/>
          </a:p>
        </p:txBody>
      </p:sp>
      <p:sp>
        <p:nvSpPr>
          <p:cNvPr id="36" name="Text 34"/>
          <p:cNvSpPr/>
          <p:nvPr/>
        </p:nvSpPr>
        <p:spPr>
          <a:xfrm>
            <a:off x="6510528" y="2221992"/>
            <a:ext cx="485546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Controlled, encrypted, selectively disclosed</a:t>
            </a:r>
            <a:endParaRPr lang="en-US" sz="1900" dirty="0"/>
          </a:p>
        </p:txBody>
      </p:sp>
      <p:sp>
        <p:nvSpPr>
          <p:cNvPr id="37" name="Text 35"/>
          <p:cNvSpPr/>
          <p:nvPr/>
        </p:nvSpPr>
        <p:spPr>
          <a:xfrm>
            <a:off x="6510528" y="2624328"/>
            <a:ext cx="4855464" cy="2679192"/>
          </a:xfrm>
          <a:prstGeom prst="rect">
            <a:avLst/>
          </a:prstGeom>
          <a:noFill/>
          <a:ln/>
        </p:spPr>
        <p:txBody>
          <a:bodyPr wrap="square" lIns="0" tIns="0" rIns="0" bIns="0" rtlCol="0" anchor="t">
            <a:normAutofit/>
          </a:bodyPr>
          <a:lstStyle/>
          <a:p>
            <a:pPr indent="0" marL="0">
              <a:buNone/>
            </a:pPr>
            <a:r>
              <a:rPr lang="en-US" sz="1030" dirty="0">
                <a:solidFill>
                  <a:srgbClr val="B9C5D2"/>
                </a:solidFill>
                <a:latin typeface="Inter" pitchFamily="34" charset="0"/>
                <a:ea typeface="Inter" pitchFamily="34" charset="-122"/>
                <a:cs typeface="Inter" pitchFamily="34" charset="-120"/>
              </a:rPr>
              <a:t>Prompts and private context</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Customer and enterprise documents</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Long traces and raw logs</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Private evaluation sets and workpapers</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Reviewer notes and privileged approvals</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Secrets, endpoints, and internal security posture</a:t>
            </a:r>
            <a:endParaRPr lang="en-US" sz="1030" dirty="0"/>
          </a:p>
          <a:p>
            <a:pPr indent="0" marL="0">
              <a:buNone/>
            </a:pPr>
            <a:r>
              <a:rPr lang="en-US" sz="1030" dirty="0">
                <a:solidFill>
                  <a:srgbClr val="B9C5D2"/>
                </a:solidFill>
                <a:latin typeface="Inter" pitchFamily="34" charset="0"/>
                <a:ea typeface="Inter" pitchFamily="34" charset="-122"/>
                <a:cs typeface="Inter" pitchFamily="34" charset="-120"/>
              </a:rPr>
              <a:t>Encrypted capsule contents</a:t>
            </a:r>
            <a:endParaRPr lang="en-US" sz="1030" dirty="0"/>
          </a:p>
        </p:txBody>
      </p:sp>
      <p:sp>
        <p:nvSpPr>
          <p:cNvPr id="38" name="Shape 36"/>
          <p:cNvSpPr/>
          <p:nvPr/>
        </p:nvSpPr>
        <p:spPr>
          <a:xfrm>
            <a:off x="5879592" y="2926080"/>
            <a:ext cx="411480" cy="0"/>
          </a:xfrm>
          <a:prstGeom prst="line">
            <a:avLst/>
          </a:prstGeom>
          <a:noFill/>
          <a:ln w="25400">
            <a:solidFill>
              <a:srgbClr val="E7BD62"/>
            </a:solidFill>
            <a:prstDash val="solid"/>
            <a:headEnd type="triangle"/>
            <a:tailEnd type="triangle"/>
          </a:ln>
        </p:spPr>
      </p:sp>
      <p:sp>
        <p:nvSpPr>
          <p:cNvPr id="39" name="Text 37"/>
          <p:cNvSpPr/>
          <p:nvPr/>
        </p:nvSpPr>
        <p:spPr>
          <a:xfrm rot="16200000">
            <a:off x="4251960" y="3246120"/>
            <a:ext cx="3749040" cy="228600"/>
          </a:xfrm>
          <a:prstGeom prst="rect">
            <a:avLst/>
          </a:prstGeom>
          <a:noFill/>
          <a:ln/>
        </p:spPr>
        <p:txBody>
          <a:bodyPr wrap="square" lIns="0" tIns="0" rIns="0" bIns="0" rtlCol="0" anchor="ctr"/>
          <a:lstStyle/>
          <a:p>
            <a:pPr algn="ctr" indent="0" marL="0">
              <a:buNone/>
            </a:pPr>
            <a:r>
              <a:rPr lang="en-US" sz="720" b="1" dirty="0">
                <a:solidFill>
                  <a:srgbClr val="E7BD62"/>
                </a:solidFill>
                <a:latin typeface="Inter" pitchFamily="34" charset="0"/>
                <a:ea typeface="Inter" pitchFamily="34" charset="-122"/>
                <a:cs typeface="Inter" pitchFamily="34" charset="-120"/>
              </a:rPr>
              <a:t>HASHES · ROOTS · POINTERS · ATTESTATIONS</a:t>
            </a:r>
            <a:endParaRPr lang="en-US" sz="72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PARTNERSHIP DEAL ARCHITECT</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700" b="1" dirty="0">
                <a:solidFill>
                  <a:srgbClr val="14273D"/>
                </a:solidFill>
                <a:latin typeface="Inter Display" pitchFamily="34" charset="0"/>
                <a:ea typeface="Inter Display" pitchFamily="34" charset="-122"/>
                <a:cs typeface="Inter Display" pitchFamily="34" charset="-120"/>
              </a:rPr>
              <a:t>A high-caliber partner leaves with a charter—not a vague “strategic conversation.”</a:t>
            </a:r>
            <a:endParaRPr lang="en-US" sz="27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Deal Architect converts the live room into roles, artifacts, scorecards, kill criteria, and expansion gates.</a:t>
            </a:r>
            <a:endParaRPr lang="en-US" sz="1450" dirty="0"/>
          </a:p>
        </p:txBody>
      </p:sp>
      <p:sp>
        <p:nvSpPr>
          <p:cNvPr id="30" name="Shape 28"/>
          <p:cNvSpPr/>
          <p:nvPr/>
        </p:nvSpPr>
        <p:spPr>
          <a:xfrm>
            <a:off x="640080" y="1874520"/>
            <a:ext cx="3547872" cy="2240280"/>
          </a:xfrm>
          <a:prstGeom prst="roundRect">
            <a:avLst>
              <a:gd name="adj" fmla="val 3265"/>
            </a:avLst>
          </a:prstGeom>
          <a:solidFill>
            <a:srgbClr val="FFFDF8"/>
          </a:solidFill>
          <a:ln w="10160">
            <a:solidFill>
              <a:srgbClr val="6FB5FF"/>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795528" y="2002536"/>
            <a:ext cx="3236976" cy="146304"/>
          </a:xfrm>
          <a:prstGeom prst="rect">
            <a:avLst/>
          </a:prstGeom>
          <a:noFill/>
          <a:ln/>
        </p:spPr>
        <p:txBody>
          <a:bodyPr wrap="square" lIns="0" tIns="0" rIns="0" bIns="0" rtlCol="0" anchor="ctr"/>
          <a:lstStyle/>
          <a:p>
            <a:pPr indent="0" marL="0">
              <a:buNone/>
            </a:pPr>
            <a:r>
              <a:rPr lang="en-US" sz="680" b="1" spc="120" kern="0" dirty="0">
                <a:solidFill>
                  <a:srgbClr val="6FB5FF"/>
                </a:solidFill>
                <a:latin typeface="Inter" pitchFamily="34" charset="0"/>
                <a:ea typeface="Inter" pitchFamily="34" charset="-122"/>
                <a:cs typeface="Inter" pitchFamily="34" charset="-120"/>
              </a:rPr>
              <a:t>PARTNER CONTRIBUTS</a:t>
            </a:r>
            <a:endParaRPr lang="en-US" sz="680" dirty="0"/>
          </a:p>
        </p:txBody>
      </p:sp>
      <p:sp>
        <p:nvSpPr>
          <p:cNvPr id="32" name="Text 30"/>
          <p:cNvSpPr/>
          <p:nvPr/>
        </p:nvSpPr>
        <p:spPr>
          <a:xfrm>
            <a:off x="795528" y="2130552"/>
            <a:ext cx="3236976" cy="329184"/>
          </a:xfrm>
          <a:prstGeom prst="rect">
            <a:avLst/>
          </a:prstGeom>
          <a:noFill/>
          <a:ln/>
        </p:spPr>
        <p:txBody>
          <a:bodyPr wrap="square" lIns="0" tIns="0" rIns="0" bIns="0" rtlCol="0" anchor="ctr">
            <a:normAutofit/>
          </a:bodyPr>
          <a:lstStyle/>
          <a:p>
            <a:pPr indent="0" marL="0">
              <a:buNone/>
            </a:pPr>
            <a:r>
              <a:rPr lang="en-US" sz="1450" b="1" dirty="0">
                <a:solidFill>
                  <a:srgbClr val="14273D"/>
                </a:solidFill>
                <a:latin typeface="Inter Display" pitchFamily="34" charset="0"/>
                <a:ea typeface="Inter Display" pitchFamily="34" charset="-122"/>
                <a:cs typeface="Inter Display" pitchFamily="34" charset="-120"/>
              </a:rPr>
              <a:t>One consequential decision</a:t>
            </a:r>
            <a:endParaRPr lang="en-US" sz="1450" dirty="0"/>
          </a:p>
          <a:p>
            <a:pPr indent="0" marL="0">
              <a:buNone/>
            </a:pPr>
            <a:r>
              <a:rPr lang="en-US" sz="1450" b="1" dirty="0">
                <a:solidFill>
                  <a:srgbClr val="14273D"/>
                </a:solidFill>
                <a:latin typeface="Inter Display" pitchFamily="34" charset="0"/>
                <a:ea typeface="Inter Display" pitchFamily="34" charset="-122"/>
                <a:cs typeface="Inter Display" pitchFamily="34" charset="-120"/>
              </a:rPr>
              <a:t>Evidence and domain context</a:t>
            </a:r>
            <a:endParaRPr lang="en-US" sz="1450" dirty="0"/>
          </a:p>
          <a:p>
            <a:pPr indent="0" marL="0">
              <a:buNone/>
            </a:pPr>
            <a:r>
              <a:rPr lang="en-US" sz="1450" b="1" dirty="0">
                <a:solidFill>
                  <a:srgbClr val="14273D"/>
                </a:solidFill>
                <a:latin typeface="Inter Display" pitchFamily="34" charset="0"/>
                <a:ea typeface="Inter Display" pitchFamily="34" charset="-122"/>
                <a:cs typeface="Inter Display" pitchFamily="34" charset="-120"/>
              </a:rPr>
              <a:t>Decision owner and reviewer</a:t>
            </a:r>
            <a:endParaRPr lang="en-US" sz="1450" dirty="0"/>
          </a:p>
          <a:p>
            <a:pPr indent="0" marL="0">
              <a:buNone/>
            </a:pPr>
            <a:r>
              <a:rPr lang="en-US" sz="1450" b="1" dirty="0">
                <a:solidFill>
                  <a:srgbClr val="14273D"/>
                </a:solidFill>
                <a:latin typeface="Inter Display" pitchFamily="34" charset="0"/>
                <a:ea typeface="Inter Display" pitchFamily="34" charset="-122"/>
                <a:cs typeface="Inter Display" pitchFamily="34" charset="-120"/>
              </a:rPr>
              <a:t>Action authority and constraints</a:t>
            </a:r>
            <a:endParaRPr lang="en-US" sz="1450" dirty="0"/>
          </a:p>
        </p:txBody>
      </p:sp>
      <p:sp>
        <p:nvSpPr>
          <p:cNvPr id="33" name="Text 31"/>
          <p:cNvSpPr/>
          <p:nvPr/>
        </p:nvSpPr>
        <p:spPr>
          <a:xfrm>
            <a:off x="795528" y="2532888"/>
            <a:ext cx="3236976" cy="1444752"/>
          </a:xfrm>
          <a:prstGeom prst="rect">
            <a:avLst/>
          </a:prstGeom>
          <a:noFill/>
          <a:ln/>
        </p:spPr>
        <p:txBody>
          <a:bodyPr wrap="square" lIns="0" tIns="0" rIns="0" bIns="0" rtlCol="0" anchor="t">
            <a:normAutofit/>
          </a:bodyPr>
          <a:lstStyle/>
          <a:p>
            <a:pPr indent="0" marL="0">
              <a:buNone/>
            </a:pPr>
            <a:r>
              <a:rPr lang="en-US" sz="830" dirty="0">
                <a:solidFill>
                  <a:srgbClr val="43566A"/>
                </a:solidFill>
                <a:latin typeface="Inter" pitchFamily="34" charset="0"/>
                <a:ea typeface="Inter" pitchFamily="34" charset="-122"/>
                <a:cs typeface="Inter" pitchFamily="34" charset="-120"/>
              </a:rPr>
              <a:t>Authority remains explicit.</a:t>
            </a:r>
            <a:endParaRPr lang="en-US" sz="830" dirty="0"/>
          </a:p>
        </p:txBody>
      </p:sp>
      <p:sp>
        <p:nvSpPr>
          <p:cNvPr id="34" name="Shape 32"/>
          <p:cNvSpPr/>
          <p:nvPr/>
        </p:nvSpPr>
        <p:spPr>
          <a:xfrm>
            <a:off x="4462272" y="1874520"/>
            <a:ext cx="3547872" cy="2240280"/>
          </a:xfrm>
          <a:prstGeom prst="roundRect">
            <a:avLst>
              <a:gd name="adj" fmla="val 3265"/>
            </a:avLst>
          </a:prstGeom>
          <a:solidFill>
            <a:srgbClr val="FFFDF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4617720" y="2002536"/>
            <a:ext cx="3236976"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GOALOS CONTRIBUTES</a:t>
            </a:r>
            <a:endParaRPr lang="en-US" sz="680" dirty="0"/>
          </a:p>
        </p:txBody>
      </p:sp>
      <p:sp>
        <p:nvSpPr>
          <p:cNvPr id="36" name="Text 34"/>
          <p:cNvSpPr/>
          <p:nvPr/>
        </p:nvSpPr>
        <p:spPr>
          <a:xfrm>
            <a:off x="4617720" y="2130552"/>
            <a:ext cx="3236976" cy="329184"/>
          </a:xfrm>
          <a:prstGeom prst="rect">
            <a:avLst/>
          </a:prstGeom>
          <a:noFill/>
          <a:ln/>
        </p:spPr>
        <p:txBody>
          <a:bodyPr wrap="square" lIns="0" tIns="0" rIns="0" bIns="0" rtlCol="0" anchor="ctr">
            <a:normAutofit/>
          </a:bodyPr>
          <a:lstStyle/>
          <a:p>
            <a:pPr indent="0" marL="0">
              <a:buNone/>
            </a:pPr>
            <a:r>
              <a:rPr lang="en-US" sz="1450" b="1" dirty="0">
                <a:solidFill>
                  <a:srgbClr val="14273D"/>
                </a:solidFill>
                <a:latin typeface="Inter Display" pitchFamily="34" charset="0"/>
                <a:ea typeface="Inter Display" pitchFamily="34" charset="-122"/>
                <a:cs typeface="Inter Display" pitchFamily="34" charset="-120"/>
              </a:rPr>
              <a:t>Mission architecture</a:t>
            </a:r>
            <a:endParaRPr lang="en-US" sz="1450" dirty="0"/>
          </a:p>
          <a:p>
            <a:pPr indent="0" marL="0">
              <a:buNone/>
            </a:pPr>
            <a:r>
              <a:rPr lang="en-US" sz="1450" b="1" dirty="0">
                <a:solidFill>
                  <a:srgbClr val="14273D"/>
                </a:solidFill>
                <a:latin typeface="Inter Display" pitchFamily="34" charset="0"/>
                <a:ea typeface="Inter Display" pitchFamily="34" charset="-122"/>
                <a:cs typeface="Inter Display" pitchFamily="34" charset="-120"/>
              </a:rPr>
              <a:t>Proof work and Docket</a:t>
            </a:r>
            <a:endParaRPr lang="en-US" sz="1450" dirty="0"/>
          </a:p>
          <a:p>
            <a:pPr indent="0" marL="0">
              <a:buNone/>
            </a:pPr>
            <a:r>
              <a:rPr lang="en-US" sz="1450" b="1" dirty="0">
                <a:solidFill>
                  <a:srgbClr val="14273D"/>
                </a:solidFill>
                <a:latin typeface="Inter Display" pitchFamily="34" charset="0"/>
                <a:ea typeface="Inter Display" pitchFamily="34" charset="-122"/>
                <a:cs typeface="Inter Display" pitchFamily="34" charset="-120"/>
              </a:rPr>
              <a:t>Governance and cryptographic surfaces</a:t>
            </a:r>
            <a:endParaRPr lang="en-US" sz="1450" dirty="0"/>
          </a:p>
          <a:p>
            <a:pPr indent="0" marL="0">
              <a:buNone/>
            </a:pPr>
            <a:r>
              <a:rPr lang="en-US" sz="1450" b="1" dirty="0">
                <a:solidFill>
                  <a:srgbClr val="14273D"/>
                </a:solidFill>
                <a:latin typeface="Inter Display" pitchFamily="34" charset="0"/>
                <a:ea typeface="Inter Display" pitchFamily="34" charset="-122"/>
                <a:cs typeface="Inter Display" pitchFamily="34" charset="-120"/>
              </a:rPr>
              <a:t>Capability-transfer experiment</a:t>
            </a:r>
            <a:endParaRPr lang="en-US" sz="1450" dirty="0"/>
          </a:p>
        </p:txBody>
      </p:sp>
      <p:sp>
        <p:nvSpPr>
          <p:cNvPr id="37" name="Text 35"/>
          <p:cNvSpPr/>
          <p:nvPr/>
        </p:nvSpPr>
        <p:spPr>
          <a:xfrm>
            <a:off x="4617720" y="2532888"/>
            <a:ext cx="3236976" cy="1444752"/>
          </a:xfrm>
          <a:prstGeom prst="rect">
            <a:avLst/>
          </a:prstGeom>
          <a:noFill/>
          <a:ln/>
        </p:spPr>
        <p:txBody>
          <a:bodyPr wrap="square" lIns="0" tIns="0" rIns="0" bIns="0" rtlCol="0" anchor="t">
            <a:normAutofit/>
          </a:bodyPr>
          <a:lstStyle/>
          <a:p>
            <a:pPr indent="0" marL="0">
              <a:buNone/>
            </a:pPr>
            <a:r>
              <a:rPr lang="en-US" sz="830" dirty="0">
                <a:solidFill>
                  <a:srgbClr val="43566A"/>
                </a:solidFill>
                <a:latin typeface="Inter" pitchFamily="34" charset="0"/>
                <a:ea typeface="Inter" pitchFamily="34" charset="-122"/>
                <a:cs typeface="Inter" pitchFamily="34" charset="-120"/>
              </a:rPr>
              <a:t>Authority remains explicit.</a:t>
            </a:r>
            <a:endParaRPr lang="en-US" sz="830" dirty="0"/>
          </a:p>
        </p:txBody>
      </p:sp>
      <p:sp>
        <p:nvSpPr>
          <p:cNvPr id="38" name="Shape 36"/>
          <p:cNvSpPr/>
          <p:nvPr/>
        </p:nvSpPr>
        <p:spPr>
          <a:xfrm>
            <a:off x="8284464" y="1874520"/>
            <a:ext cx="3547872" cy="2240280"/>
          </a:xfrm>
          <a:prstGeom prst="roundRect">
            <a:avLst>
              <a:gd name="adj" fmla="val 3265"/>
            </a:avLst>
          </a:prstGeom>
          <a:solidFill>
            <a:srgbClr val="FFFDF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8439912" y="2002536"/>
            <a:ext cx="3236976"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REVIEWER CONTRIBUTES</a:t>
            </a:r>
            <a:endParaRPr lang="en-US" sz="680" dirty="0"/>
          </a:p>
        </p:txBody>
      </p:sp>
      <p:sp>
        <p:nvSpPr>
          <p:cNvPr id="40" name="Text 38"/>
          <p:cNvSpPr/>
          <p:nvPr/>
        </p:nvSpPr>
        <p:spPr>
          <a:xfrm>
            <a:off x="8439912" y="2130552"/>
            <a:ext cx="3236976" cy="329184"/>
          </a:xfrm>
          <a:prstGeom prst="rect">
            <a:avLst/>
          </a:prstGeom>
          <a:noFill/>
          <a:ln/>
        </p:spPr>
        <p:txBody>
          <a:bodyPr wrap="square" lIns="0" tIns="0" rIns="0" bIns="0" rtlCol="0" anchor="ctr">
            <a:normAutofit/>
          </a:bodyPr>
          <a:lstStyle/>
          <a:p>
            <a:pPr indent="0" marL="0">
              <a:buNone/>
            </a:pPr>
            <a:r>
              <a:rPr lang="en-US" sz="1450" b="1" dirty="0">
                <a:solidFill>
                  <a:srgbClr val="14273D"/>
                </a:solidFill>
                <a:latin typeface="Inter Display" pitchFamily="34" charset="0"/>
                <a:ea typeface="Inter Display" pitchFamily="34" charset="-122"/>
                <a:cs typeface="Inter Display" pitchFamily="34" charset="-120"/>
              </a:rPr>
              <a:t>Independent verdict</a:t>
            </a:r>
            <a:endParaRPr lang="en-US" sz="1450" dirty="0"/>
          </a:p>
          <a:p>
            <a:pPr indent="0" marL="0">
              <a:buNone/>
            </a:pPr>
            <a:r>
              <a:rPr lang="en-US" sz="1450" b="1" dirty="0">
                <a:solidFill>
                  <a:srgbClr val="14273D"/>
                </a:solidFill>
                <a:latin typeface="Inter Display" pitchFamily="34" charset="0"/>
                <a:ea typeface="Inter Display" pitchFamily="34" charset="-122"/>
                <a:cs typeface="Inter Display" pitchFamily="34" charset="-120"/>
              </a:rPr>
              <a:t>Conflict disclosure</a:t>
            </a:r>
            <a:endParaRPr lang="en-US" sz="1450" dirty="0"/>
          </a:p>
          <a:p>
            <a:pPr indent="0" marL="0">
              <a:buNone/>
            </a:pPr>
            <a:r>
              <a:rPr lang="en-US" sz="1450" b="1" dirty="0">
                <a:solidFill>
                  <a:srgbClr val="14273D"/>
                </a:solidFill>
                <a:latin typeface="Inter Display" pitchFamily="34" charset="0"/>
                <a:ea typeface="Inter Display" pitchFamily="34" charset="-122"/>
                <a:cs typeface="Inter Display" pitchFamily="34" charset="-120"/>
              </a:rPr>
              <a:t>Repair and challenge requests</a:t>
            </a:r>
            <a:endParaRPr lang="en-US" sz="1450" dirty="0"/>
          </a:p>
          <a:p>
            <a:pPr indent="0" marL="0">
              <a:buNone/>
            </a:pPr>
            <a:r>
              <a:rPr lang="en-US" sz="1450" b="1" dirty="0">
                <a:solidFill>
                  <a:srgbClr val="14273D"/>
                </a:solidFill>
                <a:latin typeface="Inter Display" pitchFamily="34" charset="0"/>
                <a:ea typeface="Inter Display" pitchFamily="34" charset="-122"/>
                <a:cs typeface="Inter Display" pitchFamily="34" charset="-120"/>
              </a:rPr>
              <a:t>Finality and delayed-outcome review</a:t>
            </a:r>
            <a:endParaRPr lang="en-US" sz="1450" dirty="0"/>
          </a:p>
        </p:txBody>
      </p:sp>
      <p:sp>
        <p:nvSpPr>
          <p:cNvPr id="41" name="Text 39"/>
          <p:cNvSpPr/>
          <p:nvPr/>
        </p:nvSpPr>
        <p:spPr>
          <a:xfrm>
            <a:off x="8439912" y="2532888"/>
            <a:ext cx="3236976" cy="1444752"/>
          </a:xfrm>
          <a:prstGeom prst="rect">
            <a:avLst/>
          </a:prstGeom>
          <a:noFill/>
          <a:ln/>
        </p:spPr>
        <p:txBody>
          <a:bodyPr wrap="square" lIns="0" tIns="0" rIns="0" bIns="0" rtlCol="0" anchor="t">
            <a:normAutofit/>
          </a:bodyPr>
          <a:lstStyle/>
          <a:p>
            <a:pPr indent="0" marL="0">
              <a:buNone/>
            </a:pPr>
            <a:r>
              <a:rPr lang="en-US" sz="830" dirty="0">
                <a:solidFill>
                  <a:srgbClr val="43566A"/>
                </a:solidFill>
                <a:latin typeface="Inter" pitchFamily="34" charset="0"/>
                <a:ea typeface="Inter" pitchFamily="34" charset="-122"/>
                <a:cs typeface="Inter" pitchFamily="34" charset="-120"/>
              </a:rPr>
              <a:t>Authority remains explicit.</a:t>
            </a:r>
            <a:endParaRPr lang="en-US" sz="830" dirty="0"/>
          </a:p>
        </p:txBody>
      </p:sp>
      <p:sp>
        <p:nvSpPr>
          <p:cNvPr id="42" name="Shape 40"/>
          <p:cNvSpPr/>
          <p:nvPr/>
        </p:nvSpPr>
        <p:spPr>
          <a:xfrm>
            <a:off x="960120" y="4617720"/>
            <a:ext cx="3429000" cy="749808"/>
          </a:xfrm>
          <a:prstGeom prst="roundRect">
            <a:avLst>
              <a:gd name="adj" fmla="val 9756"/>
            </a:avLst>
          </a:prstGeom>
          <a:solidFill>
            <a:srgbClr val="FFFDF8"/>
          </a:solidFill>
          <a:ln w="10160">
            <a:solidFill>
              <a:srgbClr val="43D79B"/>
            </a:solidFill>
            <a:prstDash val="solid"/>
          </a:ln>
        </p:spPr>
      </p:sp>
      <p:sp>
        <p:nvSpPr>
          <p:cNvPr id="43" name="Text 41"/>
          <p:cNvSpPr/>
          <p:nvPr/>
        </p:nvSpPr>
        <p:spPr>
          <a:xfrm>
            <a:off x="1115568" y="4745736"/>
            <a:ext cx="311810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PROCEED</a:t>
            </a:r>
            <a:endParaRPr lang="en-US" sz="680" dirty="0"/>
          </a:p>
        </p:txBody>
      </p:sp>
      <p:sp>
        <p:nvSpPr>
          <p:cNvPr id="44" name="Text 42"/>
          <p:cNvSpPr/>
          <p:nvPr/>
        </p:nvSpPr>
        <p:spPr>
          <a:xfrm>
            <a:off x="1115568" y="4873752"/>
            <a:ext cx="3118104" cy="329184"/>
          </a:xfrm>
          <a:prstGeom prst="rect">
            <a:avLst/>
          </a:prstGeom>
          <a:noFill/>
          <a:ln/>
        </p:spPr>
        <p:txBody>
          <a:bodyPr wrap="square" lIns="0" tIns="0" rIns="0" bIns="0" rtlCol="0" anchor="ctr">
            <a:normAutofit/>
          </a:bodyPr>
          <a:lstStyle/>
          <a:p>
            <a:pPr indent="0" marL="0">
              <a:buNone/>
            </a:pPr>
            <a:r>
              <a:rPr lang="en-US" sz="1070" b="1" dirty="0">
                <a:solidFill>
                  <a:srgbClr val="14273D"/>
                </a:solidFill>
                <a:latin typeface="Inter Display" pitchFamily="34" charset="0"/>
                <a:ea typeface="Inter Display" pitchFamily="34" charset="-122"/>
                <a:cs typeface="Inter Display" pitchFamily="34" charset="-120"/>
              </a:rPr>
              <a:t>Bounded decision · evidence access · reviewer named</a:t>
            </a:r>
            <a:endParaRPr lang="en-US" sz="1070" dirty="0"/>
          </a:p>
        </p:txBody>
      </p:sp>
      <p:sp>
        <p:nvSpPr>
          <p:cNvPr id="45" name="Shape 43"/>
          <p:cNvSpPr/>
          <p:nvPr/>
        </p:nvSpPr>
        <p:spPr>
          <a:xfrm>
            <a:off x="4754880" y="4617720"/>
            <a:ext cx="3429000" cy="749808"/>
          </a:xfrm>
          <a:prstGeom prst="roundRect">
            <a:avLst>
              <a:gd name="adj" fmla="val 9756"/>
            </a:avLst>
          </a:prstGeom>
          <a:solidFill>
            <a:srgbClr val="FFFDF8"/>
          </a:solidFill>
          <a:ln w="10160">
            <a:solidFill>
              <a:srgbClr val="FF7584"/>
            </a:solidFill>
            <a:prstDash val="solid"/>
          </a:ln>
        </p:spPr>
      </p:sp>
      <p:sp>
        <p:nvSpPr>
          <p:cNvPr id="46" name="Text 44"/>
          <p:cNvSpPr/>
          <p:nvPr/>
        </p:nvSpPr>
        <p:spPr>
          <a:xfrm>
            <a:off x="4910328" y="4745736"/>
            <a:ext cx="311810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KILL</a:t>
            </a:r>
            <a:endParaRPr lang="en-US" sz="680" dirty="0"/>
          </a:p>
        </p:txBody>
      </p:sp>
      <p:sp>
        <p:nvSpPr>
          <p:cNvPr id="47" name="Text 45"/>
          <p:cNvSpPr/>
          <p:nvPr/>
        </p:nvSpPr>
        <p:spPr>
          <a:xfrm>
            <a:off x="4910328" y="4873752"/>
            <a:ext cx="3118104" cy="329184"/>
          </a:xfrm>
          <a:prstGeom prst="rect">
            <a:avLst/>
          </a:prstGeom>
          <a:noFill/>
          <a:ln/>
        </p:spPr>
        <p:txBody>
          <a:bodyPr wrap="square" lIns="0" tIns="0" rIns="0" bIns="0" rtlCol="0" anchor="ctr">
            <a:normAutofit/>
          </a:bodyPr>
          <a:lstStyle/>
          <a:p>
            <a:pPr indent="0" marL="0">
              <a:buNone/>
            </a:pPr>
            <a:r>
              <a:rPr lang="en-US" sz="1070" b="1" dirty="0">
                <a:solidFill>
                  <a:srgbClr val="14273D"/>
                </a:solidFill>
                <a:latin typeface="Inter Display" pitchFamily="34" charset="0"/>
                <a:ea typeface="Inter Display" pitchFamily="34" charset="-122"/>
                <a:cs typeface="Inter Display" pitchFamily="34" charset="-120"/>
              </a:rPr>
              <a:t>No evidence · no independence · irreversible action</a:t>
            </a:r>
            <a:endParaRPr lang="en-US" sz="1070" dirty="0"/>
          </a:p>
        </p:txBody>
      </p:sp>
      <p:sp>
        <p:nvSpPr>
          <p:cNvPr id="48" name="Shape 46"/>
          <p:cNvSpPr/>
          <p:nvPr/>
        </p:nvSpPr>
        <p:spPr>
          <a:xfrm>
            <a:off x="8549640" y="4617720"/>
            <a:ext cx="3429000" cy="749808"/>
          </a:xfrm>
          <a:prstGeom prst="roundRect">
            <a:avLst>
              <a:gd name="adj" fmla="val 9756"/>
            </a:avLst>
          </a:prstGeom>
          <a:solidFill>
            <a:srgbClr val="FFFDF8"/>
          </a:solidFill>
          <a:ln w="10160">
            <a:solidFill>
              <a:srgbClr val="E7BD62"/>
            </a:solidFill>
            <a:prstDash val="solid"/>
          </a:ln>
        </p:spPr>
      </p:sp>
      <p:sp>
        <p:nvSpPr>
          <p:cNvPr id="49" name="Text 47"/>
          <p:cNvSpPr/>
          <p:nvPr/>
        </p:nvSpPr>
        <p:spPr>
          <a:xfrm>
            <a:off x="8705088" y="4745736"/>
            <a:ext cx="311810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EXPAND</a:t>
            </a:r>
            <a:endParaRPr lang="en-US" sz="680" dirty="0"/>
          </a:p>
        </p:txBody>
      </p:sp>
      <p:sp>
        <p:nvSpPr>
          <p:cNvPr id="50" name="Text 48"/>
          <p:cNvSpPr/>
          <p:nvPr/>
        </p:nvSpPr>
        <p:spPr>
          <a:xfrm>
            <a:off x="8705088" y="4873752"/>
            <a:ext cx="3118104" cy="329184"/>
          </a:xfrm>
          <a:prstGeom prst="rect">
            <a:avLst/>
          </a:prstGeom>
          <a:noFill/>
          <a:ln/>
        </p:spPr>
        <p:txBody>
          <a:bodyPr wrap="square" lIns="0" tIns="0" rIns="0" bIns="0" rtlCol="0" anchor="ctr">
            <a:normAutofit/>
          </a:bodyPr>
          <a:lstStyle/>
          <a:p>
            <a:pPr indent="0" marL="0">
              <a:buNone/>
            </a:pPr>
            <a:r>
              <a:rPr lang="en-US" sz="1070" b="1" dirty="0">
                <a:solidFill>
                  <a:srgbClr val="14273D"/>
                </a:solidFill>
                <a:latin typeface="Inter Display" pitchFamily="34" charset="0"/>
                <a:ea typeface="Inter Display" pitchFamily="34" charset="-122"/>
                <a:cs typeface="Inter Display" pitchFamily="34" charset="-120"/>
              </a:rPr>
              <a:t>Mission 2 lift · replay · risk/cost value</a:t>
            </a:r>
            <a:endParaRPr lang="en-US" sz="107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30-60-90 OPERATING CADENCE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3100" b="1" dirty="0">
                <a:solidFill>
                  <a:srgbClr val="F7FBFF"/>
                </a:solidFill>
                <a:latin typeface="Inter Display" pitchFamily="34" charset="0"/>
                <a:ea typeface="Inter Display" pitchFamily="34" charset="-122"/>
                <a:cs typeface="Inter Display" pitchFamily="34" charset="-120"/>
              </a:rPr>
              <a:t>Proof-first partnership cadence.</a:t>
            </a:r>
            <a:endParaRPr lang="en-US" sz="31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B9C5D2"/>
                </a:solidFill>
                <a:latin typeface="Inter" pitchFamily="34" charset="0"/>
                <a:ea typeface="Inter" pitchFamily="34" charset="-122"/>
                <a:cs typeface="Inter" pitchFamily="34" charset="-120"/>
              </a:rPr>
              <a:t>The timeline is gated by evidence, not calendar optimism.</a:t>
            </a:r>
            <a:endParaRPr lang="en-US" sz="1450" dirty="0"/>
          </a:p>
        </p:txBody>
      </p:sp>
      <p:sp>
        <p:nvSpPr>
          <p:cNvPr id="30" name="Shape 28"/>
          <p:cNvSpPr/>
          <p:nvPr/>
        </p:nvSpPr>
        <p:spPr>
          <a:xfrm>
            <a:off x="658368" y="1847088"/>
            <a:ext cx="3566160" cy="3429000"/>
          </a:xfrm>
          <a:prstGeom prst="roundRect">
            <a:avLst>
              <a:gd name="adj" fmla="val 2133"/>
            </a:avLst>
          </a:prstGeom>
          <a:solidFill>
            <a:srgbClr val="102238"/>
          </a:solidFill>
          <a:ln w="10160">
            <a:solidFill>
              <a:srgbClr val="E7BD62"/>
            </a:solidFill>
            <a:prstDash val="solid"/>
          </a:ln>
          <a:effectLst>
            <a:outerShdw sx="100000" sy="100000" kx="0" ky="0" algn="bl" rotWithShape="0" blurRad="25400" dist="50800" dir="2700000">
              <a:srgbClr val="000000">
                <a:alpha val="18000"/>
              </a:srgbClr>
            </a:outerShdw>
          </a:effectLst>
        </p:spPr>
      </p:sp>
      <p:sp>
        <p:nvSpPr>
          <p:cNvPr id="31" name="Text 29"/>
          <p:cNvSpPr/>
          <p:nvPr/>
        </p:nvSpPr>
        <p:spPr>
          <a:xfrm>
            <a:off x="813816" y="1975104"/>
            <a:ext cx="325526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0–30 DAYS</a:t>
            </a:r>
            <a:endParaRPr lang="en-US" sz="680" dirty="0"/>
          </a:p>
        </p:txBody>
      </p:sp>
      <p:sp>
        <p:nvSpPr>
          <p:cNvPr id="32" name="Text 30"/>
          <p:cNvSpPr/>
          <p:nvPr/>
        </p:nvSpPr>
        <p:spPr>
          <a:xfrm>
            <a:off x="813816" y="2103120"/>
            <a:ext cx="325526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FREEZE AND BASELINE</a:t>
            </a:r>
            <a:endParaRPr lang="en-US" sz="1900" dirty="0"/>
          </a:p>
        </p:txBody>
      </p:sp>
      <p:sp>
        <p:nvSpPr>
          <p:cNvPr id="33" name="Text 31"/>
          <p:cNvSpPr/>
          <p:nvPr/>
        </p:nvSpPr>
        <p:spPr>
          <a:xfrm>
            <a:off x="813816" y="2505456"/>
            <a:ext cx="3255264" cy="2633472"/>
          </a:xfrm>
          <a:prstGeom prst="rect">
            <a:avLst/>
          </a:prstGeom>
          <a:noFill/>
          <a:ln/>
        </p:spPr>
        <p:txBody>
          <a:bodyPr wrap="square" lIns="0" tIns="0" rIns="0" bIns="0" rtlCol="0" anchor="t">
            <a:normAutofit/>
          </a:bodyPr>
          <a:lstStyle/>
          <a:p>
            <a:pPr indent="0" marL="0">
              <a:buNone/>
            </a:pPr>
            <a:r>
              <a:rPr lang="en-US" sz="1020" dirty="0">
                <a:solidFill>
                  <a:srgbClr val="B9C5D2"/>
                </a:solidFill>
                <a:latin typeface="Inter" pitchFamily="34" charset="0"/>
                <a:ea typeface="Inter" pitchFamily="34" charset="-122"/>
                <a:cs typeface="Inter" pitchFamily="34" charset="-120"/>
              </a:rPr>
              <a:t>Mission Contract</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Evidence map</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Claims and Proof Debt</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Reviewer independence</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Privacy and action boundary</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Mission 2 reserved</a:t>
            </a:r>
            <a:endParaRPr lang="en-US" sz="1020" dirty="0"/>
          </a:p>
        </p:txBody>
      </p:sp>
      <p:sp>
        <p:nvSpPr>
          <p:cNvPr id="34" name="Shape 32"/>
          <p:cNvSpPr/>
          <p:nvPr/>
        </p:nvSpPr>
        <p:spPr>
          <a:xfrm>
            <a:off x="4480560" y="1847088"/>
            <a:ext cx="3566160" cy="3429000"/>
          </a:xfrm>
          <a:prstGeom prst="roundRect">
            <a:avLst>
              <a:gd name="adj" fmla="val 2133"/>
            </a:avLst>
          </a:prstGeom>
          <a:solidFill>
            <a:srgbClr val="102238"/>
          </a:solidFill>
          <a:ln w="10160">
            <a:solidFill>
              <a:srgbClr val="54D6D0"/>
            </a:solidFill>
            <a:prstDash val="solid"/>
          </a:ln>
          <a:effectLst>
            <a:outerShdw sx="100000" sy="100000" kx="0" ky="0" algn="bl" rotWithShape="0" blurRad="25400" dist="50800" dir="2700000">
              <a:srgbClr val="000000">
                <a:alpha val="18000"/>
              </a:srgbClr>
            </a:outerShdw>
          </a:effectLst>
        </p:spPr>
      </p:sp>
      <p:sp>
        <p:nvSpPr>
          <p:cNvPr id="35" name="Text 33"/>
          <p:cNvSpPr/>
          <p:nvPr/>
        </p:nvSpPr>
        <p:spPr>
          <a:xfrm>
            <a:off x="4636008" y="1975104"/>
            <a:ext cx="3255264" cy="146304"/>
          </a:xfrm>
          <a:prstGeom prst="rect">
            <a:avLst/>
          </a:prstGeom>
          <a:noFill/>
          <a:ln/>
        </p:spPr>
        <p:txBody>
          <a:bodyPr wrap="square" lIns="0" tIns="0" rIns="0" bIns="0" rtlCol="0" anchor="ctr"/>
          <a:lstStyle/>
          <a:p>
            <a:pPr indent="0" marL="0">
              <a:buNone/>
            </a:pPr>
            <a:r>
              <a:rPr lang="en-US" sz="680" b="1" spc="120" kern="0" dirty="0">
                <a:solidFill>
                  <a:srgbClr val="54D6D0"/>
                </a:solidFill>
                <a:latin typeface="Inter" pitchFamily="34" charset="0"/>
                <a:ea typeface="Inter" pitchFamily="34" charset="-122"/>
                <a:cs typeface="Inter" pitchFamily="34" charset="-120"/>
              </a:rPr>
              <a:t>31–60 DAYS</a:t>
            </a:r>
            <a:endParaRPr lang="en-US" sz="680" dirty="0"/>
          </a:p>
        </p:txBody>
      </p:sp>
      <p:sp>
        <p:nvSpPr>
          <p:cNvPr id="36" name="Text 34"/>
          <p:cNvSpPr/>
          <p:nvPr/>
        </p:nvSpPr>
        <p:spPr>
          <a:xfrm>
            <a:off x="4636008" y="2103120"/>
            <a:ext cx="325526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EXECUTE AND GOVERN</a:t>
            </a:r>
            <a:endParaRPr lang="en-US" sz="1900" dirty="0"/>
          </a:p>
        </p:txBody>
      </p:sp>
      <p:sp>
        <p:nvSpPr>
          <p:cNvPr id="37" name="Text 35"/>
          <p:cNvSpPr/>
          <p:nvPr/>
        </p:nvSpPr>
        <p:spPr>
          <a:xfrm>
            <a:off x="4636008" y="2505456"/>
            <a:ext cx="3255264" cy="2633472"/>
          </a:xfrm>
          <a:prstGeom prst="rect">
            <a:avLst/>
          </a:prstGeom>
          <a:noFill/>
          <a:ln/>
        </p:spPr>
        <p:txBody>
          <a:bodyPr wrap="square" lIns="0" tIns="0" rIns="0" bIns="0" rtlCol="0" anchor="t">
            <a:normAutofit/>
          </a:bodyPr>
          <a:lstStyle/>
          <a:p>
            <a:pPr indent="0" marL="0">
              <a:buNone/>
            </a:pPr>
            <a:r>
              <a:rPr lang="en-US" sz="1020" dirty="0">
                <a:solidFill>
                  <a:srgbClr val="B9C5D2"/>
                </a:solidFill>
                <a:latin typeface="Inter" pitchFamily="34" charset="0"/>
                <a:ea typeface="Inter" pitchFamily="34" charset="-122"/>
                <a:cs typeface="Inter" pitchFamily="34" charset="-120"/>
              </a:rPr>
              <a:t>Custom AGI Jobs</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ProofBundles</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Evidence Docket</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Replay and validation</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Chronicle decision</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Challenge / rollback path</a:t>
            </a:r>
            <a:endParaRPr lang="en-US" sz="1020" dirty="0"/>
          </a:p>
        </p:txBody>
      </p:sp>
      <p:sp>
        <p:nvSpPr>
          <p:cNvPr id="38" name="Shape 36"/>
          <p:cNvSpPr/>
          <p:nvPr/>
        </p:nvSpPr>
        <p:spPr>
          <a:xfrm>
            <a:off x="8302752" y="1847088"/>
            <a:ext cx="3566160" cy="3429000"/>
          </a:xfrm>
          <a:prstGeom prst="roundRect">
            <a:avLst>
              <a:gd name="adj" fmla="val 2133"/>
            </a:avLst>
          </a:prstGeom>
          <a:solidFill>
            <a:srgbClr val="10223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39" name="Text 37"/>
          <p:cNvSpPr/>
          <p:nvPr/>
        </p:nvSpPr>
        <p:spPr>
          <a:xfrm>
            <a:off x="8458200" y="1975104"/>
            <a:ext cx="325526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61–90 DAYS</a:t>
            </a:r>
            <a:endParaRPr lang="en-US" sz="680" dirty="0"/>
          </a:p>
        </p:txBody>
      </p:sp>
      <p:sp>
        <p:nvSpPr>
          <p:cNvPr id="40" name="Text 38"/>
          <p:cNvSpPr/>
          <p:nvPr/>
        </p:nvSpPr>
        <p:spPr>
          <a:xfrm>
            <a:off x="8458200" y="2103120"/>
            <a:ext cx="3255264" cy="329184"/>
          </a:xfrm>
          <a:prstGeom prst="rect">
            <a:avLst/>
          </a:prstGeom>
          <a:noFill/>
          <a:ln/>
        </p:spPr>
        <p:txBody>
          <a:bodyPr wrap="square" lIns="0" tIns="0" rIns="0" bIns="0" rtlCol="0" anchor="ctr">
            <a:normAutofit/>
          </a:bodyPr>
          <a:lstStyle/>
          <a:p>
            <a:pPr indent="0" marL="0">
              <a:buNone/>
            </a:pPr>
            <a:r>
              <a:rPr lang="en-US" sz="1900" b="1" dirty="0">
                <a:solidFill>
                  <a:srgbClr val="F7FBFF"/>
                </a:solidFill>
                <a:latin typeface="Inter Display" pitchFamily="34" charset="0"/>
                <a:ea typeface="Inter Display" pitchFamily="34" charset="-122"/>
                <a:cs typeface="Inter Display" pitchFamily="34" charset="-120"/>
              </a:rPr>
              <a:t>TEST AND EXPAND</a:t>
            </a:r>
            <a:endParaRPr lang="en-US" sz="1900" dirty="0"/>
          </a:p>
        </p:txBody>
      </p:sp>
      <p:sp>
        <p:nvSpPr>
          <p:cNvPr id="41" name="Text 39"/>
          <p:cNvSpPr/>
          <p:nvPr/>
        </p:nvSpPr>
        <p:spPr>
          <a:xfrm>
            <a:off x="8458200" y="2505456"/>
            <a:ext cx="3255264" cy="2633472"/>
          </a:xfrm>
          <a:prstGeom prst="rect">
            <a:avLst/>
          </a:prstGeom>
          <a:noFill/>
          <a:ln/>
        </p:spPr>
        <p:txBody>
          <a:bodyPr wrap="square" lIns="0" tIns="0" rIns="0" bIns="0" rtlCol="0" anchor="t">
            <a:normAutofit/>
          </a:bodyPr>
          <a:lstStyle/>
          <a:p>
            <a:pPr indent="0" marL="0">
              <a:buNone/>
            </a:pPr>
            <a:r>
              <a:rPr lang="en-US" sz="1020" dirty="0">
                <a:solidFill>
                  <a:srgbClr val="B9C5D2"/>
                </a:solidFill>
                <a:latin typeface="Inter" pitchFamily="34" charset="0"/>
                <a:ea typeface="Inter" pitchFamily="34" charset="-122"/>
                <a:cs typeface="Inter" pitchFamily="34" charset="-120"/>
              </a:rPr>
              <a:t>Fresh Mission 2</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Equal-constraint comparison</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Delayed outcomes</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External replay</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Value and risk scorecard</a:t>
            </a:r>
            <a:endParaRPr lang="en-US" sz="1020" dirty="0"/>
          </a:p>
          <a:p>
            <a:pPr indent="0" marL="0">
              <a:buNone/>
            </a:pPr>
            <a:r>
              <a:rPr lang="en-US" sz="1020" dirty="0">
                <a:solidFill>
                  <a:srgbClr val="B9C5D2"/>
                </a:solidFill>
                <a:latin typeface="Inter" pitchFamily="34" charset="0"/>
                <a:ea typeface="Inter" pitchFamily="34" charset="-122"/>
                <a:cs typeface="Inter" pitchFamily="34" charset="-120"/>
              </a:rPr>
              <a:t>Expand, repair, hold, or stop</a:t>
            </a:r>
            <a:endParaRPr lang="en-US" sz="1020" dirty="0"/>
          </a:p>
        </p:txBody>
      </p:sp>
      <p:sp>
        <p:nvSpPr>
          <p:cNvPr id="42" name="Shape 40"/>
          <p:cNvSpPr/>
          <p:nvPr/>
        </p:nvSpPr>
        <p:spPr>
          <a:xfrm>
            <a:off x="1828800" y="5559552"/>
            <a:ext cx="8549640" cy="530352"/>
          </a:xfrm>
          <a:prstGeom prst="roundRect">
            <a:avLst>
              <a:gd name="adj" fmla="val 13793"/>
            </a:avLst>
          </a:prstGeom>
          <a:solidFill>
            <a:srgbClr val="102238"/>
          </a:solidFill>
          <a:ln w="10160">
            <a:solidFill>
              <a:srgbClr val="FF7584"/>
            </a:solidFill>
            <a:prstDash val="solid"/>
          </a:ln>
        </p:spPr>
      </p:sp>
      <p:sp>
        <p:nvSpPr>
          <p:cNvPr id="43" name="Text 41"/>
          <p:cNvSpPr/>
          <p:nvPr/>
        </p:nvSpPr>
        <p:spPr>
          <a:xfrm>
            <a:off x="1984248" y="5687568"/>
            <a:ext cx="8238744" cy="146304"/>
          </a:xfrm>
          <a:prstGeom prst="rect">
            <a:avLst/>
          </a:prstGeom>
          <a:noFill/>
          <a:ln/>
        </p:spPr>
        <p:txBody>
          <a:bodyPr wrap="square" lIns="0" tIns="0" rIns="0" bIns="0" rtlCol="0" anchor="ctr"/>
          <a:lstStyle/>
          <a:p>
            <a:pPr indent="0" marL="0">
              <a:buNone/>
            </a:pPr>
            <a:r>
              <a:rPr lang="en-US" sz="680" b="1" spc="120" kern="0" dirty="0">
                <a:solidFill>
                  <a:srgbClr val="FF7584"/>
                </a:solidFill>
                <a:latin typeface="Inter" pitchFamily="34" charset="0"/>
                <a:ea typeface="Inter" pitchFamily="34" charset="-122"/>
                <a:cs typeface="Inter" pitchFamily="34" charset="-120"/>
              </a:rPr>
              <a:t>CADENCE LAW</a:t>
            </a:r>
            <a:endParaRPr lang="en-US" sz="680" dirty="0"/>
          </a:p>
        </p:txBody>
      </p:sp>
      <p:sp>
        <p:nvSpPr>
          <p:cNvPr id="44" name="Text 42"/>
          <p:cNvSpPr/>
          <p:nvPr/>
        </p:nvSpPr>
        <p:spPr>
          <a:xfrm>
            <a:off x="1984248" y="5815584"/>
            <a:ext cx="8238744" cy="329184"/>
          </a:xfrm>
          <a:prstGeom prst="rect">
            <a:avLst/>
          </a:prstGeom>
          <a:noFill/>
          <a:ln/>
        </p:spPr>
        <p:txBody>
          <a:bodyPr wrap="square" lIns="0" tIns="0" rIns="0" bIns="0" rtlCol="0" anchor="ctr">
            <a:normAutofit/>
          </a:bodyPr>
          <a:lstStyle/>
          <a:p>
            <a:pPr indent="0" marL="0">
              <a:buNone/>
            </a:pPr>
            <a:r>
              <a:rPr lang="en-US" sz="1180" b="1" dirty="0">
                <a:solidFill>
                  <a:srgbClr val="F7FBFF"/>
                </a:solidFill>
                <a:latin typeface="Inter Display" pitchFamily="34" charset="0"/>
                <a:ea typeface="Inter Display" pitchFamily="34" charset="-122"/>
                <a:cs typeface="Inter Display" pitchFamily="34" charset="-120"/>
              </a:rPr>
              <a:t>A phase cannot inherit authority from a calendar date. It inherits authority only from the prior phase’s accepted evidence.</a:t>
            </a:r>
            <a:endParaRPr lang="en-US" sz="118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D8D1C3">
                <a:alpha val="36000"/>
              </a:srgbClr>
            </a:solidFill>
            <a:prstDash val="solid"/>
          </a:ln>
        </p:spPr>
      </p:sp>
      <p:sp>
        <p:nvSpPr>
          <p:cNvPr id="3" name="Shape 1"/>
          <p:cNvSpPr/>
          <p:nvPr/>
        </p:nvSpPr>
        <p:spPr>
          <a:xfrm>
            <a:off x="1463040" y="0"/>
            <a:ext cx="0" cy="6858000"/>
          </a:xfrm>
          <a:prstGeom prst="line">
            <a:avLst/>
          </a:prstGeom>
          <a:noFill/>
          <a:ln w="3810">
            <a:solidFill>
              <a:srgbClr val="D8D1C3">
                <a:alpha val="36000"/>
              </a:srgbClr>
            </a:solidFill>
            <a:prstDash val="solid"/>
          </a:ln>
        </p:spPr>
      </p:sp>
      <p:sp>
        <p:nvSpPr>
          <p:cNvPr id="4" name="Shape 2"/>
          <p:cNvSpPr/>
          <p:nvPr/>
        </p:nvSpPr>
        <p:spPr>
          <a:xfrm>
            <a:off x="2560320" y="0"/>
            <a:ext cx="0" cy="6858000"/>
          </a:xfrm>
          <a:prstGeom prst="line">
            <a:avLst/>
          </a:prstGeom>
          <a:noFill/>
          <a:ln w="3810">
            <a:solidFill>
              <a:srgbClr val="D8D1C3">
                <a:alpha val="36000"/>
              </a:srgbClr>
            </a:solidFill>
            <a:prstDash val="solid"/>
          </a:ln>
        </p:spPr>
      </p:sp>
      <p:sp>
        <p:nvSpPr>
          <p:cNvPr id="5" name="Shape 3"/>
          <p:cNvSpPr/>
          <p:nvPr/>
        </p:nvSpPr>
        <p:spPr>
          <a:xfrm>
            <a:off x="3657600" y="0"/>
            <a:ext cx="0" cy="6858000"/>
          </a:xfrm>
          <a:prstGeom prst="line">
            <a:avLst/>
          </a:prstGeom>
          <a:noFill/>
          <a:ln w="3810">
            <a:solidFill>
              <a:srgbClr val="D8D1C3">
                <a:alpha val="36000"/>
              </a:srgbClr>
            </a:solidFill>
            <a:prstDash val="solid"/>
          </a:ln>
        </p:spPr>
      </p:sp>
      <p:sp>
        <p:nvSpPr>
          <p:cNvPr id="6" name="Shape 4"/>
          <p:cNvSpPr/>
          <p:nvPr/>
        </p:nvSpPr>
        <p:spPr>
          <a:xfrm>
            <a:off x="4754880" y="0"/>
            <a:ext cx="0" cy="6858000"/>
          </a:xfrm>
          <a:prstGeom prst="line">
            <a:avLst/>
          </a:prstGeom>
          <a:noFill/>
          <a:ln w="3810">
            <a:solidFill>
              <a:srgbClr val="D8D1C3">
                <a:alpha val="36000"/>
              </a:srgbClr>
            </a:solidFill>
            <a:prstDash val="solid"/>
          </a:ln>
        </p:spPr>
      </p:sp>
      <p:sp>
        <p:nvSpPr>
          <p:cNvPr id="7" name="Shape 5"/>
          <p:cNvSpPr/>
          <p:nvPr/>
        </p:nvSpPr>
        <p:spPr>
          <a:xfrm>
            <a:off x="5852160" y="0"/>
            <a:ext cx="0" cy="6858000"/>
          </a:xfrm>
          <a:prstGeom prst="line">
            <a:avLst/>
          </a:prstGeom>
          <a:noFill/>
          <a:ln w="3810">
            <a:solidFill>
              <a:srgbClr val="D8D1C3">
                <a:alpha val="36000"/>
              </a:srgbClr>
            </a:solidFill>
            <a:prstDash val="solid"/>
          </a:ln>
        </p:spPr>
      </p:sp>
      <p:sp>
        <p:nvSpPr>
          <p:cNvPr id="8" name="Shape 6"/>
          <p:cNvSpPr/>
          <p:nvPr/>
        </p:nvSpPr>
        <p:spPr>
          <a:xfrm>
            <a:off x="6949440" y="0"/>
            <a:ext cx="0" cy="6858000"/>
          </a:xfrm>
          <a:prstGeom prst="line">
            <a:avLst/>
          </a:prstGeom>
          <a:noFill/>
          <a:ln w="3810">
            <a:solidFill>
              <a:srgbClr val="D8D1C3">
                <a:alpha val="36000"/>
              </a:srgbClr>
            </a:solidFill>
            <a:prstDash val="solid"/>
          </a:ln>
        </p:spPr>
      </p:sp>
      <p:sp>
        <p:nvSpPr>
          <p:cNvPr id="9" name="Shape 7"/>
          <p:cNvSpPr/>
          <p:nvPr/>
        </p:nvSpPr>
        <p:spPr>
          <a:xfrm>
            <a:off x="8046720" y="0"/>
            <a:ext cx="0" cy="6858000"/>
          </a:xfrm>
          <a:prstGeom prst="line">
            <a:avLst/>
          </a:prstGeom>
          <a:noFill/>
          <a:ln w="3810">
            <a:solidFill>
              <a:srgbClr val="D8D1C3">
                <a:alpha val="36000"/>
              </a:srgbClr>
            </a:solidFill>
            <a:prstDash val="solid"/>
          </a:ln>
        </p:spPr>
      </p:sp>
      <p:sp>
        <p:nvSpPr>
          <p:cNvPr id="10" name="Shape 8"/>
          <p:cNvSpPr/>
          <p:nvPr/>
        </p:nvSpPr>
        <p:spPr>
          <a:xfrm>
            <a:off x="9144000" y="0"/>
            <a:ext cx="0" cy="6858000"/>
          </a:xfrm>
          <a:prstGeom prst="line">
            <a:avLst/>
          </a:prstGeom>
          <a:noFill/>
          <a:ln w="3810">
            <a:solidFill>
              <a:srgbClr val="D8D1C3">
                <a:alpha val="36000"/>
              </a:srgbClr>
            </a:solidFill>
            <a:prstDash val="solid"/>
          </a:ln>
        </p:spPr>
      </p:sp>
      <p:sp>
        <p:nvSpPr>
          <p:cNvPr id="11" name="Shape 9"/>
          <p:cNvSpPr/>
          <p:nvPr/>
        </p:nvSpPr>
        <p:spPr>
          <a:xfrm>
            <a:off x="10241280" y="0"/>
            <a:ext cx="0" cy="6858000"/>
          </a:xfrm>
          <a:prstGeom prst="line">
            <a:avLst/>
          </a:prstGeom>
          <a:noFill/>
          <a:ln w="3810">
            <a:solidFill>
              <a:srgbClr val="D8D1C3">
                <a:alpha val="36000"/>
              </a:srgbClr>
            </a:solidFill>
            <a:prstDash val="solid"/>
          </a:ln>
        </p:spPr>
      </p:sp>
      <p:sp>
        <p:nvSpPr>
          <p:cNvPr id="12" name="Shape 10"/>
          <p:cNvSpPr/>
          <p:nvPr/>
        </p:nvSpPr>
        <p:spPr>
          <a:xfrm>
            <a:off x="11338560" y="0"/>
            <a:ext cx="0" cy="6858000"/>
          </a:xfrm>
          <a:prstGeom prst="line">
            <a:avLst/>
          </a:prstGeom>
          <a:noFill/>
          <a:ln w="3810">
            <a:solidFill>
              <a:srgbClr val="D8D1C3">
                <a:alpha val="36000"/>
              </a:srgbClr>
            </a:solidFill>
            <a:prstDash val="solid"/>
          </a:ln>
        </p:spPr>
      </p:sp>
      <p:sp>
        <p:nvSpPr>
          <p:cNvPr id="13" name="Shape 11"/>
          <p:cNvSpPr/>
          <p:nvPr/>
        </p:nvSpPr>
        <p:spPr>
          <a:xfrm>
            <a:off x="0" y="320040"/>
            <a:ext cx="12191695" cy="0"/>
          </a:xfrm>
          <a:prstGeom prst="line">
            <a:avLst/>
          </a:prstGeom>
          <a:noFill/>
          <a:ln w="3810">
            <a:solidFill>
              <a:srgbClr val="D8D1C3">
                <a:alpha val="36000"/>
              </a:srgbClr>
            </a:solidFill>
            <a:prstDash val="solid"/>
          </a:ln>
        </p:spPr>
      </p:sp>
      <p:sp>
        <p:nvSpPr>
          <p:cNvPr id="14" name="Shape 12"/>
          <p:cNvSpPr/>
          <p:nvPr/>
        </p:nvSpPr>
        <p:spPr>
          <a:xfrm>
            <a:off x="0" y="1280160"/>
            <a:ext cx="12191695" cy="0"/>
          </a:xfrm>
          <a:prstGeom prst="line">
            <a:avLst/>
          </a:prstGeom>
          <a:noFill/>
          <a:ln w="3810">
            <a:solidFill>
              <a:srgbClr val="D8D1C3">
                <a:alpha val="36000"/>
              </a:srgbClr>
            </a:solidFill>
            <a:prstDash val="solid"/>
          </a:ln>
        </p:spPr>
      </p:sp>
      <p:sp>
        <p:nvSpPr>
          <p:cNvPr id="15" name="Shape 13"/>
          <p:cNvSpPr/>
          <p:nvPr/>
        </p:nvSpPr>
        <p:spPr>
          <a:xfrm>
            <a:off x="0" y="2240280"/>
            <a:ext cx="12191695" cy="0"/>
          </a:xfrm>
          <a:prstGeom prst="line">
            <a:avLst/>
          </a:prstGeom>
          <a:noFill/>
          <a:ln w="3810">
            <a:solidFill>
              <a:srgbClr val="D8D1C3">
                <a:alpha val="36000"/>
              </a:srgbClr>
            </a:solidFill>
            <a:prstDash val="solid"/>
          </a:ln>
        </p:spPr>
      </p:sp>
      <p:sp>
        <p:nvSpPr>
          <p:cNvPr id="16" name="Shape 14"/>
          <p:cNvSpPr/>
          <p:nvPr/>
        </p:nvSpPr>
        <p:spPr>
          <a:xfrm>
            <a:off x="0" y="3200400"/>
            <a:ext cx="12191695" cy="0"/>
          </a:xfrm>
          <a:prstGeom prst="line">
            <a:avLst/>
          </a:prstGeom>
          <a:noFill/>
          <a:ln w="3810">
            <a:solidFill>
              <a:srgbClr val="D8D1C3">
                <a:alpha val="36000"/>
              </a:srgbClr>
            </a:solidFill>
            <a:prstDash val="solid"/>
          </a:ln>
        </p:spPr>
      </p:sp>
      <p:sp>
        <p:nvSpPr>
          <p:cNvPr id="17" name="Shape 15"/>
          <p:cNvSpPr/>
          <p:nvPr/>
        </p:nvSpPr>
        <p:spPr>
          <a:xfrm>
            <a:off x="0" y="4160520"/>
            <a:ext cx="12191695" cy="0"/>
          </a:xfrm>
          <a:prstGeom prst="line">
            <a:avLst/>
          </a:prstGeom>
          <a:noFill/>
          <a:ln w="3810">
            <a:solidFill>
              <a:srgbClr val="D8D1C3">
                <a:alpha val="36000"/>
              </a:srgbClr>
            </a:solidFill>
            <a:prstDash val="solid"/>
          </a:ln>
        </p:spPr>
      </p:sp>
      <p:sp>
        <p:nvSpPr>
          <p:cNvPr id="18" name="Shape 16"/>
          <p:cNvSpPr/>
          <p:nvPr/>
        </p:nvSpPr>
        <p:spPr>
          <a:xfrm>
            <a:off x="0" y="5120640"/>
            <a:ext cx="12191695" cy="0"/>
          </a:xfrm>
          <a:prstGeom prst="line">
            <a:avLst/>
          </a:prstGeom>
          <a:noFill/>
          <a:ln w="3810">
            <a:solidFill>
              <a:srgbClr val="D8D1C3">
                <a:alpha val="36000"/>
              </a:srgbClr>
            </a:solidFill>
            <a:prstDash val="solid"/>
          </a:ln>
        </p:spPr>
      </p:sp>
      <p:sp>
        <p:nvSpPr>
          <p:cNvPr id="19" name="Shape 17"/>
          <p:cNvSpPr/>
          <p:nvPr/>
        </p:nvSpPr>
        <p:spPr>
          <a:xfrm>
            <a:off x="0" y="6080760"/>
            <a:ext cx="12191695" cy="0"/>
          </a:xfrm>
          <a:prstGeom prst="line">
            <a:avLst/>
          </a:prstGeom>
          <a:noFill/>
          <a:ln w="3810">
            <a:solidFill>
              <a:srgbClr val="D8D1C3">
                <a:alpha val="36000"/>
              </a:srgbClr>
            </a:solidFill>
            <a:prstDash val="solid"/>
          </a:ln>
        </p:spPr>
      </p:sp>
      <p:sp>
        <p:nvSpPr>
          <p:cNvPr id="20" name="Shape 18"/>
          <p:cNvSpPr/>
          <p:nvPr/>
        </p:nvSpPr>
        <p:spPr>
          <a:xfrm>
            <a:off x="9326880" y="-731520"/>
            <a:ext cx="3383280" cy="3383280"/>
          </a:xfrm>
          <a:prstGeom prst="ellipse">
            <a:avLst/>
          </a:prstGeom>
          <a:solidFill>
            <a:srgbClr val="54D6D0">
              <a:alpha val="10000"/>
            </a:srgbClr>
          </a:solidFill>
          <a:ln w="12700">
            <a:solidFill>
              <a:srgbClr val="54D6D0">
                <a:alpha val="0"/>
              </a:srgbClr>
            </a:solidFill>
            <a:prstDash val="solid"/>
          </a:ln>
        </p:spPr>
      </p:sp>
      <p:sp>
        <p:nvSpPr>
          <p:cNvPr id="21" name="Shape 19"/>
          <p:cNvSpPr/>
          <p:nvPr/>
        </p:nvSpPr>
        <p:spPr>
          <a:xfrm>
            <a:off x="-731520" y="4572000"/>
            <a:ext cx="2377440" cy="2377440"/>
          </a:xfrm>
          <a:prstGeom prst="ellipse">
            <a:avLst/>
          </a:prstGeom>
          <a:solidFill>
            <a:srgbClr val="6FB5FF">
              <a:alpha val="8000"/>
            </a:srgbClr>
          </a:solidFill>
          <a:ln w="12700">
            <a:solidFill>
              <a:srgbClr val="6FB5FF">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4273D"/>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14273D"/>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7B7E7D"/>
                </a:solidFill>
                <a:latin typeface="Inter" pitchFamily="34" charset="0"/>
                <a:ea typeface="Inter" pitchFamily="34" charset="-122"/>
                <a:cs typeface="Inter" pitchFamily="34" charset="-120"/>
              </a:rPr>
              <a:t>GOALOS PARTNER MASTERCLASS · DILIGENCE VAULT</a:t>
            </a:r>
            <a:endParaRPr lang="en-US" sz="680" dirty="0"/>
          </a:p>
        </p:txBody>
      </p:sp>
      <p:sp>
        <p:nvSpPr>
          <p:cNvPr id="26" name="Shape 24"/>
          <p:cNvSpPr/>
          <p:nvPr/>
        </p:nvSpPr>
        <p:spPr>
          <a:xfrm>
            <a:off x="475488" y="6428232"/>
            <a:ext cx="11155680" cy="0"/>
          </a:xfrm>
          <a:prstGeom prst="line">
            <a:avLst/>
          </a:prstGeom>
          <a:noFill/>
          <a:ln w="6350">
            <a:solidFill>
              <a:srgbClr val="D9D0B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7B7E7D"/>
                </a:solidFill>
                <a:latin typeface="Inter" pitchFamily="34" charset="0"/>
                <a:ea typeface="Inter" pitchFamily="34" charset="-122"/>
                <a:cs typeface="Inter" pitchFamily="34" charset="-120"/>
              </a:rPr>
              <a:t>GoalOS canonical corpus · publication-safe, claim-bounded</a:t>
            </a:r>
            <a:endParaRPr lang="en-US" sz="640" dirty="0"/>
          </a:p>
        </p:txBody>
      </p:sp>
      <p:sp>
        <p:nvSpPr>
          <p:cNvPr id="28" name="Text 26"/>
          <p:cNvSpPr/>
          <p:nvPr/>
        </p:nvSpPr>
        <p:spPr>
          <a:xfrm>
            <a:off x="548640" y="914400"/>
            <a:ext cx="10972800" cy="713232"/>
          </a:xfrm>
          <a:prstGeom prst="rect">
            <a:avLst/>
          </a:prstGeom>
          <a:noFill/>
          <a:ln/>
        </p:spPr>
        <p:txBody>
          <a:bodyPr wrap="square" lIns="0" tIns="0" rIns="0" bIns="0" rtlCol="0" anchor="ctr">
            <a:normAutofit/>
          </a:bodyPr>
          <a:lstStyle/>
          <a:p>
            <a:pPr indent="0" marL="0">
              <a:buNone/>
            </a:pPr>
            <a:r>
              <a:rPr lang="en-US" sz="2700" b="1" dirty="0">
                <a:solidFill>
                  <a:srgbClr val="14273D"/>
                </a:solidFill>
                <a:latin typeface="Inter Display" pitchFamily="34" charset="0"/>
                <a:ea typeface="Inter Display" pitchFamily="34" charset="-122"/>
                <a:cs typeface="Inter Display" pitchFamily="34" charset="-120"/>
              </a:rPr>
              <a:t>Ambition is impressive when the evidence boundary is impossible to miss.</a:t>
            </a:r>
            <a:endParaRPr lang="en-US" sz="2700" dirty="0"/>
          </a:p>
        </p:txBody>
      </p:sp>
      <p:sp>
        <p:nvSpPr>
          <p:cNvPr id="29" name="Text 27"/>
          <p:cNvSpPr/>
          <p:nvPr/>
        </p:nvSpPr>
        <p:spPr>
          <a:xfrm>
            <a:off x="566928" y="1664208"/>
            <a:ext cx="10789920" cy="502920"/>
          </a:xfrm>
          <a:prstGeom prst="rect">
            <a:avLst/>
          </a:prstGeom>
          <a:noFill/>
          <a:ln/>
        </p:spPr>
        <p:txBody>
          <a:bodyPr wrap="square" lIns="0" tIns="0" rIns="0" bIns="0" rtlCol="0" anchor="ctr">
            <a:normAutofit/>
          </a:bodyPr>
          <a:lstStyle/>
          <a:p>
            <a:pPr indent="0" marL="0">
              <a:buNone/>
            </a:pPr>
            <a:r>
              <a:rPr lang="en-US" sz="1450" dirty="0">
                <a:solidFill>
                  <a:srgbClr val="43566A"/>
                </a:solidFill>
                <a:latin typeface="Inter" pitchFamily="34" charset="0"/>
                <a:ea typeface="Inter" pitchFamily="34" charset="-122"/>
                <a:cs typeface="Inter" pitchFamily="34" charset="-120"/>
              </a:rPr>
              <a:t>The diligence vault distinguishes specified, implemented, locally replayed, independently reviewed, live-authorized, and field-proven states.</a:t>
            </a:r>
            <a:endParaRPr lang="en-US" sz="1450" dirty="0"/>
          </a:p>
        </p:txBody>
      </p:sp>
      <p:sp>
        <p:nvSpPr>
          <p:cNvPr id="30" name="Text 28"/>
          <p:cNvSpPr/>
          <p:nvPr/>
        </p:nvSpPr>
        <p:spPr>
          <a:xfrm>
            <a:off x="777240" y="1874520"/>
            <a:ext cx="2194560" cy="146304"/>
          </a:xfrm>
          <a:prstGeom prst="rect">
            <a:avLst/>
          </a:prstGeom>
          <a:noFill/>
          <a:ln/>
        </p:spPr>
        <p:txBody>
          <a:bodyPr wrap="square" lIns="0" tIns="0" rIns="0" bIns="0" rtlCol="0" anchor="ctr"/>
          <a:lstStyle/>
          <a:p>
            <a:pPr indent="0" marL="0">
              <a:buNone/>
            </a:pPr>
            <a:r>
              <a:rPr lang="en-US" sz="840" b="1" dirty="0">
                <a:solidFill>
                  <a:srgbClr val="14273D"/>
                </a:solidFill>
                <a:latin typeface="Inter" pitchFamily="34" charset="0"/>
                <a:ea typeface="Inter" pitchFamily="34" charset="-122"/>
                <a:cs typeface="Inter" pitchFamily="34" charset="-120"/>
              </a:rPr>
              <a:t>Canonical doctrine</a:t>
            </a:r>
            <a:endParaRPr lang="en-US" sz="840" dirty="0"/>
          </a:p>
        </p:txBody>
      </p:sp>
      <p:sp>
        <p:nvSpPr>
          <p:cNvPr id="31" name="Shape 29"/>
          <p:cNvSpPr/>
          <p:nvPr/>
        </p:nvSpPr>
        <p:spPr>
          <a:xfrm>
            <a:off x="2926080" y="1865376"/>
            <a:ext cx="6355080" cy="164592"/>
          </a:xfrm>
          <a:prstGeom prst="roundRect">
            <a:avLst>
              <a:gd name="adj" fmla="val 44444"/>
            </a:avLst>
          </a:prstGeom>
          <a:solidFill>
            <a:srgbClr val="E3DCCF"/>
          </a:solidFill>
          <a:ln w="12700">
            <a:solidFill>
              <a:srgbClr val="E3DCCF"/>
            </a:solidFill>
            <a:prstDash val="solid"/>
          </a:ln>
        </p:spPr>
      </p:sp>
      <p:sp>
        <p:nvSpPr>
          <p:cNvPr id="32" name="Shape 30"/>
          <p:cNvSpPr/>
          <p:nvPr/>
        </p:nvSpPr>
        <p:spPr>
          <a:xfrm>
            <a:off x="2926080" y="1865376"/>
            <a:ext cx="6355080" cy="164592"/>
          </a:xfrm>
          <a:prstGeom prst="roundRect">
            <a:avLst>
              <a:gd name="adj" fmla="val 44444"/>
            </a:avLst>
          </a:prstGeom>
          <a:solidFill>
            <a:srgbClr val="43D79B"/>
          </a:solidFill>
          <a:ln w="12700">
            <a:solidFill>
              <a:srgbClr val="43D79B"/>
            </a:solidFill>
            <a:prstDash val="solid"/>
          </a:ln>
        </p:spPr>
      </p:sp>
      <p:sp>
        <p:nvSpPr>
          <p:cNvPr id="33" name="Text 31"/>
          <p:cNvSpPr/>
          <p:nvPr/>
        </p:nvSpPr>
        <p:spPr>
          <a:xfrm>
            <a:off x="9555480" y="1837944"/>
            <a:ext cx="1325880" cy="182880"/>
          </a:xfrm>
          <a:prstGeom prst="rect">
            <a:avLst/>
          </a:prstGeom>
          <a:noFill/>
          <a:ln/>
        </p:spPr>
        <p:txBody>
          <a:bodyPr wrap="square" lIns="0" tIns="0" rIns="0" bIns="0" rtlCol="0" anchor="ctr"/>
          <a:lstStyle/>
          <a:p>
            <a:pPr algn="r" indent="0" marL="0">
              <a:buNone/>
            </a:pPr>
            <a:r>
              <a:rPr lang="en-US" sz="720" b="1" dirty="0">
                <a:solidFill>
                  <a:srgbClr val="43D79B"/>
                </a:solidFill>
                <a:latin typeface="Inter" pitchFamily="34" charset="0"/>
                <a:ea typeface="Inter" pitchFamily="34" charset="-122"/>
                <a:cs typeface="Inter" pitchFamily="34" charset="-120"/>
              </a:rPr>
              <a:t>SPECIFIED</a:t>
            </a:r>
            <a:endParaRPr lang="en-US" sz="720" dirty="0"/>
          </a:p>
        </p:txBody>
      </p:sp>
      <p:sp>
        <p:nvSpPr>
          <p:cNvPr id="34" name="Text 32"/>
          <p:cNvSpPr/>
          <p:nvPr/>
        </p:nvSpPr>
        <p:spPr>
          <a:xfrm>
            <a:off x="777240" y="2478024"/>
            <a:ext cx="2194560" cy="146304"/>
          </a:xfrm>
          <a:prstGeom prst="rect">
            <a:avLst/>
          </a:prstGeom>
          <a:noFill/>
          <a:ln/>
        </p:spPr>
        <p:txBody>
          <a:bodyPr wrap="square" lIns="0" tIns="0" rIns="0" bIns="0" rtlCol="0" anchor="ctr"/>
          <a:lstStyle/>
          <a:p>
            <a:pPr indent="0" marL="0">
              <a:buNone/>
            </a:pPr>
            <a:r>
              <a:rPr lang="en-US" sz="840" b="1" dirty="0">
                <a:solidFill>
                  <a:srgbClr val="14273D"/>
                </a:solidFill>
                <a:latin typeface="Inter" pitchFamily="34" charset="0"/>
                <a:ea typeface="Inter" pitchFamily="34" charset="-122"/>
                <a:cs typeface="Inter" pitchFamily="34" charset="-120"/>
              </a:rPr>
              <a:t>Local reference system</a:t>
            </a:r>
            <a:endParaRPr lang="en-US" sz="840" dirty="0"/>
          </a:p>
        </p:txBody>
      </p:sp>
      <p:sp>
        <p:nvSpPr>
          <p:cNvPr id="35" name="Shape 33"/>
          <p:cNvSpPr/>
          <p:nvPr/>
        </p:nvSpPr>
        <p:spPr>
          <a:xfrm>
            <a:off x="2926080" y="2468880"/>
            <a:ext cx="6355080" cy="164592"/>
          </a:xfrm>
          <a:prstGeom prst="roundRect">
            <a:avLst>
              <a:gd name="adj" fmla="val 44444"/>
            </a:avLst>
          </a:prstGeom>
          <a:solidFill>
            <a:srgbClr val="E3DCCF"/>
          </a:solidFill>
          <a:ln w="12700">
            <a:solidFill>
              <a:srgbClr val="E3DCCF"/>
            </a:solidFill>
            <a:prstDash val="solid"/>
          </a:ln>
        </p:spPr>
      </p:sp>
      <p:sp>
        <p:nvSpPr>
          <p:cNvPr id="36" name="Shape 34"/>
          <p:cNvSpPr/>
          <p:nvPr/>
        </p:nvSpPr>
        <p:spPr>
          <a:xfrm>
            <a:off x="2926080" y="2468880"/>
            <a:ext cx="5846674" cy="164592"/>
          </a:xfrm>
          <a:prstGeom prst="roundRect">
            <a:avLst>
              <a:gd name="adj" fmla="val 44444"/>
            </a:avLst>
          </a:prstGeom>
          <a:solidFill>
            <a:srgbClr val="43D79B"/>
          </a:solidFill>
          <a:ln w="12700">
            <a:solidFill>
              <a:srgbClr val="43D79B"/>
            </a:solidFill>
            <a:prstDash val="solid"/>
          </a:ln>
        </p:spPr>
      </p:sp>
      <p:sp>
        <p:nvSpPr>
          <p:cNvPr id="37" name="Text 35"/>
          <p:cNvSpPr/>
          <p:nvPr/>
        </p:nvSpPr>
        <p:spPr>
          <a:xfrm>
            <a:off x="9555480" y="2441448"/>
            <a:ext cx="1325880" cy="182880"/>
          </a:xfrm>
          <a:prstGeom prst="rect">
            <a:avLst/>
          </a:prstGeom>
          <a:noFill/>
          <a:ln/>
        </p:spPr>
        <p:txBody>
          <a:bodyPr wrap="square" lIns="0" tIns="0" rIns="0" bIns="0" rtlCol="0" anchor="ctr"/>
          <a:lstStyle/>
          <a:p>
            <a:pPr algn="r" indent="0" marL="0">
              <a:buNone/>
            </a:pPr>
            <a:r>
              <a:rPr lang="en-US" sz="720" b="1" dirty="0">
                <a:solidFill>
                  <a:srgbClr val="43D79B"/>
                </a:solidFill>
                <a:latin typeface="Inter" pitchFamily="34" charset="0"/>
                <a:ea typeface="Inter" pitchFamily="34" charset="-122"/>
                <a:cs typeface="Inter" pitchFamily="34" charset="-120"/>
              </a:rPr>
              <a:t>IMPLEMENTED</a:t>
            </a:r>
            <a:endParaRPr lang="en-US" sz="720" dirty="0"/>
          </a:p>
        </p:txBody>
      </p:sp>
      <p:sp>
        <p:nvSpPr>
          <p:cNvPr id="38" name="Text 36"/>
          <p:cNvSpPr/>
          <p:nvPr/>
        </p:nvSpPr>
        <p:spPr>
          <a:xfrm>
            <a:off x="777240" y="3081528"/>
            <a:ext cx="2194560" cy="146304"/>
          </a:xfrm>
          <a:prstGeom prst="rect">
            <a:avLst/>
          </a:prstGeom>
          <a:noFill/>
          <a:ln/>
        </p:spPr>
        <p:txBody>
          <a:bodyPr wrap="square" lIns="0" tIns="0" rIns="0" bIns="0" rtlCol="0" anchor="ctr"/>
          <a:lstStyle/>
          <a:p>
            <a:pPr indent="0" marL="0">
              <a:buNone/>
            </a:pPr>
            <a:r>
              <a:rPr lang="en-US" sz="840" b="1" dirty="0">
                <a:solidFill>
                  <a:srgbClr val="14273D"/>
                </a:solidFill>
                <a:latin typeface="Inter" pitchFamily="34" charset="0"/>
                <a:ea typeface="Inter" pitchFamily="34" charset="-122"/>
                <a:cs typeface="Inter" pitchFamily="34" charset="-120"/>
              </a:rPr>
              <a:t>Deterministic replay</a:t>
            </a:r>
            <a:endParaRPr lang="en-US" sz="840" dirty="0"/>
          </a:p>
        </p:txBody>
      </p:sp>
      <p:sp>
        <p:nvSpPr>
          <p:cNvPr id="39" name="Shape 37"/>
          <p:cNvSpPr/>
          <p:nvPr/>
        </p:nvSpPr>
        <p:spPr>
          <a:xfrm>
            <a:off x="2926080" y="3072384"/>
            <a:ext cx="6355080" cy="164592"/>
          </a:xfrm>
          <a:prstGeom prst="roundRect">
            <a:avLst>
              <a:gd name="adj" fmla="val 44444"/>
            </a:avLst>
          </a:prstGeom>
          <a:solidFill>
            <a:srgbClr val="E3DCCF"/>
          </a:solidFill>
          <a:ln w="12700">
            <a:solidFill>
              <a:srgbClr val="E3DCCF"/>
            </a:solidFill>
            <a:prstDash val="solid"/>
          </a:ln>
        </p:spPr>
      </p:sp>
      <p:sp>
        <p:nvSpPr>
          <p:cNvPr id="40" name="Shape 38"/>
          <p:cNvSpPr/>
          <p:nvPr/>
        </p:nvSpPr>
        <p:spPr>
          <a:xfrm>
            <a:off x="2926080" y="3072384"/>
            <a:ext cx="5211166" cy="164592"/>
          </a:xfrm>
          <a:prstGeom prst="roundRect">
            <a:avLst>
              <a:gd name="adj" fmla="val 44444"/>
            </a:avLst>
          </a:prstGeom>
          <a:solidFill>
            <a:srgbClr val="6FB5FF"/>
          </a:solidFill>
          <a:ln w="12700">
            <a:solidFill>
              <a:srgbClr val="6FB5FF"/>
            </a:solidFill>
            <a:prstDash val="solid"/>
          </a:ln>
        </p:spPr>
      </p:sp>
      <p:sp>
        <p:nvSpPr>
          <p:cNvPr id="41" name="Text 39"/>
          <p:cNvSpPr/>
          <p:nvPr/>
        </p:nvSpPr>
        <p:spPr>
          <a:xfrm>
            <a:off x="9555480" y="3044952"/>
            <a:ext cx="1325880" cy="182880"/>
          </a:xfrm>
          <a:prstGeom prst="rect">
            <a:avLst/>
          </a:prstGeom>
          <a:noFill/>
          <a:ln/>
        </p:spPr>
        <p:txBody>
          <a:bodyPr wrap="square" lIns="0" tIns="0" rIns="0" bIns="0" rtlCol="0" anchor="ctr"/>
          <a:lstStyle/>
          <a:p>
            <a:pPr algn="r" indent="0" marL="0">
              <a:buNone/>
            </a:pPr>
            <a:r>
              <a:rPr lang="en-US" sz="720" b="1" dirty="0">
                <a:solidFill>
                  <a:srgbClr val="6FB5FF"/>
                </a:solidFill>
                <a:latin typeface="Inter" pitchFamily="34" charset="0"/>
                <a:ea typeface="Inter" pitchFamily="34" charset="-122"/>
                <a:cs typeface="Inter" pitchFamily="34" charset="-120"/>
              </a:rPr>
              <a:t>LOCAL</a:t>
            </a:r>
            <a:endParaRPr lang="en-US" sz="720" dirty="0"/>
          </a:p>
        </p:txBody>
      </p:sp>
      <p:sp>
        <p:nvSpPr>
          <p:cNvPr id="42" name="Text 40"/>
          <p:cNvSpPr/>
          <p:nvPr/>
        </p:nvSpPr>
        <p:spPr>
          <a:xfrm>
            <a:off x="777240" y="3685032"/>
            <a:ext cx="2194560" cy="146304"/>
          </a:xfrm>
          <a:prstGeom prst="rect">
            <a:avLst/>
          </a:prstGeom>
          <a:noFill/>
          <a:ln/>
        </p:spPr>
        <p:txBody>
          <a:bodyPr wrap="square" lIns="0" tIns="0" rIns="0" bIns="0" rtlCol="0" anchor="ctr"/>
          <a:lstStyle/>
          <a:p>
            <a:pPr indent="0" marL="0">
              <a:buNone/>
            </a:pPr>
            <a:r>
              <a:rPr lang="en-US" sz="840" b="1" dirty="0">
                <a:solidFill>
                  <a:srgbClr val="14273D"/>
                </a:solidFill>
                <a:latin typeface="Inter" pitchFamily="34" charset="0"/>
                <a:ea typeface="Inter" pitchFamily="34" charset="-122"/>
                <a:cs typeface="Inter" pitchFamily="34" charset="-120"/>
              </a:rPr>
              <a:t>Independent review</a:t>
            </a:r>
            <a:endParaRPr lang="en-US" sz="840" dirty="0"/>
          </a:p>
        </p:txBody>
      </p:sp>
      <p:sp>
        <p:nvSpPr>
          <p:cNvPr id="43" name="Shape 41"/>
          <p:cNvSpPr/>
          <p:nvPr/>
        </p:nvSpPr>
        <p:spPr>
          <a:xfrm>
            <a:off x="2926080" y="3675888"/>
            <a:ext cx="6355080" cy="164592"/>
          </a:xfrm>
          <a:prstGeom prst="roundRect">
            <a:avLst>
              <a:gd name="adj" fmla="val 44444"/>
            </a:avLst>
          </a:prstGeom>
          <a:solidFill>
            <a:srgbClr val="E3DCCF"/>
          </a:solidFill>
          <a:ln w="12700">
            <a:solidFill>
              <a:srgbClr val="E3DCCF"/>
            </a:solidFill>
            <a:prstDash val="solid"/>
          </a:ln>
        </p:spPr>
      </p:sp>
      <p:sp>
        <p:nvSpPr>
          <p:cNvPr id="44" name="Shape 42"/>
          <p:cNvSpPr/>
          <p:nvPr/>
        </p:nvSpPr>
        <p:spPr>
          <a:xfrm>
            <a:off x="2926080" y="3675888"/>
            <a:ext cx="2033626" cy="164592"/>
          </a:xfrm>
          <a:prstGeom prst="roundRect">
            <a:avLst>
              <a:gd name="adj" fmla="val 44444"/>
            </a:avLst>
          </a:prstGeom>
          <a:solidFill>
            <a:srgbClr val="E7BD62"/>
          </a:solidFill>
          <a:ln w="12700">
            <a:solidFill>
              <a:srgbClr val="E7BD62"/>
            </a:solidFill>
            <a:prstDash val="solid"/>
          </a:ln>
        </p:spPr>
      </p:sp>
      <p:sp>
        <p:nvSpPr>
          <p:cNvPr id="45" name="Text 43"/>
          <p:cNvSpPr/>
          <p:nvPr/>
        </p:nvSpPr>
        <p:spPr>
          <a:xfrm>
            <a:off x="9555480" y="3648456"/>
            <a:ext cx="1325880" cy="182880"/>
          </a:xfrm>
          <a:prstGeom prst="rect">
            <a:avLst/>
          </a:prstGeom>
          <a:noFill/>
          <a:ln/>
        </p:spPr>
        <p:txBody>
          <a:bodyPr wrap="square" lIns="0" tIns="0" rIns="0" bIns="0" rtlCol="0" anchor="ctr"/>
          <a:lstStyle/>
          <a:p>
            <a:pPr algn="r" indent="0" marL="0">
              <a:buNone/>
            </a:pPr>
            <a:r>
              <a:rPr lang="en-US" sz="720" b="1" dirty="0">
                <a:solidFill>
                  <a:srgbClr val="E7BD62"/>
                </a:solidFill>
                <a:latin typeface="Inter" pitchFamily="34" charset="0"/>
                <a:ea typeface="Inter" pitchFamily="34" charset="-122"/>
                <a:cs typeface="Inter" pitchFamily="34" charset="-120"/>
              </a:rPr>
              <a:t>PENDING</a:t>
            </a:r>
            <a:endParaRPr lang="en-US" sz="720" dirty="0"/>
          </a:p>
        </p:txBody>
      </p:sp>
      <p:sp>
        <p:nvSpPr>
          <p:cNvPr id="46" name="Text 44"/>
          <p:cNvSpPr/>
          <p:nvPr/>
        </p:nvSpPr>
        <p:spPr>
          <a:xfrm>
            <a:off x="777240" y="4288536"/>
            <a:ext cx="2194560" cy="146304"/>
          </a:xfrm>
          <a:prstGeom prst="rect">
            <a:avLst/>
          </a:prstGeom>
          <a:noFill/>
          <a:ln/>
        </p:spPr>
        <p:txBody>
          <a:bodyPr wrap="square" lIns="0" tIns="0" rIns="0" bIns="0" rtlCol="0" anchor="ctr"/>
          <a:lstStyle/>
          <a:p>
            <a:pPr indent="0" marL="0">
              <a:buNone/>
            </a:pPr>
            <a:r>
              <a:rPr lang="en-US" sz="840" b="1" dirty="0">
                <a:solidFill>
                  <a:srgbClr val="14273D"/>
                </a:solidFill>
                <a:latin typeface="Inter" pitchFamily="34" charset="0"/>
                <a:ea typeface="Inter" pitchFamily="34" charset="-122"/>
                <a:cs typeface="Inter" pitchFamily="34" charset="-120"/>
              </a:rPr>
              <a:t>Live network authority</a:t>
            </a:r>
            <a:endParaRPr lang="en-US" sz="840" dirty="0"/>
          </a:p>
        </p:txBody>
      </p:sp>
      <p:sp>
        <p:nvSpPr>
          <p:cNvPr id="47" name="Shape 45"/>
          <p:cNvSpPr/>
          <p:nvPr/>
        </p:nvSpPr>
        <p:spPr>
          <a:xfrm>
            <a:off x="2926080" y="4279392"/>
            <a:ext cx="6355080" cy="164592"/>
          </a:xfrm>
          <a:prstGeom prst="roundRect">
            <a:avLst>
              <a:gd name="adj" fmla="val 44444"/>
            </a:avLst>
          </a:prstGeom>
          <a:solidFill>
            <a:srgbClr val="E3DCCF"/>
          </a:solidFill>
          <a:ln w="12700">
            <a:solidFill>
              <a:srgbClr val="E3DCCF"/>
            </a:solidFill>
            <a:prstDash val="solid"/>
          </a:ln>
        </p:spPr>
      </p:sp>
      <p:sp>
        <p:nvSpPr>
          <p:cNvPr id="48" name="Shape 46"/>
          <p:cNvSpPr/>
          <p:nvPr/>
        </p:nvSpPr>
        <p:spPr>
          <a:xfrm>
            <a:off x="2926080" y="4279392"/>
            <a:ext cx="889711" cy="164592"/>
          </a:xfrm>
          <a:prstGeom prst="roundRect">
            <a:avLst>
              <a:gd name="adj" fmla="val 44444"/>
            </a:avLst>
          </a:prstGeom>
          <a:solidFill>
            <a:srgbClr val="FF7584"/>
          </a:solidFill>
          <a:ln w="12700">
            <a:solidFill>
              <a:srgbClr val="FF7584"/>
            </a:solidFill>
            <a:prstDash val="solid"/>
          </a:ln>
        </p:spPr>
      </p:sp>
      <p:sp>
        <p:nvSpPr>
          <p:cNvPr id="49" name="Text 47"/>
          <p:cNvSpPr/>
          <p:nvPr/>
        </p:nvSpPr>
        <p:spPr>
          <a:xfrm>
            <a:off x="9555480" y="4251960"/>
            <a:ext cx="1325880" cy="182880"/>
          </a:xfrm>
          <a:prstGeom prst="rect">
            <a:avLst/>
          </a:prstGeom>
          <a:noFill/>
          <a:ln/>
        </p:spPr>
        <p:txBody>
          <a:bodyPr wrap="square" lIns="0" tIns="0" rIns="0" bIns="0" rtlCol="0" anchor="ctr"/>
          <a:lstStyle/>
          <a:p>
            <a:pPr algn="r" indent="0" marL="0">
              <a:buNone/>
            </a:pPr>
            <a:r>
              <a:rPr lang="en-US" sz="720" b="1" dirty="0">
                <a:solidFill>
                  <a:srgbClr val="FF7584"/>
                </a:solidFill>
                <a:latin typeface="Inter" pitchFamily="34" charset="0"/>
                <a:ea typeface="Inter" pitchFamily="34" charset="-122"/>
                <a:cs typeface="Inter" pitchFamily="34" charset="-120"/>
              </a:rPr>
              <a:t>GATED</a:t>
            </a:r>
            <a:endParaRPr lang="en-US" sz="720" dirty="0"/>
          </a:p>
        </p:txBody>
      </p:sp>
      <p:sp>
        <p:nvSpPr>
          <p:cNvPr id="50" name="Text 48"/>
          <p:cNvSpPr/>
          <p:nvPr/>
        </p:nvSpPr>
        <p:spPr>
          <a:xfrm>
            <a:off x="777240" y="4892040"/>
            <a:ext cx="2194560" cy="146304"/>
          </a:xfrm>
          <a:prstGeom prst="rect">
            <a:avLst/>
          </a:prstGeom>
          <a:noFill/>
          <a:ln/>
        </p:spPr>
        <p:txBody>
          <a:bodyPr wrap="square" lIns="0" tIns="0" rIns="0" bIns="0" rtlCol="0" anchor="ctr"/>
          <a:lstStyle/>
          <a:p>
            <a:pPr indent="0" marL="0">
              <a:buNone/>
            </a:pPr>
            <a:r>
              <a:rPr lang="en-US" sz="840" b="1" dirty="0">
                <a:solidFill>
                  <a:srgbClr val="14273D"/>
                </a:solidFill>
                <a:latin typeface="Inter" pitchFamily="34" charset="0"/>
                <a:ea typeface="Inter" pitchFamily="34" charset="-122"/>
                <a:cs typeface="Inter" pitchFamily="34" charset="-120"/>
              </a:rPr>
              <a:t>Field compounding portfolio</a:t>
            </a:r>
            <a:endParaRPr lang="en-US" sz="840" dirty="0"/>
          </a:p>
        </p:txBody>
      </p:sp>
      <p:sp>
        <p:nvSpPr>
          <p:cNvPr id="51" name="Shape 49"/>
          <p:cNvSpPr/>
          <p:nvPr/>
        </p:nvSpPr>
        <p:spPr>
          <a:xfrm>
            <a:off x="2926080" y="4882896"/>
            <a:ext cx="6355080" cy="164592"/>
          </a:xfrm>
          <a:prstGeom prst="roundRect">
            <a:avLst>
              <a:gd name="adj" fmla="val 44444"/>
            </a:avLst>
          </a:prstGeom>
          <a:solidFill>
            <a:srgbClr val="E3DCCF"/>
          </a:solidFill>
          <a:ln w="12700">
            <a:solidFill>
              <a:srgbClr val="E3DCCF"/>
            </a:solidFill>
            <a:prstDash val="solid"/>
          </a:ln>
        </p:spPr>
      </p:sp>
      <p:sp>
        <p:nvSpPr>
          <p:cNvPr id="52" name="Shape 50"/>
          <p:cNvSpPr/>
          <p:nvPr/>
        </p:nvSpPr>
        <p:spPr>
          <a:xfrm>
            <a:off x="2926080" y="4882896"/>
            <a:ext cx="1143914" cy="164592"/>
          </a:xfrm>
          <a:prstGeom prst="roundRect">
            <a:avLst>
              <a:gd name="adj" fmla="val 44444"/>
            </a:avLst>
          </a:prstGeom>
          <a:solidFill>
            <a:srgbClr val="FF7584"/>
          </a:solidFill>
          <a:ln w="12700">
            <a:solidFill>
              <a:srgbClr val="FF7584"/>
            </a:solidFill>
            <a:prstDash val="solid"/>
          </a:ln>
        </p:spPr>
      </p:sp>
      <p:sp>
        <p:nvSpPr>
          <p:cNvPr id="53" name="Text 51"/>
          <p:cNvSpPr/>
          <p:nvPr/>
        </p:nvSpPr>
        <p:spPr>
          <a:xfrm>
            <a:off x="9555480" y="4855464"/>
            <a:ext cx="1325880" cy="182880"/>
          </a:xfrm>
          <a:prstGeom prst="rect">
            <a:avLst/>
          </a:prstGeom>
          <a:noFill/>
          <a:ln/>
        </p:spPr>
        <p:txBody>
          <a:bodyPr wrap="square" lIns="0" tIns="0" rIns="0" bIns="0" rtlCol="0" anchor="ctr"/>
          <a:lstStyle/>
          <a:p>
            <a:pPr algn="r" indent="0" marL="0">
              <a:buNone/>
            </a:pPr>
            <a:r>
              <a:rPr lang="en-US" sz="720" b="1" dirty="0">
                <a:solidFill>
                  <a:srgbClr val="FF7584"/>
                </a:solidFill>
                <a:latin typeface="Inter" pitchFamily="34" charset="0"/>
                <a:ea typeface="Inter" pitchFamily="34" charset="-122"/>
                <a:cs typeface="Inter" pitchFamily="34" charset="-120"/>
              </a:rPr>
              <a:t>UNPROVEN</a:t>
            </a:r>
            <a:endParaRPr lang="en-US" sz="720" dirty="0"/>
          </a:p>
        </p:txBody>
      </p:sp>
      <p:sp>
        <p:nvSpPr>
          <p:cNvPr id="54" name="Shape 52"/>
          <p:cNvSpPr/>
          <p:nvPr/>
        </p:nvSpPr>
        <p:spPr>
          <a:xfrm>
            <a:off x="777240" y="5532120"/>
            <a:ext cx="10607040" cy="566928"/>
          </a:xfrm>
          <a:prstGeom prst="roundRect">
            <a:avLst>
              <a:gd name="adj" fmla="val 12903"/>
            </a:avLst>
          </a:prstGeom>
          <a:solidFill>
            <a:srgbClr val="FFFDF8"/>
          </a:solidFill>
          <a:ln w="10160">
            <a:solidFill>
              <a:srgbClr val="E7BD62"/>
            </a:solidFill>
            <a:prstDash val="solid"/>
          </a:ln>
        </p:spPr>
      </p:sp>
      <p:sp>
        <p:nvSpPr>
          <p:cNvPr id="55" name="Text 53"/>
          <p:cNvSpPr/>
          <p:nvPr/>
        </p:nvSpPr>
        <p:spPr>
          <a:xfrm>
            <a:off x="932688" y="5660136"/>
            <a:ext cx="10296144" cy="146304"/>
          </a:xfrm>
          <a:prstGeom prst="rect">
            <a:avLst/>
          </a:prstGeom>
          <a:noFill/>
          <a:ln/>
        </p:spPr>
        <p:txBody>
          <a:bodyPr wrap="square" lIns="0" tIns="0" rIns="0" bIns="0" rtlCol="0" anchor="ctr"/>
          <a:lstStyle/>
          <a:p>
            <a:pPr indent="0" marL="0">
              <a:buNone/>
            </a:pPr>
            <a:r>
              <a:rPr lang="en-US" sz="680" b="1" spc="120" kern="0" dirty="0">
                <a:solidFill>
                  <a:srgbClr val="E7BD62"/>
                </a:solidFill>
                <a:latin typeface="Inter" pitchFamily="34" charset="0"/>
                <a:ea typeface="Inter" pitchFamily="34" charset="-122"/>
                <a:cs typeface="Inter" pitchFamily="34" charset="-120"/>
              </a:rPr>
              <a:t>STRONGEST CURRENT DESCRIPTION</a:t>
            </a:r>
            <a:endParaRPr lang="en-US" sz="680" dirty="0"/>
          </a:p>
        </p:txBody>
      </p:sp>
      <p:sp>
        <p:nvSpPr>
          <p:cNvPr id="56" name="Text 54"/>
          <p:cNvSpPr/>
          <p:nvPr/>
        </p:nvSpPr>
        <p:spPr>
          <a:xfrm>
            <a:off x="932688" y="5788152"/>
            <a:ext cx="10296144" cy="329184"/>
          </a:xfrm>
          <a:prstGeom prst="rect">
            <a:avLst/>
          </a:prstGeom>
          <a:noFill/>
          <a:ln/>
        </p:spPr>
        <p:txBody>
          <a:bodyPr wrap="square" lIns="0" tIns="0" rIns="0" bIns="0" rtlCol="0" anchor="ctr">
            <a:normAutofit/>
          </a:bodyPr>
          <a:lstStyle/>
          <a:p>
            <a:pPr indent="0" marL="0">
              <a:buNone/>
            </a:pPr>
            <a:r>
              <a:rPr lang="en-US" sz="1150" b="1" dirty="0">
                <a:solidFill>
                  <a:srgbClr val="14273D"/>
                </a:solidFill>
                <a:latin typeface="Inter Display" pitchFamily="34" charset="0"/>
                <a:ea typeface="Inter Display" pitchFamily="34" charset="-122"/>
                <a:cs typeface="Inter Display" pitchFamily="34" charset="-120"/>
              </a:rPr>
              <a:t>Production-grade specification + clean-room local reference institution + evidence-producing partner system. Stronger authority remains gated.</a:t>
            </a:r>
            <a:endParaRPr lang="en-US" sz="115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9C8C6A"/>
                </a:solidFill>
                <a:latin typeface="Inter"/>
                <a:ea typeface="Inter"/>
                <a:cs typeface="Inter"/>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365760" y="0"/>
            <a:ext cx="0" cy="6858000"/>
          </a:xfrm>
          <a:prstGeom prst="line">
            <a:avLst/>
          </a:prstGeom>
          <a:noFill/>
          <a:ln w="3810">
            <a:solidFill>
              <a:srgbClr val="17314A">
                <a:alpha val="28000"/>
              </a:srgbClr>
            </a:solidFill>
            <a:prstDash val="solid"/>
          </a:ln>
        </p:spPr>
      </p:sp>
      <p:sp>
        <p:nvSpPr>
          <p:cNvPr id="3" name="Shape 1"/>
          <p:cNvSpPr/>
          <p:nvPr/>
        </p:nvSpPr>
        <p:spPr>
          <a:xfrm>
            <a:off x="1463040" y="0"/>
            <a:ext cx="0" cy="6858000"/>
          </a:xfrm>
          <a:prstGeom prst="line">
            <a:avLst/>
          </a:prstGeom>
          <a:noFill/>
          <a:ln w="3810">
            <a:solidFill>
              <a:srgbClr val="17314A">
                <a:alpha val="28000"/>
              </a:srgbClr>
            </a:solidFill>
            <a:prstDash val="solid"/>
          </a:ln>
        </p:spPr>
      </p:sp>
      <p:sp>
        <p:nvSpPr>
          <p:cNvPr id="4" name="Shape 2"/>
          <p:cNvSpPr/>
          <p:nvPr/>
        </p:nvSpPr>
        <p:spPr>
          <a:xfrm>
            <a:off x="2560320" y="0"/>
            <a:ext cx="0" cy="6858000"/>
          </a:xfrm>
          <a:prstGeom prst="line">
            <a:avLst/>
          </a:prstGeom>
          <a:noFill/>
          <a:ln w="3810">
            <a:solidFill>
              <a:srgbClr val="17314A">
                <a:alpha val="28000"/>
              </a:srgbClr>
            </a:solidFill>
            <a:prstDash val="solid"/>
          </a:ln>
        </p:spPr>
      </p:sp>
      <p:sp>
        <p:nvSpPr>
          <p:cNvPr id="5" name="Shape 3"/>
          <p:cNvSpPr/>
          <p:nvPr/>
        </p:nvSpPr>
        <p:spPr>
          <a:xfrm>
            <a:off x="3657600" y="0"/>
            <a:ext cx="0" cy="6858000"/>
          </a:xfrm>
          <a:prstGeom prst="line">
            <a:avLst/>
          </a:prstGeom>
          <a:noFill/>
          <a:ln w="3810">
            <a:solidFill>
              <a:srgbClr val="17314A">
                <a:alpha val="28000"/>
              </a:srgbClr>
            </a:solidFill>
            <a:prstDash val="solid"/>
          </a:ln>
        </p:spPr>
      </p:sp>
      <p:sp>
        <p:nvSpPr>
          <p:cNvPr id="6" name="Shape 4"/>
          <p:cNvSpPr/>
          <p:nvPr/>
        </p:nvSpPr>
        <p:spPr>
          <a:xfrm>
            <a:off x="4754880" y="0"/>
            <a:ext cx="0" cy="6858000"/>
          </a:xfrm>
          <a:prstGeom prst="line">
            <a:avLst/>
          </a:prstGeom>
          <a:noFill/>
          <a:ln w="3810">
            <a:solidFill>
              <a:srgbClr val="17314A">
                <a:alpha val="28000"/>
              </a:srgbClr>
            </a:solidFill>
            <a:prstDash val="solid"/>
          </a:ln>
        </p:spPr>
      </p:sp>
      <p:sp>
        <p:nvSpPr>
          <p:cNvPr id="7" name="Shape 5"/>
          <p:cNvSpPr/>
          <p:nvPr/>
        </p:nvSpPr>
        <p:spPr>
          <a:xfrm>
            <a:off x="5852160" y="0"/>
            <a:ext cx="0" cy="6858000"/>
          </a:xfrm>
          <a:prstGeom prst="line">
            <a:avLst/>
          </a:prstGeom>
          <a:noFill/>
          <a:ln w="3810">
            <a:solidFill>
              <a:srgbClr val="17314A">
                <a:alpha val="28000"/>
              </a:srgbClr>
            </a:solidFill>
            <a:prstDash val="solid"/>
          </a:ln>
        </p:spPr>
      </p:sp>
      <p:sp>
        <p:nvSpPr>
          <p:cNvPr id="8" name="Shape 6"/>
          <p:cNvSpPr/>
          <p:nvPr/>
        </p:nvSpPr>
        <p:spPr>
          <a:xfrm>
            <a:off x="6949440" y="0"/>
            <a:ext cx="0" cy="6858000"/>
          </a:xfrm>
          <a:prstGeom prst="line">
            <a:avLst/>
          </a:prstGeom>
          <a:noFill/>
          <a:ln w="3810">
            <a:solidFill>
              <a:srgbClr val="17314A">
                <a:alpha val="28000"/>
              </a:srgbClr>
            </a:solidFill>
            <a:prstDash val="solid"/>
          </a:ln>
        </p:spPr>
      </p:sp>
      <p:sp>
        <p:nvSpPr>
          <p:cNvPr id="9" name="Shape 7"/>
          <p:cNvSpPr/>
          <p:nvPr/>
        </p:nvSpPr>
        <p:spPr>
          <a:xfrm>
            <a:off x="8046720" y="0"/>
            <a:ext cx="0" cy="6858000"/>
          </a:xfrm>
          <a:prstGeom prst="line">
            <a:avLst/>
          </a:prstGeom>
          <a:noFill/>
          <a:ln w="3810">
            <a:solidFill>
              <a:srgbClr val="17314A">
                <a:alpha val="28000"/>
              </a:srgbClr>
            </a:solidFill>
            <a:prstDash val="solid"/>
          </a:ln>
        </p:spPr>
      </p:sp>
      <p:sp>
        <p:nvSpPr>
          <p:cNvPr id="10" name="Shape 8"/>
          <p:cNvSpPr/>
          <p:nvPr/>
        </p:nvSpPr>
        <p:spPr>
          <a:xfrm>
            <a:off x="9144000" y="0"/>
            <a:ext cx="0" cy="6858000"/>
          </a:xfrm>
          <a:prstGeom prst="line">
            <a:avLst/>
          </a:prstGeom>
          <a:noFill/>
          <a:ln w="3810">
            <a:solidFill>
              <a:srgbClr val="17314A">
                <a:alpha val="28000"/>
              </a:srgbClr>
            </a:solidFill>
            <a:prstDash val="solid"/>
          </a:ln>
        </p:spPr>
      </p:sp>
      <p:sp>
        <p:nvSpPr>
          <p:cNvPr id="11" name="Shape 9"/>
          <p:cNvSpPr/>
          <p:nvPr/>
        </p:nvSpPr>
        <p:spPr>
          <a:xfrm>
            <a:off x="10241280" y="0"/>
            <a:ext cx="0" cy="6858000"/>
          </a:xfrm>
          <a:prstGeom prst="line">
            <a:avLst/>
          </a:prstGeom>
          <a:noFill/>
          <a:ln w="3810">
            <a:solidFill>
              <a:srgbClr val="17314A">
                <a:alpha val="28000"/>
              </a:srgbClr>
            </a:solidFill>
            <a:prstDash val="solid"/>
          </a:ln>
        </p:spPr>
      </p:sp>
      <p:sp>
        <p:nvSpPr>
          <p:cNvPr id="12" name="Shape 10"/>
          <p:cNvSpPr/>
          <p:nvPr/>
        </p:nvSpPr>
        <p:spPr>
          <a:xfrm>
            <a:off x="11338560" y="0"/>
            <a:ext cx="0" cy="6858000"/>
          </a:xfrm>
          <a:prstGeom prst="line">
            <a:avLst/>
          </a:prstGeom>
          <a:noFill/>
          <a:ln w="3810">
            <a:solidFill>
              <a:srgbClr val="17314A">
                <a:alpha val="28000"/>
              </a:srgbClr>
            </a:solidFill>
            <a:prstDash val="solid"/>
          </a:ln>
        </p:spPr>
      </p:sp>
      <p:sp>
        <p:nvSpPr>
          <p:cNvPr id="13" name="Shape 11"/>
          <p:cNvSpPr/>
          <p:nvPr/>
        </p:nvSpPr>
        <p:spPr>
          <a:xfrm>
            <a:off x="0" y="320040"/>
            <a:ext cx="12191695" cy="0"/>
          </a:xfrm>
          <a:prstGeom prst="line">
            <a:avLst/>
          </a:prstGeom>
          <a:noFill/>
          <a:ln w="3810">
            <a:solidFill>
              <a:srgbClr val="17314A">
                <a:alpha val="28000"/>
              </a:srgbClr>
            </a:solidFill>
            <a:prstDash val="solid"/>
          </a:ln>
        </p:spPr>
      </p:sp>
      <p:sp>
        <p:nvSpPr>
          <p:cNvPr id="14" name="Shape 12"/>
          <p:cNvSpPr/>
          <p:nvPr/>
        </p:nvSpPr>
        <p:spPr>
          <a:xfrm>
            <a:off x="0" y="1280160"/>
            <a:ext cx="12191695" cy="0"/>
          </a:xfrm>
          <a:prstGeom prst="line">
            <a:avLst/>
          </a:prstGeom>
          <a:noFill/>
          <a:ln w="3810">
            <a:solidFill>
              <a:srgbClr val="17314A">
                <a:alpha val="28000"/>
              </a:srgbClr>
            </a:solidFill>
            <a:prstDash val="solid"/>
          </a:ln>
        </p:spPr>
      </p:sp>
      <p:sp>
        <p:nvSpPr>
          <p:cNvPr id="15" name="Shape 13"/>
          <p:cNvSpPr/>
          <p:nvPr/>
        </p:nvSpPr>
        <p:spPr>
          <a:xfrm>
            <a:off x="0" y="2240280"/>
            <a:ext cx="12191695" cy="0"/>
          </a:xfrm>
          <a:prstGeom prst="line">
            <a:avLst/>
          </a:prstGeom>
          <a:noFill/>
          <a:ln w="3810">
            <a:solidFill>
              <a:srgbClr val="17314A">
                <a:alpha val="28000"/>
              </a:srgbClr>
            </a:solidFill>
            <a:prstDash val="solid"/>
          </a:ln>
        </p:spPr>
      </p:sp>
      <p:sp>
        <p:nvSpPr>
          <p:cNvPr id="16" name="Shape 14"/>
          <p:cNvSpPr/>
          <p:nvPr/>
        </p:nvSpPr>
        <p:spPr>
          <a:xfrm>
            <a:off x="0" y="3200400"/>
            <a:ext cx="12191695" cy="0"/>
          </a:xfrm>
          <a:prstGeom prst="line">
            <a:avLst/>
          </a:prstGeom>
          <a:noFill/>
          <a:ln w="3810">
            <a:solidFill>
              <a:srgbClr val="17314A">
                <a:alpha val="28000"/>
              </a:srgbClr>
            </a:solidFill>
            <a:prstDash val="solid"/>
          </a:ln>
        </p:spPr>
      </p:sp>
      <p:sp>
        <p:nvSpPr>
          <p:cNvPr id="17" name="Shape 15"/>
          <p:cNvSpPr/>
          <p:nvPr/>
        </p:nvSpPr>
        <p:spPr>
          <a:xfrm>
            <a:off x="0" y="4160520"/>
            <a:ext cx="12191695" cy="0"/>
          </a:xfrm>
          <a:prstGeom prst="line">
            <a:avLst/>
          </a:prstGeom>
          <a:noFill/>
          <a:ln w="3810">
            <a:solidFill>
              <a:srgbClr val="17314A">
                <a:alpha val="28000"/>
              </a:srgbClr>
            </a:solidFill>
            <a:prstDash val="solid"/>
          </a:ln>
        </p:spPr>
      </p:sp>
      <p:sp>
        <p:nvSpPr>
          <p:cNvPr id="18" name="Shape 16"/>
          <p:cNvSpPr/>
          <p:nvPr/>
        </p:nvSpPr>
        <p:spPr>
          <a:xfrm>
            <a:off x="0" y="5120640"/>
            <a:ext cx="12191695" cy="0"/>
          </a:xfrm>
          <a:prstGeom prst="line">
            <a:avLst/>
          </a:prstGeom>
          <a:noFill/>
          <a:ln w="3810">
            <a:solidFill>
              <a:srgbClr val="17314A">
                <a:alpha val="28000"/>
              </a:srgbClr>
            </a:solidFill>
            <a:prstDash val="solid"/>
          </a:ln>
        </p:spPr>
      </p:sp>
      <p:sp>
        <p:nvSpPr>
          <p:cNvPr id="19" name="Shape 17"/>
          <p:cNvSpPr/>
          <p:nvPr/>
        </p:nvSpPr>
        <p:spPr>
          <a:xfrm>
            <a:off x="0" y="6080760"/>
            <a:ext cx="12191695" cy="0"/>
          </a:xfrm>
          <a:prstGeom prst="line">
            <a:avLst/>
          </a:prstGeom>
          <a:noFill/>
          <a:ln w="3810">
            <a:solidFill>
              <a:srgbClr val="17314A">
                <a:alpha val="28000"/>
              </a:srgbClr>
            </a:solidFill>
            <a:prstDash val="solid"/>
          </a:ln>
        </p:spPr>
      </p:sp>
      <p:sp>
        <p:nvSpPr>
          <p:cNvPr id="20" name="Shape 18"/>
          <p:cNvSpPr/>
          <p:nvPr/>
        </p:nvSpPr>
        <p:spPr>
          <a:xfrm>
            <a:off x="8869680" y="-1005840"/>
            <a:ext cx="3840480" cy="3840480"/>
          </a:xfrm>
          <a:prstGeom prst="ellipse">
            <a:avLst/>
          </a:prstGeom>
          <a:solidFill>
            <a:srgbClr val="54D6D0">
              <a:alpha val="8000"/>
            </a:srgbClr>
          </a:solidFill>
          <a:ln w="12700">
            <a:solidFill>
              <a:srgbClr val="54D6D0">
                <a:alpha val="0"/>
              </a:srgbClr>
            </a:solidFill>
            <a:prstDash val="solid"/>
          </a:ln>
        </p:spPr>
      </p:sp>
      <p:sp>
        <p:nvSpPr>
          <p:cNvPr id="21" name="Shape 19"/>
          <p:cNvSpPr/>
          <p:nvPr/>
        </p:nvSpPr>
        <p:spPr>
          <a:xfrm>
            <a:off x="-914400" y="4389120"/>
            <a:ext cx="3108960" cy="3108960"/>
          </a:xfrm>
          <a:prstGeom prst="ellipse">
            <a:avLst/>
          </a:prstGeom>
          <a:solidFill>
            <a:srgbClr val="E7BD62">
              <a:alpha val="7000"/>
            </a:srgbClr>
          </a:solidFill>
          <a:ln w="12700">
            <a:solidFill>
              <a:srgbClr val="E7BD62">
                <a:alpha val="0"/>
              </a:srgbClr>
            </a:solidFill>
            <a:prstDash val="solid"/>
          </a:ln>
        </p:spPr>
      </p:sp>
      <p:sp>
        <p:nvSpPr>
          <p:cNvPr id="22" name="Shape 20"/>
          <p:cNvSpPr/>
          <p:nvPr/>
        </p:nvSpPr>
        <p:spPr>
          <a:xfrm>
            <a:off x="384048" y="256032"/>
            <a:ext cx="429768" cy="429768"/>
          </a:xfrm>
          <a:prstGeom prst="roundRect">
            <a:avLst>
              <a:gd name="adj" fmla="val 17021"/>
            </a:avLst>
          </a:prstGeom>
          <a:solidFill>
            <a:srgbClr val="102238"/>
          </a:solidFill>
          <a:ln w="12700">
            <a:solidFill>
              <a:srgbClr val="E7BD62"/>
            </a:solidFill>
            <a:prstDash val="solid"/>
          </a:ln>
        </p:spPr>
      </p:sp>
      <p:sp>
        <p:nvSpPr>
          <p:cNvPr id="23" name="Text 21"/>
          <p:cNvSpPr/>
          <p:nvPr/>
        </p:nvSpPr>
        <p:spPr>
          <a:xfrm>
            <a:off x="429768" y="361188"/>
            <a:ext cx="338328" cy="137160"/>
          </a:xfrm>
          <a:prstGeom prst="rect">
            <a:avLst/>
          </a:prstGeom>
          <a:noFill/>
          <a:ln/>
        </p:spPr>
        <p:txBody>
          <a:bodyPr wrap="square" lIns="0" tIns="0" rIns="0" bIns="0" rtlCol="0" anchor="ctr"/>
          <a:lstStyle/>
          <a:p>
            <a:pPr algn="ctr" indent="0" marL="0">
              <a:buNone/>
            </a:pPr>
            <a:r>
              <a:rPr lang="en-US" sz="1200" b="1" dirty="0">
                <a:solidFill>
                  <a:srgbClr val="E7BD62"/>
                </a:solidFill>
                <a:latin typeface="Georgia" pitchFamily="34" charset="0"/>
                <a:ea typeface="Georgia" pitchFamily="34" charset="-122"/>
                <a:cs typeface="Georgia" pitchFamily="34" charset="-120"/>
              </a:rPr>
              <a:t>G∞</a:t>
            </a:r>
            <a:endParaRPr lang="en-US" sz="1200" dirty="0"/>
          </a:p>
        </p:txBody>
      </p:sp>
      <p:sp>
        <p:nvSpPr>
          <p:cNvPr id="24" name="Text 22"/>
          <p:cNvSpPr/>
          <p:nvPr/>
        </p:nvSpPr>
        <p:spPr>
          <a:xfrm>
            <a:off x="932688" y="246888"/>
            <a:ext cx="1051560" cy="192024"/>
          </a:xfrm>
          <a:prstGeom prst="rect">
            <a:avLst/>
          </a:prstGeom>
          <a:noFill/>
          <a:ln/>
        </p:spPr>
        <p:txBody>
          <a:bodyPr wrap="square" lIns="0" tIns="0" rIns="0" bIns="0" rtlCol="0" anchor="ctr"/>
          <a:lstStyle/>
          <a:p>
            <a:pPr indent="0" marL="0">
              <a:buNone/>
            </a:pPr>
            <a:r>
              <a:rPr lang="en-US" sz="1050" b="1" spc="110" kern="0" dirty="0">
                <a:solidFill>
                  <a:srgbClr val="F7FBFF"/>
                </a:solidFill>
                <a:latin typeface="Inter" pitchFamily="34" charset="0"/>
                <a:ea typeface="Inter" pitchFamily="34" charset="-122"/>
                <a:cs typeface="Inter" pitchFamily="34" charset="-120"/>
              </a:rPr>
              <a:t>GOALOS</a:t>
            </a:r>
            <a:endParaRPr lang="en-US" sz="1050" dirty="0"/>
          </a:p>
        </p:txBody>
      </p:sp>
      <p:sp>
        <p:nvSpPr>
          <p:cNvPr id="25" name="Text 23"/>
          <p:cNvSpPr/>
          <p:nvPr/>
        </p:nvSpPr>
        <p:spPr>
          <a:xfrm>
            <a:off x="932688" y="457200"/>
            <a:ext cx="4846320" cy="164592"/>
          </a:xfrm>
          <a:prstGeom prst="rect">
            <a:avLst/>
          </a:prstGeom>
          <a:noFill/>
          <a:ln/>
        </p:spPr>
        <p:txBody>
          <a:bodyPr wrap="square" lIns="0" tIns="0" rIns="0" bIns="0" rtlCol="0" anchor="ctr"/>
          <a:lstStyle/>
          <a:p>
            <a:pPr indent="0" marL="0">
              <a:buNone/>
            </a:pPr>
            <a:r>
              <a:rPr lang="en-US" sz="680" b="1" spc="140" kern="0" dirty="0">
                <a:solidFill>
                  <a:srgbClr val="97A8BC"/>
                </a:solidFill>
                <a:latin typeface="Inter" pitchFamily="34" charset="0"/>
                <a:ea typeface="Inter" pitchFamily="34" charset="-122"/>
                <a:cs typeface="Inter" pitchFamily="34" charset="-120"/>
              </a:rPr>
              <a:t>GOALOS PARTNER MASTERCLASS · GRAND CLOSE</a:t>
            </a:r>
            <a:endParaRPr lang="en-US" sz="680" dirty="0"/>
          </a:p>
        </p:txBody>
      </p:sp>
      <p:sp>
        <p:nvSpPr>
          <p:cNvPr id="26" name="Shape 24"/>
          <p:cNvSpPr/>
          <p:nvPr/>
        </p:nvSpPr>
        <p:spPr>
          <a:xfrm>
            <a:off x="475488" y="6428232"/>
            <a:ext cx="11155680" cy="0"/>
          </a:xfrm>
          <a:prstGeom prst="line">
            <a:avLst/>
          </a:prstGeom>
          <a:noFill/>
          <a:ln w="6350">
            <a:solidFill>
              <a:srgbClr val="28415E">
                <a:alpha val="85000"/>
              </a:srgbClr>
            </a:solidFill>
            <a:prstDash val="solid"/>
          </a:ln>
        </p:spPr>
      </p:sp>
      <p:sp>
        <p:nvSpPr>
          <p:cNvPr id="27" name="Text 25"/>
          <p:cNvSpPr/>
          <p:nvPr/>
        </p:nvSpPr>
        <p:spPr>
          <a:xfrm>
            <a:off x="502920" y="6473952"/>
            <a:ext cx="8961120" cy="155448"/>
          </a:xfrm>
          <a:prstGeom prst="rect">
            <a:avLst/>
          </a:prstGeom>
          <a:noFill/>
          <a:ln/>
        </p:spPr>
        <p:txBody>
          <a:bodyPr wrap="square" lIns="0" tIns="0" rIns="0" bIns="0" rtlCol="0" anchor="ctr"/>
          <a:lstStyle/>
          <a:p>
            <a:pPr indent="0" marL="0">
              <a:buNone/>
            </a:pPr>
            <a:r>
              <a:rPr lang="en-US" sz="640" dirty="0">
                <a:solidFill>
                  <a:srgbClr val="97A8BC"/>
                </a:solidFill>
                <a:latin typeface="Inter" pitchFamily="34" charset="0"/>
                <a:ea typeface="Inter" pitchFamily="34" charset="-122"/>
                <a:cs typeface="Inter" pitchFamily="34" charset="-120"/>
              </a:rPr>
              <a:t>GoalOS Grand Institutional Edition · partner call to action</a:t>
            </a:r>
            <a:endParaRPr lang="en-US" sz="640" dirty="0"/>
          </a:p>
        </p:txBody>
      </p:sp>
      <p:sp>
        <p:nvSpPr>
          <p:cNvPr id="28" name="Shape 26"/>
          <p:cNvSpPr/>
          <p:nvPr/>
        </p:nvSpPr>
        <p:spPr>
          <a:xfrm>
            <a:off x="658368" y="1078992"/>
            <a:ext cx="1645920" cy="301752"/>
          </a:xfrm>
          <a:prstGeom prst="roundRect">
            <a:avLst>
              <a:gd name="adj" fmla="val 24242"/>
            </a:avLst>
          </a:prstGeom>
          <a:solidFill>
            <a:srgbClr val="E7BD62">
              <a:alpha val="12000"/>
            </a:srgbClr>
          </a:solidFill>
          <a:ln w="10160">
            <a:solidFill>
              <a:srgbClr val="E7BD62">
                <a:alpha val="65000"/>
              </a:srgbClr>
            </a:solidFill>
            <a:prstDash val="solid"/>
          </a:ln>
        </p:spPr>
      </p:sp>
      <p:sp>
        <p:nvSpPr>
          <p:cNvPr id="29" name="Text 27"/>
          <p:cNvSpPr/>
          <p:nvPr/>
        </p:nvSpPr>
        <p:spPr>
          <a:xfrm>
            <a:off x="740664" y="1161288"/>
            <a:ext cx="1481328" cy="109728"/>
          </a:xfrm>
          <a:prstGeom prst="rect">
            <a:avLst/>
          </a:prstGeom>
          <a:noFill/>
          <a:ln/>
        </p:spPr>
        <p:txBody>
          <a:bodyPr wrap="square" lIns="0" tIns="0" rIns="0" bIns="0" rtlCol="0" anchor="ctr"/>
          <a:lstStyle/>
          <a:p>
            <a:pPr algn="ctr" indent="0" marL="0">
              <a:buNone/>
            </a:pPr>
            <a:r>
              <a:rPr lang="en-US" sz="720" b="1" spc="130" kern="0" dirty="0">
                <a:solidFill>
                  <a:srgbClr val="E7BD62"/>
                </a:solidFill>
                <a:latin typeface="Inter" pitchFamily="34" charset="0"/>
                <a:ea typeface="Inter" pitchFamily="34" charset="-122"/>
                <a:cs typeface="Inter" pitchFamily="34" charset="-120"/>
              </a:rPr>
              <a:t>THE FOUNDING MOVE</a:t>
            </a:r>
            <a:endParaRPr lang="en-US" sz="720" dirty="0"/>
          </a:p>
        </p:txBody>
      </p:sp>
      <p:sp>
        <p:nvSpPr>
          <p:cNvPr id="30" name="Text 28"/>
          <p:cNvSpPr/>
          <p:nvPr/>
        </p:nvSpPr>
        <p:spPr>
          <a:xfrm>
            <a:off x="658368" y="1627632"/>
            <a:ext cx="6720840" cy="2240280"/>
          </a:xfrm>
          <a:prstGeom prst="rect">
            <a:avLst/>
          </a:prstGeom>
          <a:noFill/>
          <a:ln/>
        </p:spPr>
        <p:txBody>
          <a:bodyPr wrap="square" lIns="0" tIns="0" rIns="0" bIns="0" rtlCol="0" anchor="ctr">
            <a:normAutofit/>
          </a:bodyPr>
          <a:lstStyle/>
          <a:p>
            <a:pPr indent="0" marL="0">
              <a:buNone/>
            </a:pPr>
            <a:r>
              <a:rPr lang="en-US" sz="4000" b="1" dirty="0">
                <a:solidFill>
                  <a:srgbClr val="F7FBFF"/>
                </a:solidFill>
                <a:latin typeface="Inter Display" pitchFamily="34" charset="0"/>
                <a:ea typeface="Inter Display" pitchFamily="34" charset="-122"/>
                <a:cs typeface="Inter Display" pitchFamily="34" charset="-120"/>
              </a:rPr>
              <a:t>Name the decision.</a:t>
            </a:r>
            <a:endParaRPr lang="en-US" sz="4000" dirty="0"/>
          </a:p>
          <a:p>
            <a:pPr indent="0" marL="0">
              <a:buNone/>
            </a:pPr>
            <a:r>
              <a:rPr lang="en-US" sz="4000" b="1" dirty="0">
                <a:solidFill>
                  <a:srgbClr val="F7FBFF"/>
                </a:solidFill>
                <a:latin typeface="Inter Display" pitchFamily="34" charset="0"/>
                <a:ea typeface="Inter Display" pitchFamily="34" charset="-122"/>
                <a:cs typeface="Inter Display" pitchFamily="34" charset="-120"/>
              </a:rPr>
              <a:t>Nominate the reviewer.</a:t>
            </a:r>
            <a:endParaRPr lang="en-US" sz="4000" dirty="0"/>
          </a:p>
          <a:p>
            <a:pPr indent="0" marL="0">
              <a:buNone/>
            </a:pPr>
            <a:r>
              <a:rPr lang="en-US" sz="4000" b="1" dirty="0">
                <a:solidFill>
                  <a:srgbClr val="F7FBFF"/>
                </a:solidFill>
                <a:latin typeface="Inter Display" pitchFamily="34" charset="0"/>
                <a:ea typeface="Inter Display" pitchFamily="34" charset="-122"/>
                <a:cs typeface="Inter Display" pitchFamily="34" charset="-120"/>
              </a:rPr>
              <a:t>Reserve Mission 2.</a:t>
            </a:r>
            <a:endParaRPr lang="en-US" sz="4000" dirty="0"/>
          </a:p>
        </p:txBody>
      </p:sp>
      <p:sp>
        <p:nvSpPr>
          <p:cNvPr id="31" name="Text 29"/>
          <p:cNvSpPr/>
          <p:nvPr/>
        </p:nvSpPr>
        <p:spPr>
          <a:xfrm>
            <a:off x="685800" y="4187952"/>
            <a:ext cx="6720840" cy="960120"/>
          </a:xfrm>
          <a:prstGeom prst="rect">
            <a:avLst/>
          </a:prstGeom>
          <a:noFill/>
          <a:ln/>
        </p:spPr>
        <p:txBody>
          <a:bodyPr wrap="square" lIns="0" tIns="0" rIns="0" bIns="0" rtlCol="0" anchor="ctr">
            <a:normAutofit/>
          </a:bodyPr>
          <a:lstStyle/>
          <a:p>
            <a:pPr indent="0" marL="0">
              <a:buNone/>
            </a:pPr>
            <a:r>
              <a:rPr lang="en-US" sz="1350" dirty="0">
                <a:solidFill>
                  <a:srgbClr val="B9C5D2"/>
                </a:solidFill>
                <a:latin typeface="Inter" pitchFamily="34" charset="0"/>
                <a:ea typeface="Inter" pitchFamily="34" charset="-122"/>
                <a:cs typeface="Inter" pitchFamily="34" charset="-120"/>
              </a:rPr>
              <a:t>GoalOS will freeze the contract, expose the Proof Debt, create the proof work, build the Evidence Docket, govern memory, commit the accepted state, and test whether the capability actually improves fresh work.</a:t>
            </a:r>
            <a:endParaRPr lang="en-US" sz="1350" dirty="0"/>
          </a:p>
        </p:txBody>
      </p:sp>
      <p:sp>
        <p:nvSpPr>
          <p:cNvPr id="32" name="Text 30"/>
          <p:cNvSpPr/>
          <p:nvPr/>
        </p:nvSpPr>
        <p:spPr>
          <a:xfrm>
            <a:off x="685800" y="5532120"/>
            <a:ext cx="4297680" cy="411480"/>
          </a:xfrm>
          <a:prstGeom prst="rect">
            <a:avLst/>
          </a:prstGeom>
          <a:noFill/>
          <a:ln/>
        </p:spPr>
        <p:txBody>
          <a:bodyPr wrap="square" lIns="0" tIns="0" rIns="0" bIns="0" rtlCol="0" anchor="ctr"/>
          <a:lstStyle/>
          <a:p>
            <a:pPr indent="0" marL="0">
              <a:buNone/>
            </a:pPr>
            <a:r>
              <a:rPr lang="en-US" sz="2500" b="1" spc="160" kern="0" dirty="0">
                <a:solidFill>
                  <a:srgbClr val="E7BD62"/>
                </a:solidFill>
                <a:latin typeface="Inter Display" pitchFamily="34" charset="0"/>
                <a:ea typeface="Inter Display" pitchFamily="34" charset="-122"/>
                <a:cs typeface="Inter Display" pitchFamily="34" charset="-120"/>
              </a:rPr>
              <a:t>NOW WE PROVE IT.</a:t>
            </a:r>
            <a:endParaRPr lang="en-US" sz="2500" dirty="0"/>
          </a:p>
        </p:txBody>
      </p:sp>
      <p:sp>
        <p:nvSpPr>
          <p:cNvPr id="33" name="Shape 31"/>
          <p:cNvSpPr/>
          <p:nvPr/>
        </p:nvSpPr>
        <p:spPr>
          <a:xfrm>
            <a:off x="7973568" y="1417320"/>
            <a:ext cx="3520440" cy="4343400"/>
          </a:xfrm>
          <a:prstGeom prst="roundRect">
            <a:avLst>
              <a:gd name="adj" fmla="val 2078"/>
            </a:avLst>
          </a:prstGeom>
          <a:solidFill>
            <a:srgbClr val="102238"/>
          </a:solidFill>
          <a:ln w="10160">
            <a:solidFill>
              <a:srgbClr val="43D79B"/>
            </a:solidFill>
            <a:prstDash val="solid"/>
          </a:ln>
          <a:effectLst>
            <a:outerShdw sx="100000" sy="100000" kx="0" ky="0" algn="bl" rotWithShape="0" blurRad="25400" dist="50800" dir="2700000">
              <a:srgbClr val="000000">
                <a:alpha val="18000"/>
              </a:srgbClr>
            </a:outerShdw>
          </a:effectLst>
        </p:spPr>
      </p:sp>
      <p:sp>
        <p:nvSpPr>
          <p:cNvPr id="34" name="Text 32"/>
          <p:cNvSpPr/>
          <p:nvPr/>
        </p:nvSpPr>
        <p:spPr>
          <a:xfrm>
            <a:off x="8129016" y="1545336"/>
            <a:ext cx="3209544" cy="146304"/>
          </a:xfrm>
          <a:prstGeom prst="rect">
            <a:avLst/>
          </a:prstGeom>
          <a:noFill/>
          <a:ln/>
        </p:spPr>
        <p:txBody>
          <a:bodyPr wrap="square" lIns="0" tIns="0" rIns="0" bIns="0" rtlCol="0" anchor="ctr"/>
          <a:lstStyle/>
          <a:p>
            <a:pPr indent="0" marL="0">
              <a:buNone/>
            </a:pPr>
            <a:r>
              <a:rPr lang="en-US" sz="680" b="1" spc="120" kern="0" dirty="0">
                <a:solidFill>
                  <a:srgbClr val="43D79B"/>
                </a:solidFill>
                <a:latin typeface="Inter" pitchFamily="34" charset="0"/>
                <a:ea typeface="Inter" pitchFamily="34" charset="-122"/>
                <a:cs typeface="Inter" pitchFamily="34" charset="-120"/>
              </a:rPr>
              <a:t>THE PARTNER CONTRACT</a:t>
            </a:r>
            <a:endParaRPr lang="en-US" sz="680" dirty="0"/>
          </a:p>
        </p:txBody>
      </p:sp>
      <p:sp>
        <p:nvSpPr>
          <p:cNvPr id="35" name="Text 33"/>
          <p:cNvSpPr/>
          <p:nvPr/>
        </p:nvSpPr>
        <p:spPr>
          <a:xfrm>
            <a:off x="8129016" y="1673352"/>
            <a:ext cx="3209544" cy="329184"/>
          </a:xfrm>
          <a:prstGeom prst="rect">
            <a:avLst/>
          </a:prstGeom>
          <a:noFill/>
          <a:ln/>
        </p:spPr>
        <p:txBody>
          <a:bodyPr wrap="square" lIns="0" tIns="0" rIns="0" bIns="0" rtlCol="0" anchor="ctr">
            <a:normAutofit/>
          </a:bodyPr>
          <a:lstStyle/>
          <a:p>
            <a:pPr indent="0" marL="0">
              <a:buNone/>
            </a:pPr>
            <a:r>
              <a:rPr lang="en-US" sz="2200" b="1" dirty="0">
                <a:solidFill>
                  <a:srgbClr val="F7FBFF"/>
                </a:solidFill>
                <a:latin typeface="Inter Display" pitchFamily="34" charset="0"/>
                <a:ea typeface="Inter Display" pitchFamily="34" charset="-122"/>
                <a:cs typeface="Inter Display" pitchFamily="34" charset="-120"/>
              </a:rPr>
              <a:t>Expansion follows evidence—not enthusiasm.</a:t>
            </a:r>
            <a:endParaRPr lang="en-US" sz="2200" dirty="0"/>
          </a:p>
        </p:txBody>
      </p:sp>
      <p:sp>
        <p:nvSpPr>
          <p:cNvPr id="36" name="Text 34"/>
          <p:cNvSpPr/>
          <p:nvPr/>
        </p:nvSpPr>
        <p:spPr>
          <a:xfrm>
            <a:off x="8129016" y="2075688"/>
            <a:ext cx="3209544" cy="3547872"/>
          </a:xfrm>
          <a:prstGeom prst="rect">
            <a:avLst/>
          </a:prstGeom>
          <a:noFill/>
          <a:ln/>
        </p:spPr>
        <p:txBody>
          <a:bodyPr wrap="square" lIns="0" tIns="0" rIns="0" bIns="0" rtlCol="0" anchor="t">
            <a:normAutofit/>
          </a:bodyPr>
          <a:lstStyle/>
          <a:p>
            <a:pPr indent="0" marL="0">
              <a:buNone/>
            </a:pPr>
            <a:r>
              <a:rPr lang="en-US" sz="1040" dirty="0">
                <a:solidFill>
                  <a:srgbClr val="B9C5D2"/>
                </a:solidFill>
                <a:latin typeface="Inter" pitchFamily="34" charset="0"/>
                <a:ea typeface="Inter" pitchFamily="34" charset="-122"/>
                <a:cs typeface="Inter" pitchFamily="34" charset="-120"/>
              </a:rPr>
              <a:t>1 · One consequential, reversible decision</a:t>
            </a:r>
            <a:endParaRPr lang="en-US" sz="1040" dirty="0"/>
          </a:p>
          <a:p>
            <a:pPr indent="0" marL="0">
              <a:buNone/>
            </a:pPr>
            <a:r>
              <a:rPr lang="en-US" sz="1040" dirty="0">
                <a:solidFill>
                  <a:srgbClr val="B9C5D2"/>
                </a:solidFill>
                <a:latin typeface="Inter" pitchFamily="34" charset="0"/>
                <a:ea typeface="Inter" pitchFamily="34" charset="-122"/>
                <a:cs typeface="Inter" pitchFamily="34" charset="-120"/>
              </a:rPr>
              <a:t>2 · One designated, independently controlled reviewer</a:t>
            </a:r>
            <a:endParaRPr lang="en-US" sz="1040" dirty="0"/>
          </a:p>
          <a:p>
            <a:pPr indent="0" marL="0">
              <a:buNone/>
            </a:pPr>
            <a:r>
              <a:rPr lang="en-US" sz="1040" dirty="0">
                <a:solidFill>
                  <a:srgbClr val="B9C5D2"/>
                </a:solidFill>
                <a:latin typeface="Inter" pitchFamily="34" charset="0"/>
                <a:ea typeface="Inter" pitchFamily="34" charset="-122"/>
                <a:cs typeface="Inter" pitchFamily="34" charset="-120"/>
              </a:rPr>
              <a:t>3 · One inspectable Evidence Docket</a:t>
            </a:r>
            <a:endParaRPr lang="en-US" sz="1040" dirty="0"/>
          </a:p>
          <a:p>
            <a:pPr indent="0" marL="0">
              <a:buNone/>
            </a:pPr>
            <a:r>
              <a:rPr lang="en-US" sz="1040" dirty="0">
                <a:solidFill>
                  <a:srgbClr val="B9C5D2"/>
                </a:solidFill>
                <a:latin typeface="Inter" pitchFamily="34" charset="0"/>
                <a:ea typeface="Inter" pitchFamily="34" charset="-122"/>
                <a:cs typeface="Inter" pitchFamily="34" charset="-120"/>
              </a:rPr>
              <a:t>4 · One narrowly scoped capability candidate</a:t>
            </a:r>
            <a:endParaRPr lang="en-US" sz="1040" dirty="0"/>
          </a:p>
          <a:p>
            <a:pPr indent="0" marL="0">
              <a:buNone/>
            </a:pPr>
            <a:r>
              <a:rPr lang="en-US" sz="1040" dirty="0">
                <a:solidFill>
                  <a:srgbClr val="B9C5D2"/>
                </a:solidFill>
                <a:latin typeface="Inter" pitchFamily="34" charset="0"/>
                <a:ea typeface="Inter" pitchFamily="34" charset="-122"/>
                <a:cs typeface="Inter" pitchFamily="34" charset="-120"/>
              </a:rPr>
              <a:t>5 · One root-verifiable admitted state</a:t>
            </a:r>
            <a:endParaRPr lang="en-US" sz="1040" dirty="0"/>
          </a:p>
          <a:p>
            <a:pPr indent="0" marL="0">
              <a:buNone/>
            </a:pPr>
            <a:r>
              <a:rPr lang="en-US" sz="1040" dirty="0">
                <a:solidFill>
                  <a:srgbClr val="B9C5D2"/>
                </a:solidFill>
                <a:latin typeface="Inter" pitchFamily="34" charset="0"/>
                <a:ea typeface="Inter" pitchFamily="34" charset="-122"/>
                <a:cs typeface="Inter" pitchFamily="34" charset="-120"/>
              </a:rPr>
              <a:t>6 · One fresh matched Mission 2</a:t>
            </a:r>
            <a:endParaRPr lang="en-US" sz="1040" dirty="0"/>
          </a:p>
          <a:p>
            <a:pPr indent="0" marL="0">
              <a:buNone/>
            </a:pPr>
            <a:r>
              <a:rPr lang="en-US" sz="1040" dirty="0">
                <a:solidFill>
                  <a:srgbClr val="B9C5D2"/>
                </a:solidFill>
                <a:latin typeface="Inter" pitchFamily="34" charset="0"/>
                <a:ea typeface="Inter" pitchFamily="34" charset="-122"/>
                <a:cs typeface="Inter" pitchFamily="34" charset="-120"/>
              </a:rPr>
              <a:t>7 · One honest expand / repair / hold / stop decision</a:t>
            </a:r>
            <a:endParaRPr lang="en-US" sz="1040" dirty="0"/>
          </a:p>
        </p:txBody>
      </p:sp>
      <p:sp>
        <p:nvSpPr>
          <p:cNvPr id="25" name="Slide Number Placeholder 0"/>
          <p:cNvSpPr>
            <a:spLocks noGrp="1"/>
          </p:cNvSpPr>
          <p:nvPr>
            <p:ph type="sldNum" sz="quarter" idx="4294967295"/>
          </p:nvPr>
        </p:nvSpPr>
        <p:spPr>
          <a:xfrm>
            <a:off x="11292840" y="6446520"/>
            <a:ext cx="4114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5C6F84"/>
                </a:solidFill>
                <a:latin typeface="Inter"/>
                <a:ea typeface="Inter"/>
                <a:cs typeface="Inter"/>
              </a:defRPr>
            </a:lvl1pPr>
          </a:lstStyle>
          <a:p>
            <a:pPr algn="r"/>
            <a:fld id="{F7021451-1387-4CA6-816F-3879F97B5CBC}" type="slidenum">
              <a:rPr b="0" lang="en-US"/>
              <a:t>72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GoalOS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GoalOS Partner MASTERCLASS - Grand Institutional Edition</dc:title>
  <dc:subject>GoalOS Partner MASTERCLASS Grand Institutional Edition</dc:subject>
  <dc:creator>GoalOS / MONTREAL.AI / QUEBEC.AI</dc:creator>
  <cp:lastModifiedBy>GoalOS / MONTREAL.AI / QUEBEC.AI</cp:lastModifiedBy>
  <cp:revision>1</cp:revision>
  <dcterms:created xsi:type="dcterms:W3CDTF">2026-07-12T16:24:11Z</dcterms:created>
  <dcterms:modified xsi:type="dcterms:W3CDTF">2026-07-12T16:24:11Z</dcterms:modified>
</cp:coreProperties>
</file>