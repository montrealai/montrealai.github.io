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204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E7FF"/>
          </a:solidFill>
          <a:ln w="12700">
            <a:solidFill>
              <a:srgbClr val="6EE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GOALOS PARTNER MASTERCLASS · SOVEREIGN EDITION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9C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 Boucher · QUEBEC.AI &amp; MONTREAL.AI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6547104"/>
            <a:ext cx="11365992" cy="0"/>
          </a:xfrm>
          <a:prstGeom prst="line">
            <a:avLst/>
          </a:prstGeom>
          <a:noFill/>
          <a:ln w="7620">
            <a:solidFill>
              <a:srgbClr val="314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60196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FA0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creates output. GoalOS creates proof.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0" y="66019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PARTNER BRIEFING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731520"/>
            <a:ext cx="3749040" cy="3749040"/>
          </a:xfrm>
          <a:prstGeom prst="ellipse">
            <a:avLst/>
          </a:prstGeom>
          <a:solidFill>
            <a:srgbClr val="AA83FF">
              <a:alpha val="20000"/>
            </a:srgbClr>
          </a:solidFill>
          <a:ln w="12700">
            <a:solidFill>
              <a:srgbClr val="AA8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280160"/>
            <a:ext cx="2286000" cy="2286000"/>
          </a:xfrm>
          <a:prstGeom prst="ellipse">
            <a:avLst/>
          </a:prstGeom>
          <a:solidFill>
            <a:srgbClr val="70EDFF">
              <a:alpha val="18000"/>
            </a:srgbClr>
          </a:solidFill>
          <a:ln w="12700">
            <a:solidFill>
              <a:srgbClr val="70ED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828800"/>
            <a:ext cx="1097280" cy="1097280"/>
          </a:xfrm>
          <a:prstGeom prst="ellipse">
            <a:avLst/>
          </a:prstGeom>
          <a:solidFill>
            <a:srgbClr val="F3CE78">
              <a:alpha val="35000"/>
            </a:srgbClr>
          </a:solidFill>
          <a:ln w="12700">
            <a:solidFill>
              <a:srgbClr val="F3CE7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94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MASTERCLASS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218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EDITION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6850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DDE7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institution that makes intelligence earn authority.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8368" y="4617720"/>
            <a:ext cx="7498080" cy="658368"/>
          </a:xfrm>
          <a:prstGeom prst="roundRect">
            <a:avLst>
              <a:gd name="adj" fmla="val 22222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469087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1 must not merely be remembered. It must earn the right to make Mission 2 better.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5596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 Boucher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President, QUEBEC.AI &amp; MONTREAL.AI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4892040"/>
            <a:ext cx="384048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8392" y="4901184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MODULES · INTERACTIVE · RSI · REAL-TASK EVIDENCE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capability is abundant. Institutional permission to rely on it is not.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GoalOS converts autonomous work into proof-carrying, replayable, rollback-ready institutional capability.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78608" cy="2084832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5420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511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output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34564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code, plans, hypotheses, tool proposals.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377440"/>
            <a:ext cx="2578608" cy="2084832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5420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5511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20440" y="29718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action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520440" y="34564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environments, search, execution.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7064" y="2377440"/>
            <a:ext cx="2578608" cy="2084832"/>
          </a:xfrm>
          <a:prstGeom prst="roundRect">
            <a:avLst>
              <a:gd name="adj" fmla="val 7018"/>
            </a:avLst>
          </a:prstGeom>
          <a:solidFill>
            <a:srgbClr val="12243B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5420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511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82512" y="29718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authority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82512" y="34564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validation, memory, settlement, challenge, rollback.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89136" y="2377440"/>
            <a:ext cx="2578608" cy="2084832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5420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255117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44584" y="297180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capability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44584" y="34564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reuse, cryptographic state, measurable Mission 2 lift.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4983480"/>
            <a:ext cx="8321040" cy="676656"/>
          </a:xfrm>
          <a:prstGeom prst="roundRect">
            <a:avLst>
              <a:gd name="adj" fmla="val 21622"/>
            </a:avLst>
          </a:prstGeom>
          <a:solidFill>
            <a:srgbClr val="AA83FF">
              <a:alpha val="10000"/>
            </a:srgbClr>
          </a:solidFill>
          <a:ln w="10160">
            <a:solidFill>
              <a:srgbClr val="AA83FF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0566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engines improve results. GoalOS governs the right to evolve.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ROLE-ADAPTIVE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institution. Seven partner lenses.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masterclass changes its language, value thesis, entry path, and proof metric for the person in the room.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0C1324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386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C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readiness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240280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386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29584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transfer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2240280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386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45936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Reproduced advantage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5984" y="2240280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288" y="23865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62288" y="28346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coverage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685032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" y="4279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capacity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685032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29584" y="4279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+ independence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3685032"/>
            <a:ext cx="2578608" cy="1188720"/>
          </a:xfrm>
          <a:prstGeom prst="roundRect">
            <a:avLst>
              <a:gd name="adj" fmla="val 12308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3831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45936" y="4279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Verified-work throughput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5840" y="5559552"/>
            <a:ext cx="10149840" cy="566928"/>
          </a:xfrm>
          <a:prstGeom prst="roundRect">
            <a:avLst>
              <a:gd name="adj" fmla="val 25806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632704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one consequential objective, one executive sponsor, and one independent reviewer.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AUTHORITY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most AI platforms still cannot answer.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layer is not generation. It is an evidentiary constitution for reliance.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0D1628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313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authorized?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10712" y="2148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0D1628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2313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attempted?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7064" y="2148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0D1628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313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proof exists?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43416" y="2148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0D1628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1432" y="2313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replayed it?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failed?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10712" y="3291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remains risky?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27064" y="3291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10172A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may be reused?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043416" y="3291840"/>
            <a:ext cx="2542032" cy="896112"/>
          </a:xfrm>
          <a:prstGeom prst="roundRect">
            <a:avLst>
              <a:gd name="adj" fmla="val 16327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34564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revoked?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5166360"/>
            <a:ext cx="10332720" cy="694944"/>
          </a:xfrm>
          <a:prstGeom prst="roundRect">
            <a:avLst>
              <a:gd name="adj" fmla="val 21053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2395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prompt requests an answer. A proof loop decides what must be proven before the answer can matter.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OPERATING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→ proof → governed capability → better future mission.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advances only when evidence survives the next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76072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5371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2239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5391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985391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Mission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4690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1558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4710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94710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Jobs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4009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0877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4029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804029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0196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3348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213348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62647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9515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2667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622667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71966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8834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1986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9031986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Root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81285" y="2738628"/>
            <a:ext cx="164592" cy="146304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8153" y="2286000"/>
            <a:ext cx="1336167" cy="1051560"/>
          </a:xfrm>
          <a:prstGeom prst="roundRect">
            <a:avLst>
              <a:gd name="adj" fmla="val 13913"/>
            </a:avLst>
          </a:prstGeom>
          <a:solidFill>
            <a:srgbClr val="10182B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41305" y="235000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441305" y="2551176"/>
            <a:ext cx="118986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371600" y="3886200"/>
            <a:ext cx="1920240" cy="685800"/>
          </a:xfrm>
          <a:prstGeom prst="roundRect">
            <a:avLst>
              <a:gd name="adj" fmla="val 21333"/>
            </a:avLst>
          </a:prstGeom>
          <a:solidFill>
            <a:srgbClr val="26131D"/>
          </a:solidFill>
          <a:ln w="10160">
            <a:solidFill>
              <a:srgbClr val="FF81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54480" y="40599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Debt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331720" y="3858768"/>
            <a:ext cx="0" cy="-457200"/>
          </a:xfrm>
          <a:prstGeom prst="line">
            <a:avLst/>
          </a:prstGeom>
          <a:noFill/>
          <a:ln w="15240">
            <a:solidFill>
              <a:srgbClr val="FF819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31720" y="4590288"/>
            <a:ext cx="704088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880360" y="43525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queue / blocked claim / fresh proof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17520" y="5074920"/>
            <a:ext cx="6217920" cy="566928"/>
          </a:xfrm>
          <a:prstGeom prst="roundRect">
            <a:avLst>
              <a:gd name="adj" fmla="val 25806"/>
            </a:avLst>
          </a:prstGeom>
          <a:solidFill>
            <a:srgbClr val="AA83FF">
              <a:alpha val="10000"/>
            </a:srgbClr>
          </a:solidFill>
          <a:ln w="10160">
            <a:solidFill>
              <a:srgbClr val="AA83FF">
                <a:alpha val="4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514807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Chronicle entry, no future-mission influence.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Desire, work, evidence, memory, and commitment remain separate.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lower layer may silently bypass the gate above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965960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04825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decision, success, failure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587752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670048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proof level, budget, risk, rollback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209544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Proof 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329184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Claims, Proof Debt, custom jobs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831336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10172A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3913632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Bundles, provenance, replay, cost, risk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453128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Memory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71800" y="4535424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Chronicle, scope, version, utility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5074920"/>
            <a:ext cx="9966960" cy="493776"/>
          </a:xfrm>
          <a:prstGeom prst="roundRect">
            <a:avLst>
              <a:gd name="adj" fmla="val 29630"/>
            </a:avLst>
          </a:prstGeom>
          <a:solidFill>
            <a:srgbClr val="10172A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157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Commitment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515721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Roots, signatures, ZK receipts, lineage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objective. GoalOS runs until proof is done.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deliverable is a Governed Decision State—not a static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2128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0712" y="205740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128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matrix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7064" y="205740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22128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provenance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43416" y="205740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144" y="221284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 register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01752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10263A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1729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Docket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0712" y="301752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1729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report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27064" y="301752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31729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ledger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43416" y="301752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53144" y="31729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97764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133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deck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10712" y="397764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4133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graph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27064" y="397764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4133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 entry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43416" y="3977640"/>
            <a:ext cx="2542032" cy="749808"/>
          </a:xfrm>
          <a:prstGeom prst="roundRect">
            <a:avLst>
              <a:gd name="adj" fmla="val 19512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413308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package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011680" y="5321808"/>
            <a:ext cx="8183880" cy="566928"/>
          </a:xfrm>
          <a:prstGeom prst="roundRect">
            <a:avLst>
              <a:gd name="adj" fmla="val 25806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5394960"/>
            <a:ext cx="7909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shortest path from uncertainty to justified action.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institutional boundary before agents optimize the 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Objective, proof level, risk, validators, blocked claims, and rollback become explicit.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074920" cy="3611880"/>
          </a:xfrm>
          <a:prstGeom prst="roundRect">
            <a:avLst>
              <a:gd name="adj" fmla="val 4051"/>
            </a:avLst>
          </a:prstGeom>
          <a:solidFill>
            <a:srgbClr val="07111F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4572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"objective": "Authorize a bounded AI deployment?",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"proof_level": "L3 External Review",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"risk_class": "High",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"required_validators": [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"independent reviewer", "AGI Node council"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"blocked_claims": [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"guaranteed ROI", "unrestricted autonomy"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"rollback": ["quarantine", "revoke on root mismatch"]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DF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2057400"/>
            <a:ext cx="5577840" cy="3611880"/>
          </a:xfrm>
          <a:prstGeom prst="roundRect">
            <a:avLst>
              <a:gd name="adj" fmla="val 4051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395728"/>
            <a:ext cx="4983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ambiguous optimization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success and failure falsifiable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Calibrates validator burden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private intelligence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claims before proof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Mission 2 metric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rollback mandatory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FACTORY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Unsupported claims become explicit work—not hidden assumptions.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factory starts empty and creates only mission-specific proof contracts.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212848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22199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Analyst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+ uncertainty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1688" y="2103120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9704" y="2212848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22199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84648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Sentinel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2578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 + rollback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29016" y="2103120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212848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22199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951976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Auditor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51976" y="2578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reality + variance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401568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3511296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5204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17320" y="35112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Reviewer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role + jurisdiction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61688" y="3401568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9704" y="3511296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62856" y="35204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84648" y="35112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Analyst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84648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 sensitivity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9016" y="3401568"/>
            <a:ext cx="3456432" cy="1024128"/>
          </a:xfrm>
          <a:prstGeom prst="roundRect">
            <a:avLst>
              <a:gd name="adj" fmla="val 14286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7032" y="3511296"/>
            <a:ext cx="566928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352044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951976" y="35112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Evaluator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51976" y="38770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Mission 2 comparison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0" y="5074920"/>
            <a:ext cx="7589520" cy="566928"/>
          </a:xfrm>
          <a:prstGeom prst="roundRect">
            <a:avLst>
              <a:gd name="adj" fmla="val 25806"/>
            </a:avLst>
          </a:prstGeom>
          <a:solidFill>
            <a:srgbClr val="AA83FF">
              <a:alpha val="10000"/>
            </a:srgbClr>
          </a:solidFill>
          <a:ln w="10160">
            <a:solidFill>
              <a:srgbClr val="AA83FF">
                <a:alpha val="4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514807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AGI Job is a proof contract—not a todo item.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proof room that lets a reviewer reconstruct the mission.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happened, what failed, what remains blocked, who can replay, and what may be reused.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3055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0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04088" y="258043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61688" y="205740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1416" y="213055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471416" y="258043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claims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29016" y="205740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213055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81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238744" y="258043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claims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6499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C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04088" y="381487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329184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336499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AA8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4471416" y="381487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manifests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29016" y="3291840"/>
            <a:ext cx="3456432" cy="1005840"/>
          </a:xfrm>
          <a:prstGeom prst="roundRect">
            <a:avLst>
              <a:gd name="adj" fmla="val 14545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3364992"/>
            <a:ext cx="3236976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D7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238744" y="3814877"/>
            <a:ext cx="323697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paths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20240" y="4983480"/>
            <a:ext cx="8412480" cy="594360"/>
          </a:xfrm>
          <a:prstGeom prst="roundRect">
            <a:avLst>
              <a:gd name="adj" fmla="val 24615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5056632"/>
            <a:ext cx="8138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must become inspectable before it becomes authority.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NODE VALIDATION COUNCIL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commit-reveal validation at global scale.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identities do not count as independent when one operator, model, cloud, or key controls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084832" cy="2148840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32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assurance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021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REVEAL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2240280"/>
            <a:ext cx="2084832" cy="2148840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4231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2432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71800" y="288950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council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5021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REVEAL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2240280"/>
            <a:ext cx="2084832" cy="2148840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4231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432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0" y="288950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validator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5021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REVEAL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98080" y="2240280"/>
            <a:ext cx="2084832" cy="2148840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4231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2432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35240" y="288950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partner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35021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REVEAL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829800" y="2240280"/>
            <a:ext cx="2084832" cy="2148840"/>
          </a:xfrm>
          <a:prstGeom prst="roundRect">
            <a:avLst>
              <a:gd name="adj" fmla="val 7018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242316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40112" y="2432304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966960" y="2889504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replay lab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0" y="35021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66960" y="39136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→ REVEAL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0" y="5029200"/>
            <a:ext cx="5760720" cy="566928"/>
          </a:xfrm>
          <a:prstGeom prst="roundRect">
            <a:avLst>
              <a:gd name="adj" fmla="val 25806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5102352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labels ≠ five independent validators.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memory firewall between evidence and durable capability.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Admit, admit with scope, repair, reject, quarantine, supersede, revoke, or retire.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090318" cy="1005840"/>
          </a:xfrm>
          <a:prstGeom prst="roundRect">
            <a:avLst>
              <a:gd name="adj" fmla="val 14545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58568"/>
            <a:ext cx="1944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04672" y="2459736"/>
            <a:ext cx="194401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08122" y="2624328"/>
            <a:ext cx="164592" cy="146304"/>
          </a:xfrm>
          <a:prstGeom prst="chevron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4990" y="2194560"/>
            <a:ext cx="2090318" cy="1005840"/>
          </a:xfrm>
          <a:prstGeom prst="roundRect">
            <a:avLst>
              <a:gd name="adj" fmla="val 14545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8142" y="2258568"/>
            <a:ext cx="1944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968142" y="2459736"/>
            <a:ext cx="194401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Docket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1593" y="2624328"/>
            <a:ext cx="164592" cy="146304"/>
          </a:xfrm>
          <a:prstGeom prst="chevron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8461" y="2194560"/>
            <a:ext cx="2090318" cy="1005840"/>
          </a:xfrm>
          <a:prstGeom prst="roundRect">
            <a:avLst>
              <a:gd name="adj" fmla="val 14545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1613" y="2258568"/>
            <a:ext cx="1944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131613" y="2459736"/>
            <a:ext cx="194401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 Gate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5063" y="2624328"/>
            <a:ext cx="164592" cy="146304"/>
          </a:xfrm>
          <a:prstGeom prst="chevron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1931" y="2194560"/>
            <a:ext cx="2090318" cy="1005840"/>
          </a:xfrm>
          <a:prstGeom prst="roundRect">
            <a:avLst>
              <a:gd name="adj" fmla="val 14545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5083" y="2258568"/>
            <a:ext cx="1944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7295083" y="2459736"/>
            <a:ext cx="194401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98534" y="2624328"/>
            <a:ext cx="164592" cy="146304"/>
          </a:xfrm>
          <a:prstGeom prst="chevron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85402" y="2194560"/>
            <a:ext cx="2090318" cy="1005840"/>
          </a:xfrm>
          <a:prstGeom prst="roundRect">
            <a:avLst>
              <a:gd name="adj" fmla="val 14545"/>
            </a:avLst>
          </a:prstGeom>
          <a:solidFill>
            <a:srgbClr val="0B1425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58554" y="2258568"/>
            <a:ext cx="19440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9458554" y="2459736"/>
            <a:ext cx="194401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Mission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749040"/>
            <a:ext cx="2029968" cy="960120"/>
          </a:xfrm>
          <a:prstGeom prst="roundRect">
            <a:avLst>
              <a:gd name="adj" fmla="val 1523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threshold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1800" y="3749040"/>
            <a:ext cx="2029968" cy="960120"/>
          </a:xfrm>
          <a:prstGeom prst="roundRect">
            <a:avLst>
              <a:gd name="adj" fmla="val 1523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ready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57800" y="3749040"/>
            <a:ext cx="2029968" cy="960120"/>
          </a:xfrm>
          <a:prstGeom prst="roundRect">
            <a:avLst>
              <a:gd name="adj" fmla="val 1523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quorum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43800" y="3749040"/>
            <a:ext cx="2029968" cy="960120"/>
          </a:xfrm>
          <a:prstGeom prst="roundRect">
            <a:avLst>
              <a:gd name="adj" fmla="val 15238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envelope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829800" y="3749040"/>
            <a:ext cx="2029968" cy="960120"/>
          </a:xfrm>
          <a:prstGeom prst="roundRect">
            <a:avLst>
              <a:gd name="adj" fmla="val 15238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66960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+ privacy + rollback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0" y="5166360"/>
            <a:ext cx="6720840" cy="566928"/>
          </a:xfrm>
          <a:prstGeom prst="roundRect">
            <a:avLst>
              <a:gd name="adj" fmla="val 25806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5239512"/>
            <a:ext cx="6446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Chronicle entry, no future-mission influence.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 GRAPH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capability memory—not a prompt library.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durable skill carries scope, method, evidence, tests, validators, risk, version, freshness, utility, and rollback.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51960" y="2148840"/>
            <a:ext cx="3657600" cy="1143000"/>
          </a:xfrm>
          <a:prstGeom prst="roundRect">
            <a:avLst>
              <a:gd name="adj" fmla="val 12800"/>
            </a:avLst>
          </a:prstGeom>
          <a:solidFill>
            <a:srgbClr val="14223A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6280" y="2468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SKILL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743200" cy="914400"/>
          </a:xfrm>
          <a:prstGeom prst="roundRect">
            <a:avLst>
              <a:gd name="adj" fmla="val 1600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2128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+ scope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2468880"/>
            <a:ext cx="914400" cy="502920"/>
          </a:xfrm>
          <a:prstGeom prst="line">
            <a:avLst/>
          </a:prstGeom>
          <a:noFill/>
          <a:ln w="15240">
            <a:solidFill>
              <a:srgbClr val="AA83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840480"/>
            <a:ext cx="2743200" cy="914400"/>
          </a:xfrm>
          <a:prstGeom prst="roundRect">
            <a:avLst>
              <a:gd name="adj" fmla="val 1600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40416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+ replay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4297680"/>
            <a:ext cx="914400" cy="-502920"/>
          </a:xfrm>
          <a:prstGeom prst="line">
            <a:avLst/>
          </a:prstGeom>
          <a:noFill/>
          <a:ln w="15240">
            <a:solidFill>
              <a:srgbClr val="AA83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23960" y="2011680"/>
            <a:ext cx="2743200" cy="914400"/>
          </a:xfrm>
          <a:prstGeom prst="roundRect">
            <a:avLst>
              <a:gd name="adj" fmla="val 1600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22128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+ validators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23960" y="2468880"/>
            <a:ext cx="-914400" cy="502920"/>
          </a:xfrm>
          <a:prstGeom prst="line">
            <a:avLst/>
          </a:prstGeom>
          <a:noFill/>
          <a:ln w="15240">
            <a:solidFill>
              <a:srgbClr val="AA83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23960" y="3840480"/>
            <a:ext cx="2743200" cy="914400"/>
          </a:xfrm>
          <a:prstGeom prst="roundRect">
            <a:avLst>
              <a:gd name="adj" fmla="val 1600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40416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+ lifecycle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23960" y="4297680"/>
            <a:ext cx="-914400" cy="-502920"/>
          </a:xfrm>
          <a:prstGeom prst="line">
            <a:avLst/>
          </a:prstGeom>
          <a:noFill/>
          <a:ln w="15240">
            <a:solidFill>
              <a:srgbClr val="AA83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51960" y="4251960"/>
            <a:ext cx="2743200" cy="914400"/>
          </a:xfrm>
          <a:prstGeom prst="roundRect">
            <a:avLst>
              <a:gd name="adj" fmla="val 16000"/>
            </a:avLst>
          </a:prstGeom>
          <a:solidFill>
            <a:srgbClr val="0C1324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445312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+ lineage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51960" y="4709160"/>
            <a:ext cx="-914400" cy="-502920"/>
          </a:xfrm>
          <a:prstGeom prst="line">
            <a:avLst/>
          </a:prstGeom>
          <a:noFill/>
          <a:ln w="15240">
            <a:solidFill>
              <a:srgbClr val="AA83F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MERKLE, PRIVACY, AND ZK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exact institutional state without publishing plaintext private intelligence.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 decides authority. Merkle roots preserve the state that earned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075688" cy="1417320"/>
          </a:xfrm>
          <a:prstGeom prst="roundRect">
            <a:avLst>
              <a:gd name="adj" fmla="val 10323"/>
            </a:avLst>
          </a:prstGeom>
          <a:solidFill>
            <a:srgbClr val="0C1324"/>
          </a:solidFill>
          <a:ln w="10160">
            <a:solidFill>
              <a:srgbClr val="AA8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6888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A8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capability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methods, traces, reviewer notes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23744" y="2770632"/>
            <a:ext cx="256032" cy="182880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240280"/>
            <a:ext cx="2075688" cy="1417320"/>
          </a:xfrm>
          <a:prstGeom prst="roundRect">
            <a:avLst>
              <a:gd name="adj" fmla="val 10323"/>
            </a:avLst>
          </a:prstGeom>
          <a:solidFill>
            <a:srgbClr val="0C1324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246888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artifacts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71800" y="29900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dockets, bundles, attestations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55464" y="2770632"/>
            <a:ext cx="256032" cy="182880"/>
          </a:xfrm>
          <a:prstGeom prst="chevron">
            <a:avLst/>
          </a:prstGeom>
          <a:solidFill>
            <a:srgbClr val="70EDFF"/>
          </a:solidFill>
          <a:ln w="12700">
            <a:solidFill>
              <a:srgbClr val="70E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2240280"/>
            <a:ext cx="2075688" cy="1417320"/>
          </a:xfrm>
          <a:prstGeom prst="roundRect">
            <a:avLst>
              <a:gd name="adj" fmla="val 10323"/>
            </a:avLst>
          </a:prstGeom>
          <a:solidFill>
            <a:srgbClr val="0C1324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246888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29900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Merkle forest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87184" y="2770632"/>
            <a:ext cx="256032" cy="182880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2240280"/>
            <a:ext cx="2075688" cy="1417320"/>
          </a:xfrm>
          <a:prstGeom prst="roundRect">
            <a:avLst>
              <a:gd name="adj" fmla="val 10323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246888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state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35240" y="29900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 decision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18904" y="2770632"/>
            <a:ext cx="256032" cy="182880"/>
          </a:xfrm>
          <a:prstGeom prst="chevron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240280"/>
            <a:ext cx="2075688" cy="1417320"/>
          </a:xfrm>
          <a:prstGeom prst="roundRect">
            <a:avLst>
              <a:gd name="adj" fmla="val 10323"/>
            </a:avLst>
          </a:prstGeom>
          <a:solidFill>
            <a:srgbClr val="0C1324"/>
          </a:solidFill>
          <a:ln w="10160">
            <a:solidFill>
              <a:srgbClr val="FFD7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9528" y="246888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D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mission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966960" y="29900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prior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88720" y="4663440"/>
            <a:ext cx="9784080" cy="676656"/>
          </a:xfrm>
          <a:prstGeom prst="roundRect">
            <a:avLst>
              <a:gd name="adj" fmla="val 21622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7365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Inclusion is not truth. A root is a commitment layer; Chronicle is the authority layer.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 AUTHORITY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$AGIALPHA becomes professional protocol security behind consequential transitions.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invisible user friction; capital at risk whenever work asks to become paid, trusted, challenged, reusable, or promoted.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work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2093976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92040" y="1965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Proof Bond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47802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paid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892040" y="2478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ProofBundle + Validator Bonds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9900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trusted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0" y="3118104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892040" y="29900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Authority Bond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challenge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3630168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892040" y="350215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 Bond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01421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reusable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0" y="4142232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92040" y="401421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Reuse Bond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node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0" y="4654296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892040" y="45262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Operational Reserve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0383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GoalOS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5166360"/>
            <a:ext cx="1051560" cy="0"/>
          </a:xfrm>
          <a:prstGeom prst="line">
            <a:avLst/>
          </a:prstGeom>
          <a:noFill/>
          <a:ln w="15240">
            <a:solidFill>
              <a:srgbClr val="F3CE7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892040" y="503834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+ Canary + Rollback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5440680"/>
            <a:ext cx="187452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544982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PROTOCOL TRANSFER TAX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674352" y="5440680"/>
            <a:ext cx="164592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47504" y="544982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TREASURY TARGET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SOVEREIGN INVENTION 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Recursive self-improvement as deterministic, auditable institutional state transition.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are schema-bound, baselines are mandatory, ledgers are append-only, and promotion is mechanically gated.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76072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5371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2239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5391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985391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4690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1558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4710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94710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4009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0877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4029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804029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0196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3348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213348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TEST-PLAN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62647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9515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2667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622667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71966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8834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1986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9031986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81285" y="2770632"/>
            <a:ext cx="164592" cy="146304"/>
          </a:xfrm>
          <a:prstGeom prst="chevron">
            <a:avLst/>
          </a:prstGeom>
          <a:solidFill>
            <a:srgbClr val="AA83FF"/>
          </a:solidFill>
          <a:ln w="12700">
            <a:solidFill>
              <a:srgbClr val="AA8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8153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41305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441305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" y="3931920"/>
            <a:ext cx="2542032" cy="1261872"/>
          </a:xfrm>
          <a:prstGeom prst="roundRect">
            <a:avLst>
              <a:gd name="adj" fmla="val 11594"/>
            </a:avLst>
          </a:prstGeom>
          <a:solidFill>
            <a:srgbClr val="0C1324"/>
          </a:solidFill>
          <a:ln w="10160">
            <a:solidFill>
              <a:srgbClr val="FF81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41148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" y="453542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domains + safety gate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10712" y="3931920"/>
            <a:ext cx="2542032" cy="1261872"/>
          </a:xfrm>
          <a:prstGeom prst="roundRect">
            <a:avLst>
              <a:gd name="adj" fmla="val 11594"/>
            </a:avLst>
          </a:prstGeom>
          <a:solidFill>
            <a:srgbClr val="0C1324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41148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66160" y="453542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cannot inflate without execution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27064" y="3931920"/>
            <a:ext cx="2542032" cy="1261872"/>
          </a:xfrm>
          <a:prstGeom prst="roundRect">
            <a:avLst>
              <a:gd name="adj" fmla="val 11594"/>
            </a:avLst>
          </a:prstGeom>
          <a:solidFill>
            <a:srgbClr val="0C1324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41148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82512" y="453542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+ neighbor + null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43416" y="3931920"/>
            <a:ext cx="2542032" cy="1261872"/>
          </a:xfrm>
          <a:prstGeom prst="roundRect">
            <a:avLst>
              <a:gd name="adj" fmla="val 11594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98864" y="41148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98864" y="453542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under shocks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CONTROL ≠ OUTCOME AUTHORITY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can be open-ended. Promotion cannot.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 or any search controller may allocate attention and compute; it never grants memory, settlement, or rollout authority.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3154680"/>
          </a:xfrm>
          <a:prstGeom prst="roundRect">
            <a:avLst>
              <a:gd name="adj" fmla="val 4638"/>
            </a:avLst>
          </a:prstGeom>
          <a:solidFill>
            <a:srgbClr val="111027"/>
          </a:solidFill>
          <a:ln w="10160">
            <a:solidFill>
              <a:srgbClr val="AA8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8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/ ALLOCATION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Interestingness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Stepping stones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generation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9632" y="2148840"/>
            <a:ext cx="5349240" cy="3154680"/>
          </a:xfrm>
          <a:prstGeom prst="roundRect">
            <a:avLst>
              <a:gd name="adj" fmla="val 4638"/>
            </a:avLst>
          </a:prstGeom>
          <a:solidFill>
            <a:srgbClr val="0E1D23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 AUTHORITY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29400" y="306324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gate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contact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advantage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Reproduction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+ persistence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+ rollback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5486400"/>
            <a:ext cx="4754880" cy="512064"/>
          </a:xfrm>
          <a:prstGeom prst="roundRect">
            <a:avLst>
              <a:gd name="adj" fmla="val 28571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5559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 score cannot bypass a hard 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MOVE-37 BREAKTHROUGH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novelty creates a higher burden of proof.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Breakthroughs are admitted as audited state transitions—not as narratives.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640080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671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21396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+ risk + ECI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752344"/>
            <a:ext cx="640080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8620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seeds + baseline + hashes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447288"/>
            <a:ext cx="640080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5701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529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529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shocks + sensitivity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4142232"/>
            <a:ext cx="640080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2519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4224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remains positive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837176"/>
            <a:ext cx="640080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9469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919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919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+ evidence + rollback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2057400"/>
            <a:ext cx="4069080" cy="3474720"/>
          </a:xfrm>
          <a:prstGeom prst="roundRect">
            <a:avLst>
              <a:gd name="adj" fmla="val 4211"/>
            </a:avLst>
          </a:prstGeom>
          <a:solidFill>
            <a:srgbClr val="140F2C"/>
          </a:solidFill>
          <a:ln w="10160">
            <a:solidFill>
              <a:srgbClr val="AA8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51460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A8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NOVELTY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AA8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⇒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AA8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SKEPTICISM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7909560" y="4069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probe, no breakthrough claim.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persistence, no promotion.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SELF-HOSTING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GoalOS may improve GoalOS only through GoalOS.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privileged developer exception. Every constitutional change needs evidence, canaries, monitoring, and rollback.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76072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Proposal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5371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2239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85391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985391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4690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1558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4710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394710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4009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0877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4029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804029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0196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3348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213348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62647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9515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2667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622667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Canary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71966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8834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31986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9031986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Canary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281285" y="2770632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68153" y="2331720"/>
            <a:ext cx="1336167" cy="1024128"/>
          </a:xfrm>
          <a:prstGeom prst="roundRect">
            <a:avLst>
              <a:gd name="adj" fmla="val 14286"/>
            </a:avLst>
          </a:prstGeom>
          <a:solidFill>
            <a:srgbClr val="10182B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41305" y="2395728"/>
            <a:ext cx="11898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0441305" y="2596896"/>
            <a:ext cx="11898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/ Rollback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51560" y="38404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bond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independence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invariants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outcomes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target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graph epoch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0" y="4069080"/>
            <a:ext cx="5120640" cy="822960"/>
          </a:xfrm>
          <a:prstGeom prst="roundRect">
            <a:avLst>
              <a:gd name="adj" fmla="val 17778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4142232"/>
            <a:ext cx="4846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proof, no evolution. No eval, no propagation. No rollback, no release.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DECISIVE MISSION 1 → MISSION 2 TEST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1 must make fresh Mission 2 work measurably better.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model, tools, time, compute, evaluator, stopping rule, and context budget. Only the prior differs.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0C1324"/>
          </a:solidFill>
          <a:ln w="10160">
            <a:solidFill>
              <a:srgbClr val="9DAC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957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DAC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control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capability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0C1324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3957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C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memory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39312" y="30632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/ notes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7064" y="21488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23957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Skill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55664" y="30632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Chronicle-admitted capability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43416" y="214884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0C1324"/>
          </a:solidFill>
          <a:ln w="10160">
            <a:solidFill>
              <a:srgbClr val="FF81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8864" y="23957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1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Ungated candidate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72016" y="306324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or unreviewed memory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709160"/>
            <a:ext cx="10332720" cy="676656"/>
          </a:xfrm>
          <a:prstGeom prst="roundRect">
            <a:avLst>
              <a:gd name="adj" fmla="val 21622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78231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Skill &gt; Raw Memory &gt; Fresh Control; ungated memory must not silently propagate.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TRANSFER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mechanism passes inside the partner simulation.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rejected prior harms performance; tampering revokes inherited authority.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89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Control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52928" y="2221992"/>
            <a:ext cx="3721608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2928" y="2221992"/>
            <a:ext cx="2753990" cy="164592"/>
          </a:xfrm>
          <a:prstGeom prst="roundRect">
            <a:avLst/>
          </a:prstGeom>
          <a:solidFill>
            <a:srgbClr val="9DACC5"/>
          </a:solidFill>
          <a:ln w="12700">
            <a:solidFill>
              <a:srgbClr val="9DA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9867" y="2194560"/>
            <a:ext cx="811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89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Memory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52928" y="2816352"/>
            <a:ext cx="3721608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2816352"/>
            <a:ext cx="2940070" cy="164592"/>
          </a:xfrm>
          <a:prstGeom prst="roundRect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9867" y="2788920"/>
            <a:ext cx="811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189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52928" y="3410712"/>
            <a:ext cx="3721608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3410712"/>
            <a:ext cx="3423879" cy="164592"/>
          </a:xfrm>
          <a:prstGeom prst="roundRect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9867" y="3383280"/>
            <a:ext cx="811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189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Ungated Candidate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52928" y="4005072"/>
            <a:ext cx="3721608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52928" y="4005072"/>
            <a:ext cx="2270181" cy="164592"/>
          </a:xfrm>
          <a:prstGeom prst="roundRect">
            <a:avLst/>
          </a:prstGeom>
          <a:solidFill>
            <a:srgbClr val="FF8198"/>
          </a:solidFill>
          <a:ln w="12700">
            <a:solidFill>
              <a:srgbClr val="FF81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9867" y="3977640"/>
            <a:ext cx="8119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2240280"/>
            <a:ext cx="3017520" cy="1051560"/>
          </a:xfrm>
          <a:prstGeom prst="roundRect">
            <a:avLst>
              <a:gd name="adj" fmla="val 13913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313432"/>
            <a:ext cx="2798064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+18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339328" y="2787091"/>
            <a:ext cx="279806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vs fresh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3520440"/>
            <a:ext cx="3017520" cy="1051560"/>
          </a:xfrm>
          <a:prstGeom prst="roundRect">
            <a:avLst>
              <a:gd name="adj" fmla="val 13913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593592"/>
            <a:ext cx="2798064" cy="4837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0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8339328" y="4067251"/>
            <a:ext cx="2798064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proof-design 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38160" y="4983480"/>
            <a:ext cx="3246120" cy="566928"/>
          </a:xfrm>
          <a:prstGeom prst="roundRect">
            <a:avLst>
              <a:gd name="adj" fmla="val 25806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50566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independent replay remains a separate 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REAL-001 EVIDENCE ROOM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consequential public software-maintenance transfer case.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repository-reliability skill reached the correct safe decision with less evidence-search effort.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843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Control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06624" y="2176272"/>
            <a:ext cx="3621024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06624" y="2176272"/>
            <a:ext cx="3362483" cy="164592"/>
          </a:xfrm>
          <a:prstGeom prst="roundRect">
            <a:avLst/>
          </a:prstGeom>
          <a:solidFill>
            <a:srgbClr val="9DACC5"/>
          </a:solidFill>
          <a:ln w="12700">
            <a:solidFill>
              <a:srgbClr val="9DA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9322" y="2148840"/>
            <a:ext cx="79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92.86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843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Memory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06624" y="2770632"/>
            <a:ext cx="3621024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06624" y="2770632"/>
            <a:ext cx="3362483" cy="164592"/>
          </a:xfrm>
          <a:prstGeom prst="roundRect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9322" y="2743200"/>
            <a:ext cx="79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92.86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1843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06624" y="3364992"/>
            <a:ext cx="3621024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6624" y="3364992"/>
            <a:ext cx="3569243" cy="164592"/>
          </a:xfrm>
          <a:prstGeom prst="roundRect">
            <a:avLst/>
          </a:prstGeom>
          <a:solidFill>
            <a:srgbClr val="89F7C2"/>
          </a:solidFill>
          <a:ln w="12700">
            <a:solidFill>
              <a:srgbClr val="89F7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9322" y="3337560"/>
            <a:ext cx="79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1843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Ungated Candidate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06624" y="3959352"/>
            <a:ext cx="3621024" cy="164592"/>
          </a:xfrm>
          <a:prstGeom prst="roundRect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06624" y="3959352"/>
            <a:ext cx="0" cy="164592"/>
          </a:xfrm>
          <a:prstGeom prst="roundRect">
            <a:avLst/>
          </a:prstGeom>
          <a:solidFill>
            <a:srgbClr val="FF8198"/>
          </a:solidFill>
          <a:ln w="12700">
            <a:solidFill>
              <a:srgbClr val="FF81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9322" y="3931920"/>
            <a:ext cx="79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06624" y="4160520"/>
            <a:ext cx="4279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score: -15.00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909560" y="2057400"/>
            <a:ext cx="3611880" cy="2514600"/>
          </a:xfrm>
          <a:prstGeom prst="roundRect">
            <a:avLst>
              <a:gd name="adj" fmla="val 5818"/>
            </a:avLst>
          </a:prstGeom>
          <a:solidFill>
            <a:srgbClr val="0E1D23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2340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SAFE DECISION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56448" y="27889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CONTROLLED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8092440" y="4846320"/>
            <a:ext cx="3291840" cy="310896"/>
          </a:xfrm>
          <a:prstGeom prst="roundRect">
            <a:avLst>
              <a:gd name="adj" fmla="val 47059"/>
            </a:avLst>
          </a:prstGeom>
          <a:solidFill>
            <a:srgbClr val="70EDFF">
              <a:alpha val="14000"/>
            </a:srgbClr>
          </a:solidFill>
          <a:ln w="10160">
            <a:solidFill>
              <a:srgbClr val="70EDFF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485546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FIRST-PARTY RECONSTRUCTION PASS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92440" y="5257800"/>
            <a:ext cx="329184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52669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REPLAY PENDING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VALUE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proof debt, failure exposure, review latency, and reinvention.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decision readiness, validator confidence, and reusable governed capability.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130552"/>
            <a:ext cx="243230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81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$30.7M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0408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annual Proof Debt exposure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130552"/>
            <a:ext cx="243230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89F7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$9.2M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8444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expected-loss reduction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130552"/>
            <a:ext cx="243230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0E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464808" y="26517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decision-cycle days released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35440" y="2057400"/>
            <a:ext cx="2331720" cy="1143000"/>
          </a:xfrm>
          <a:prstGeom prst="roundRect">
            <a:avLst>
              <a:gd name="adj" fmla="val 12800"/>
            </a:avLst>
          </a:prstGeom>
          <a:solidFill>
            <a:srgbClr val="09111F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45168" y="2130552"/>
            <a:ext cx="2112264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3C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345168" y="265176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 receiving validated capability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3C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 Value =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278892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impact × Proof integrity × Actionability × Reuse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0" y="3886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889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DAC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+ Risk + Latency + Proof Debt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874520" y="5257800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53309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model—not a forecast, valuation guarantee, or financial recommendation.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PATHWAYS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proof mission. Compound into infrastructure.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pathway creates evidence before expanding authority.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16233A"/>
          </a:solidFill>
          <a:ln w="10160">
            <a:solidFill>
              <a:srgbClr val="F3C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391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2002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Mission Sprint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0" y="2002536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consequential objective → Governed Decision State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33472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523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Proof 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71576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proof levels, Chronicle, replay, rollback, and skill memory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346704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655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VSG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42900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reusable capability across sensitive institutional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59936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788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42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AGI Node Council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14223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validation, replay, identity, and assurance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773168"/>
            <a:ext cx="10789920" cy="530352"/>
          </a:xfrm>
          <a:prstGeom prst="roundRect">
            <a:avLst>
              <a:gd name="adj" fmla="val 27586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920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4855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Cross-Institution Proof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43400" y="4855464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proof-bearing capability without plaintext leakage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INTEGRATION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GoalOS sits above existing capability and below institutional consequence.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model, agent, or vendor needs to become the source of institutional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836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capability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66160" y="188366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agents, tools, experts, enterprise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459736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10263A"/>
          </a:solidFill>
          <a:ln w="10160">
            <a:solidFill>
              <a:srgbClr val="70E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603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0E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560320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scope, proof level, risk, validators, rollback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136392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369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fabric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323697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Jobs, ProofBundles, Evidence Dockets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3813048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66160" y="391363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Nodes, replay, challenge, independence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4489704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13221F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590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commitment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45902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Chronicle, VSG, Merkle, ZK, revocation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5166360"/>
            <a:ext cx="10195560" cy="521208"/>
          </a:xfrm>
          <a:prstGeom prst="roundRect">
            <a:avLst>
              <a:gd name="adj" fmla="val 28070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2669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+ economics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66160" y="526694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 authority, settlement adapters, pilot metrics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THIRTY-DAY PARTNER PILOT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objective. One sponsor. One independent reviewer. One Mission 2 test.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earns the right to expand; it does not predeclare success.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670048" cy="2880360"/>
          </a:xfrm>
          <a:prstGeom prst="roundRect">
            <a:avLst>
              <a:gd name="adj" fmla="val 5479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86868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34086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authority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Contract, proof level, claim boundary, baseline, privacy, rollback.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670048" cy="2880360"/>
          </a:xfrm>
          <a:prstGeom prst="roundRect">
            <a:avLst>
              <a:gd name="adj" fmla="val 5479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331720"/>
            <a:ext cx="86868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34086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28163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proof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39312" y="35204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jobs, bundles, provenance, contradictions, cost and risk.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2670048" cy="2880360"/>
          </a:xfrm>
          <a:prstGeom prst="roundRect">
            <a:avLst>
              <a:gd name="adj" fmla="val 5479"/>
            </a:avLst>
          </a:prstGeom>
          <a:solidFill>
            <a:srgbClr val="0C1324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331720"/>
            <a:ext cx="86868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234086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37960" y="28163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+ challenge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65392" y="35204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replay, AGI Nodes, falsification, Chronicle recommendation.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2103120"/>
            <a:ext cx="2670048" cy="2880360"/>
          </a:xfrm>
          <a:prstGeom prst="roundRect">
            <a:avLst>
              <a:gd name="adj" fmla="val 5479"/>
            </a:avLst>
          </a:prstGeom>
          <a:solidFill>
            <a:srgbClr val="0C1324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2331720"/>
            <a:ext cx="86868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34086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464040" y="281635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+ transfer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491472" y="352044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DAC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State, Skill Passport, Merkle packet, Mission 2 comparison.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5349240"/>
            <a:ext cx="8412480" cy="530352"/>
          </a:xfrm>
          <a:prstGeom prst="roundRect">
            <a:avLst>
              <a:gd name="adj" fmla="val 27586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4223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pilot’s final deliverable is a measured authority transition—not a presentation.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DUE DILIGENCE, AND CLAIM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Sophisticated partners trust systems that state exactly what is evidenced and what remains open.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1719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AD7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maturity is part of the product.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Contract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856232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672" y="186537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2295144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672" y="23042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validator quorum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2734056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672" y="274320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IN SIMULATION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 + Merkle tamper revocation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3172968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672" y="3182112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63016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REAL-001 first-party reconstruction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89520" y="3611880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89F7C2">
              <a:alpha val="14000"/>
            </a:srgbClr>
          </a:solidFill>
          <a:ln w="10160">
            <a:solidFill>
              <a:srgbClr val="89F7C2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362102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9F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external replay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589520" y="4050792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4059936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" y="450799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real-world compounding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4489704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F3CE78">
              <a:alpha val="14000"/>
            </a:srgbClr>
          </a:solidFill>
          <a:ln w="10160">
            <a:solidFill>
              <a:srgbClr val="F3CE78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62672" y="449884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494690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authority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89520" y="4928616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FF8198">
              <a:alpha val="14000"/>
            </a:srgbClr>
          </a:solidFill>
          <a:ln w="10160">
            <a:solidFill>
              <a:srgbClr val="FF8198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493776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GRANTED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417320" y="5577840"/>
            <a:ext cx="9326880" cy="502920"/>
          </a:xfrm>
          <a:prstGeom prst="roundRect">
            <a:avLst>
              <a:gd name="adj" fmla="val 29091"/>
            </a:avLst>
          </a:prstGeom>
          <a:solidFill>
            <a:srgbClr val="FF8198">
              <a:alpha val="10000"/>
            </a:srgbClr>
          </a:solidFill>
          <a:ln w="10160">
            <a:solidFill>
              <a:srgbClr val="FF8198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5650992"/>
            <a:ext cx="9052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label overrides facts. No token creates immunity. No code overrides mandatory law.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PARTNER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one consequential objective.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94360" y="208483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DCE8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with proof — and the first capability that has earned the right to make the next mission better.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987552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1844" y="4041648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48712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1864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721864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Mission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6156" y="4041648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3024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6176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456176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Docket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0468" y="4041648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17336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10182B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190488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64780" y="4041648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1648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0B1425"/>
          </a:solidFill>
          <a:ln w="10160">
            <a:solidFill>
              <a:srgbClr val="2A39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4800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924800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Skill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9092" y="4041648"/>
            <a:ext cx="164592" cy="146304"/>
          </a:xfrm>
          <a:prstGeom prst="chevron">
            <a:avLst/>
          </a:prstGeom>
          <a:solidFill>
            <a:srgbClr val="F3CE78"/>
          </a:solidFill>
          <a:ln w="12700">
            <a:solidFill>
              <a:srgbClr val="F3CE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85960" y="3657600"/>
            <a:ext cx="1661160" cy="914400"/>
          </a:xfrm>
          <a:prstGeom prst="roundRect">
            <a:avLst>
              <a:gd name="adj" fmla="val 16000"/>
            </a:avLst>
          </a:prstGeom>
          <a:solidFill>
            <a:srgbClr val="10182B"/>
          </a:solidFill>
          <a:ln w="10160">
            <a:solidFill>
              <a:srgbClr val="89F7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9112" y="3721608"/>
            <a:ext cx="1514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3C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9659112" y="3922776"/>
            <a:ext cx="1514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280160" y="5120640"/>
            <a:ext cx="9601200" cy="658368"/>
          </a:xfrm>
          <a:prstGeom prst="roundRect">
            <a:avLst>
              <a:gd name="adj" fmla="val 22222"/>
            </a:avLst>
          </a:prstGeom>
          <a:solidFill>
            <a:srgbClr val="F3CE78">
              <a:alpha val="10000"/>
            </a:srgbClr>
          </a:solidFill>
          <a:ln w="10160">
            <a:solidFill>
              <a:srgbClr val="F3CE78">
                <a:alpha val="4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19379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FD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creates output. GoalOS creates proof. The institution decides what earns memory.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5989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F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 Boucher · President, QUEBEC.AI &amp; MONTREAL.AI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FA0B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MONTREAL.AI / QUEBEC.AI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GoalOS Partner MASTERCLASS — Sovereign Edition</dc:title>
  <dc:subject>GoalOS Partner MASTERCLASS Sovereign Edition</dc:subject>
  <dc:creator>GoalOS / MONTREAL.AI</dc:creator>
  <cp:lastModifiedBy>GoalOS / MONTREAL.AI</cp:lastModifiedBy>
  <cp:revision>1</cp:revision>
  <dcterms:created xsi:type="dcterms:W3CDTF">2026-07-12T16:27:08Z</dcterms:created>
  <dcterms:modified xsi:type="dcterms:W3CDTF">2026-07-12T16:27:08Z</dcterms:modified>
</cp:coreProperties>
</file>