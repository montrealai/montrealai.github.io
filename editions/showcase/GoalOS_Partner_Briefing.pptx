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GoalOS is not another agent demo and not a claim of achieved AGI. It is the operating layer that determines what autonomous work must prove before an institution can trust it, act on it, pay for it, remember it or reuse it. The partner proposition is practical: give us one consequential objective and receive a governed decision state rather than an unstructured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Enterprise leaders do not lack AI output. They lack a consistent way to decide which output deserves institutional authority. Report-only systems create proof debt: hidden assumptions, unsupported claims, fragile memory and unclear rollback. GoalOS changes the endpoint from a report to a governed decision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A user supplies a decision objective, not merely a prompt. GoalOS freezes the mission, creates proof-producing work and packages the result as a governed decision state. A correct run may approve, condition, repair, hold, reject or quarantine. The system is valuable precisely because it does not force every mission toward a positive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Switch to the standalone HTML after this slide. It runs without a server or external dependency. Start on Overview, then click Run the live partner mission. The audience will see the mission contract, proof debt, AGI Jobs, evidence packaging, validation, Chronicle and bounded authority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Work does not become evidence because an agent finished. Evidence does not become memory because it exists. Memory does not become authority because it is useful. Each transition has a gate, a record and a rollback or challenge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The mission does not conclude yes or no in a vacuum. It says what can proceed, what remains blocked and what evidence must close before authority expands. The numbers are illustrative; the operating objects are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The Docket makes the decision inspectable. It shows blocked claims, unresolved contradictions and what authority consequence follows from each state. A reviewer can disagree without losing the lineage of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Lead with a decision the partner already needs to make. GoalOS is most immediately useful where unsupported assumptions, contradictory evidence, auditability, rollback and future reuse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Prompt libraries are easy to copy and raw transcripts are unsafe memory. GoalOS compounds governed capability: method plus evidence plus scope plus validator history plus delayed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Begin with premium proof missions that create real evidence and revenue. Convert repeated demand into Enterprise Proof OS. Let validated capability become the durable asset. Add managed validation and network effects only after bilateral value is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Present conservatively. $AGIALPHA is not the intelligence and should not be presented as an investment. Its role is protocol security around payment, trust, challenge, reuse, node operation and upgrades. A normal enterprise customer can remain tokenless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The partner-facing safeguard is affirmative contractual allocation. Before any interactive action, the Participant accepts a versioned receipt: authority to bind the represented organization; exclusive responsibility for objectives, data, systems, personnel, wallets, taxes, licences, compliance and downstream use; assumption of technical and economic risk; release and non-recourse; hold-harmless for Participant-caused matters, participant-to-participant allocation and non-joinder terms; evidence preservation; and the Montréal professional dispute pathway. Keep the explanation businesslike: the system makes responsibility explicit and binds it to the mission evidence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We should not claim empirical superiority without real missions and independent replay. We can credibly say the doctrine is specified, the browser institution is implemented, the runtime and contract packages are reference-ready, and the participation controls are integrated. The strongest next proof is a real partner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The partner does not need to endorse the full long-range architecture, operate a token or deploy nodes. They need one important decision, one authorized sponsor, one reviewer and one accepted participation receipt. In fifteen business days, the pilot should produce a complete decision package and reusable capability passport.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Close by asking the audience to choose the first mission. We do not ask them to believe a Holy Grail claim. We ask them to let the system produce one inspectable piece of evidence on a decision they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EF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EFE3"/>
          </a:solidFill>
          <a:ln w="12700">
            <a:solidFill>
              <a:srgbClr val="F5EFE3"/>
            </a:solidFill>
            <a:prstDash val="solid"/>
          </a:ln>
        </p:spPr>
      </p:sp>
      <p:sp>
        <p:nvSpPr>
          <p:cNvPr id="3" name="Shape 1"/>
          <p:cNvSpPr/>
          <p:nvPr/>
        </p:nvSpPr>
        <p:spPr>
          <a:xfrm>
            <a:off x="320040" y="6556248"/>
            <a:ext cx="11539728" cy="0"/>
          </a:xfrm>
          <a:prstGeom prst="line">
            <a:avLst/>
          </a:prstGeom>
          <a:noFill/>
          <a:ln w="12700">
            <a:solidFill>
              <a:srgbClr val="D7CEBF"/>
            </a:solidFill>
            <a:prstDash val="solid"/>
          </a:ln>
        </p:spPr>
      </p:sp>
      <p:sp>
        <p:nvSpPr>
          <p:cNvPr id="4" name="Text 2"/>
          <p:cNvSpPr/>
          <p:nvPr/>
        </p:nvSpPr>
        <p:spPr>
          <a:xfrm>
            <a:off x="411480" y="6611112"/>
            <a:ext cx="3840480" cy="155448"/>
          </a:xfrm>
          <a:prstGeom prst="rect">
            <a:avLst/>
          </a:prstGeom>
          <a:noFill/>
          <a:ln/>
        </p:spPr>
        <p:txBody>
          <a:bodyPr wrap="square" lIns="0" tIns="0" rIns="0" bIns="0" rtlCol="0" anchor="ctr"/>
          <a:lstStyle/>
          <a:p>
            <a:pPr indent="0" marL="0">
              <a:buNone/>
            </a:pPr>
            <a:r>
              <a:rPr lang="en-US" sz="800" b="1" dirty="0">
                <a:solidFill>
                  <a:srgbClr val="66758A"/>
                </a:solidFill>
                <a:latin typeface="Arial" pitchFamily="34" charset="0"/>
                <a:ea typeface="Arial" pitchFamily="34" charset="-122"/>
                <a:cs typeface="Arial" pitchFamily="34" charset="-120"/>
              </a:rPr>
              <a:t>GOALOS / FINAL PRODUCTION PARTNER EDITION</a:t>
            </a:r>
            <a:endParaRPr lang="en-US" sz="800" dirty="0"/>
          </a:p>
        </p:txBody>
      </p:sp>
      <p:sp>
        <p:nvSpPr>
          <p:cNvPr id="5" name="Text 3"/>
          <p:cNvSpPr/>
          <p:nvPr/>
        </p:nvSpPr>
        <p:spPr>
          <a:xfrm>
            <a:off x="6995160" y="6611112"/>
            <a:ext cx="4297680" cy="155448"/>
          </a:xfrm>
          <a:prstGeom prst="rect">
            <a:avLst/>
          </a:prstGeom>
          <a:noFill/>
          <a:ln/>
        </p:spPr>
        <p:txBody>
          <a:bodyPr wrap="square" lIns="0" tIns="0" rIns="0" bIns="0" rtlCol="0" anchor="ctr"/>
          <a:lstStyle/>
          <a:p>
            <a:pPr algn="r" indent="0" marL="0">
              <a:buNone/>
            </a:pPr>
            <a:r>
              <a:rPr lang="en-US" sz="800" b="1" dirty="0">
                <a:solidFill>
                  <a:srgbClr val="66758A"/>
                </a:solidFill>
                <a:latin typeface="Arial" pitchFamily="34" charset="0"/>
                <a:ea typeface="Arial" pitchFamily="34" charset="-122"/>
                <a:cs typeface="Arial" pitchFamily="34" charset="-120"/>
              </a:rPr>
              <a:t>AI CREATES OUTPUT. GOALOS CREATES PROOF.</a:t>
            </a:r>
            <a:endParaRPr lang="en-US" sz="80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718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82B"/>
          </a:solidFill>
          <a:ln w="12700">
            <a:solidFill>
              <a:srgbClr val="07182B"/>
            </a:solidFill>
            <a:prstDash val="solid"/>
          </a:ln>
        </p:spPr>
      </p:sp>
      <p:sp>
        <p:nvSpPr>
          <p:cNvPr id="3" name="Shape 1"/>
          <p:cNvSpPr/>
          <p:nvPr/>
        </p:nvSpPr>
        <p:spPr>
          <a:xfrm>
            <a:off x="320040" y="6556248"/>
            <a:ext cx="11539728" cy="0"/>
          </a:xfrm>
          <a:prstGeom prst="line">
            <a:avLst/>
          </a:prstGeom>
          <a:noFill/>
          <a:ln w="12700">
            <a:solidFill>
              <a:srgbClr val="29425A"/>
            </a:solidFill>
            <a:prstDash val="solid"/>
          </a:ln>
        </p:spPr>
      </p:sp>
      <p:sp>
        <p:nvSpPr>
          <p:cNvPr id="4" name="Text 2"/>
          <p:cNvSpPr/>
          <p:nvPr/>
        </p:nvSpPr>
        <p:spPr>
          <a:xfrm>
            <a:off x="411480" y="6611112"/>
            <a:ext cx="3840480" cy="155448"/>
          </a:xfrm>
          <a:prstGeom prst="rect">
            <a:avLst/>
          </a:prstGeom>
          <a:noFill/>
          <a:ln/>
        </p:spPr>
        <p:txBody>
          <a:bodyPr wrap="square" lIns="0" tIns="0" rIns="0" bIns="0" rtlCol="0" anchor="ctr"/>
          <a:lstStyle/>
          <a:p>
            <a:pPr indent="0" marL="0">
              <a:buNone/>
            </a:pPr>
            <a:r>
              <a:rPr lang="en-US" sz="800" b="1" dirty="0">
                <a:solidFill>
                  <a:srgbClr val="AFC0D0"/>
                </a:solidFill>
                <a:latin typeface="Arial" pitchFamily="34" charset="0"/>
                <a:ea typeface="Arial" pitchFamily="34" charset="-122"/>
                <a:cs typeface="Arial" pitchFamily="34" charset="-120"/>
              </a:rPr>
              <a:t>GOALOS / FINAL PRODUCTION PARTNER EDITION</a:t>
            </a:r>
            <a:endParaRPr lang="en-US" sz="800" dirty="0"/>
          </a:p>
        </p:txBody>
      </p:sp>
      <p:sp>
        <p:nvSpPr>
          <p:cNvPr id="5" name="Text 3"/>
          <p:cNvSpPr/>
          <p:nvPr/>
        </p:nvSpPr>
        <p:spPr>
          <a:xfrm>
            <a:off x="6995160" y="6611112"/>
            <a:ext cx="4297680" cy="155448"/>
          </a:xfrm>
          <a:prstGeom prst="rect">
            <a:avLst/>
          </a:prstGeom>
          <a:noFill/>
          <a:ln/>
        </p:spPr>
        <p:txBody>
          <a:bodyPr wrap="square" lIns="0" tIns="0" rIns="0" bIns="0" rtlCol="0" anchor="ctr"/>
          <a:lstStyle/>
          <a:p>
            <a:pPr algn="r" indent="0" marL="0">
              <a:buNone/>
            </a:pPr>
            <a:r>
              <a:rPr lang="en-US" sz="800" b="1" dirty="0">
                <a:solidFill>
                  <a:srgbClr val="AFC0D0"/>
                </a:solidFill>
                <a:latin typeface="Arial" pitchFamily="34" charset="0"/>
                <a:ea typeface="Arial" pitchFamily="34" charset="-122"/>
                <a:cs typeface="Arial" pitchFamily="34" charset="-120"/>
              </a:rPr>
              <a:t>AI CREATES OUTPUT. GOALOS CREATES PROOF.</a:t>
            </a:r>
            <a:endParaRPr lang="en-US" sz="80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FC0D0"/>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531352" y="0"/>
            <a:ext cx="3657600" cy="3657600"/>
          </a:xfrm>
          <a:prstGeom prst="ellipse">
            <a:avLst/>
          </a:prstGeom>
          <a:solidFill>
            <a:srgbClr val="0C2744"/>
          </a:solidFill>
          <a:ln w="12700">
            <a:solidFill>
              <a:srgbClr val="E9C87D">
                <a:alpha val="25000"/>
              </a:srgbClr>
            </a:solidFill>
            <a:prstDash val="solid"/>
          </a:ln>
        </p:spPr>
        <p:txBody>
          <a:bodyPr/>
          <a:p/>
        </p:txBody>
      </p:sp>
      <p:sp>
        <p:nvSpPr>
          <p:cNvPr id="3" name="Shape 1"/>
          <p:cNvSpPr/>
          <p:nvPr/>
        </p:nvSpPr>
        <p:spPr>
          <a:xfrm>
            <a:off x="9308592" y="0"/>
            <a:ext cx="2880360" cy="2880360"/>
          </a:xfrm>
          <a:prstGeom prst="ellipse">
            <a:avLst/>
          </a:prstGeom>
          <a:solidFill>
            <a:srgbClr val="123B5E">
              <a:alpha val="90000"/>
            </a:srgbClr>
          </a:solidFill>
          <a:ln w="12700">
            <a:solidFill>
              <a:srgbClr val="E9C87D">
                <a:alpha val="22000"/>
              </a:srgbClr>
            </a:solidFill>
            <a:prstDash val="solid"/>
          </a:ln>
        </p:spPr>
        <p:txBody>
          <a:bodyPr/>
          <a:p/>
        </p:txBody>
      </p:sp>
      <p:sp>
        <p:nvSpPr>
          <p:cNvPr id="4" name="Shape 2"/>
          <p:cNvSpPr/>
          <p:nvPr/>
        </p:nvSpPr>
        <p:spPr>
          <a:xfrm>
            <a:off x="658368" y="502920"/>
            <a:ext cx="3154680" cy="256032"/>
          </a:xfrm>
          <a:prstGeom prst="roundRect">
            <a:avLst>
              <a:gd name="adj" fmla="val 21429"/>
            </a:avLst>
          </a:prstGeom>
          <a:solidFill>
            <a:srgbClr val="17304A">
              <a:alpha val="28000"/>
            </a:srgbClr>
          </a:solidFill>
          <a:ln w="12700">
            <a:solidFill>
              <a:srgbClr val="FFFFFF">
                <a:alpha val="30000"/>
              </a:srgbClr>
            </a:solidFill>
            <a:prstDash val="solid"/>
          </a:ln>
        </p:spPr>
        <p:txBody>
          <a:bodyPr/>
          <a:p/>
        </p:txBody>
      </p:sp>
      <p:sp>
        <p:nvSpPr>
          <p:cNvPr id="5" name="Text 3"/>
          <p:cNvSpPr/>
          <p:nvPr/>
        </p:nvSpPr>
        <p:spPr>
          <a:xfrm>
            <a:off x="722376" y="550469"/>
            <a:ext cx="302666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PRIVATE &amp; CONFIDENTIAL · PARTNER DISCUSSION</a:t>
            </a:r>
            <a:endParaRPr lang="en-US" sz="800" dirty="0"/>
          </a:p>
        </p:txBody>
      </p:sp>
      <p:sp>
        <p:nvSpPr>
          <p:cNvPr id="6" name="Text 4"/>
          <p:cNvSpPr/>
          <p:nvPr/>
        </p:nvSpPr>
        <p:spPr>
          <a:xfrm>
            <a:off x="658368" y="1051560"/>
            <a:ext cx="4023360" cy="502920"/>
          </a:xfrm>
          <a:prstGeom prst="rect">
            <a:avLst/>
          </a:prstGeom>
          <a:noFill/>
          <a:ln/>
        </p:spPr>
        <p:txBody>
          <a:bodyPr wrap="square" lIns="0" tIns="0" rIns="0" bIns="0" rtlCol="0" anchor="t">
            <a:normAutofit/>
          </a:bodyPr>
          <a:lstStyle/>
          <a:p>
            <a:pPr algn="l" indent="0" marL="0">
              <a:buNone/>
            </a:pPr>
            <a:r>
              <a:rPr lang="en-US" sz="2700" b="1" spc="130" kern="0" dirty="0">
                <a:solidFill>
                  <a:srgbClr val="E9C87D"/>
                </a:solidFill>
                <a:latin typeface="Arial" pitchFamily="34" charset="0"/>
                <a:ea typeface="Arial" pitchFamily="34" charset="-122"/>
                <a:cs typeface="Arial" pitchFamily="34" charset="-120"/>
              </a:rPr>
              <a:t>GoalOS</a:t>
            </a:r>
            <a:endParaRPr lang="en-US" sz="2700" dirty="0"/>
          </a:p>
        </p:txBody>
      </p:sp>
      <p:sp>
        <p:nvSpPr>
          <p:cNvPr id="7" name="Text 5"/>
          <p:cNvSpPr/>
          <p:nvPr/>
        </p:nvSpPr>
        <p:spPr>
          <a:xfrm>
            <a:off x="658368" y="1627632"/>
            <a:ext cx="6858000" cy="1664208"/>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Georgia" pitchFamily="34" charset="0"/>
                <a:ea typeface="Georgia" pitchFamily="34" charset="-122"/>
                <a:cs typeface="Georgia" pitchFamily="34" charset="-120"/>
              </a:rPr>
              <a:t>The Proof OS for</a:t>
            </a:r>
            <a:endParaRPr lang="en-US" sz="3800" dirty="0"/>
          </a:p>
          <a:p>
            <a:pPr algn="l" indent="0" marL="0">
              <a:buNone/>
            </a:pPr>
            <a:r>
              <a:rPr lang="en-US" sz="3800" b="1" dirty="0">
                <a:solidFill>
                  <a:srgbClr val="FFFFFF"/>
                </a:solidFill>
                <a:latin typeface="Georgia" pitchFamily="34" charset="0"/>
                <a:ea typeface="Georgia" pitchFamily="34" charset="-122"/>
                <a:cs typeface="Georgia" pitchFamily="34" charset="-120"/>
              </a:rPr>
              <a:t>Autonomous AI Work</a:t>
            </a:r>
            <a:endParaRPr lang="en-US" sz="3800" dirty="0"/>
          </a:p>
        </p:txBody>
      </p:sp>
      <p:sp>
        <p:nvSpPr>
          <p:cNvPr id="8" name="Text 6"/>
          <p:cNvSpPr/>
          <p:nvPr/>
        </p:nvSpPr>
        <p:spPr>
          <a:xfrm>
            <a:off x="694944" y="3547872"/>
            <a:ext cx="6400800" cy="685800"/>
          </a:xfrm>
          <a:prstGeom prst="rect">
            <a:avLst/>
          </a:prstGeom>
          <a:noFill/>
          <a:ln/>
        </p:spPr>
        <p:txBody>
          <a:bodyPr wrap="square" lIns="0" tIns="0" rIns="0" bIns="0" rtlCol="0" anchor="t">
            <a:normAutofit/>
          </a:bodyPr>
          <a:lstStyle/>
          <a:p>
            <a:pPr algn="l" indent="0" marL="0">
              <a:buNone/>
            </a:pPr>
            <a:r>
              <a:rPr lang="en-US" sz="1600" dirty="0">
                <a:solidFill>
                  <a:srgbClr val="D2DFEA"/>
                </a:solidFill>
                <a:latin typeface="Arial" pitchFamily="34" charset="0"/>
                <a:ea typeface="Arial" pitchFamily="34" charset="-122"/>
                <a:cs typeface="Arial" pitchFamily="34" charset="-120"/>
              </a:rPr>
              <a:t>Turn one consequential objective into an inspectable, challengeable and reusable Governed Decision State.</a:t>
            </a:r>
            <a:endParaRPr lang="en-US" sz="1600" dirty="0"/>
          </a:p>
        </p:txBody>
      </p:sp>
      <p:sp>
        <p:nvSpPr>
          <p:cNvPr id="9" name="Shape 7"/>
          <p:cNvSpPr/>
          <p:nvPr/>
        </p:nvSpPr>
        <p:spPr>
          <a:xfrm>
            <a:off x="7626096" y="1828800"/>
            <a:ext cx="3794760" cy="3401568"/>
          </a:xfrm>
          <a:prstGeom prst="roundRect">
            <a:avLst>
              <a:gd name="adj" fmla="val 2151"/>
            </a:avLst>
          </a:prstGeom>
          <a:solidFill>
            <a:srgbClr val="0D2A48"/>
          </a:solidFill>
          <a:ln w="12700">
            <a:solidFill>
              <a:srgbClr val="36536E"/>
            </a:solidFill>
            <a:prstDash val="solid"/>
          </a:ln>
        </p:spPr>
        <p:txBody>
          <a:bodyPr/>
          <a:p/>
        </p:txBody>
      </p:sp>
      <p:sp>
        <p:nvSpPr>
          <p:cNvPr id="10" name="Shape 8"/>
          <p:cNvSpPr/>
          <p:nvPr/>
        </p:nvSpPr>
        <p:spPr>
          <a:xfrm>
            <a:off x="7909560" y="2121408"/>
            <a:ext cx="105156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11" name="Text 9"/>
          <p:cNvSpPr/>
          <p:nvPr/>
        </p:nvSpPr>
        <p:spPr>
          <a:xfrm>
            <a:off x="7973568" y="2168957"/>
            <a:ext cx="9235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CORE LAW</a:t>
            </a:r>
            <a:endParaRPr lang="en-US" sz="800" dirty="0"/>
          </a:p>
        </p:txBody>
      </p:sp>
      <p:sp>
        <p:nvSpPr>
          <p:cNvPr id="12" name="Text 10"/>
          <p:cNvSpPr/>
          <p:nvPr/>
        </p:nvSpPr>
        <p:spPr>
          <a:xfrm>
            <a:off x="7927848" y="2615184"/>
            <a:ext cx="3182112" cy="1115568"/>
          </a:xfrm>
          <a:prstGeom prst="rect">
            <a:avLst/>
          </a:prstGeom>
          <a:noFill/>
          <a:ln/>
        </p:spPr>
        <p:txBody>
          <a:bodyPr wrap="square" lIns="0" tIns="0" rIns="0" bIns="0" rtlCol="0" anchor="t">
            <a:normAutofit/>
          </a:bodyPr>
          <a:lstStyle/>
          <a:p>
            <a:pPr algn="l" indent="0" marL="0">
              <a:buNone/>
            </a:pPr>
            <a:r>
              <a:rPr lang="en-US" sz="2400" b="1" dirty="0">
                <a:solidFill>
                  <a:srgbClr val="FFFFFF"/>
                </a:solidFill>
                <a:latin typeface="Georgia" pitchFamily="34" charset="0"/>
                <a:ea typeface="Georgia" pitchFamily="34" charset="-122"/>
                <a:cs typeface="Georgia" pitchFamily="34" charset="-120"/>
              </a:rPr>
              <a:t>AI creates output.</a:t>
            </a:r>
            <a:endParaRPr lang="en-US" sz="2400" dirty="0"/>
          </a:p>
          <a:p>
            <a:pPr algn="l" indent="0" marL="0">
              <a:buNone/>
            </a:pPr>
            <a:r>
              <a:rPr lang="en-US" sz="2400" b="1" dirty="0">
                <a:solidFill>
                  <a:srgbClr val="FFFFFF"/>
                </a:solidFill>
                <a:latin typeface="Georgia" pitchFamily="34" charset="0"/>
                <a:ea typeface="Georgia" pitchFamily="34" charset="-122"/>
                <a:cs typeface="Georgia" pitchFamily="34" charset="-120"/>
              </a:rPr>
              <a:t>GoalOS creates proof.</a:t>
            </a:r>
            <a:endParaRPr lang="en-US" sz="2400" dirty="0"/>
          </a:p>
        </p:txBody>
      </p:sp>
      <p:sp>
        <p:nvSpPr>
          <p:cNvPr id="13" name="Text 11"/>
          <p:cNvSpPr/>
          <p:nvPr/>
        </p:nvSpPr>
        <p:spPr>
          <a:xfrm>
            <a:off x="7936992" y="4005072"/>
            <a:ext cx="3154680" cy="612648"/>
          </a:xfrm>
          <a:prstGeom prst="rect">
            <a:avLst/>
          </a:prstGeom>
          <a:noFill/>
          <a:ln/>
        </p:spPr>
        <p:txBody>
          <a:bodyPr wrap="square" lIns="0" tIns="0" rIns="0" bIns="0" rtlCol="0" anchor="t">
            <a:normAutofit/>
          </a:bodyPr>
          <a:lstStyle/>
          <a:p>
            <a:pPr algn="l" indent="0" marL="0">
              <a:buNone/>
            </a:pPr>
            <a:r>
              <a:rPr lang="en-US" sz="1220" b="1" dirty="0">
                <a:solidFill>
                  <a:srgbClr val="C9D8E5"/>
                </a:solidFill>
                <a:latin typeface="Arial" pitchFamily="34" charset="0"/>
                <a:ea typeface="Arial" pitchFamily="34" charset="-122"/>
                <a:cs typeface="Arial" pitchFamily="34" charset="-120"/>
              </a:rPr>
              <a:t>A model may answer. An agent may act. An institution must prove.</a:t>
            </a:r>
            <a:endParaRPr lang="en-US" sz="1220" dirty="0"/>
          </a:p>
        </p:txBody>
      </p:sp>
      <p:sp>
        <p:nvSpPr>
          <p:cNvPr id="14" name="Text 12"/>
          <p:cNvSpPr/>
          <p:nvPr/>
        </p:nvSpPr>
        <p:spPr>
          <a:xfrm>
            <a:off x="7936992" y="4828032"/>
            <a:ext cx="3154680" cy="557784"/>
          </a:xfrm>
          <a:prstGeom prst="rect">
            <a:avLst/>
          </a:prstGeom>
          <a:noFill/>
          <a:ln/>
        </p:spPr>
        <p:txBody>
          <a:bodyPr wrap="square" lIns="0" tIns="0" rIns="0" bIns="0" rtlCol="0" anchor="t">
            <a:normAutofit/>
          </a:bodyPr>
          <a:lstStyle/>
          <a:p>
            <a:pPr algn="l" indent="0" marL="0">
              <a:buNone/>
            </a:pPr>
            <a:r>
              <a:rPr lang="en-US" sz="1050" b="1" dirty="0">
                <a:solidFill>
                  <a:srgbClr val="E9C87D"/>
                </a:solidFill>
                <a:latin typeface="Arial" pitchFamily="34" charset="0"/>
                <a:ea typeface="Arial" pitchFamily="34" charset="-122"/>
                <a:cs typeface="Arial" pitchFamily="34" charset="-120"/>
              </a:rPr>
              <a:t>No proof, no evolution. No evaluation, no propagation. No rollback, no release.</a:t>
            </a:r>
            <a:endParaRPr lang="en-US" sz="1050" dirty="0"/>
          </a:p>
        </p:txBody>
      </p:sp>
      <p:sp>
        <p:nvSpPr>
          <p:cNvPr id="15" name="Text 13"/>
          <p:cNvSpPr/>
          <p:nvPr/>
        </p:nvSpPr>
        <p:spPr>
          <a:xfrm>
            <a:off x="694944" y="5623560"/>
            <a:ext cx="6400800" cy="530352"/>
          </a:xfrm>
          <a:prstGeom prst="rect">
            <a:avLst/>
          </a:prstGeom>
          <a:noFill/>
          <a:ln/>
        </p:spPr>
        <p:txBody>
          <a:bodyPr wrap="square" lIns="0" tIns="0" rIns="0" bIns="0" rtlCol="0" anchor="t">
            <a:normAutofit/>
          </a:bodyPr>
          <a:lstStyle/>
          <a:p>
            <a:pPr algn="l" indent="0" marL="0">
              <a:buNone/>
            </a:pPr>
            <a:r>
              <a:rPr lang="en-US" sz="1040" dirty="0">
                <a:solidFill>
                  <a:srgbClr val="AFC0D0"/>
                </a:solidFill>
                <a:latin typeface="Arial" pitchFamily="34" charset="0"/>
                <a:ea typeface="Arial" pitchFamily="34" charset="-122"/>
                <a:cs typeface="Arial" pitchFamily="34" charset="-120"/>
              </a:rPr>
              <a:t>Vincent Boucher  |  GoalOS / AGI ALPHA Research Architecture</a:t>
            </a:r>
            <a:endParaRPr lang="en-US" sz="1040" dirty="0"/>
          </a:p>
          <a:p>
            <a:pPr algn="l" indent="0" marL="0">
              <a:buNone/>
            </a:pPr>
            <a:r>
              <a:rPr lang="en-US" sz="1040" dirty="0">
                <a:solidFill>
                  <a:srgbClr val="AFC0D0"/>
                </a:solidFill>
                <a:latin typeface="Arial" pitchFamily="34" charset="0"/>
                <a:ea typeface="Arial" pitchFamily="34" charset="-122"/>
                <a:cs typeface="Arial" pitchFamily="34" charset="-120"/>
              </a:rPr>
              <a:t>July 2026  |  Final Production Partner Edition</a:t>
            </a:r>
            <a:endParaRPr lang="en-US" sz="104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FC0D0"/>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30352" y="164592"/>
            <a:ext cx="146304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33502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THE PROBLEM</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AI output is abundant. Institutional authority is scarce.</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The missing layer is evidence, contradiction handling, accountable memory and rollback.</a:t>
            </a:r>
            <a:endParaRPr lang="en-US" sz="1230" dirty="0"/>
          </a:p>
        </p:txBody>
      </p:sp>
      <p:sp>
        <p:nvSpPr>
          <p:cNvPr id="6" name="Shape 4"/>
          <p:cNvSpPr/>
          <p:nvPr/>
        </p:nvSpPr>
        <p:spPr>
          <a:xfrm>
            <a:off x="530352" y="1536192"/>
            <a:ext cx="3657600" cy="4443984"/>
          </a:xfrm>
          <a:prstGeom prst="roundRect">
            <a:avLst>
              <a:gd name="adj" fmla="val 2000"/>
            </a:avLst>
          </a:prstGeom>
          <a:solidFill>
            <a:srgbClr val="FFFDF8"/>
          </a:solidFill>
          <a:ln w="12700">
            <a:solidFill>
              <a:srgbClr val="D9D0C1"/>
            </a:solidFill>
            <a:prstDash val="solid"/>
          </a:ln>
          <a:effectLst>
            <a:outerShdw sx="100000" sy="100000" kx="0" ky="0" algn="bl" rotWithShape="0" blurRad="25400" dist="50800" dir="2700000">
              <a:srgbClr val="07182B">
                <a:alpha val="10000"/>
              </a:srgbClr>
            </a:outerShdw>
          </a:effectLst>
        </p:spPr>
        <p:txBody>
          <a:bodyPr/>
          <a:p/>
        </p:txBody>
      </p:sp>
      <p:sp>
        <p:nvSpPr>
          <p:cNvPr id="7" name="Text 5"/>
          <p:cNvSpPr/>
          <p:nvPr/>
        </p:nvSpPr>
        <p:spPr>
          <a:xfrm>
            <a:off x="822960" y="1810512"/>
            <a:ext cx="2926080" cy="365760"/>
          </a:xfrm>
          <a:prstGeom prst="rect">
            <a:avLst/>
          </a:prstGeom>
          <a:noFill/>
          <a:ln/>
        </p:spPr>
        <p:txBody>
          <a:bodyPr wrap="square" lIns="0" tIns="0" rIns="0" bIns="0" rtlCol="0" anchor="t">
            <a:normAutofit/>
          </a:bodyPr>
          <a:lstStyle/>
          <a:p>
            <a:pPr algn="l" indent="0" marL="0">
              <a:buNone/>
            </a:pPr>
            <a:r>
              <a:rPr lang="en-US" sz="2200" b="1" dirty="0">
                <a:solidFill>
                  <a:srgbClr val="07182B"/>
                </a:solidFill>
                <a:latin typeface="Georgia" pitchFamily="34" charset="0"/>
                <a:ea typeface="Georgia" pitchFamily="34" charset="-122"/>
                <a:cs typeface="Georgia" pitchFamily="34" charset="-120"/>
              </a:rPr>
              <a:t>Report-only AI</a:t>
            </a:r>
            <a:endParaRPr lang="en-US" sz="2200" dirty="0"/>
          </a:p>
        </p:txBody>
      </p:sp>
      <p:sp>
        <p:nvSpPr>
          <p:cNvPr id="8" name="Shape 6"/>
          <p:cNvSpPr/>
          <p:nvPr/>
        </p:nvSpPr>
        <p:spPr>
          <a:xfrm>
            <a:off x="795528" y="2395728"/>
            <a:ext cx="310896" cy="310896"/>
          </a:xfrm>
          <a:prstGeom prst="roundRect">
            <a:avLst>
              <a:gd name="adj" fmla="val 14706"/>
            </a:avLst>
          </a:prstGeom>
          <a:solidFill>
            <a:srgbClr val="F7E3E7"/>
          </a:solidFill>
          <a:ln w="12700">
            <a:solidFill>
              <a:srgbClr val="F7E3E7"/>
            </a:solidFill>
            <a:prstDash val="solid"/>
          </a:ln>
        </p:spPr>
        <p:txBody>
          <a:bodyPr/>
          <a:p/>
        </p:txBody>
      </p:sp>
      <p:sp>
        <p:nvSpPr>
          <p:cNvPr id="9" name="Text 7"/>
          <p:cNvSpPr/>
          <p:nvPr/>
        </p:nvSpPr>
        <p:spPr>
          <a:xfrm>
            <a:off x="896112" y="2441448"/>
            <a:ext cx="109728" cy="137160"/>
          </a:xfrm>
          <a:prstGeom prst="rect">
            <a:avLst/>
          </a:prstGeom>
          <a:noFill/>
          <a:ln/>
        </p:spPr>
        <p:txBody>
          <a:bodyPr wrap="square" lIns="0" tIns="0" rIns="0" bIns="0" rtlCol="0" anchor="t">
            <a:normAutofit/>
          </a:bodyPr>
          <a:lstStyle/>
          <a:p>
            <a:pPr algn="ctr" indent="0" marL="0">
              <a:buNone/>
            </a:pPr>
            <a:r>
              <a:rPr lang="en-US" sz="1300" b="1" dirty="0">
                <a:solidFill>
                  <a:srgbClr val="B74A5E"/>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1234440" y="2377440"/>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Output is the endpoint</a:t>
            </a:r>
            <a:endParaRPr lang="en-US" sz="1130" dirty="0"/>
          </a:p>
        </p:txBody>
      </p:sp>
      <p:sp>
        <p:nvSpPr>
          <p:cNvPr id="11" name="Text 9"/>
          <p:cNvSpPr/>
          <p:nvPr/>
        </p:nvSpPr>
        <p:spPr>
          <a:xfrm>
            <a:off x="1234440" y="2642616"/>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Reviewers reconstruct evidence and assumptions manually.</a:t>
            </a:r>
            <a:endParaRPr lang="en-US" sz="930" dirty="0"/>
          </a:p>
        </p:txBody>
      </p:sp>
      <p:sp>
        <p:nvSpPr>
          <p:cNvPr id="12" name="Shape 10"/>
          <p:cNvSpPr/>
          <p:nvPr/>
        </p:nvSpPr>
        <p:spPr>
          <a:xfrm>
            <a:off x="795528" y="3154680"/>
            <a:ext cx="310896" cy="310896"/>
          </a:xfrm>
          <a:prstGeom prst="roundRect">
            <a:avLst>
              <a:gd name="adj" fmla="val 14706"/>
            </a:avLst>
          </a:prstGeom>
          <a:solidFill>
            <a:srgbClr val="F7E3E7"/>
          </a:solidFill>
          <a:ln w="12700">
            <a:solidFill>
              <a:srgbClr val="F7E3E7"/>
            </a:solidFill>
            <a:prstDash val="solid"/>
          </a:ln>
        </p:spPr>
        <p:txBody>
          <a:bodyPr/>
          <a:p/>
        </p:txBody>
      </p:sp>
      <p:sp>
        <p:nvSpPr>
          <p:cNvPr id="13" name="Text 11"/>
          <p:cNvSpPr/>
          <p:nvPr/>
        </p:nvSpPr>
        <p:spPr>
          <a:xfrm>
            <a:off x="896112" y="3200400"/>
            <a:ext cx="109728" cy="137160"/>
          </a:xfrm>
          <a:prstGeom prst="rect">
            <a:avLst/>
          </a:prstGeom>
          <a:noFill/>
          <a:ln/>
        </p:spPr>
        <p:txBody>
          <a:bodyPr wrap="square" lIns="0" tIns="0" rIns="0" bIns="0" rtlCol="0" anchor="t">
            <a:normAutofit/>
          </a:bodyPr>
          <a:lstStyle/>
          <a:p>
            <a:pPr algn="ctr" indent="0" marL="0">
              <a:buNone/>
            </a:pPr>
            <a:r>
              <a:rPr lang="en-US" sz="1300" b="1" dirty="0">
                <a:solidFill>
                  <a:srgbClr val="B74A5E"/>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1234440" y="3136392"/>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Contradictions disappear</a:t>
            </a:r>
            <a:endParaRPr lang="en-US" sz="1130" dirty="0"/>
          </a:p>
        </p:txBody>
      </p:sp>
      <p:sp>
        <p:nvSpPr>
          <p:cNvPr id="15" name="Text 13"/>
          <p:cNvSpPr/>
          <p:nvPr/>
        </p:nvSpPr>
        <p:spPr>
          <a:xfrm>
            <a:off x="1234440" y="3401568"/>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Conflicting facts are averaged into confident prose.</a:t>
            </a:r>
            <a:endParaRPr lang="en-US" sz="930" dirty="0"/>
          </a:p>
        </p:txBody>
      </p:sp>
      <p:sp>
        <p:nvSpPr>
          <p:cNvPr id="16" name="Shape 14"/>
          <p:cNvSpPr/>
          <p:nvPr/>
        </p:nvSpPr>
        <p:spPr>
          <a:xfrm>
            <a:off x="795528" y="3913632"/>
            <a:ext cx="310896" cy="310896"/>
          </a:xfrm>
          <a:prstGeom prst="roundRect">
            <a:avLst>
              <a:gd name="adj" fmla="val 14706"/>
            </a:avLst>
          </a:prstGeom>
          <a:solidFill>
            <a:srgbClr val="F7E3E7"/>
          </a:solidFill>
          <a:ln w="12700">
            <a:solidFill>
              <a:srgbClr val="F7E3E7"/>
            </a:solidFill>
            <a:prstDash val="solid"/>
          </a:ln>
        </p:spPr>
        <p:txBody>
          <a:bodyPr/>
          <a:p/>
        </p:txBody>
      </p:sp>
      <p:sp>
        <p:nvSpPr>
          <p:cNvPr id="17" name="Text 15"/>
          <p:cNvSpPr/>
          <p:nvPr/>
        </p:nvSpPr>
        <p:spPr>
          <a:xfrm>
            <a:off x="896112" y="3959352"/>
            <a:ext cx="109728" cy="137160"/>
          </a:xfrm>
          <a:prstGeom prst="rect">
            <a:avLst/>
          </a:prstGeom>
          <a:noFill/>
          <a:ln/>
        </p:spPr>
        <p:txBody>
          <a:bodyPr wrap="square" lIns="0" tIns="0" rIns="0" bIns="0" rtlCol="0" anchor="t">
            <a:normAutofit/>
          </a:bodyPr>
          <a:lstStyle/>
          <a:p>
            <a:pPr algn="ctr" indent="0" marL="0">
              <a:buNone/>
            </a:pPr>
            <a:r>
              <a:rPr lang="en-US" sz="1300" b="1" dirty="0">
                <a:solidFill>
                  <a:srgbClr val="B74A5E"/>
                </a:solidFill>
                <a:latin typeface="Arial" pitchFamily="34" charset="0"/>
                <a:ea typeface="Arial" pitchFamily="34" charset="-122"/>
                <a:cs typeface="Arial" pitchFamily="34" charset="-120"/>
              </a:rPr>
              <a:t>-</a:t>
            </a:r>
            <a:endParaRPr lang="en-US" sz="1300" dirty="0"/>
          </a:p>
        </p:txBody>
      </p:sp>
      <p:sp>
        <p:nvSpPr>
          <p:cNvPr id="18" name="Text 16"/>
          <p:cNvSpPr/>
          <p:nvPr/>
        </p:nvSpPr>
        <p:spPr>
          <a:xfrm>
            <a:off x="1234440" y="3895344"/>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Memory is permissive</a:t>
            </a:r>
            <a:endParaRPr lang="en-US" sz="1130" dirty="0"/>
          </a:p>
        </p:txBody>
      </p:sp>
      <p:sp>
        <p:nvSpPr>
          <p:cNvPr id="19" name="Text 17"/>
          <p:cNvSpPr/>
          <p:nvPr/>
        </p:nvSpPr>
        <p:spPr>
          <a:xfrm>
            <a:off x="1234440" y="4160520"/>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Persuasive text can become an institutional prior.</a:t>
            </a:r>
            <a:endParaRPr lang="en-US" sz="930" dirty="0"/>
          </a:p>
        </p:txBody>
      </p:sp>
      <p:sp>
        <p:nvSpPr>
          <p:cNvPr id="20" name="Shape 18"/>
          <p:cNvSpPr/>
          <p:nvPr/>
        </p:nvSpPr>
        <p:spPr>
          <a:xfrm>
            <a:off x="795528" y="4672584"/>
            <a:ext cx="310896" cy="310896"/>
          </a:xfrm>
          <a:prstGeom prst="roundRect">
            <a:avLst>
              <a:gd name="adj" fmla="val 14706"/>
            </a:avLst>
          </a:prstGeom>
          <a:solidFill>
            <a:srgbClr val="F7E3E7"/>
          </a:solidFill>
          <a:ln w="12700">
            <a:solidFill>
              <a:srgbClr val="F7E3E7"/>
            </a:solidFill>
            <a:prstDash val="solid"/>
          </a:ln>
        </p:spPr>
        <p:txBody>
          <a:bodyPr/>
          <a:p/>
        </p:txBody>
      </p:sp>
      <p:sp>
        <p:nvSpPr>
          <p:cNvPr id="21" name="Text 19"/>
          <p:cNvSpPr/>
          <p:nvPr/>
        </p:nvSpPr>
        <p:spPr>
          <a:xfrm>
            <a:off x="896112" y="4718304"/>
            <a:ext cx="109728" cy="137160"/>
          </a:xfrm>
          <a:prstGeom prst="rect">
            <a:avLst/>
          </a:prstGeom>
          <a:noFill/>
          <a:ln/>
        </p:spPr>
        <p:txBody>
          <a:bodyPr wrap="square" lIns="0" tIns="0" rIns="0" bIns="0" rtlCol="0" anchor="t">
            <a:normAutofit/>
          </a:bodyPr>
          <a:lstStyle/>
          <a:p>
            <a:pPr algn="ctr" indent="0" marL="0">
              <a:buNone/>
            </a:pPr>
            <a:r>
              <a:rPr lang="en-US" sz="1300" b="1" dirty="0">
                <a:solidFill>
                  <a:srgbClr val="B74A5E"/>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1234440" y="4654296"/>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Rollback is ad hoc</a:t>
            </a:r>
            <a:endParaRPr lang="en-US" sz="1130" dirty="0"/>
          </a:p>
        </p:txBody>
      </p:sp>
      <p:sp>
        <p:nvSpPr>
          <p:cNvPr id="23" name="Text 21"/>
          <p:cNvSpPr/>
          <p:nvPr/>
        </p:nvSpPr>
        <p:spPr>
          <a:xfrm>
            <a:off x="1234440" y="4919472"/>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No native record of what granted authority.</a:t>
            </a:r>
            <a:endParaRPr lang="en-US" sz="930" dirty="0"/>
          </a:p>
        </p:txBody>
      </p:sp>
      <p:sp>
        <p:nvSpPr>
          <p:cNvPr id="24" name="Shape 22"/>
          <p:cNvSpPr/>
          <p:nvPr/>
        </p:nvSpPr>
        <p:spPr>
          <a:xfrm>
            <a:off x="4370832" y="1536192"/>
            <a:ext cx="3657600" cy="4443984"/>
          </a:xfrm>
          <a:prstGeom prst="roundRect">
            <a:avLst>
              <a:gd name="adj" fmla="val 2000"/>
            </a:avLst>
          </a:prstGeom>
          <a:solidFill>
            <a:srgbClr val="F1FAF5"/>
          </a:solidFill>
          <a:ln w="12700">
            <a:solidFill>
              <a:srgbClr val="9ECBB5"/>
            </a:solidFill>
            <a:prstDash val="solid"/>
          </a:ln>
          <a:effectLst>
            <a:outerShdw sx="100000" sy="100000" kx="0" ky="0" algn="bl" rotWithShape="0" blurRad="25400" dist="50800" dir="2700000">
              <a:srgbClr val="07182B">
                <a:alpha val="10000"/>
              </a:srgbClr>
            </a:outerShdw>
          </a:effectLst>
        </p:spPr>
        <p:txBody>
          <a:bodyPr/>
          <a:p/>
        </p:txBody>
      </p:sp>
      <p:sp>
        <p:nvSpPr>
          <p:cNvPr id="25" name="Text 23"/>
          <p:cNvSpPr/>
          <p:nvPr/>
        </p:nvSpPr>
        <p:spPr>
          <a:xfrm>
            <a:off x="4663440" y="1810512"/>
            <a:ext cx="2926080" cy="365760"/>
          </a:xfrm>
          <a:prstGeom prst="rect">
            <a:avLst/>
          </a:prstGeom>
          <a:noFill/>
          <a:ln/>
        </p:spPr>
        <p:txBody>
          <a:bodyPr wrap="square" lIns="0" tIns="0" rIns="0" bIns="0" rtlCol="0" anchor="t">
            <a:normAutofit/>
          </a:bodyPr>
          <a:lstStyle/>
          <a:p>
            <a:pPr algn="l" indent="0" marL="0">
              <a:buNone/>
            </a:pPr>
            <a:r>
              <a:rPr lang="en-US" sz="2200" b="1" dirty="0">
                <a:solidFill>
                  <a:srgbClr val="07182B"/>
                </a:solidFill>
                <a:latin typeface="Georgia" pitchFamily="34" charset="0"/>
                <a:ea typeface="Georgia" pitchFamily="34" charset="-122"/>
                <a:cs typeface="Georgia" pitchFamily="34" charset="-120"/>
              </a:rPr>
              <a:t>GoalOS</a:t>
            </a:r>
            <a:endParaRPr lang="en-US" sz="2200" dirty="0"/>
          </a:p>
        </p:txBody>
      </p:sp>
      <p:sp>
        <p:nvSpPr>
          <p:cNvPr id="26" name="Shape 24"/>
          <p:cNvSpPr/>
          <p:nvPr/>
        </p:nvSpPr>
        <p:spPr>
          <a:xfrm>
            <a:off x="4636008" y="2395728"/>
            <a:ext cx="310896" cy="310896"/>
          </a:xfrm>
          <a:prstGeom prst="roundRect">
            <a:avLst>
              <a:gd name="adj" fmla="val 14706"/>
            </a:avLst>
          </a:prstGeom>
          <a:solidFill>
            <a:srgbClr val="DFF2E8"/>
          </a:solidFill>
          <a:ln w="12700">
            <a:solidFill>
              <a:srgbClr val="DFF2E8"/>
            </a:solidFill>
            <a:prstDash val="solid"/>
          </a:ln>
        </p:spPr>
        <p:txBody>
          <a:bodyPr/>
          <a:p/>
        </p:txBody>
      </p:sp>
      <p:sp>
        <p:nvSpPr>
          <p:cNvPr id="27" name="Text 25"/>
          <p:cNvSpPr/>
          <p:nvPr/>
        </p:nvSpPr>
        <p:spPr>
          <a:xfrm>
            <a:off x="4700016" y="2432304"/>
            <a:ext cx="182880" cy="146304"/>
          </a:xfrm>
          <a:prstGeom prst="rect">
            <a:avLst/>
          </a:prstGeom>
          <a:noFill/>
          <a:ln/>
        </p:spPr>
        <p:txBody>
          <a:bodyPr wrap="square" lIns="0" tIns="0" rIns="0" bIns="0" rtlCol="0" anchor="t">
            <a:normAutofit/>
          </a:bodyPr>
          <a:lstStyle/>
          <a:p>
            <a:pPr algn="ctr" indent="0" marL="0">
              <a:buNone/>
            </a:pPr>
            <a:r>
              <a:rPr lang="en-US" sz="1100" b="1" dirty="0">
                <a:solidFill>
                  <a:srgbClr val="21805A"/>
                </a:solidFill>
                <a:latin typeface="Arial" pitchFamily="34" charset="0"/>
                <a:ea typeface="Arial" pitchFamily="34" charset="-122"/>
                <a:cs typeface="Arial" pitchFamily="34" charset="-120"/>
              </a:rPr>
              <a:t>✓</a:t>
            </a:r>
            <a:endParaRPr lang="en-US" sz="1100" dirty="0"/>
          </a:p>
        </p:txBody>
      </p:sp>
      <p:sp>
        <p:nvSpPr>
          <p:cNvPr id="28" name="Text 26"/>
          <p:cNvSpPr/>
          <p:nvPr/>
        </p:nvSpPr>
        <p:spPr>
          <a:xfrm>
            <a:off x="5074920" y="2377440"/>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Decision state is the endpoint</a:t>
            </a:r>
            <a:endParaRPr lang="en-US" sz="1130" dirty="0"/>
          </a:p>
        </p:txBody>
      </p:sp>
      <p:sp>
        <p:nvSpPr>
          <p:cNvPr id="29" name="Text 27"/>
          <p:cNvSpPr/>
          <p:nvPr/>
        </p:nvSpPr>
        <p:spPr>
          <a:xfrm>
            <a:off x="5074920" y="2642616"/>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Claims, evidence, risk, action and rollback travel together.</a:t>
            </a:r>
            <a:endParaRPr lang="en-US" sz="930" dirty="0"/>
          </a:p>
        </p:txBody>
      </p:sp>
      <p:sp>
        <p:nvSpPr>
          <p:cNvPr id="30" name="Shape 28"/>
          <p:cNvSpPr/>
          <p:nvPr/>
        </p:nvSpPr>
        <p:spPr>
          <a:xfrm>
            <a:off x="4636008" y="3154680"/>
            <a:ext cx="310896" cy="310896"/>
          </a:xfrm>
          <a:prstGeom prst="roundRect">
            <a:avLst>
              <a:gd name="adj" fmla="val 14706"/>
            </a:avLst>
          </a:prstGeom>
          <a:solidFill>
            <a:srgbClr val="DFF2E8"/>
          </a:solidFill>
          <a:ln w="12700">
            <a:solidFill>
              <a:srgbClr val="DFF2E8"/>
            </a:solidFill>
            <a:prstDash val="solid"/>
          </a:ln>
        </p:spPr>
        <p:txBody>
          <a:bodyPr/>
          <a:p/>
        </p:txBody>
      </p:sp>
      <p:sp>
        <p:nvSpPr>
          <p:cNvPr id="31" name="Text 29"/>
          <p:cNvSpPr/>
          <p:nvPr/>
        </p:nvSpPr>
        <p:spPr>
          <a:xfrm>
            <a:off x="4700016" y="3191256"/>
            <a:ext cx="182880" cy="146304"/>
          </a:xfrm>
          <a:prstGeom prst="rect">
            <a:avLst/>
          </a:prstGeom>
          <a:noFill/>
          <a:ln/>
        </p:spPr>
        <p:txBody>
          <a:bodyPr wrap="square" lIns="0" tIns="0" rIns="0" bIns="0" rtlCol="0" anchor="t">
            <a:normAutofit/>
          </a:bodyPr>
          <a:lstStyle/>
          <a:p>
            <a:pPr algn="ctr" indent="0" marL="0">
              <a:buNone/>
            </a:pPr>
            <a:r>
              <a:rPr lang="en-US" sz="1100" b="1" dirty="0">
                <a:solidFill>
                  <a:srgbClr val="21805A"/>
                </a:solidFill>
                <a:latin typeface="Arial" pitchFamily="34" charset="0"/>
                <a:ea typeface="Arial" pitchFamily="34" charset="-122"/>
                <a:cs typeface="Arial" pitchFamily="34" charset="-120"/>
              </a:rPr>
              <a:t>✓</a:t>
            </a:r>
            <a:endParaRPr lang="en-US" sz="1100" dirty="0"/>
          </a:p>
        </p:txBody>
      </p:sp>
      <p:sp>
        <p:nvSpPr>
          <p:cNvPr id="32" name="Text 30"/>
          <p:cNvSpPr/>
          <p:nvPr/>
        </p:nvSpPr>
        <p:spPr>
          <a:xfrm>
            <a:off x="5074920" y="3136392"/>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Proof Debt is explicit</a:t>
            </a:r>
            <a:endParaRPr lang="en-US" sz="1130" dirty="0"/>
          </a:p>
        </p:txBody>
      </p:sp>
      <p:sp>
        <p:nvSpPr>
          <p:cNvPr id="33" name="Text 31"/>
          <p:cNvSpPr/>
          <p:nvPr/>
        </p:nvSpPr>
        <p:spPr>
          <a:xfrm>
            <a:off x="5074920" y="3401568"/>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Unsupported claims become visible work or remain blocked.</a:t>
            </a:r>
            <a:endParaRPr lang="en-US" sz="930" dirty="0"/>
          </a:p>
        </p:txBody>
      </p:sp>
      <p:sp>
        <p:nvSpPr>
          <p:cNvPr id="34" name="Shape 32"/>
          <p:cNvSpPr/>
          <p:nvPr/>
        </p:nvSpPr>
        <p:spPr>
          <a:xfrm>
            <a:off x="4636008" y="3913632"/>
            <a:ext cx="310896" cy="310896"/>
          </a:xfrm>
          <a:prstGeom prst="roundRect">
            <a:avLst>
              <a:gd name="adj" fmla="val 14706"/>
            </a:avLst>
          </a:prstGeom>
          <a:solidFill>
            <a:srgbClr val="DFF2E8"/>
          </a:solidFill>
          <a:ln w="12700">
            <a:solidFill>
              <a:srgbClr val="DFF2E8"/>
            </a:solidFill>
            <a:prstDash val="solid"/>
          </a:ln>
        </p:spPr>
        <p:txBody>
          <a:bodyPr/>
          <a:p/>
        </p:txBody>
      </p:sp>
      <p:sp>
        <p:nvSpPr>
          <p:cNvPr id="35" name="Text 33"/>
          <p:cNvSpPr/>
          <p:nvPr/>
        </p:nvSpPr>
        <p:spPr>
          <a:xfrm>
            <a:off x="4700016" y="3950208"/>
            <a:ext cx="182880" cy="146304"/>
          </a:xfrm>
          <a:prstGeom prst="rect">
            <a:avLst/>
          </a:prstGeom>
          <a:noFill/>
          <a:ln/>
        </p:spPr>
        <p:txBody>
          <a:bodyPr wrap="square" lIns="0" tIns="0" rIns="0" bIns="0" rtlCol="0" anchor="t">
            <a:normAutofit/>
          </a:bodyPr>
          <a:lstStyle/>
          <a:p>
            <a:pPr algn="ctr" indent="0" marL="0">
              <a:buNone/>
            </a:pPr>
            <a:r>
              <a:rPr lang="en-US" sz="1100" b="1" dirty="0">
                <a:solidFill>
                  <a:srgbClr val="21805A"/>
                </a:solidFill>
                <a:latin typeface="Arial" pitchFamily="34" charset="0"/>
                <a:ea typeface="Arial" pitchFamily="34" charset="-122"/>
                <a:cs typeface="Arial" pitchFamily="34" charset="-120"/>
              </a:rPr>
              <a:t>✓</a:t>
            </a:r>
            <a:endParaRPr lang="en-US" sz="1100" dirty="0"/>
          </a:p>
        </p:txBody>
      </p:sp>
      <p:sp>
        <p:nvSpPr>
          <p:cNvPr id="36" name="Text 34"/>
          <p:cNvSpPr/>
          <p:nvPr/>
        </p:nvSpPr>
        <p:spPr>
          <a:xfrm>
            <a:off x="5074920" y="3895344"/>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Chronicle gates memory</a:t>
            </a:r>
            <a:endParaRPr lang="en-US" sz="1130" dirty="0"/>
          </a:p>
        </p:txBody>
      </p:sp>
      <p:sp>
        <p:nvSpPr>
          <p:cNvPr id="37" name="Text 35"/>
          <p:cNvSpPr/>
          <p:nvPr/>
        </p:nvSpPr>
        <p:spPr>
          <a:xfrm>
            <a:off x="5074920" y="4160520"/>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Only admitted, scoped and replayable capability propagates.</a:t>
            </a:r>
            <a:endParaRPr lang="en-US" sz="930" dirty="0"/>
          </a:p>
        </p:txBody>
      </p:sp>
      <p:sp>
        <p:nvSpPr>
          <p:cNvPr id="38" name="Shape 36"/>
          <p:cNvSpPr/>
          <p:nvPr/>
        </p:nvSpPr>
        <p:spPr>
          <a:xfrm>
            <a:off x="4636008" y="4672584"/>
            <a:ext cx="310896" cy="310896"/>
          </a:xfrm>
          <a:prstGeom prst="roundRect">
            <a:avLst>
              <a:gd name="adj" fmla="val 14706"/>
            </a:avLst>
          </a:prstGeom>
          <a:solidFill>
            <a:srgbClr val="DFF2E8"/>
          </a:solidFill>
          <a:ln w="12700">
            <a:solidFill>
              <a:srgbClr val="DFF2E8"/>
            </a:solidFill>
            <a:prstDash val="solid"/>
          </a:ln>
        </p:spPr>
        <p:txBody>
          <a:bodyPr/>
          <a:p/>
        </p:txBody>
      </p:sp>
      <p:sp>
        <p:nvSpPr>
          <p:cNvPr id="39" name="Text 37"/>
          <p:cNvSpPr/>
          <p:nvPr/>
        </p:nvSpPr>
        <p:spPr>
          <a:xfrm>
            <a:off x="4700016" y="4709160"/>
            <a:ext cx="182880" cy="146304"/>
          </a:xfrm>
          <a:prstGeom prst="rect">
            <a:avLst/>
          </a:prstGeom>
          <a:noFill/>
          <a:ln/>
        </p:spPr>
        <p:txBody>
          <a:bodyPr wrap="square" lIns="0" tIns="0" rIns="0" bIns="0" rtlCol="0" anchor="t">
            <a:normAutofit/>
          </a:bodyPr>
          <a:lstStyle/>
          <a:p>
            <a:pPr algn="ctr" indent="0" marL="0">
              <a:buNone/>
            </a:pPr>
            <a:r>
              <a:rPr lang="en-US" sz="1100" b="1" dirty="0">
                <a:solidFill>
                  <a:srgbClr val="21805A"/>
                </a:solidFill>
                <a:latin typeface="Arial" pitchFamily="34" charset="0"/>
                <a:ea typeface="Arial" pitchFamily="34" charset="-122"/>
                <a:cs typeface="Arial" pitchFamily="34" charset="-120"/>
              </a:rPr>
              <a:t>✓</a:t>
            </a:r>
            <a:endParaRPr lang="en-US" sz="1100" dirty="0"/>
          </a:p>
        </p:txBody>
      </p:sp>
      <p:sp>
        <p:nvSpPr>
          <p:cNvPr id="40" name="Text 38"/>
          <p:cNvSpPr/>
          <p:nvPr/>
        </p:nvSpPr>
        <p:spPr>
          <a:xfrm>
            <a:off x="5074920" y="4654296"/>
            <a:ext cx="2514600" cy="228600"/>
          </a:xfrm>
          <a:prstGeom prst="rect">
            <a:avLst/>
          </a:prstGeom>
          <a:noFill/>
          <a:ln/>
        </p:spPr>
        <p:txBody>
          <a:bodyPr wrap="square" lIns="0" tIns="0" rIns="0" bIns="0" rtlCol="0" anchor="t">
            <a:normAutofit/>
          </a:bodyPr>
          <a:lstStyle/>
          <a:p>
            <a:pPr algn="l" indent="0" marL="0">
              <a:buNone/>
            </a:pPr>
            <a:r>
              <a:rPr lang="en-US" sz="1130" b="1" dirty="0">
                <a:solidFill>
                  <a:srgbClr val="14263C"/>
                </a:solidFill>
                <a:latin typeface="Arial" pitchFamily="34" charset="0"/>
                <a:ea typeface="Arial" pitchFamily="34" charset="-122"/>
                <a:cs typeface="Arial" pitchFamily="34" charset="-120"/>
              </a:rPr>
              <a:t>Authority is inspectable</a:t>
            </a:r>
            <a:endParaRPr lang="en-US" sz="1130" dirty="0"/>
          </a:p>
        </p:txBody>
      </p:sp>
      <p:sp>
        <p:nvSpPr>
          <p:cNvPr id="41" name="Text 39"/>
          <p:cNvSpPr/>
          <p:nvPr/>
        </p:nvSpPr>
        <p:spPr>
          <a:xfrm>
            <a:off x="5074920" y="4919472"/>
            <a:ext cx="2468880" cy="393192"/>
          </a:xfrm>
          <a:prstGeom prst="rect">
            <a:avLst/>
          </a:prstGeom>
          <a:noFill/>
          <a:ln/>
        </p:spPr>
        <p:txBody>
          <a:bodyPr wrap="square" lIns="0" tIns="0" rIns="0" bIns="0" rtlCol="0" anchor="t">
            <a:normAutofit/>
          </a:bodyPr>
          <a:lstStyle/>
          <a:p>
            <a:pPr algn="l" indent="0" marL="0">
              <a:buNone/>
            </a:pPr>
            <a:r>
              <a:rPr lang="en-US" sz="930" dirty="0">
                <a:solidFill>
                  <a:srgbClr val="68788D"/>
                </a:solidFill>
                <a:latin typeface="Arial" pitchFamily="34" charset="0"/>
                <a:ea typeface="Arial" pitchFamily="34" charset="-122"/>
                <a:cs typeface="Arial" pitchFamily="34" charset="-120"/>
              </a:rPr>
              <a:t>Proof, validation, challenge and scope are recorded.</a:t>
            </a:r>
            <a:endParaRPr lang="en-US" sz="930" dirty="0"/>
          </a:p>
        </p:txBody>
      </p:sp>
      <p:sp>
        <p:nvSpPr>
          <p:cNvPr id="42" name="Shape 40"/>
          <p:cNvSpPr/>
          <p:nvPr/>
        </p:nvSpPr>
        <p:spPr>
          <a:xfrm>
            <a:off x="8247888" y="1536192"/>
            <a:ext cx="3410712" cy="4443984"/>
          </a:xfrm>
          <a:prstGeom prst="roundRect">
            <a:avLst>
              <a:gd name="adj" fmla="val 2145"/>
            </a:avLst>
          </a:prstGeom>
          <a:solidFill>
            <a:srgbClr val="07182B"/>
          </a:solidFill>
          <a:ln w="12700">
            <a:solidFill>
              <a:srgbClr val="07182B"/>
            </a:solidFill>
            <a:prstDash val="solid"/>
          </a:ln>
          <a:effectLst>
            <a:outerShdw sx="100000" sy="100000" kx="0" ky="0" algn="bl" rotWithShape="0" blurRad="25400" dist="50800" dir="2700000">
              <a:srgbClr val="07182B">
                <a:alpha val="10000"/>
              </a:srgbClr>
            </a:outerShdw>
          </a:effectLst>
        </p:spPr>
        <p:txBody>
          <a:bodyPr/>
          <a:p/>
        </p:txBody>
      </p:sp>
      <p:sp>
        <p:nvSpPr>
          <p:cNvPr id="43" name="Shape 41"/>
          <p:cNvSpPr/>
          <p:nvPr/>
        </p:nvSpPr>
        <p:spPr>
          <a:xfrm>
            <a:off x="8540496" y="1847088"/>
            <a:ext cx="96012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44" name="Text 42"/>
          <p:cNvSpPr/>
          <p:nvPr/>
        </p:nvSpPr>
        <p:spPr>
          <a:xfrm>
            <a:off x="8604504" y="1894637"/>
            <a:ext cx="83210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THE GAP</a:t>
            </a:r>
            <a:endParaRPr lang="en-US" sz="800" dirty="0"/>
          </a:p>
        </p:txBody>
      </p:sp>
      <p:sp>
        <p:nvSpPr>
          <p:cNvPr id="45" name="Text 43"/>
          <p:cNvSpPr/>
          <p:nvPr/>
        </p:nvSpPr>
        <p:spPr>
          <a:xfrm>
            <a:off x="8531352" y="2359152"/>
            <a:ext cx="2816352" cy="914400"/>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Georgia" pitchFamily="34" charset="0"/>
                <a:ea typeface="Georgia" pitchFamily="34" charset="-122"/>
                <a:cs typeface="Georgia" pitchFamily="34" charset="-120"/>
              </a:rPr>
              <a:t>Fluency is not authority.</a:t>
            </a:r>
            <a:endParaRPr lang="en-US" sz="2800" dirty="0"/>
          </a:p>
        </p:txBody>
      </p:sp>
      <p:sp>
        <p:nvSpPr>
          <p:cNvPr id="46" name="Text 44"/>
          <p:cNvSpPr/>
          <p:nvPr/>
        </p:nvSpPr>
        <p:spPr>
          <a:xfrm>
            <a:off x="8549640" y="3456432"/>
            <a:ext cx="2761488" cy="1133856"/>
          </a:xfrm>
          <a:prstGeom prst="rect">
            <a:avLst/>
          </a:prstGeom>
          <a:noFill/>
          <a:ln/>
        </p:spPr>
        <p:txBody>
          <a:bodyPr wrap="square" lIns="0" tIns="0" rIns="0" bIns="0" rtlCol="0" anchor="t">
            <a:normAutofit/>
          </a:bodyPr>
          <a:lstStyle/>
          <a:p>
            <a:pPr algn="l" indent="0" marL="0">
              <a:buNone/>
            </a:pPr>
            <a:r>
              <a:rPr lang="en-US" sz="1300" dirty="0">
                <a:solidFill>
                  <a:srgbClr val="D2DFEA"/>
                </a:solidFill>
                <a:latin typeface="Arial" pitchFamily="34" charset="0"/>
                <a:ea typeface="Arial" pitchFamily="34" charset="-122"/>
                <a:cs typeface="Arial" pitchFamily="34" charset="-120"/>
              </a:rPr>
              <a:t>Institutions need a machine-checkable path from objective to evidence, from evidence to decision, and from accepted decision to reusable capability.</a:t>
            </a:r>
            <a:endParaRPr lang="en-US" sz="1300" dirty="0"/>
          </a:p>
        </p:txBody>
      </p:sp>
      <p:sp>
        <p:nvSpPr>
          <p:cNvPr id="47" name="Text 45"/>
          <p:cNvSpPr/>
          <p:nvPr/>
        </p:nvSpPr>
        <p:spPr>
          <a:xfrm>
            <a:off x="8549640" y="4901184"/>
            <a:ext cx="2761488" cy="438912"/>
          </a:xfrm>
          <a:prstGeom prst="rect">
            <a:avLst/>
          </a:prstGeom>
          <a:noFill/>
          <a:ln/>
        </p:spPr>
        <p:txBody>
          <a:bodyPr wrap="square" lIns="0" tIns="0" rIns="0" bIns="0" rtlCol="0" anchor="t">
            <a:normAutofit/>
          </a:bodyPr>
          <a:lstStyle/>
          <a:p>
            <a:pPr algn="l" indent="0" marL="0">
              <a:buNone/>
            </a:pPr>
            <a:r>
              <a:rPr lang="en-US" sz="1350" b="1" dirty="0">
                <a:solidFill>
                  <a:srgbClr val="E9C87D"/>
                </a:solidFill>
                <a:latin typeface="Arial" pitchFamily="34" charset="0"/>
                <a:ea typeface="Arial" pitchFamily="34" charset="-122"/>
                <a:cs typeface="Arial" pitchFamily="34" charset="-120"/>
              </a:rPr>
              <a:t>GoalOS supplies that proof operating layer.</a:t>
            </a:r>
            <a:endParaRPr lang="en-US" sz="135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30352" y="164592"/>
            <a:ext cx="150876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3807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THE PRODUCT</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One objective becomes a Governed Decision State.</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The deliverable can be inspected, challenged, acted on, replayed and rolled back.</a:t>
            </a:r>
            <a:endParaRPr lang="en-US" sz="1230" dirty="0"/>
          </a:p>
        </p:txBody>
      </p:sp>
      <p:sp>
        <p:nvSpPr>
          <p:cNvPr id="6" name="Shape 4"/>
          <p:cNvSpPr/>
          <p:nvPr/>
        </p:nvSpPr>
        <p:spPr>
          <a:xfrm>
            <a:off x="548640" y="1508760"/>
            <a:ext cx="2377440" cy="4526280"/>
          </a:xfrm>
          <a:prstGeom prst="roundRect">
            <a:avLst>
              <a:gd name="adj" fmla="val 3077"/>
            </a:avLst>
          </a:prstGeom>
          <a:solidFill>
            <a:srgbClr val="EEF5FB"/>
          </a:solidFill>
          <a:ln w="12700">
            <a:solidFill>
              <a:srgbClr val="9FC3DC"/>
            </a:solidFill>
            <a:prstDash val="solid"/>
          </a:ln>
          <a:effectLst>
            <a:outerShdw sx="100000" sy="100000" kx="0" ky="0" algn="bl" rotWithShape="0" blurRad="25400" dist="50800" dir="2700000">
              <a:srgbClr val="07182B">
                <a:alpha val="10000"/>
              </a:srgbClr>
            </a:outerShdw>
          </a:effectLst>
        </p:spPr>
        <p:txBody>
          <a:bodyPr/>
          <a:p/>
        </p:txBody>
      </p:sp>
      <p:sp>
        <p:nvSpPr>
          <p:cNvPr id="7" name="Shape 5"/>
          <p:cNvSpPr/>
          <p:nvPr/>
        </p:nvSpPr>
        <p:spPr>
          <a:xfrm>
            <a:off x="822960" y="1783080"/>
            <a:ext cx="822960" cy="256032"/>
          </a:xfrm>
          <a:prstGeom prst="roundRect">
            <a:avLst>
              <a:gd name="adj" fmla="val 21429"/>
            </a:avLst>
          </a:prstGeom>
          <a:solidFill>
            <a:srgbClr val="E8F3FA"/>
          </a:solidFill>
          <a:ln w="12700">
            <a:solidFill>
              <a:srgbClr val="387FB7">
                <a:alpha val="85000"/>
              </a:srgbClr>
            </a:solidFill>
            <a:prstDash val="solid"/>
          </a:ln>
        </p:spPr>
        <p:txBody>
          <a:bodyPr/>
          <a:p/>
        </p:txBody>
      </p:sp>
      <p:sp>
        <p:nvSpPr>
          <p:cNvPr id="8" name="Text 6"/>
          <p:cNvSpPr/>
          <p:nvPr/>
        </p:nvSpPr>
        <p:spPr>
          <a:xfrm>
            <a:off x="886968" y="1830629"/>
            <a:ext cx="6949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387FB7"/>
                </a:solidFill>
                <a:latin typeface="Arial" pitchFamily="34" charset="0"/>
                <a:ea typeface="Arial" pitchFamily="34" charset="-122"/>
                <a:cs typeface="Arial" pitchFamily="34" charset="-120"/>
              </a:rPr>
              <a:t>INPUT</a:t>
            </a:r>
            <a:endParaRPr lang="en-US" sz="800" dirty="0"/>
          </a:p>
        </p:txBody>
      </p:sp>
      <p:sp>
        <p:nvSpPr>
          <p:cNvPr id="9" name="Text 7"/>
          <p:cNvSpPr/>
          <p:nvPr/>
        </p:nvSpPr>
        <p:spPr>
          <a:xfrm>
            <a:off x="804672" y="2267712"/>
            <a:ext cx="1847088" cy="822960"/>
          </a:xfrm>
          <a:prstGeom prst="rect">
            <a:avLst/>
          </a:prstGeom>
          <a:noFill/>
          <a:ln/>
        </p:spPr>
        <p:txBody>
          <a:bodyPr wrap="square" lIns="0" tIns="0" rIns="0" bIns="0" rtlCol="0" anchor="ctr">
            <a:normAutofit/>
          </a:bodyPr>
          <a:lstStyle/>
          <a:p>
            <a:pPr algn="ctr" indent="0" marL="0">
              <a:buNone/>
            </a:pPr>
            <a:r>
              <a:rPr lang="en-US" sz="2500" b="1" dirty="0">
                <a:solidFill>
                  <a:srgbClr val="07182B"/>
                </a:solidFill>
                <a:latin typeface="Georgia" pitchFamily="34" charset="0"/>
                <a:ea typeface="Georgia" pitchFamily="34" charset="-122"/>
                <a:cs typeface="Georgia" pitchFamily="34" charset="-120"/>
              </a:rPr>
              <a:t>A consequential</a:t>
            </a:r>
            <a:endParaRPr lang="en-US" sz="2500" dirty="0"/>
          </a:p>
          <a:p>
            <a:pPr algn="ctr" indent="0" marL="0">
              <a:buNone/>
            </a:pPr>
            <a:r>
              <a:rPr lang="en-US" sz="2500" b="1" dirty="0">
                <a:solidFill>
                  <a:srgbClr val="07182B"/>
                </a:solidFill>
                <a:latin typeface="Georgia" pitchFamily="34" charset="0"/>
                <a:ea typeface="Georgia" pitchFamily="34" charset="-122"/>
                <a:cs typeface="Georgia" pitchFamily="34" charset="-120"/>
              </a:rPr>
              <a:t>objective</a:t>
            </a:r>
            <a:endParaRPr lang="en-US" sz="2500" dirty="0"/>
          </a:p>
        </p:txBody>
      </p:sp>
      <p:sp>
        <p:nvSpPr>
          <p:cNvPr id="10" name="Text 8"/>
          <p:cNvSpPr/>
          <p:nvPr/>
        </p:nvSpPr>
        <p:spPr>
          <a:xfrm>
            <a:off x="868680" y="3337560"/>
            <a:ext cx="1783080" cy="1481328"/>
          </a:xfrm>
          <a:prstGeom prst="rect">
            <a:avLst/>
          </a:prstGeom>
          <a:noFill/>
          <a:ln/>
        </p:spPr>
        <p:txBody>
          <a:bodyPr wrap="square" lIns="0" tIns="0" rIns="0" bIns="0" rtlCol="0" anchor="t">
            <a:normAutofit/>
          </a:bodyPr>
          <a:lstStyle/>
          <a:p>
            <a:pPr algn="ctr" indent="0" marL="0">
              <a:buNone/>
            </a:pPr>
            <a:r>
              <a:rPr lang="en-US" sz="1100" dirty="0">
                <a:solidFill>
                  <a:srgbClr val="68788D"/>
                </a:solidFill>
                <a:latin typeface="Arial" pitchFamily="34" charset="0"/>
                <a:ea typeface="Arial" pitchFamily="34" charset="-122"/>
                <a:cs typeface="Arial" pitchFamily="34" charset="-120"/>
              </a:rPr>
              <a:t>Decision to support</a:t>
            </a:r>
            <a:endParaRPr lang="en-US" sz="1100" dirty="0"/>
          </a:p>
          <a:p>
            <a:pPr algn="ctr" indent="0" marL="0">
              <a:buNone/>
            </a:pPr>
            <a:r>
              <a:rPr lang="en-US" sz="1100" dirty="0">
                <a:solidFill>
                  <a:srgbClr val="68788D"/>
                </a:solidFill>
                <a:latin typeface="Arial" pitchFamily="34" charset="0"/>
                <a:ea typeface="Arial" pitchFamily="34" charset="-122"/>
                <a:cs typeface="Arial" pitchFamily="34" charset="-120"/>
              </a:rPr>
              <a:t>Success and failure criteria</a:t>
            </a:r>
            <a:endParaRPr lang="en-US" sz="1100" dirty="0"/>
          </a:p>
          <a:p>
            <a:pPr algn="ctr" indent="0" marL="0">
              <a:buNone/>
            </a:pPr>
            <a:r>
              <a:rPr lang="en-US" sz="1100" dirty="0">
                <a:solidFill>
                  <a:srgbClr val="68788D"/>
                </a:solidFill>
                <a:latin typeface="Arial" pitchFamily="34" charset="0"/>
                <a:ea typeface="Arial" pitchFamily="34" charset="-122"/>
                <a:cs typeface="Arial" pitchFamily="34" charset="-120"/>
              </a:rPr>
              <a:t>Scope and constraints</a:t>
            </a:r>
            <a:endParaRPr lang="en-US" sz="1100" dirty="0"/>
          </a:p>
          <a:p>
            <a:pPr algn="ctr" indent="0" marL="0">
              <a:buNone/>
            </a:pPr>
            <a:r>
              <a:rPr lang="en-US" sz="1100" dirty="0">
                <a:solidFill>
                  <a:srgbClr val="68788D"/>
                </a:solidFill>
                <a:latin typeface="Arial" pitchFamily="34" charset="0"/>
                <a:ea typeface="Arial" pitchFamily="34" charset="-122"/>
                <a:cs typeface="Arial" pitchFamily="34" charset="-120"/>
              </a:rPr>
              <a:t>Risk and proof level</a:t>
            </a:r>
            <a:endParaRPr lang="en-US" sz="1100" dirty="0"/>
          </a:p>
          <a:p>
            <a:pPr algn="ctr" indent="0" marL="0">
              <a:buNone/>
            </a:pPr>
            <a:r>
              <a:rPr lang="en-US" sz="1100" dirty="0">
                <a:solidFill>
                  <a:srgbClr val="68788D"/>
                </a:solidFill>
                <a:latin typeface="Arial" pitchFamily="34" charset="0"/>
                <a:ea typeface="Arial" pitchFamily="34" charset="-122"/>
                <a:cs typeface="Arial" pitchFamily="34" charset="-120"/>
              </a:rPr>
              <a:t>Required reviewers</a:t>
            </a:r>
            <a:endParaRPr lang="en-US" sz="1100" dirty="0"/>
          </a:p>
          <a:p>
            <a:pPr algn="ctr" indent="0" marL="0">
              <a:buNone/>
            </a:pPr>
            <a:r>
              <a:rPr lang="en-US" sz="1100" dirty="0">
                <a:solidFill>
                  <a:srgbClr val="68788D"/>
                </a:solidFill>
                <a:latin typeface="Arial" pitchFamily="34" charset="0"/>
                <a:ea typeface="Arial" pitchFamily="34" charset="-122"/>
                <a:cs typeface="Arial" pitchFamily="34" charset="-120"/>
              </a:rPr>
              <a:t>Rollback obligations</a:t>
            </a:r>
            <a:endParaRPr lang="en-US" sz="1100" dirty="0"/>
          </a:p>
        </p:txBody>
      </p:sp>
      <p:sp>
        <p:nvSpPr>
          <p:cNvPr id="11" name="Shape 9"/>
          <p:cNvSpPr/>
          <p:nvPr/>
        </p:nvSpPr>
        <p:spPr>
          <a:xfrm>
            <a:off x="3154680" y="3438144"/>
            <a:ext cx="502920" cy="274320"/>
          </a:xfrm>
          <a:prstGeom prst="chevron">
            <a:avLst/>
          </a:prstGeom>
          <a:solidFill>
            <a:srgbClr val="B8872E"/>
          </a:solidFill>
          <a:ln w="12700">
            <a:solidFill>
              <a:srgbClr val="B8872E">
                <a:alpha val="0"/>
              </a:srgbClr>
            </a:solidFill>
            <a:prstDash val="solid"/>
          </a:ln>
        </p:spPr>
        <p:txBody>
          <a:bodyPr/>
          <a:p/>
        </p:txBody>
      </p:sp>
      <p:sp>
        <p:nvSpPr>
          <p:cNvPr id="12" name="Shape 10"/>
          <p:cNvSpPr/>
          <p:nvPr/>
        </p:nvSpPr>
        <p:spPr>
          <a:xfrm>
            <a:off x="3657600" y="1508760"/>
            <a:ext cx="4572000" cy="4526280"/>
          </a:xfrm>
          <a:prstGeom prst="roundRect">
            <a:avLst>
              <a:gd name="adj" fmla="val 1616"/>
            </a:avLst>
          </a:prstGeom>
          <a:solidFill>
            <a:srgbClr val="FFFDF8"/>
          </a:solidFill>
          <a:ln w="12700">
            <a:solidFill>
              <a:srgbClr val="D9D0C1"/>
            </a:solidFill>
            <a:prstDash val="solid"/>
          </a:ln>
          <a:effectLst>
            <a:outerShdw sx="100000" sy="100000" kx="0" ky="0" algn="bl" rotWithShape="0" blurRad="25400" dist="50800" dir="2700000">
              <a:srgbClr val="07182B">
                <a:alpha val="10000"/>
              </a:srgbClr>
            </a:outerShdw>
          </a:effectLst>
        </p:spPr>
        <p:txBody>
          <a:bodyPr/>
          <a:p/>
        </p:txBody>
      </p:sp>
      <p:sp>
        <p:nvSpPr>
          <p:cNvPr id="13" name="Shape 11"/>
          <p:cNvSpPr/>
          <p:nvPr/>
        </p:nvSpPr>
        <p:spPr>
          <a:xfrm>
            <a:off x="3977640" y="1783080"/>
            <a:ext cx="201168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14" name="Text 12"/>
          <p:cNvSpPr/>
          <p:nvPr/>
        </p:nvSpPr>
        <p:spPr>
          <a:xfrm>
            <a:off x="4041648" y="1830629"/>
            <a:ext cx="188366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GOALOS PROOF OPERATIONS</a:t>
            </a:r>
            <a:endParaRPr lang="en-US" sz="800" dirty="0"/>
          </a:p>
        </p:txBody>
      </p:sp>
      <p:sp>
        <p:nvSpPr>
          <p:cNvPr id="15" name="Shape 13"/>
          <p:cNvSpPr/>
          <p:nvPr/>
        </p:nvSpPr>
        <p:spPr>
          <a:xfrm>
            <a:off x="3977640" y="2240280"/>
            <a:ext cx="1764792" cy="621792"/>
          </a:xfrm>
          <a:prstGeom prst="roundRect">
            <a:avLst>
              <a:gd name="adj" fmla="val 11765"/>
            </a:avLst>
          </a:prstGeom>
          <a:solidFill>
            <a:srgbClr val="FFFDF8"/>
          </a:solidFill>
          <a:ln w="12700">
            <a:solidFill>
              <a:srgbClr val="D9D0C1"/>
            </a:solidFill>
            <a:prstDash val="solid"/>
          </a:ln>
        </p:spPr>
        <p:txBody>
          <a:bodyPr/>
          <a:p/>
        </p:txBody>
      </p:sp>
      <p:sp>
        <p:nvSpPr>
          <p:cNvPr id="16" name="Text 14"/>
          <p:cNvSpPr/>
          <p:nvPr/>
        </p:nvSpPr>
        <p:spPr>
          <a:xfrm>
            <a:off x="4087368" y="2331720"/>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Mission Contract</a:t>
            </a:r>
            <a:endParaRPr lang="en-US" sz="1020" dirty="0"/>
          </a:p>
        </p:txBody>
      </p:sp>
      <p:sp>
        <p:nvSpPr>
          <p:cNvPr id="17" name="Text 15"/>
          <p:cNvSpPr/>
          <p:nvPr/>
        </p:nvSpPr>
        <p:spPr>
          <a:xfrm>
            <a:off x="4087368" y="2551176"/>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Freeze intent and authority.</a:t>
            </a:r>
            <a:endParaRPr lang="en-US" sz="810" dirty="0"/>
          </a:p>
        </p:txBody>
      </p:sp>
      <p:sp>
        <p:nvSpPr>
          <p:cNvPr id="18" name="Shape 16"/>
          <p:cNvSpPr/>
          <p:nvPr/>
        </p:nvSpPr>
        <p:spPr>
          <a:xfrm>
            <a:off x="5925312" y="2240280"/>
            <a:ext cx="1764792" cy="621792"/>
          </a:xfrm>
          <a:prstGeom prst="roundRect">
            <a:avLst>
              <a:gd name="adj" fmla="val 11765"/>
            </a:avLst>
          </a:prstGeom>
          <a:solidFill>
            <a:srgbClr val="FFFDF8"/>
          </a:solidFill>
          <a:ln w="12700">
            <a:solidFill>
              <a:srgbClr val="D9D0C1"/>
            </a:solidFill>
            <a:prstDash val="solid"/>
          </a:ln>
        </p:spPr>
        <p:txBody>
          <a:bodyPr/>
          <a:p/>
        </p:txBody>
      </p:sp>
      <p:sp>
        <p:nvSpPr>
          <p:cNvPr id="19" name="Text 17"/>
          <p:cNvSpPr/>
          <p:nvPr/>
        </p:nvSpPr>
        <p:spPr>
          <a:xfrm>
            <a:off x="6035040" y="2331720"/>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Claims Matrix</a:t>
            </a:r>
            <a:endParaRPr lang="en-US" sz="1020" dirty="0"/>
          </a:p>
        </p:txBody>
      </p:sp>
      <p:sp>
        <p:nvSpPr>
          <p:cNvPr id="20" name="Text 18"/>
          <p:cNvSpPr/>
          <p:nvPr/>
        </p:nvSpPr>
        <p:spPr>
          <a:xfrm>
            <a:off x="6035040" y="2551176"/>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Every claim gets a proof state.</a:t>
            </a:r>
            <a:endParaRPr lang="en-US" sz="810" dirty="0"/>
          </a:p>
        </p:txBody>
      </p:sp>
      <p:sp>
        <p:nvSpPr>
          <p:cNvPr id="21" name="Shape 19"/>
          <p:cNvSpPr/>
          <p:nvPr/>
        </p:nvSpPr>
        <p:spPr>
          <a:xfrm>
            <a:off x="3977640" y="2999232"/>
            <a:ext cx="1764792" cy="621792"/>
          </a:xfrm>
          <a:prstGeom prst="roundRect">
            <a:avLst>
              <a:gd name="adj" fmla="val 11765"/>
            </a:avLst>
          </a:prstGeom>
          <a:solidFill>
            <a:srgbClr val="F8F3EA"/>
          </a:solidFill>
          <a:ln w="12700">
            <a:solidFill>
              <a:srgbClr val="D9D0C1"/>
            </a:solidFill>
            <a:prstDash val="solid"/>
          </a:ln>
        </p:spPr>
        <p:txBody>
          <a:bodyPr/>
          <a:p/>
        </p:txBody>
      </p:sp>
      <p:sp>
        <p:nvSpPr>
          <p:cNvPr id="22" name="Text 20"/>
          <p:cNvSpPr/>
          <p:nvPr/>
        </p:nvSpPr>
        <p:spPr>
          <a:xfrm>
            <a:off x="4087368" y="3090672"/>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Evidence Docket</a:t>
            </a:r>
            <a:endParaRPr lang="en-US" sz="1020" dirty="0"/>
          </a:p>
        </p:txBody>
      </p:sp>
      <p:sp>
        <p:nvSpPr>
          <p:cNvPr id="23" name="Text 21"/>
          <p:cNvSpPr/>
          <p:nvPr/>
        </p:nvSpPr>
        <p:spPr>
          <a:xfrm>
            <a:off x="4087368" y="3310128"/>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Reviewer-ready proof room.</a:t>
            </a:r>
            <a:endParaRPr lang="en-US" sz="810" dirty="0"/>
          </a:p>
        </p:txBody>
      </p:sp>
      <p:sp>
        <p:nvSpPr>
          <p:cNvPr id="24" name="Shape 22"/>
          <p:cNvSpPr/>
          <p:nvPr/>
        </p:nvSpPr>
        <p:spPr>
          <a:xfrm>
            <a:off x="5925312" y="2999232"/>
            <a:ext cx="1764792" cy="621792"/>
          </a:xfrm>
          <a:prstGeom prst="roundRect">
            <a:avLst>
              <a:gd name="adj" fmla="val 11765"/>
            </a:avLst>
          </a:prstGeom>
          <a:solidFill>
            <a:srgbClr val="F8F3EA"/>
          </a:solidFill>
          <a:ln w="12700">
            <a:solidFill>
              <a:srgbClr val="D9D0C1"/>
            </a:solidFill>
            <a:prstDash val="solid"/>
          </a:ln>
        </p:spPr>
        <p:txBody>
          <a:bodyPr/>
          <a:p/>
        </p:txBody>
      </p:sp>
      <p:sp>
        <p:nvSpPr>
          <p:cNvPr id="25" name="Text 23"/>
          <p:cNvSpPr/>
          <p:nvPr/>
        </p:nvSpPr>
        <p:spPr>
          <a:xfrm>
            <a:off x="6035040" y="3090672"/>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Verifier Report</a:t>
            </a:r>
            <a:endParaRPr lang="en-US" sz="1020" dirty="0"/>
          </a:p>
        </p:txBody>
      </p:sp>
      <p:sp>
        <p:nvSpPr>
          <p:cNvPr id="26" name="Text 24"/>
          <p:cNvSpPr/>
          <p:nvPr/>
        </p:nvSpPr>
        <p:spPr>
          <a:xfrm>
            <a:off x="6035040" y="3310128"/>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What passed and remains blocked.</a:t>
            </a:r>
            <a:endParaRPr lang="en-US" sz="810" dirty="0"/>
          </a:p>
        </p:txBody>
      </p:sp>
      <p:sp>
        <p:nvSpPr>
          <p:cNvPr id="27" name="Shape 25"/>
          <p:cNvSpPr/>
          <p:nvPr/>
        </p:nvSpPr>
        <p:spPr>
          <a:xfrm>
            <a:off x="3977640" y="3758184"/>
            <a:ext cx="1764792" cy="621792"/>
          </a:xfrm>
          <a:prstGeom prst="roundRect">
            <a:avLst>
              <a:gd name="adj" fmla="val 11765"/>
            </a:avLst>
          </a:prstGeom>
          <a:solidFill>
            <a:srgbClr val="FFFDF8"/>
          </a:solidFill>
          <a:ln w="12700">
            <a:solidFill>
              <a:srgbClr val="D9D0C1"/>
            </a:solidFill>
            <a:prstDash val="solid"/>
          </a:ln>
        </p:spPr>
        <p:txBody>
          <a:bodyPr/>
          <a:p/>
        </p:txBody>
      </p:sp>
      <p:sp>
        <p:nvSpPr>
          <p:cNvPr id="28" name="Text 26"/>
          <p:cNvSpPr/>
          <p:nvPr/>
        </p:nvSpPr>
        <p:spPr>
          <a:xfrm>
            <a:off x="4087368" y="3849624"/>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Risk + Cost Ledgers</a:t>
            </a:r>
            <a:endParaRPr lang="en-US" sz="1020" dirty="0"/>
          </a:p>
        </p:txBody>
      </p:sp>
      <p:sp>
        <p:nvSpPr>
          <p:cNvPr id="29" name="Text 27"/>
          <p:cNvSpPr/>
          <p:nvPr/>
        </p:nvSpPr>
        <p:spPr>
          <a:xfrm>
            <a:off x="4087368" y="4069080"/>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Downside and resource burden.</a:t>
            </a:r>
            <a:endParaRPr lang="en-US" sz="810" dirty="0"/>
          </a:p>
        </p:txBody>
      </p:sp>
      <p:sp>
        <p:nvSpPr>
          <p:cNvPr id="30" name="Shape 28"/>
          <p:cNvSpPr/>
          <p:nvPr/>
        </p:nvSpPr>
        <p:spPr>
          <a:xfrm>
            <a:off x="5925312" y="3758184"/>
            <a:ext cx="1764792" cy="621792"/>
          </a:xfrm>
          <a:prstGeom prst="roundRect">
            <a:avLst>
              <a:gd name="adj" fmla="val 11765"/>
            </a:avLst>
          </a:prstGeom>
          <a:solidFill>
            <a:srgbClr val="FFFDF8"/>
          </a:solidFill>
          <a:ln w="12700">
            <a:solidFill>
              <a:srgbClr val="D9D0C1"/>
            </a:solidFill>
            <a:prstDash val="solid"/>
          </a:ln>
        </p:spPr>
        <p:txBody>
          <a:bodyPr/>
          <a:p/>
        </p:txBody>
      </p:sp>
      <p:sp>
        <p:nvSpPr>
          <p:cNvPr id="31" name="Text 29"/>
          <p:cNvSpPr/>
          <p:nvPr/>
        </p:nvSpPr>
        <p:spPr>
          <a:xfrm>
            <a:off x="6035040" y="3849624"/>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Action Graph</a:t>
            </a:r>
            <a:endParaRPr lang="en-US" sz="1020" dirty="0"/>
          </a:p>
        </p:txBody>
      </p:sp>
      <p:sp>
        <p:nvSpPr>
          <p:cNvPr id="32" name="Text 30"/>
          <p:cNvSpPr/>
          <p:nvPr/>
        </p:nvSpPr>
        <p:spPr>
          <a:xfrm>
            <a:off x="6035040" y="4069080"/>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Owners, approvals and rollback.</a:t>
            </a:r>
            <a:endParaRPr lang="en-US" sz="810" dirty="0"/>
          </a:p>
        </p:txBody>
      </p:sp>
      <p:sp>
        <p:nvSpPr>
          <p:cNvPr id="33" name="Shape 31"/>
          <p:cNvSpPr/>
          <p:nvPr/>
        </p:nvSpPr>
        <p:spPr>
          <a:xfrm>
            <a:off x="3977640" y="4517136"/>
            <a:ext cx="1764792" cy="621792"/>
          </a:xfrm>
          <a:prstGeom prst="roundRect">
            <a:avLst>
              <a:gd name="adj" fmla="val 11765"/>
            </a:avLst>
          </a:prstGeom>
          <a:solidFill>
            <a:srgbClr val="F8F3EA"/>
          </a:solidFill>
          <a:ln w="12700">
            <a:solidFill>
              <a:srgbClr val="D9D0C1"/>
            </a:solidFill>
            <a:prstDash val="solid"/>
          </a:ln>
        </p:spPr>
        <p:txBody>
          <a:bodyPr/>
          <a:p/>
        </p:txBody>
      </p:sp>
      <p:sp>
        <p:nvSpPr>
          <p:cNvPr id="34" name="Text 32"/>
          <p:cNvSpPr/>
          <p:nvPr/>
        </p:nvSpPr>
        <p:spPr>
          <a:xfrm>
            <a:off x="4087368" y="4608576"/>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Chronicle Verdict</a:t>
            </a:r>
            <a:endParaRPr lang="en-US" sz="1020" dirty="0"/>
          </a:p>
        </p:txBody>
      </p:sp>
      <p:sp>
        <p:nvSpPr>
          <p:cNvPr id="35" name="Text 33"/>
          <p:cNvSpPr/>
          <p:nvPr/>
        </p:nvSpPr>
        <p:spPr>
          <a:xfrm>
            <a:off x="4087368" y="4828032"/>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What may earn memory.</a:t>
            </a:r>
            <a:endParaRPr lang="en-US" sz="810" dirty="0"/>
          </a:p>
        </p:txBody>
      </p:sp>
      <p:sp>
        <p:nvSpPr>
          <p:cNvPr id="36" name="Shape 34"/>
          <p:cNvSpPr/>
          <p:nvPr/>
        </p:nvSpPr>
        <p:spPr>
          <a:xfrm>
            <a:off x="5925312" y="4517136"/>
            <a:ext cx="1764792" cy="621792"/>
          </a:xfrm>
          <a:prstGeom prst="roundRect">
            <a:avLst>
              <a:gd name="adj" fmla="val 11765"/>
            </a:avLst>
          </a:prstGeom>
          <a:solidFill>
            <a:srgbClr val="F8F3EA"/>
          </a:solidFill>
          <a:ln w="12700">
            <a:solidFill>
              <a:srgbClr val="D9D0C1"/>
            </a:solidFill>
            <a:prstDash val="solid"/>
          </a:ln>
        </p:spPr>
        <p:txBody>
          <a:bodyPr/>
          <a:p/>
        </p:txBody>
      </p:sp>
      <p:sp>
        <p:nvSpPr>
          <p:cNvPr id="37" name="Text 35"/>
          <p:cNvSpPr/>
          <p:nvPr/>
        </p:nvSpPr>
        <p:spPr>
          <a:xfrm>
            <a:off x="6035040" y="4608576"/>
            <a:ext cx="1536192" cy="173736"/>
          </a:xfrm>
          <a:prstGeom prst="rect">
            <a:avLst/>
          </a:prstGeom>
          <a:noFill/>
          <a:ln/>
        </p:spPr>
        <p:txBody>
          <a:bodyPr wrap="square" lIns="0" tIns="0" rIns="0" bIns="0" rtlCol="0" anchor="t">
            <a:normAutofit/>
          </a:bodyPr>
          <a:lstStyle/>
          <a:p>
            <a:pPr algn="l" indent="0" marL="0">
              <a:buNone/>
            </a:pPr>
            <a:r>
              <a:rPr lang="en-US" sz="1020" b="1" dirty="0">
                <a:solidFill>
                  <a:srgbClr val="14263C"/>
                </a:solidFill>
                <a:latin typeface="Arial" pitchFamily="34" charset="0"/>
                <a:ea typeface="Arial" pitchFamily="34" charset="-122"/>
                <a:cs typeface="Arial" pitchFamily="34" charset="-120"/>
              </a:rPr>
              <a:t>Capability Package</a:t>
            </a:r>
            <a:endParaRPr lang="en-US" sz="1020" dirty="0"/>
          </a:p>
        </p:txBody>
      </p:sp>
      <p:sp>
        <p:nvSpPr>
          <p:cNvPr id="38" name="Text 36"/>
          <p:cNvSpPr/>
          <p:nvPr/>
        </p:nvSpPr>
        <p:spPr>
          <a:xfrm>
            <a:off x="6035040" y="4828032"/>
            <a:ext cx="1536192" cy="210312"/>
          </a:xfrm>
          <a:prstGeom prst="rect">
            <a:avLst/>
          </a:prstGeom>
          <a:noFill/>
          <a:ln/>
        </p:spPr>
        <p:txBody>
          <a:bodyPr wrap="square" lIns="0" tIns="0" rIns="0" bIns="0" rtlCol="0" anchor="t">
            <a:normAutofit/>
          </a:bodyPr>
          <a:lstStyle/>
          <a:p>
            <a:pPr algn="l" indent="0" marL="0">
              <a:buNone/>
            </a:pPr>
            <a:r>
              <a:rPr lang="en-US" sz="810" dirty="0">
                <a:solidFill>
                  <a:srgbClr val="68788D"/>
                </a:solidFill>
                <a:latin typeface="Arial" pitchFamily="34" charset="0"/>
                <a:ea typeface="Arial" pitchFamily="34" charset="-122"/>
                <a:cs typeface="Arial" pitchFamily="34" charset="-120"/>
              </a:rPr>
              <a:t>Scoped, replayable and reusable.</a:t>
            </a:r>
            <a:endParaRPr lang="en-US" sz="810" dirty="0"/>
          </a:p>
        </p:txBody>
      </p:sp>
      <p:sp>
        <p:nvSpPr>
          <p:cNvPr id="39" name="Shape 37"/>
          <p:cNvSpPr/>
          <p:nvPr/>
        </p:nvSpPr>
        <p:spPr>
          <a:xfrm>
            <a:off x="8458200" y="3438144"/>
            <a:ext cx="502920" cy="274320"/>
          </a:xfrm>
          <a:prstGeom prst="chevron">
            <a:avLst/>
          </a:prstGeom>
          <a:solidFill>
            <a:srgbClr val="B8872E"/>
          </a:solidFill>
          <a:ln w="12700">
            <a:solidFill>
              <a:srgbClr val="B8872E">
                <a:alpha val="0"/>
              </a:srgbClr>
            </a:solidFill>
            <a:prstDash val="solid"/>
          </a:ln>
        </p:spPr>
        <p:txBody>
          <a:bodyPr/>
          <a:p/>
        </p:txBody>
      </p:sp>
      <p:sp>
        <p:nvSpPr>
          <p:cNvPr id="40" name="Shape 38"/>
          <p:cNvSpPr/>
          <p:nvPr/>
        </p:nvSpPr>
        <p:spPr>
          <a:xfrm>
            <a:off x="8961120" y="1508760"/>
            <a:ext cx="2697480" cy="4526280"/>
          </a:xfrm>
          <a:prstGeom prst="roundRect">
            <a:avLst>
              <a:gd name="adj" fmla="val 2712"/>
            </a:avLst>
          </a:prstGeom>
          <a:solidFill>
            <a:srgbClr val="F1FAF5"/>
          </a:solidFill>
          <a:ln w="12700">
            <a:solidFill>
              <a:srgbClr val="9ECBB5"/>
            </a:solidFill>
            <a:prstDash val="solid"/>
          </a:ln>
          <a:effectLst>
            <a:outerShdw sx="100000" sy="100000" kx="0" ky="0" algn="bl" rotWithShape="0" blurRad="25400" dist="50800" dir="2700000">
              <a:srgbClr val="07182B">
                <a:alpha val="10000"/>
              </a:srgbClr>
            </a:outerShdw>
          </a:effectLst>
        </p:spPr>
        <p:txBody>
          <a:bodyPr/>
          <a:p/>
        </p:txBody>
      </p:sp>
      <p:sp>
        <p:nvSpPr>
          <p:cNvPr id="41" name="Shape 39"/>
          <p:cNvSpPr/>
          <p:nvPr/>
        </p:nvSpPr>
        <p:spPr>
          <a:xfrm>
            <a:off x="9893808" y="1783080"/>
            <a:ext cx="822960" cy="256032"/>
          </a:xfrm>
          <a:prstGeom prst="roundRect">
            <a:avLst>
              <a:gd name="adj" fmla="val 21429"/>
            </a:avLst>
          </a:prstGeom>
          <a:solidFill>
            <a:srgbClr val="EAF7F0"/>
          </a:solidFill>
          <a:ln w="12700">
            <a:solidFill>
              <a:srgbClr val="21805A">
                <a:alpha val="85000"/>
              </a:srgbClr>
            </a:solidFill>
            <a:prstDash val="solid"/>
          </a:ln>
        </p:spPr>
        <p:txBody>
          <a:bodyPr/>
          <a:p/>
        </p:txBody>
      </p:sp>
      <p:sp>
        <p:nvSpPr>
          <p:cNvPr id="42" name="Text 40"/>
          <p:cNvSpPr/>
          <p:nvPr/>
        </p:nvSpPr>
        <p:spPr>
          <a:xfrm>
            <a:off x="9957816" y="1830629"/>
            <a:ext cx="6949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21805A"/>
                </a:solidFill>
                <a:latin typeface="Arial" pitchFamily="34" charset="0"/>
                <a:ea typeface="Arial" pitchFamily="34" charset="-122"/>
                <a:cs typeface="Arial" pitchFamily="34" charset="-120"/>
              </a:rPr>
              <a:t>OUTPUT</a:t>
            </a:r>
            <a:endParaRPr lang="en-US" sz="800" dirty="0"/>
          </a:p>
        </p:txBody>
      </p:sp>
      <p:sp>
        <p:nvSpPr>
          <p:cNvPr id="43" name="Text 41"/>
          <p:cNvSpPr/>
          <p:nvPr/>
        </p:nvSpPr>
        <p:spPr>
          <a:xfrm>
            <a:off x="9281160" y="2322576"/>
            <a:ext cx="2066544" cy="859536"/>
          </a:xfrm>
          <a:prstGeom prst="rect">
            <a:avLst/>
          </a:prstGeom>
          <a:noFill/>
          <a:ln/>
        </p:spPr>
        <p:txBody>
          <a:bodyPr wrap="square" lIns="0" tIns="0" rIns="0" bIns="0" rtlCol="0" anchor="ctr">
            <a:normAutofit/>
          </a:bodyPr>
          <a:lstStyle/>
          <a:p>
            <a:pPr algn="ctr" indent="0" marL="0">
              <a:buNone/>
            </a:pPr>
            <a:r>
              <a:rPr lang="en-US" sz="2400" b="1" dirty="0">
                <a:solidFill>
                  <a:srgbClr val="14263C"/>
                </a:solidFill>
                <a:latin typeface="Georgia" pitchFamily="34" charset="0"/>
                <a:ea typeface="Georgia" pitchFamily="34" charset="-122"/>
                <a:cs typeface="Georgia" pitchFamily="34" charset="-120"/>
              </a:rPr>
              <a:t>Governed</a:t>
            </a:r>
            <a:endParaRPr lang="en-US" sz="2400" dirty="0"/>
          </a:p>
          <a:p>
            <a:pPr algn="ctr" indent="0" marL="0">
              <a:buNone/>
            </a:pPr>
            <a:r>
              <a:rPr lang="en-US" sz="2400" b="1" dirty="0">
                <a:solidFill>
                  <a:srgbClr val="14263C"/>
                </a:solidFill>
                <a:latin typeface="Georgia" pitchFamily="34" charset="0"/>
                <a:ea typeface="Georgia" pitchFamily="34" charset="-122"/>
                <a:cs typeface="Georgia" pitchFamily="34" charset="-120"/>
              </a:rPr>
              <a:t>Decision State</a:t>
            </a:r>
            <a:endParaRPr lang="en-US" sz="2400" dirty="0"/>
          </a:p>
        </p:txBody>
      </p:sp>
      <p:sp>
        <p:nvSpPr>
          <p:cNvPr id="44" name="Text 42"/>
          <p:cNvSpPr/>
          <p:nvPr/>
        </p:nvSpPr>
        <p:spPr>
          <a:xfrm>
            <a:off x="9464040" y="3401568"/>
            <a:ext cx="1719072" cy="1325880"/>
          </a:xfrm>
          <a:prstGeom prst="rect">
            <a:avLst/>
          </a:prstGeom>
          <a:noFill/>
          <a:ln/>
        </p:spPr>
        <p:txBody>
          <a:bodyPr wrap="square" lIns="0" tIns="0" rIns="0" bIns="0" rtlCol="0" anchor="t">
            <a:normAutofit/>
          </a:bodyPr>
          <a:lstStyle/>
          <a:p>
            <a:pPr algn="ctr" indent="0" marL="0">
              <a:buNone/>
            </a:pPr>
            <a:r>
              <a:rPr lang="en-US" sz="1120" dirty="0">
                <a:solidFill>
                  <a:srgbClr val="68788D"/>
                </a:solidFill>
                <a:latin typeface="Arial" pitchFamily="34" charset="0"/>
                <a:ea typeface="Arial" pitchFamily="34" charset="-122"/>
                <a:cs typeface="Arial" pitchFamily="34" charset="-120"/>
              </a:rPr>
              <a:t>Proceed</a:t>
            </a:r>
            <a:endParaRPr lang="en-US" sz="1120" dirty="0"/>
          </a:p>
          <a:p>
            <a:pPr algn="ctr" indent="0" marL="0">
              <a:buNone/>
            </a:pPr>
            <a:r>
              <a:rPr lang="en-US" sz="1120" dirty="0">
                <a:solidFill>
                  <a:srgbClr val="68788D"/>
                </a:solidFill>
                <a:latin typeface="Arial" pitchFamily="34" charset="0"/>
                <a:ea typeface="Arial" pitchFamily="34" charset="-122"/>
                <a:cs typeface="Arial" pitchFamily="34" charset="-120"/>
              </a:rPr>
              <a:t>Proceed with conditions</a:t>
            </a:r>
            <a:endParaRPr lang="en-US" sz="1120" dirty="0"/>
          </a:p>
          <a:p>
            <a:pPr algn="ctr" indent="0" marL="0">
              <a:buNone/>
            </a:pPr>
            <a:r>
              <a:rPr lang="en-US" sz="1120" dirty="0">
                <a:solidFill>
                  <a:srgbClr val="68788D"/>
                </a:solidFill>
                <a:latin typeface="Arial" pitchFamily="34" charset="0"/>
                <a:ea typeface="Arial" pitchFamily="34" charset="-122"/>
                <a:cs typeface="Arial" pitchFamily="34" charset="-120"/>
              </a:rPr>
              <a:t>Repair</a:t>
            </a:r>
            <a:endParaRPr lang="en-US" sz="1120" dirty="0"/>
          </a:p>
          <a:p>
            <a:pPr algn="ctr" indent="0" marL="0">
              <a:buNone/>
            </a:pPr>
            <a:r>
              <a:rPr lang="en-US" sz="1120" dirty="0">
                <a:solidFill>
                  <a:srgbClr val="68788D"/>
                </a:solidFill>
                <a:latin typeface="Arial" pitchFamily="34" charset="0"/>
                <a:ea typeface="Arial" pitchFamily="34" charset="-122"/>
                <a:cs typeface="Arial" pitchFamily="34" charset="-120"/>
              </a:rPr>
              <a:t>Hold</a:t>
            </a:r>
            <a:endParaRPr lang="en-US" sz="1120" dirty="0"/>
          </a:p>
          <a:p>
            <a:pPr algn="ctr" indent="0" marL="0">
              <a:buNone/>
            </a:pPr>
            <a:r>
              <a:rPr lang="en-US" sz="1120" dirty="0">
                <a:solidFill>
                  <a:srgbClr val="68788D"/>
                </a:solidFill>
                <a:latin typeface="Arial" pitchFamily="34" charset="0"/>
                <a:ea typeface="Arial" pitchFamily="34" charset="-122"/>
                <a:cs typeface="Arial" pitchFamily="34" charset="-120"/>
              </a:rPr>
              <a:t>Reject</a:t>
            </a:r>
            <a:endParaRPr lang="en-US" sz="1120" dirty="0"/>
          </a:p>
          <a:p>
            <a:pPr algn="ctr" indent="0" marL="0">
              <a:buNone/>
            </a:pPr>
            <a:r>
              <a:rPr lang="en-US" sz="1120" dirty="0">
                <a:solidFill>
                  <a:srgbClr val="68788D"/>
                </a:solidFill>
                <a:latin typeface="Arial" pitchFamily="34" charset="0"/>
                <a:ea typeface="Arial" pitchFamily="34" charset="-122"/>
                <a:cs typeface="Arial" pitchFamily="34" charset="-120"/>
              </a:rPr>
              <a:t>Quarantine</a:t>
            </a:r>
            <a:endParaRPr lang="en-US" sz="1120" dirty="0"/>
          </a:p>
          <a:p>
            <a:pPr algn="ctr" indent="0" marL="0">
              <a:buNone/>
            </a:pPr>
            <a:r>
              <a:rPr lang="en-US" sz="1120" dirty="0">
                <a:solidFill>
                  <a:srgbClr val="68788D"/>
                </a:solidFill>
                <a:latin typeface="Arial" pitchFamily="34" charset="0"/>
                <a:ea typeface="Arial" pitchFamily="34" charset="-122"/>
                <a:cs typeface="Arial" pitchFamily="34" charset="-120"/>
              </a:rPr>
              <a:t>Retire</a:t>
            </a:r>
            <a:endParaRPr lang="en-US" sz="1120" dirty="0"/>
          </a:p>
        </p:txBody>
      </p:sp>
      <p:sp>
        <p:nvSpPr>
          <p:cNvPr id="45" name="Shape 43"/>
          <p:cNvSpPr/>
          <p:nvPr/>
        </p:nvSpPr>
        <p:spPr>
          <a:xfrm>
            <a:off x="9308592" y="5047488"/>
            <a:ext cx="2011680" cy="256032"/>
          </a:xfrm>
          <a:prstGeom prst="roundRect">
            <a:avLst>
              <a:gd name="adj" fmla="val 21429"/>
            </a:avLst>
          </a:prstGeom>
          <a:solidFill>
            <a:srgbClr val="EAF7F0"/>
          </a:solidFill>
          <a:ln w="12700">
            <a:solidFill>
              <a:srgbClr val="21805A">
                <a:alpha val="85000"/>
              </a:srgbClr>
            </a:solidFill>
            <a:prstDash val="solid"/>
          </a:ln>
        </p:spPr>
        <p:txBody>
          <a:bodyPr/>
          <a:p/>
        </p:txBody>
      </p:sp>
      <p:sp>
        <p:nvSpPr>
          <p:cNvPr id="46" name="Text 44"/>
          <p:cNvSpPr/>
          <p:nvPr/>
        </p:nvSpPr>
        <p:spPr>
          <a:xfrm>
            <a:off x="9372600" y="5095037"/>
            <a:ext cx="188366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21805A"/>
                </a:solidFill>
                <a:latin typeface="Arial" pitchFamily="34" charset="0"/>
                <a:ea typeface="Arial" pitchFamily="34" charset="-122"/>
                <a:cs typeface="Arial" pitchFamily="34" charset="-120"/>
              </a:rPr>
              <a:t>REUSABLE ONLY IF ADMITTED</a:t>
            </a:r>
            <a:endParaRPr lang="en-US" sz="80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30352" y="164592"/>
            <a:ext cx="1508760" cy="256032"/>
          </a:xfrm>
          <a:prstGeom prst="roundRect">
            <a:avLst>
              <a:gd name="adj" fmla="val 21429"/>
            </a:avLst>
          </a:prstGeom>
          <a:solidFill>
            <a:srgbClr val="17304A">
              <a:alpha val="28000"/>
            </a:srgbClr>
          </a:solidFill>
          <a:ln w="12700">
            <a:solidFill>
              <a:srgbClr val="FFFFFF">
                <a:alpha val="32000"/>
              </a:srgbClr>
            </a:solidFill>
            <a:prstDash val="solid"/>
          </a:ln>
        </p:spPr>
        <p:txBody>
          <a:bodyPr/>
          <a:p/>
        </p:txBody>
      </p:sp>
      <p:sp>
        <p:nvSpPr>
          <p:cNvPr id="3" name="Text 1"/>
          <p:cNvSpPr/>
          <p:nvPr/>
        </p:nvSpPr>
        <p:spPr>
          <a:xfrm>
            <a:off x="594360" y="212141"/>
            <a:ext cx="13807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LIVE SYSTEM</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Georgia" pitchFamily="34" charset="0"/>
                <a:ea typeface="Georgia" pitchFamily="34" charset="-122"/>
                <a:cs typeface="Georgia" pitchFamily="34" charset="-120"/>
              </a:rPr>
              <a:t>A boardroom-ready, offline demonstration.</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C6D6E5"/>
                </a:solidFill>
                <a:latin typeface="Arial" pitchFamily="34" charset="0"/>
                <a:ea typeface="Arial" pitchFamily="34" charset="-122"/>
                <a:cs typeface="Arial" pitchFamily="34" charset="-120"/>
              </a:rPr>
              <a:t>Run a mission, inspect the Docket, export the proof pack and design a pilot.</a:t>
            </a:r>
            <a:endParaRPr lang="en-US" sz="1230" dirty="0"/>
          </a:p>
        </p:txBody>
      </p:sp>
      <p:sp>
        <p:nvSpPr>
          <p:cNvPr id="6" name="Shape 4"/>
          <p:cNvSpPr/>
          <p:nvPr/>
        </p:nvSpPr>
        <p:spPr>
          <a:xfrm>
            <a:off x="530352" y="1417320"/>
            <a:ext cx="11119104" cy="4892040"/>
          </a:xfrm>
          <a:prstGeom prst="roundRect">
            <a:avLst>
              <a:gd name="adj" fmla="val 1495"/>
            </a:avLst>
          </a:prstGeom>
          <a:solidFill>
            <a:srgbClr val="0D2A48"/>
          </a:solidFill>
          <a:ln w="12700">
            <a:solidFill>
              <a:srgbClr val="35536C"/>
            </a:solidFill>
            <a:prstDash val="solid"/>
          </a:ln>
        </p:spPr>
        <p:txBody>
          <a:bodyPr/>
          <a:p/>
        </p:txBody>
      </p:sp>
      <p:pic>
        <p:nvPicPr>
          <p:cNvPr id="7" name="Image 0" descr="/mnt/data/goalos_partner_showcase_v1/_qa_new/overview.png">    </p:cNvPr>
          <p:cNvPicPr>
            <a:picLocks noChangeAspect="1"/>
          </p:cNvPicPr>
          <p:nvPr/>
        </p:nvPicPr>
        <p:blipFill>
          <a:blip r:embed="rId1"/>
          <a:srcRect l="0" r="0" t="16373" b="16373"/>
          <a:stretch/>
        </p:blipFill>
        <p:spPr>
          <a:xfrm>
            <a:off x="694944" y="1591056"/>
            <a:ext cx="10789920" cy="4535424"/>
          </a:xfrm>
          <a:prstGeom prst="rect">
            <a:avLst/>
          </a:prstGeom>
        </p:spPr>
      </p:pic>
      <p:sp>
        <p:nvSpPr>
          <p:cNvPr id="8" name="Shape 5"/>
          <p:cNvSpPr/>
          <p:nvPr/>
        </p:nvSpPr>
        <p:spPr>
          <a:xfrm>
            <a:off x="8641080" y="5394960"/>
            <a:ext cx="2468880" cy="502920"/>
          </a:xfrm>
          <a:prstGeom prst="roundRect">
            <a:avLst>
              <a:gd name="adj" fmla="val 14545"/>
            </a:avLst>
          </a:prstGeom>
          <a:solidFill>
            <a:srgbClr val="07182B"/>
          </a:solidFill>
          <a:ln w="12700">
            <a:solidFill>
              <a:srgbClr val="E9C87D"/>
            </a:solidFill>
            <a:prstDash val="solid"/>
          </a:ln>
        </p:spPr>
        <p:txBody>
          <a:bodyPr/>
          <a:p/>
        </p:txBody>
      </p:sp>
      <p:sp>
        <p:nvSpPr>
          <p:cNvPr id="9" name="Text 6"/>
          <p:cNvSpPr/>
          <p:nvPr/>
        </p:nvSpPr>
        <p:spPr>
          <a:xfrm>
            <a:off x="8796528" y="5559552"/>
            <a:ext cx="2157984" cy="164592"/>
          </a:xfrm>
          <a:prstGeom prst="rect">
            <a:avLst/>
          </a:prstGeom>
          <a:noFill/>
          <a:ln/>
        </p:spPr>
        <p:txBody>
          <a:bodyPr wrap="square" lIns="0" tIns="0" rIns="0" bIns="0" rtlCol="0" anchor="t">
            <a:normAutofit/>
          </a:bodyPr>
          <a:lstStyle/>
          <a:p>
            <a:pPr algn="ctr" indent="0" marL="0">
              <a:buNone/>
            </a:pPr>
            <a:r>
              <a:rPr lang="en-US" sz="890" b="1" dirty="0">
                <a:solidFill>
                  <a:srgbClr val="FFFFFF"/>
                </a:solidFill>
                <a:latin typeface="Arial" pitchFamily="34" charset="0"/>
                <a:ea typeface="Arial" pitchFamily="34" charset="-122"/>
                <a:cs typeface="Arial" pitchFamily="34" charset="-120"/>
              </a:rPr>
              <a:t>Open: GoalOS_Partner_Demonstrator.html</a:t>
            </a:r>
            <a:endParaRPr lang="en-US" sz="89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FC0D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30352" y="164592"/>
            <a:ext cx="196596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8379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THE OPERATING LOOP</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Authority appears only after the next gate passes.</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GoalOS converts autonomous work into proof, governed capability and accountable authority.</a:t>
            </a:r>
            <a:endParaRPr lang="en-US" sz="1230" dirty="0"/>
          </a:p>
        </p:txBody>
      </p:sp>
      <p:sp>
        <p:nvSpPr>
          <p:cNvPr id="6" name="Shape 4"/>
          <p:cNvSpPr/>
          <p:nvPr/>
        </p:nvSpPr>
        <p:spPr>
          <a:xfrm>
            <a:off x="530352" y="1600200"/>
            <a:ext cx="2029968" cy="2057400"/>
          </a:xfrm>
          <a:prstGeom prst="roundRect">
            <a:avLst>
              <a:gd name="adj" fmla="val 3604"/>
            </a:avLst>
          </a:prstGeom>
          <a:solidFill>
            <a:srgbClr val="EEF5FB"/>
          </a:solidFill>
          <a:ln w="12700">
            <a:solidFill>
              <a:srgbClr val="387FB7"/>
            </a:solidFill>
            <a:prstDash val="solid"/>
          </a:ln>
        </p:spPr>
        <p:txBody>
          <a:bodyPr/>
          <a:p/>
        </p:txBody>
      </p:sp>
      <p:sp>
        <p:nvSpPr>
          <p:cNvPr id="7" name="Shape 5"/>
          <p:cNvSpPr/>
          <p:nvPr/>
        </p:nvSpPr>
        <p:spPr>
          <a:xfrm>
            <a:off x="530352" y="1600200"/>
            <a:ext cx="64008" cy="2057400"/>
          </a:xfrm>
          <a:prstGeom prst="rect">
            <a:avLst/>
          </a:prstGeom>
          <a:solidFill>
            <a:srgbClr val="387FB7"/>
          </a:solidFill>
          <a:ln w="12700">
            <a:solidFill>
              <a:srgbClr val="387FB7"/>
            </a:solidFill>
            <a:prstDash val="solid"/>
          </a:ln>
        </p:spPr>
        <p:txBody>
          <a:bodyPr/>
          <a:p/>
        </p:txBody>
      </p:sp>
      <p:sp>
        <p:nvSpPr>
          <p:cNvPr id="8" name="Text 6"/>
          <p:cNvSpPr/>
          <p:nvPr/>
        </p:nvSpPr>
        <p:spPr>
          <a:xfrm>
            <a:off x="694944" y="1755648"/>
            <a:ext cx="1645920" cy="219456"/>
          </a:xfrm>
          <a:prstGeom prst="rect">
            <a:avLst/>
          </a:prstGeom>
          <a:noFill/>
          <a:ln/>
        </p:spPr>
        <p:txBody>
          <a:bodyPr wrap="square" lIns="0" tIns="0" rIns="0" bIns="0" rtlCol="0" anchor="t">
            <a:normAutofit/>
          </a:bodyPr>
          <a:lstStyle/>
          <a:p>
            <a:pPr algn="l" indent="0" marL="0">
              <a:buNone/>
            </a:pPr>
            <a:r>
              <a:rPr lang="en-US" sz="1150" b="1" dirty="0">
                <a:solidFill>
                  <a:srgbClr val="14263C"/>
                </a:solidFill>
                <a:latin typeface="Arial" pitchFamily="34" charset="0"/>
                <a:ea typeface="Arial" pitchFamily="34" charset="-122"/>
                <a:cs typeface="Arial" pitchFamily="34" charset="-120"/>
              </a:rPr>
              <a:t>1 · INTENT</a:t>
            </a:r>
            <a:endParaRPr lang="en-US" sz="1150" dirty="0"/>
          </a:p>
        </p:txBody>
      </p:sp>
      <p:sp>
        <p:nvSpPr>
          <p:cNvPr id="9" name="Text 7"/>
          <p:cNvSpPr/>
          <p:nvPr/>
        </p:nvSpPr>
        <p:spPr>
          <a:xfrm>
            <a:off x="694944" y="2240280"/>
            <a:ext cx="1700784" cy="384048"/>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Objective + Mission Contract</a:t>
            </a:r>
            <a:endParaRPr lang="en-US" sz="1350" dirty="0"/>
          </a:p>
        </p:txBody>
      </p:sp>
      <p:sp>
        <p:nvSpPr>
          <p:cNvPr id="10" name="Text 8"/>
          <p:cNvSpPr/>
          <p:nvPr/>
        </p:nvSpPr>
        <p:spPr>
          <a:xfrm>
            <a:off x="694944" y="2880360"/>
            <a:ext cx="1700784" cy="566928"/>
          </a:xfrm>
          <a:prstGeom prst="rect">
            <a:avLst/>
          </a:prstGeom>
          <a:noFill/>
          <a:ln/>
        </p:spPr>
        <p:txBody>
          <a:bodyPr wrap="square" lIns="0" tIns="0" rIns="0" bIns="0" rtlCol="0" anchor="t">
            <a:normAutofit/>
          </a:bodyPr>
          <a:lstStyle/>
          <a:p>
            <a:pPr algn="l" indent="0" marL="0">
              <a:buNone/>
            </a:pPr>
            <a:r>
              <a:rPr lang="en-US" sz="910" dirty="0">
                <a:solidFill>
                  <a:srgbClr val="68788D"/>
                </a:solidFill>
                <a:latin typeface="Arial" pitchFamily="34" charset="0"/>
                <a:ea typeface="Arial" pitchFamily="34" charset="-122"/>
                <a:cs typeface="Arial" pitchFamily="34" charset="-120"/>
              </a:rPr>
              <a:t>Decision, scope, proof level, risk, validators and rollback.</a:t>
            </a:r>
            <a:endParaRPr lang="en-US" sz="910" dirty="0"/>
          </a:p>
        </p:txBody>
      </p:sp>
      <p:sp>
        <p:nvSpPr>
          <p:cNvPr id="11" name="Shape 9"/>
          <p:cNvSpPr/>
          <p:nvPr/>
        </p:nvSpPr>
        <p:spPr>
          <a:xfrm>
            <a:off x="2569464" y="2432304"/>
            <a:ext cx="228600" cy="274320"/>
          </a:xfrm>
          <a:prstGeom prst="chevron">
            <a:avLst/>
          </a:prstGeom>
          <a:solidFill>
            <a:srgbClr val="B8872E"/>
          </a:solidFill>
          <a:ln w="12700">
            <a:solidFill>
              <a:srgbClr val="B8872E">
                <a:alpha val="0"/>
              </a:srgbClr>
            </a:solidFill>
            <a:prstDash val="solid"/>
          </a:ln>
        </p:spPr>
        <p:txBody>
          <a:bodyPr/>
          <a:p/>
        </p:txBody>
      </p:sp>
      <p:sp>
        <p:nvSpPr>
          <p:cNvPr id="12" name="Shape 10"/>
          <p:cNvSpPr/>
          <p:nvPr/>
        </p:nvSpPr>
        <p:spPr>
          <a:xfrm>
            <a:off x="2807208" y="1600200"/>
            <a:ext cx="2029968" cy="2057400"/>
          </a:xfrm>
          <a:prstGeom prst="roundRect">
            <a:avLst>
              <a:gd name="adj" fmla="val 3604"/>
            </a:avLst>
          </a:prstGeom>
          <a:solidFill>
            <a:srgbClr val="FFF7DF"/>
          </a:solidFill>
          <a:ln w="12700">
            <a:solidFill>
              <a:srgbClr val="B8872E"/>
            </a:solidFill>
            <a:prstDash val="solid"/>
          </a:ln>
        </p:spPr>
        <p:txBody>
          <a:bodyPr/>
          <a:p/>
        </p:txBody>
      </p:sp>
      <p:sp>
        <p:nvSpPr>
          <p:cNvPr id="13" name="Shape 11"/>
          <p:cNvSpPr/>
          <p:nvPr/>
        </p:nvSpPr>
        <p:spPr>
          <a:xfrm>
            <a:off x="2807208" y="1600200"/>
            <a:ext cx="64008" cy="2057400"/>
          </a:xfrm>
          <a:prstGeom prst="rect">
            <a:avLst/>
          </a:prstGeom>
          <a:solidFill>
            <a:srgbClr val="B8872E"/>
          </a:solidFill>
          <a:ln w="12700">
            <a:solidFill>
              <a:srgbClr val="B8872E"/>
            </a:solidFill>
            <a:prstDash val="solid"/>
          </a:ln>
        </p:spPr>
        <p:txBody>
          <a:bodyPr/>
          <a:p/>
        </p:txBody>
      </p:sp>
      <p:sp>
        <p:nvSpPr>
          <p:cNvPr id="14" name="Text 12"/>
          <p:cNvSpPr/>
          <p:nvPr/>
        </p:nvSpPr>
        <p:spPr>
          <a:xfrm>
            <a:off x="2971800" y="1755648"/>
            <a:ext cx="1645920" cy="219456"/>
          </a:xfrm>
          <a:prstGeom prst="rect">
            <a:avLst/>
          </a:prstGeom>
          <a:noFill/>
          <a:ln/>
        </p:spPr>
        <p:txBody>
          <a:bodyPr wrap="square" lIns="0" tIns="0" rIns="0" bIns="0" rtlCol="0" anchor="t">
            <a:normAutofit/>
          </a:bodyPr>
          <a:lstStyle/>
          <a:p>
            <a:pPr algn="l" indent="0" marL="0">
              <a:buNone/>
            </a:pPr>
            <a:r>
              <a:rPr lang="en-US" sz="1150" b="1" dirty="0">
                <a:solidFill>
                  <a:srgbClr val="14263C"/>
                </a:solidFill>
                <a:latin typeface="Arial" pitchFamily="34" charset="0"/>
                <a:ea typeface="Arial" pitchFamily="34" charset="-122"/>
                <a:cs typeface="Arial" pitchFamily="34" charset="-120"/>
              </a:rPr>
              <a:t>2 · WORK</a:t>
            </a:r>
            <a:endParaRPr lang="en-US" sz="1150" dirty="0"/>
          </a:p>
        </p:txBody>
      </p:sp>
      <p:sp>
        <p:nvSpPr>
          <p:cNvPr id="15" name="Text 13"/>
          <p:cNvSpPr/>
          <p:nvPr/>
        </p:nvSpPr>
        <p:spPr>
          <a:xfrm>
            <a:off x="2971800" y="2240280"/>
            <a:ext cx="1700784" cy="384048"/>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Proof Debt + AGI Jobs</a:t>
            </a:r>
            <a:endParaRPr lang="en-US" sz="1350" dirty="0"/>
          </a:p>
        </p:txBody>
      </p:sp>
      <p:sp>
        <p:nvSpPr>
          <p:cNvPr id="16" name="Text 14"/>
          <p:cNvSpPr/>
          <p:nvPr/>
        </p:nvSpPr>
        <p:spPr>
          <a:xfrm>
            <a:off x="2971800" y="2880360"/>
            <a:ext cx="1700784" cy="566928"/>
          </a:xfrm>
          <a:prstGeom prst="rect">
            <a:avLst/>
          </a:prstGeom>
          <a:noFill/>
          <a:ln/>
        </p:spPr>
        <p:txBody>
          <a:bodyPr wrap="square" lIns="0" tIns="0" rIns="0" bIns="0" rtlCol="0" anchor="t">
            <a:normAutofit/>
          </a:bodyPr>
          <a:lstStyle/>
          <a:p>
            <a:pPr algn="l" indent="0" marL="0">
              <a:buNone/>
            </a:pPr>
            <a:r>
              <a:rPr lang="en-US" sz="910" dirty="0">
                <a:solidFill>
                  <a:srgbClr val="68788D"/>
                </a:solidFill>
                <a:latin typeface="Arial" pitchFamily="34" charset="0"/>
                <a:ea typeface="Arial" pitchFamily="34" charset="-122"/>
                <a:cs typeface="Arial" pitchFamily="34" charset="-120"/>
              </a:rPr>
              <a:t>Unsupported claims become mission-specific proof contracts.</a:t>
            </a:r>
            <a:endParaRPr lang="en-US" sz="910" dirty="0"/>
          </a:p>
        </p:txBody>
      </p:sp>
      <p:sp>
        <p:nvSpPr>
          <p:cNvPr id="17" name="Shape 15"/>
          <p:cNvSpPr/>
          <p:nvPr/>
        </p:nvSpPr>
        <p:spPr>
          <a:xfrm>
            <a:off x="4846320" y="2432304"/>
            <a:ext cx="228600" cy="274320"/>
          </a:xfrm>
          <a:prstGeom prst="chevron">
            <a:avLst/>
          </a:prstGeom>
          <a:solidFill>
            <a:srgbClr val="B8872E"/>
          </a:solidFill>
          <a:ln w="12700">
            <a:solidFill>
              <a:srgbClr val="B8872E">
                <a:alpha val="0"/>
              </a:srgbClr>
            </a:solidFill>
            <a:prstDash val="solid"/>
          </a:ln>
        </p:spPr>
        <p:txBody>
          <a:bodyPr/>
          <a:p/>
        </p:txBody>
      </p:sp>
      <p:sp>
        <p:nvSpPr>
          <p:cNvPr id="18" name="Shape 16"/>
          <p:cNvSpPr/>
          <p:nvPr/>
        </p:nvSpPr>
        <p:spPr>
          <a:xfrm>
            <a:off x="5084064" y="1600200"/>
            <a:ext cx="2029968" cy="2057400"/>
          </a:xfrm>
          <a:prstGeom prst="roundRect">
            <a:avLst>
              <a:gd name="adj" fmla="val 3604"/>
            </a:avLst>
          </a:prstGeom>
          <a:solidFill>
            <a:srgbClr val="F3EFFB"/>
          </a:solidFill>
          <a:ln w="12700">
            <a:solidFill>
              <a:srgbClr val="6753A6"/>
            </a:solidFill>
            <a:prstDash val="solid"/>
          </a:ln>
        </p:spPr>
        <p:txBody>
          <a:bodyPr/>
          <a:p/>
        </p:txBody>
      </p:sp>
      <p:sp>
        <p:nvSpPr>
          <p:cNvPr id="19" name="Shape 17"/>
          <p:cNvSpPr/>
          <p:nvPr/>
        </p:nvSpPr>
        <p:spPr>
          <a:xfrm>
            <a:off x="5084064" y="1600200"/>
            <a:ext cx="64008" cy="2057400"/>
          </a:xfrm>
          <a:prstGeom prst="rect">
            <a:avLst/>
          </a:prstGeom>
          <a:solidFill>
            <a:srgbClr val="6753A6"/>
          </a:solidFill>
          <a:ln w="12700">
            <a:solidFill>
              <a:srgbClr val="6753A6"/>
            </a:solidFill>
            <a:prstDash val="solid"/>
          </a:ln>
        </p:spPr>
        <p:txBody>
          <a:bodyPr/>
          <a:p/>
        </p:txBody>
      </p:sp>
      <p:sp>
        <p:nvSpPr>
          <p:cNvPr id="20" name="Text 18"/>
          <p:cNvSpPr/>
          <p:nvPr/>
        </p:nvSpPr>
        <p:spPr>
          <a:xfrm>
            <a:off x="5248656" y="1755648"/>
            <a:ext cx="1645920" cy="219456"/>
          </a:xfrm>
          <a:prstGeom prst="rect">
            <a:avLst/>
          </a:prstGeom>
          <a:noFill/>
          <a:ln/>
        </p:spPr>
        <p:txBody>
          <a:bodyPr wrap="square" lIns="0" tIns="0" rIns="0" bIns="0" rtlCol="0" anchor="t">
            <a:normAutofit/>
          </a:bodyPr>
          <a:lstStyle/>
          <a:p>
            <a:pPr algn="l" indent="0" marL="0">
              <a:buNone/>
            </a:pPr>
            <a:r>
              <a:rPr lang="en-US" sz="1150" b="1" dirty="0">
                <a:solidFill>
                  <a:srgbClr val="14263C"/>
                </a:solidFill>
                <a:latin typeface="Arial" pitchFamily="34" charset="0"/>
                <a:ea typeface="Arial" pitchFamily="34" charset="-122"/>
                <a:cs typeface="Arial" pitchFamily="34" charset="-120"/>
              </a:rPr>
              <a:t>3 · EVIDENCE</a:t>
            </a:r>
            <a:endParaRPr lang="en-US" sz="1150" dirty="0"/>
          </a:p>
        </p:txBody>
      </p:sp>
      <p:sp>
        <p:nvSpPr>
          <p:cNvPr id="21" name="Text 19"/>
          <p:cNvSpPr/>
          <p:nvPr/>
        </p:nvSpPr>
        <p:spPr>
          <a:xfrm>
            <a:off x="5248656" y="2240280"/>
            <a:ext cx="1700784" cy="384048"/>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ProofBundles + Docket</a:t>
            </a:r>
            <a:endParaRPr lang="en-US" sz="1350" dirty="0"/>
          </a:p>
        </p:txBody>
      </p:sp>
      <p:sp>
        <p:nvSpPr>
          <p:cNvPr id="22" name="Text 20"/>
          <p:cNvSpPr/>
          <p:nvPr/>
        </p:nvSpPr>
        <p:spPr>
          <a:xfrm>
            <a:off x="5248656" y="2880360"/>
            <a:ext cx="1700784" cy="566928"/>
          </a:xfrm>
          <a:prstGeom prst="rect">
            <a:avLst/>
          </a:prstGeom>
          <a:noFill/>
          <a:ln/>
        </p:spPr>
        <p:txBody>
          <a:bodyPr wrap="square" lIns="0" tIns="0" rIns="0" bIns="0" rtlCol="0" anchor="t">
            <a:normAutofit/>
          </a:bodyPr>
          <a:lstStyle/>
          <a:p>
            <a:pPr algn="l" indent="0" marL="0">
              <a:buNone/>
            </a:pPr>
            <a:r>
              <a:rPr lang="en-US" sz="910" dirty="0">
                <a:solidFill>
                  <a:srgbClr val="68788D"/>
                </a:solidFill>
                <a:latin typeface="Arial" pitchFamily="34" charset="0"/>
                <a:ea typeface="Arial" pitchFamily="34" charset="-122"/>
                <a:cs typeface="Arial" pitchFamily="34" charset="-120"/>
              </a:rPr>
              <a:t>Artifacts, provenance, tests, contradictions, risk, cost and replay.</a:t>
            </a:r>
            <a:endParaRPr lang="en-US" sz="910" dirty="0"/>
          </a:p>
        </p:txBody>
      </p:sp>
      <p:sp>
        <p:nvSpPr>
          <p:cNvPr id="23" name="Shape 21"/>
          <p:cNvSpPr/>
          <p:nvPr/>
        </p:nvSpPr>
        <p:spPr>
          <a:xfrm>
            <a:off x="7123176" y="2432304"/>
            <a:ext cx="228600" cy="274320"/>
          </a:xfrm>
          <a:prstGeom prst="chevron">
            <a:avLst/>
          </a:prstGeom>
          <a:solidFill>
            <a:srgbClr val="B8872E"/>
          </a:solidFill>
          <a:ln w="12700">
            <a:solidFill>
              <a:srgbClr val="B8872E">
                <a:alpha val="0"/>
              </a:srgbClr>
            </a:solidFill>
            <a:prstDash val="solid"/>
          </a:ln>
        </p:spPr>
        <p:txBody>
          <a:bodyPr/>
          <a:p/>
        </p:txBody>
      </p:sp>
      <p:sp>
        <p:nvSpPr>
          <p:cNvPr id="24" name="Shape 22"/>
          <p:cNvSpPr/>
          <p:nvPr/>
        </p:nvSpPr>
        <p:spPr>
          <a:xfrm>
            <a:off x="7360920" y="1600200"/>
            <a:ext cx="2029968" cy="2057400"/>
          </a:xfrm>
          <a:prstGeom prst="roundRect">
            <a:avLst>
              <a:gd name="adj" fmla="val 3604"/>
            </a:avLst>
          </a:prstGeom>
          <a:solidFill>
            <a:srgbClr val="EFF9F4"/>
          </a:solidFill>
          <a:ln w="12700">
            <a:solidFill>
              <a:srgbClr val="21805A"/>
            </a:solidFill>
            <a:prstDash val="solid"/>
          </a:ln>
        </p:spPr>
        <p:txBody>
          <a:bodyPr/>
          <a:p/>
        </p:txBody>
      </p:sp>
      <p:sp>
        <p:nvSpPr>
          <p:cNvPr id="25" name="Shape 23"/>
          <p:cNvSpPr/>
          <p:nvPr/>
        </p:nvSpPr>
        <p:spPr>
          <a:xfrm>
            <a:off x="7360920" y="1600200"/>
            <a:ext cx="64008" cy="2057400"/>
          </a:xfrm>
          <a:prstGeom prst="rect">
            <a:avLst/>
          </a:prstGeom>
          <a:solidFill>
            <a:srgbClr val="21805A"/>
          </a:solidFill>
          <a:ln w="12700">
            <a:solidFill>
              <a:srgbClr val="21805A"/>
            </a:solidFill>
            <a:prstDash val="solid"/>
          </a:ln>
        </p:spPr>
        <p:txBody>
          <a:bodyPr/>
          <a:p/>
        </p:txBody>
      </p:sp>
      <p:sp>
        <p:nvSpPr>
          <p:cNvPr id="26" name="Text 24"/>
          <p:cNvSpPr/>
          <p:nvPr/>
        </p:nvSpPr>
        <p:spPr>
          <a:xfrm>
            <a:off x="7525512" y="1755648"/>
            <a:ext cx="1645920" cy="219456"/>
          </a:xfrm>
          <a:prstGeom prst="rect">
            <a:avLst/>
          </a:prstGeom>
          <a:noFill/>
          <a:ln/>
        </p:spPr>
        <p:txBody>
          <a:bodyPr wrap="square" lIns="0" tIns="0" rIns="0" bIns="0" rtlCol="0" anchor="t">
            <a:normAutofit/>
          </a:bodyPr>
          <a:lstStyle/>
          <a:p>
            <a:pPr algn="l" indent="0" marL="0">
              <a:buNone/>
            </a:pPr>
            <a:r>
              <a:rPr lang="en-US" sz="1150" b="1" dirty="0">
                <a:solidFill>
                  <a:srgbClr val="14263C"/>
                </a:solidFill>
                <a:latin typeface="Arial" pitchFamily="34" charset="0"/>
                <a:ea typeface="Arial" pitchFamily="34" charset="-122"/>
                <a:cs typeface="Arial" pitchFamily="34" charset="-120"/>
              </a:rPr>
              <a:t>4 · AUTHORITY</a:t>
            </a:r>
            <a:endParaRPr lang="en-US" sz="1150" dirty="0"/>
          </a:p>
        </p:txBody>
      </p:sp>
      <p:sp>
        <p:nvSpPr>
          <p:cNvPr id="27" name="Text 25"/>
          <p:cNvSpPr/>
          <p:nvPr/>
        </p:nvSpPr>
        <p:spPr>
          <a:xfrm>
            <a:off x="7525512" y="2240280"/>
            <a:ext cx="1700784" cy="384048"/>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Validation + Chronicle</a:t>
            </a:r>
            <a:endParaRPr lang="en-US" sz="1350" dirty="0"/>
          </a:p>
        </p:txBody>
      </p:sp>
      <p:sp>
        <p:nvSpPr>
          <p:cNvPr id="28" name="Text 26"/>
          <p:cNvSpPr/>
          <p:nvPr/>
        </p:nvSpPr>
        <p:spPr>
          <a:xfrm>
            <a:off x="7525512" y="2880360"/>
            <a:ext cx="1700784" cy="566928"/>
          </a:xfrm>
          <a:prstGeom prst="rect">
            <a:avLst/>
          </a:prstGeom>
          <a:noFill/>
          <a:ln/>
        </p:spPr>
        <p:txBody>
          <a:bodyPr wrap="square" lIns="0" tIns="0" rIns="0" bIns="0" rtlCol="0" anchor="t">
            <a:normAutofit/>
          </a:bodyPr>
          <a:lstStyle/>
          <a:p>
            <a:pPr algn="l" indent="0" marL="0">
              <a:buNone/>
            </a:pPr>
            <a:r>
              <a:rPr lang="en-US" sz="910" dirty="0">
                <a:solidFill>
                  <a:srgbClr val="68788D"/>
                </a:solidFill>
                <a:latin typeface="Arial" pitchFamily="34" charset="0"/>
                <a:ea typeface="Arial" pitchFamily="34" charset="-122"/>
                <a:cs typeface="Arial" pitchFamily="34" charset="-120"/>
              </a:rPr>
              <a:t>Independent review decides what may be trusted and remembered.</a:t>
            </a:r>
            <a:endParaRPr lang="en-US" sz="910" dirty="0"/>
          </a:p>
        </p:txBody>
      </p:sp>
      <p:sp>
        <p:nvSpPr>
          <p:cNvPr id="29" name="Shape 27"/>
          <p:cNvSpPr/>
          <p:nvPr/>
        </p:nvSpPr>
        <p:spPr>
          <a:xfrm>
            <a:off x="9400032" y="2432304"/>
            <a:ext cx="228600" cy="274320"/>
          </a:xfrm>
          <a:prstGeom prst="chevron">
            <a:avLst/>
          </a:prstGeom>
          <a:solidFill>
            <a:srgbClr val="B8872E"/>
          </a:solidFill>
          <a:ln w="12700">
            <a:solidFill>
              <a:srgbClr val="B8872E">
                <a:alpha val="0"/>
              </a:srgbClr>
            </a:solidFill>
            <a:prstDash val="solid"/>
          </a:ln>
        </p:spPr>
        <p:txBody>
          <a:bodyPr/>
          <a:p/>
        </p:txBody>
      </p:sp>
      <p:sp>
        <p:nvSpPr>
          <p:cNvPr id="30" name="Shape 28"/>
          <p:cNvSpPr/>
          <p:nvPr/>
        </p:nvSpPr>
        <p:spPr>
          <a:xfrm>
            <a:off x="9637776" y="1600200"/>
            <a:ext cx="2029968" cy="2057400"/>
          </a:xfrm>
          <a:prstGeom prst="roundRect">
            <a:avLst>
              <a:gd name="adj" fmla="val 3604"/>
            </a:avLst>
          </a:prstGeom>
          <a:solidFill>
            <a:srgbClr val="FFF1F3"/>
          </a:solidFill>
          <a:ln w="12700">
            <a:solidFill>
              <a:srgbClr val="B74A5E"/>
            </a:solidFill>
            <a:prstDash val="solid"/>
          </a:ln>
        </p:spPr>
        <p:txBody>
          <a:bodyPr/>
          <a:p/>
        </p:txBody>
      </p:sp>
      <p:sp>
        <p:nvSpPr>
          <p:cNvPr id="31" name="Shape 29"/>
          <p:cNvSpPr/>
          <p:nvPr/>
        </p:nvSpPr>
        <p:spPr>
          <a:xfrm>
            <a:off x="9637776" y="1600200"/>
            <a:ext cx="64008" cy="2057400"/>
          </a:xfrm>
          <a:prstGeom prst="rect">
            <a:avLst/>
          </a:prstGeom>
          <a:solidFill>
            <a:srgbClr val="B74A5E"/>
          </a:solidFill>
          <a:ln w="12700">
            <a:solidFill>
              <a:srgbClr val="B74A5E"/>
            </a:solidFill>
            <a:prstDash val="solid"/>
          </a:ln>
        </p:spPr>
        <p:txBody>
          <a:bodyPr/>
          <a:p/>
        </p:txBody>
      </p:sp>
      <p:sp>
        <p:nvSpPr>
          <p:cNvPr id="32" name="Text 30"/>
          <p:cNvSpPr/>
          <p:nvPr/>
        </p:nvSpPr>
        <p:spPr>
          <a:xfrm>
            <a:off x="9802368" y="1755648"/>
            <a:ext cx="1645920" cy="219456"/>
          </a:xfrm>
          <a:prstGeom prst="rect">
            <a:avLst/>
          </a:prstGeom>
          <a:noFill/>
          <a:ln/>
        </p:spPr>
        <p:txBody>
          <a:bodyPr wrap="square" lIns="0" tIns="0" rIns="0" bIns="0" rtlCol="0" anchor="t">
            <a:normAutofit/>
          </a:bodyPr>
          <a:lstStyle/>
          <a:p>
            <a:pPr algn="l" indent="0" marL="0">
              <a:buNone/>
            </a:pPr>
            <a:r>
              <a:rPr lang="en-US" sz="1150" b="1" dirty="0">
                <a:solidFill>
                  <a:srgbClr val="14263C"/>
                </a:solidFill>
                <a:latin typeface="Arial" pitchFamily="34" charset="0"/>
                <a:ea typeface="Arial" pitchFamily="34" charset="-122"/>
                <a:cs typeface="Arial" pitchFamily="34" charset="-120"/>
              </a:rPr>
              <a:t>5 · CAPABILITY</a:t>
            </a:r>
            <a:endParaRPr lang="en-US" sz="1150" dirty="0"/>
          </a:p>
        </p:txBody>
      </p:sp>
      <p:sp>
        <p:nvSpPr>
          <p:cNvPr id="33" name="Text 31"/>
          <p:cNvSpPr/>
          <p:nvPr/>
        </p:nvSpPr>
        <p:spPr>
          <a:xfrm>
            <a:off x="9802368" y="2240280"/>
            <a:ext cx="1700784" cy="384048"/>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Validated Skill + Bonded Authority</a:t>
            </a:r>
            <a:endParaRPr lang="en-US" sz="1350" dirty="0"/>
          </a:p>
        </p:txBody>
      </p:sp>
      <p:sp>
        <p:nvSpPr>
          <p:cNvPr id="34" name="Text 32"/>
          <p:cNvSpPr/>
          <p:nvPr/>
        </p:nvSpPr>
        <p:spPr>
          <a:xfrm>
            <a:off x="9802368" y="2880360"/>
            <a:ext cx="1700784" cy="566928"/>
          </a:xfrm>
          <a:prstGeom prst="rect">
            <a:avLst/>
          </a:prstGeom>
          <a:noFill/>
          <a:ln/>
        </p:spPr>
        <p:txBody>
          <a:bodyPr wrap="square" lIns="0" tIns="0" rIns="0" bIns="0" rtlCol="0" anchor="t">
            <a:normAutofit/>
          </a:bodyPr>
          <a:lstStyle/>
          <a:p>
            <a:pPr algn="l" indent="0" marL="0">
              <a:buNone/>
            </a:pPr>
            <a:r>
              <a:rPr lang="en-US" sz="910" dirty="0">
                <a:solidFill>
                  <a:srgbClr val="68788D"/>
                </a:solidFill>
                <a:latin typeface="Arial" pitchFamily="34" charset="0"/>
                <a:ea typeface="Arial" pitchFamily="34" charset="-122"/>
                <a:cs typeface="Arial" pitchFamily="34" charset="-120"/>
              </a:rPr>
              <a:t>Accepted proof becomes scoped capability and economic consequence.</a:t>
            </a:r>
            <a:endParaRPr lang="en-US" sz="910" dirty="0"/>
          </a:p>
        </p:txBody>
      </p:sp>
      <p:sp>
        <p:nvSpPr>
          <p:cNvPr id="35" name="Shape 33"/>
          <p:cNvSpPr/>
          <p:nvPr/>
        </p:nvSpPr>
        <p:spPr>
          <a:xfrm>
            <a:off x="530352" y="3959352"/>
            <a:ext cx="11119104" cy="1508760"/>
          </a:xfrm>
          <a:prstGeom prst="roundRect">
            <a:avLst>
              <a:gd name="adj" fmla="val 4848"/>
            </a:avLst>
          </a:prstGeom>
          <a:solidFill>
            <a:srgbClr val="07182B"/>
          </a:solidFill>
          <a:ln w="12700">
            <a:solidFill>
              <a:srgbClr val="07182B"/>
            </a:solidFill>
            <a:prstDash val="solid"/>
          </a:ln>
        </p:spPr>
        <p:txBody>
          <a:bodyPr/>
          <a:p/>
        </p:txBody>
      </p:sp>
      <p:sp>
        <p:nvSpPr>
          <p:cNvPr id="36" name="Text 34"/>
          <p:cNvSpPr/>
          <p:nvPr/>
        </p:nvSpPr>
        <p:spPr>
          <a:xfrm>
            <a:off x="768096" y="4325112"/>
            <a:ext cx="1883664" cy="228600"/>
          </a:xfrm>
          <a:prstGeom prst="rect">
            <a:avLst/>
          </a:prstGeom>
          <a:noFill/>
          <a:ln/>
        </p:spPr>
        <p:txBody>
          <a:bodyPr wrap="square" lIns="0" tIns="0" rIns="0" bIns="0" rtlCol="0" anchor="t">
            <a:normAutofit/>
          </a:bodyPr>
          <a:lstStyle/>
          <a:p>
            <a:pPr algn="ctr" indent="0" marL="0">
              <a:buNone/>
            </a:pPr>
            <a:r>
              <a:rPr lang="en-US" sz="1200" b="1" dirty="0">
                <a:solidFill>
                  <a:srgbClr val="E9C87D"/>
                </a:solidFill>
                <a:latin typeface="Arial" pitchFamily="34" charset="0"/>
                <a:ea typeface="Arial" pitchFamily="34" charset="-122"/>
                <a:cs typeface="Arial" pitchFamily="34" charset="-120"/>
              </a:rPr>
              <a:t>No proof</a:t>
            </a:r>
            <a:endParaRPr lang="en-US" sz="1200" dirty="0"/>
          </a:p>
        </p:txBody>
      </p:sp>
      <p:sp>
        <p:nvSpPr>
          <p:cNvPr id="37" name="Text 35"/>
          <p:cNvSpPr/>
          <p:nvPr/>
        </p:nvSpPr>
        <p:spPr>
          <a:xfrm>
            <a:off x="768096" y="4681728"/>
            <a:ext cx="1883664" cy="228600"/>
          </a:xfrm>
          <a:prstGeom prst="rect">
            <a:avLst/>
          </a:prstGeom>
          <a:noFill/>
          <a:ln/>
        </p:spPr>
        <p:txBody>
          <a:bodyPr wrap="square" lIns="0" tIns="0" rIns="0" bIns="0" rtlCol="0" anchor="t">
            <a:normAutofit/>
          </a:bodyPr>
          <a:lstStyle/>
          <a:p>
            <a:pPr algn="ctr" indent="0" marL="0">
              <a:buNone/>
            </a:pPr>
            <a:r>
              <a:rPr lang="en-US" sz="1000" dirty="0">
                <a:solidFill>
                  <a:srgbClr val="C7D7E5"/>
                </a:solidFill>
                <a:latin typeface="Arial" pitchFamily="34" charset="0"/>
                <a:ea typeface="Arial" pitchFamily="34" charset="-122"/>
                <a:cs typeface="Arial" pitchFamily="34" charset="-120"/>
              </a:rPr>
              <a:t>no evolution</a:t>
            </a:r>
            <a:endParaRPr lang="en-US" sz="1000" dirty="0"/>
          </a:p>
        </p:txBody>
      </p:sp>
      <p:sp>
        <p:nvSpPr>
          <p:cNvPr id="38" name="Shape 36"/>
          <p:cNvSpPr/>
          <p:nvPr/>
        </p:nvSpPr>
        <p:spPr>
          <a:xfrm>
            <a:off x="2715768" y="4261104"/>
            <a:ext cx="0" cy="777240"/>
          </a:xfrm>
          <a:prstGeom prst="line">
            <a:avLst/>
          </a:prstGeom>
          <a:noFill/>
          <a:ln w="12700">
            <a:solidFill>
              <a:srgbClr val="2F4F69"/>
            </a:solidFill>
            <a:prstDash val="solid"/>
          </a:ln>
        </p:spPr>
        <p:txBody>
          <a:bodyPr/>
          <a:p/>
        </p:txBody>
      </p:sp>
      <p:sp>
        <p:nvSpPr>
          <p:cNvPr id="39" name="Text 37"/>
          <p:cNvSpPr/>
          <p:nvPr/>
        </p:nvSpPr>
        <p:spPr>
          <a:xfrm>
            <a:off x="2926080" y="4325112"/>
            <a:ext cx="1883664" cy="228600"/>
          </a:xfrm>
          <a:prstGeom prst="rect">
            <a:avLst/>
          </a:prstGeom>
          <a:noFill/>
          <a:ln/>
        </p:spPr>
        <p:txBody>
          <a:bodyPr wrap="square" lIns="0" tIns="0" rIns="0" bIns="0" rtlCol="0" anchor="t">
            <a:normAutofit/>
          </a:bodyPr>
          <a:lstStyle/>
          <a:p>
            <a:pPr algn="ctr" indent="0" marL="0">
              <a:buNone/>
            </a:pPr>
            <a:r>
              <a:rPr lang="en-US" sz="1200" b="1" dirty="0">
                <a:solidFill>
                  <a:srgbClr val="E9C87D"/>
                </a:solidFill>
                <a:latin typeface="Arial" pitchFamily="34" charset="0"/>
                <a:ea typeface="Arial" pitchFamily="34" charset="-122"/>
                <a:cs typeface="Arial" pitchFamily="34" charset="-120"/>
              </a:rPr>
              <a:t>No evaluation</a:t>
            </a:r>
            <a:endParaRPr lang="en-US" sz="1200" dirty="0"/>
          </a:p>
        </p:txBody>
      </p:sp>
      <p:sp>
        <p:nvSpPr>
          <p:cNvPr id="40" name="Text 38"/>
          <p:cNvSpPr/>
          <p:nvPr/>
        </p:nvSpPr>
        <p:spPr>
          <a:xfrm>
            <a:off x="2926080" y="4681728"/>
            <a:ext cx="1883664" cy="228600"/>
          </a:xfrm>
          <a:prstGeom prst="rect">
            <a:avLst/>
          </a:prstGeom>
          <a:noFill/>
          <a:ln/>
        </p:spPr>
        <p:txBody>
          <a:bodyPr wrap="square" lIns="0" tIns="0" rIns="0" bIns="0" rtlCol="0" anchor="t">
            <a:normAutofit/>
          </a:bodyPr>
          <a:lstStyle/>
          <a:p>
            <a:pPr algn="ctr" indent="0" marL="0">
              <a:buNone/>
            </a:pPr>
            <a:r>
              <a:rPr lang="en-US" sz="1000" dirty="0">
                <a:solidFill>
                  <a:srgbClr val="C7D7E5"/>
                </a:solidFill>
                <a:latin typeface="Arial" pitchFamily="34" charset="0"/>
                <a:ea typeface="Arial" pitchFamily="34" charset="-122"/>
                <a:cs typeface="Arial" pitchFamily="34" charset="-120"/>
              </a:rPr>
              <a:t>no propagation</a:t>
            </a:r>
            <a:endParaRPr lang="en-US" sz="1000" dirty="0"/>
          </a:p>
        </p:txBody>
      </p:sp>
      <p:sp>
        <p:nvSpPr>
          <p:cNvPr id="41" name="Shape 39"/>
          <p:cNvSpPr/>
          <p:nvPr/>
        </p:nvSpPr>
        <p:spPr>
          <a:xfrm>
            <a:off x="4873752" y="4261104"/>
            <a:ext cx="0" cy="777240"/>
          </a:xfrm>
          <a:prstGeom prst="line">
            <a:avLst/>
          </a:prstGeom>
          <a:noFill/>
          <a:ln w="12700">
            <a:solidFill>
              <a:srgbClr val="2F4F69"/>
            </a:solidFill>
            <a:prstDash val="solid"/>
          </a:ln>
        </p:spPr>
        <p:txBody>
          <a:bodyPr/>
          <a:p/>
        </p:txBody>
      </p:sp>
      <p:sp>
        <p:nvSpPr>
          <p:cNvPr id="42" name="Text 40"/>
          <p:cNvSpPr/>
          <p:nvPr/>
        </p:nvSpPr>
        <p:spPr>
          <a:xfrm>
            <a:off x="5084064" y="4325112"/>
            <a:ext cx="1883664" cy="228600"/>
          </a:xfrm>
          <a:prstGeom prst="rect">
            <a:avLst/>
          </a:prstGeom>
          <a:noFill/>
          <a:ln/>
        </p:spPr>
        <p:txBody>
          <a:bodyPr wrap="square" lIns="0" tIns="0" rIns="0" bIns="0" rtlCol="0" anchor="t">
            <a:normAutofit/>
          </a:bodyPr>
          <a:lstStyle/>
          <a:p>
            <a:pPr algn="ctr" indent="0" marL="0">
              <a:buNone/>
            </a:pPr>
            <a:r>
              <a:rPr lang="en-US" sz="1200" b="1" dirty="0">
                <a:solidFill>
                  <a:srgbClr val="E9C87D"/>
                </a:solidFill>
                <a:latin typeface="Arial" pitchFamily="34" charset="0"/>
                <a:ea typeface="Arial" pitchFamily="34" charset="-122"/>
                <a:cs typeface="Arial" pitchFamily="34" charset="-120"/>
              </a:rPr>
              <a:t>No rollback</a:t>
            </a:r>
            <a:endParaRPr lang="en-US" sz="1200" dirty="0"/>
          </a:p>
        </p:txBody>
      </p:sp>
      <p:sp>
        <p:nvSpPr>
          <p:cNvPr id="43" name="Text 41"/>
          <p:cNvSpPr/>
          <p:nvPr/>
        </p:nvSpPr>
        <p:spPr>
          <a:xfrm>
            <a:off x="5084064" y="4681728"/>
            <a:ext cx="1883664" cy="228600"/>
          </a:xfrm>
          <a:prstGeom prst="rect">
            <a:avLst/>
          </a:prstGeom>
          <a:noFill/>
          <a:ln/>
        </p:spPr>
        <p:txBody>
          <a:bodyPr wrap="square" lIns="0" tIns="0" rIns="0" bIns="0" rtlCol="0" anchor="t">
            <a:normAutofit/>
          </a:bodyPr>
          <a:lstStyle/>
          <a:p>
            <a:pPr algn="ctr" indent="0" marL="0">
              <a:buNone/>
            </a:pPr>
            <a:r>
              <a:rPr lang="en-US" sz="1000" dirty="0">
                <a:solidFill>
                  <a:srgbClr val="C7D7E5"/>
                </a:solidFill>
                <a:latin typeface="Arial" pitchFamily="34" charset="0"/>
                <a:ea typeface="Arial" pitchFamily="34" charset="-122"/>
                <a:cs typeface="Arial" pitchFamily="34" charset="-120"/>
              </a:rPr>
              <a:t>no release</a:t>
            </a:r>
            <a:endParaRPr lang="en-US" sz="1000" dirty="0"/>
          </a:p>
        </p:txBody>
      </p:sp>
      <p:sp>
        <p:nvSpPr>
          <p:cNvPr id="44" name="Shape 42"/>
          <p:cNvSpPr/>
          <p:nvPr/>
        </p:nvSpPr>
        <p:spPr>
          <a:xfrm>
            <a:off x="7031736" y="4261104"/>
            <a:ext cx="0" cy="777240"/>
          </a:xfrm>
          <a:prstGeom prst="line">
            <a:avLst/>
          </a:prstGeom>
          <a:noFill/>
          <a:ln w="12700">
            <a:solidFill>
              <a:srgbClr val="2F4F69"/>
            </a:solidFill>
            <a:prstDash val="solid"/>
          </a:ln>
        </p:spPr>
        <p:txBody>
          <a:bodyPr/>
          <a:p/>
        </p:txBody>
      </p:sp>
      <p:sp>
        <p:nvSpPr>
          <p:cNvPr id="45" name="Text 43"/>
          <p:cNvSpPr/>
          <p:nvPr/>
        </p:nvSpPr>
        <p:spPr>
          <a:xfrm>
            <a:off x="7242048" y="4325112"/>
            <a:ext cx="1883664" cy="228600"/>
          </a:xfrm>
          <a:prstGeom prst="rect">
            <a:avLst/>
          </a:prstGeom>
          <a:noFill/>
          <a:ln/>
        </p:spPr>
        <p:txBody>
          <a:bodyPr wrap="square" lIns="0" tIns="0" rIns="0" bIns="0" rtlCol="0" anchor="t">
            <a:normAutofit/>
          </a:bodyPr>
          <a:lstStyle/>
          <a:p>
            <a:pPr algn="ctr" indent="0" marL="0">
              <a:buNone/>
            </a:pPr>
            <a:r>
              <a:rPr lang="en-US" sz="1200" b="1" dirty="0">
                <a:solidFill>
                  <a:srgbClr val="E9C87D"/>
                </a:solidFill>
                <a:latin typeface="Arial" pitchFamily="34" charset="0"/>
                <a:ea typeface="Arial" pitchFamily="34" charset="-122"/>
                <a:cs typeface="Arial" pitchFamily="34" charset="-120"/>
              </a:rPr>
              <a:t>No Chronicle entry</a:t>
            </a:r>
            <a:endParaRPr lang="en-US" sz="1200" dirty="0"/>
          </a:p>
        </p:txBody>
      </p:sp>
      <p:sp>
        <p:nvSpPr>
          <p:cNvPr id="46" name="Text 44"/>
          <p:cNvSpPr/>
          <p:nvPr/>
        </p:nvSpPr>
        <p:spPr>
          <a:xfrm>
            <a:off x="7242048" y="4681728"/>
            <a:ext cx="1883664" cy="228600"/>
          </a:xfrm>
          <a:prstGeom prst="rect">
            <a:avLst/>
          </a:prstGeom>
          <a:noFill/>
          <a:ln/>
        </p:spPr>
        <p:txBody>
          <a:bodyPr wrap="square" lIns="0" tIns="0" rIns="0" bIns="0" rtlCol="0" anchor="t">
            <a:normAutofit/>
          </a:bodyPr>
          <a:lstStyle/>
          <a:p>
            <a:pPr algn="ctr" indent="0" marL="0">
              <a:buNone/>
            </a:pPr>
            <a:r>
              <a:rPr lang="en-US" sz="1000" dirty="0">
                <a:solidFill>
                  <a:srgbClr val="C7D7E5"/>
                </a:solidFill>
                <a:latin typeface="Arial" pitchFamily="34" charset="0"/>
                <a:ea typeface="Arial" pitchFamily="34" charset="-122"/>
                <a:cs typeface="Arial" pitchFamily="34" charset="-120"/>
              </a:rPr>
              <a:t>no future-mission influence</a:t>
            </a:r>
            <a:endParaRPr lang="en-US" sz="1000" dirty="0"/>
          </a:p>
        </p:txBody>
      </p:sp>
      <p:sp>
        <p:nvSpPr>
          <p:cNvPr id="47" name="Shape 45"/>
          <p:cNvSpPr/>
          <p:nvPr/>
        </p:nvSpPr>
        <p:spPr>
          <a:xfrm>
            <a:off x="9189720" y="4261104"/>
            <a:ext cx="0" cy="777240"/>
          </a:xfrm>
          <a:prstGeom prst="line">
            <a:avLst/>
          </a:prstGeom>
          <a:noFill/>
          <a:ln w="12700">
            <a:solidFill>
              <a:srgbClr val="2F4F69"/>
            </a:solidFill>
            <a:prstDash val="solid"/>
          </a:ln>
        </p:spPr>
        <p:txBody>
          <a:bodyPr/>
          <a:p/>
        </p:txBody>
      </p:sp>
      <p:sp>
        <p:nvSpPr>
          <p:cNvPr id="48" name="Text 46"/>
          <p:cNvSpPr/>
          <p:nvPr/>
        </p:nvSpPr>
        <p:spPr>
          <a:xfrm>
            <a:off x="9400032" y="4325112"/>
            <a:ext cx="1883664" cy="228600"/>
          </a:xfrm>
          <a:prstGeom prst="rect">
            <a:avLst/>
          </a:prstGeom>
          <a:noFill/>
          <a:ln/>
        </p:spPr>
        <p:txBody>
          <a:bodyPr wrap="square" lIns="0" tIns="0" rIns="0" bIns="0" rtlCol="0" anchor="t">
            <a:normAutofit/>
          </a:bodyPr>
          <a:lstStyle/>
          <a:p>
            <a:pPr algn="ctr" indent="0" marL="0">
              <a:buNone/>
            </a:pPr>
            <a:r>
              <a:rPr lang="en-US" sz="1200" b="1" dirty="0">
                <a:solidFill>
                  <a:srgbClr val="E9C87D"/>
                </a:solidFill>
                <a:latin typeface="Arial" pitchFamily="34" charset="0"/>
                <a:ea typeface="Arial" pitchFamily="34" charset="-122"/>
                <a:cs typeface="Arial" pitchFamily="34" charset="-120"/>
              </a:rPr>
              <a:t>No valid bond receipt</a:t>
            </a:r>
            <a:endParaRPr lang="en-US" sz="1200" dirty="0"/>
          </a:p>
        </p:txBody>
      </p:sp>
      <p:sp>
        <p:nvSpPr>
          <p:cNvPr id="49" name="Text 47"/>
          <p:cNvSpPr/>
          <p:nvPr/>
        </p:nvSpPr>
        <p:spPr>
          <a:xfrm>
            <a:off x="9400032" y="4681728"/>
            <a:ext cx="1883664" cy="228600"/>
          </a:xfrm>
          <a:prstGeom prst="rect">
            <a:avLst/>
          </a:prstGeom>
          <a:noFill/>
          <a:ln/>
        </p:spPr>
        <p:txBody>
          <a:bodyPr wrap="square" lIns="0" tIns="0" rIns="0" bIns="0" rtlCol="0" anchor="t">
            <a:normAutofit/>
          </a:bodyPr>
          <a:lstStyle/>
          <a:p>
            <a:pPr algn="ctr" indent="0" marL="0">
              <a:buNone/>
            </a:pPr>
            <a:r>
              <a:rPr lang="en-US" sz="1000" dirty="0">
                <a:solidFill>
                  <a:srgbClr val="C7D7E5"/>
                </a:solidFill>
                <a:latin typeface="Arial" pitchFamily="34" charset="0"/>
                <a:ea typeface="Arial" pitchFamily="34" charset="-122"/>
                <a:cs typeface="Arial" pitchFamily="34" charset="-120"/>
              </a:rPr>
              <a:t>no authority transition</a:t>
            </a:r>
            <a:endParaRPr lang="en-US" sz="1000" dirty="0"/>
          </a:p>
        </p:txBody>
      </p:sp>
      <p:sp>
        <p:nvSpPr>
          <p:cNvPr id="50" name="Text 48"/>
          <p:cNvSpPr/>
          <p:nvPr/>
        </p:nvSpPr>
        <p:spPr>
          <a:xfrm>
            <a:off x="685800" y="5806440"/>
            <a:ext cx="10789920" cy="329184"/>
          </a:xfrm>
          <a:prstGeom prst="rect">
            <a:avLst/>
          </a:prstGeom>
          <a:noFill/>
          <a:ln/>
        </p:spPr>
        <p:txBody>
          <a:bodyPr wrap="square" lIns="0" tIns="0" rIns="0" bIns="0" rtlCol="0" anchor="t">
            <a:normAutofit/>
          </a:bodyPr>
          <a:lstStyle/>
          <a:p>
            <a:pPr algn="ctr" indent="0" marL="0">
              <a:buNone/>
            </a:pPr>
            <a:r>
              <a:rPr lang="en-US" sz="930" b="1" dirty="0">
                <a:solidFill>
                  <a:srgbClr val="14263C"/>
                </a:solidFill>
                <a:latin typeface="Courier New" pitchFamily="34" charset="0"/>
                <a:ea typeface="Courier New" pitchFamily="34" charset="-122"/>
                <a:cs typeface="Courier New" pitchFamily="34" charset="-120"/>
              </a:rPr>
              <a:t>Objective -&gt; Mission Contract -&gt; Proof Debt -&gt; AGI Jobs -&gt; ProofBundles -&gt; Evidence Docket -&gt; Validation -&gt; Chronicle -&gt; Validated Skill -&gt; Bonded Authority</a:t>
            </a:r>
            <a:endParaRPr lang="en-US" sz="93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30352" y="164592"/>
            <a:ext cx="260604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247802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ILLUSTRATIVE PARTNER MISSION</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Strategic partnership diligence - from uncertainty to a bounded decision.</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A hypothetical enterprise asks whether to enter a 30-day AI infrastructure pilot.</a:t>
            </a:r>
            <a:endParaRPr lang="en-US" sz="1230" dirty="0"/>
          </a:p>
        </p:txBody>
      </p:sp>
      <p:sp>
        <p:nvSpPr>
          <p:cNvPr id="6" name="Shape 4"/>
          <p:cNvSpPr/>
          <p:nvPr/>
        </p:nvSpPr>
        <p:spPr>
          <a:xfrm>
            <a:off x="548640" y="1536192"/>
            <a:ext cx="3246120" cy="4480560"/>
          </a:xfrm>
          <a:prstGeom prst="roundRect">
            <a:avLst>
              <a:gd name="adj" fmla="val 2254"/>
            </a:avLst>
          </a:prstGeom>
          <a:solidFill>
            <a:srgbClr val="FFFDF8"/>
          </a:solidFill>
          <a:ln w="12700">
            <a:solidFill>
              <a:srgbClr val="D9D0C1"/>
            </a:solidFill>
            <a:prstDash val="solid"/>
          </a:ln>
          <a:effectLst>
            <a:outerShdw sx="100000" sy="100000" kx="0" ky="0" algn="bl" rotWithShape="0" blurRad="25400" dist="50800" dir="2700000">
              <a:srgbClr val="07182B">
                <a:alpha val="10000"/>
              </a:srgbClr>
            </a:outerShdw>
          </a:effectLst>
        </p:spPr>
        <p:txBody>
          <a:bodyPr/>
          <a:p/>
        </p:txBody>
      </p:sp>
      <p:sp>
        <p:nvSpPr>
          <p:cNvPr id="7" name="Shape 5"/>
          <p:cNvSpPr/>
          <p:nvPr/>
        </p:nvSpPr>
        <p:spPr>
          <a:xfrm>
            <a:off x="822960" y="1810512"/>
            <a:ext cx="1143000" cy="256032"/>
          </a:xfrm>
          <a:prstGeom prst="roundRect">
            <a:avLst>
              <a:gd name="adj" fmla="val 21429"/>
            </a:avLst>
          </a:prstGeom>
          <a:solidFill>
            <a:srgbClr val="E8F3FA"/>
          </a:solidFill>
          <a:ln w="12700">
            <a:solidFill>
              <a:srgbClr val="387FB7">
                <a:alpha val="85000"/>
              </a:srgbClr>
            </a:solidFill>
            <a:prstDash val="solid"/>
          </a:ln>
        </p:spPr>
        <p:txBody>
          <a:bodyPr/>
          <a:p/>
        </p:txBody>
      </p:sp>
      <p:sp>
        <p:nvSpPr>
          <p:cNvPr id="8" name="Text 6"/>
          <p:cNvSpPr/>
          <p:nvPr/>
        </p:nvSpPr>
        <p:spPr>
          <a:xfrm>
            <a:off x="886968" y="1858061"/>
            <a:ext cx="10149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387FB7"/>
                </a:solidFill>
                <a:latin typeface="Arial" pitchFamily="34" charset="0"/>
                <a:ea typeface="Arial" pitchFamily="34" charset="-122"/>
                <a:cs typeface="Arial" pitchFamily="34" charset="-120"/>
              </a:rPr>
              <a:t>MISSION INPUT</a:t>
            </a:r>
            <a:endParaRPr lang="en-US" sz="800" dirty="0"/>
          </a:p>
        </p:txBody>
      </p:sp>
      <p:sp>
        <p:nvSpPr>
          <p:cNvPr id="9" name="Text 7"/>
          <p:cNvSpPr/>
          <p:nvPr/>
        </p:nvSpPr>
        <p:spPr>
          <a:xfrm>
            <a:off x="822960" y="2331720"/>
            <a:ext cx="914400" cy="201168"/>
          </a:xfrm>
          <a:prstGeom prst="rect">
            <a:avLst/>
          </a:prstGeom>
          <a:noFill/>
          <a:ln/>
        </p:spPr>
        <p:txBody>
          <a:bodyPr wrap="square" lIns="0" tIns="0" rIns="0" bIns="0" rtlCol="0" anchor="t">
            <a:normAutofit/>
          </a:bodyPr>
          <a:lstStyle/>
          <a:p>
            <a:pPr algn="l" indent="0" marL="0">
              <a:buNone/>
            </a:pPr>
            <a:r>
              <a:rPr lang="en-US" sz="900" b="1" dirty="0">
                <a:solidFill>
                  <a:srgbClr val="B8872E"/>
                </a:solidFill>
                <a:latin typeface="Arial" pitchFamily="34" charset="0"/>
                <a:ea typeface="Arial" pitchFamily="34" charset="-122"/>
                <a:cs typeface="Arial" pitchFamily="34" charset="-120"/>
              </a:rPr>
              <a:t>Objective</a:t>
            </a:r>
            <a:endParaRPr lang="en-US" sz="900" dirty="0"/>
          </a:p>
        </p:txBody>
      </p:sp>
      <p:sp>
        <p:nvSpPr>
          <p:cNvPr id="10" name="Text 8"/>
          <p:cNvSpPr/>
          <p:nvPr/>
        </p:nvSpPr>
        <p:spPr>
          <a:xfrm>
            <a:off x="822960" y="2606040"/>
            <a:ext cx="2651760" cy="713232"/>
          </a:xfrm>
          <a:prstGeom prst="rect">
            <a:avLst/>
          </a:prstGeom>
          <a:noFill/>
          <a:ln/>
        </p:spPr>
        <p:txBody>
          <a:bodyPr wrap="square" lIns="0" tIns="0" rIns="0" bIns="0" rtlCol="0" anchor="t">
            <a:normAutofit/>
          </a:bodyPr>
          <a:lstStyle/>
          <a:p>
            <a:pPr algn="l" indent="0" marL="0">
              <a:buNone/>
            </a:pPr>
            <a:r>
              <a:rPr lang="en-US" sz="1800" b="1" dirty="0">
                <a:solidFill>
                  <a:srgbClr val="14263C"/>
                </a:solidFill>
                <a:latin typeface="Georgia" pitchFamily="34" charset="0"/>
                <a:ea typeface="Georgia" pitchFamily="34" charset="-122"/>
                <a:cs typeface="Georgia" pitchFamily="34" charset="-120"/>
              </a:rPr>
              <a:t>Determine whether to enter a bounded AI infrastructure partnership pilot.</a:t>
            </a:r>
            <a:endParaRPr lang="en-US" sz="1800" dirty="0"/>
          </a:p>
        </p:txBody>
      </p:sp>
      <p:sp>
        <p:nvSpPr>
          <p:cNvPr id="11" name="Text 9"/>
          <p:cNvSpPr/>
          <p:nvPr/>
        </p:nvSpPr>
        <p:spPr>
          <a:xfrm>
            <a:off x="822960" y="3584448"/>
            <a:ext cx="960120" cy="164592"/>
          </a:xfrm>
          <a:prstGeom prst="rect">
            <a:avLst/>
          </a:prstGeom>
          <a:noFill/>
          <a:ln/>
        </p:spPr>
        <p:txBody>
          <a:bodyPr wrap="square" lIns="0" tIns="0" rIns="0" bIns="0" rtlCol="0" anchor="t">
            <a:normAutofit/>
          </a:bodyPr>
          <a:lstStyle/>
          <a:p>
            <a:pPr algn="l" indent="0" marL="0">
              <a:buNone/>
            </a:pPr>
            <a:r>
              <a:rPr lang="en-US" sz="840" b="1" dirty="0">
                <a:solidFill>
                  <a:srgbClr val="68788D"/>
                </a:solidFill>
                <a:latin typeface="Arial" pitchFamily="34" charset="0"/>
                <a:ea typeface="Arial" pitchFamily="34" charset="-122"/>
                <a:cs typeface="Arial" pitchFamily="34" charset="-120"/>
              </a:rPr>
              <a:t>Proof level</a:t>
            </a:r>
            <a:endParaRPr lang="en-US" sz="840" dirty="0"/>
          </a:p>
        </p:txBody>
      </p:sp>
      <p:sp>
        <p:nvSpPr>
          <p:cNvPr id="12" name="Text 10"/>
          <p:cNvSpPr/>
          <p:nvPr/>
        </p:nvSpPr>
        <p:spPr>
          <a:xfrm>
            <a:off x="1828800" y="3584448"/>
            <a:ext cx="1627632" cy="219456"/>
          </a:xfrm>
          <a:prstGeom prst="rect">
            <a:avLst/>
          </a:prstGeom>
          <a:noFill/>
          <a:ln/>
        </p:spPr>
        <p:txBody>
          <a:bodyPr wrap="square" lIns="0" tIns="0" rIns="0" bIns="0" rtlCol="0" anchor="t">
            <a:normAutofit/>
          </a:bodyPr>
          <a:lstStyle/>
          <a:p>
            <a:pPr algn="l" indent="0" marL="0">
              <a:buNone/>
            </a:pPr>
            <a:r>
              <a:rPr lang="en-US" sz="920" b="1" dirty="0">
                <a:solidFill>
                  <a:srgbClr val="14263C"/>
                </a:solidFill>
                <a:latin typeface="Arial" pitchFamily="34" charset="0"/>
                <a:ea typeface="Arial" pitchFamily="34" charset="-122"/>
                <a:cs typeface="Arial" pitchFamily="34" charset="-120"/>
              </a:rPr>
              <a:t>L3 - external-review ready</a:t>
            </a:r>
            <a:endParaRPr lang="en-US" sz="920" dirty="0"/>
          </a:p>
        </p:txBody>
      </p:sp>
      <p:sp>
        <p:nvSpPr>
          <p:cNvPr id="13" name="Text 11"/>
          <p:cNvSpPr/>
          <p:nvPr/>
        </p:nvSpPr>
        <p:spPr>
          <a:xfrm>
            <a:off x="822960" y="4059936"/>
            <a:ext cx="960120" cy="164592"/>
          </a:xfrm>
          <a:prstGeom prst="rect">
            <a:avLst/>
          </a:prstGeom>
          <a:noFill/>
          <a:ln/>
        </p:spPr>
        <p:txBody>
          <a:bodyPr wrap="square" lIns="0" tIns="0" rIns="0" bIns="0" rtlCol="0" anchor="t">
            <a:normAutofit/>
          </a:bodyPr>
          <a:lstStyle/>
          <a:p>
            <a:pPr algn="l" indent="0" marL="0">
              <a:buNone/>
            </a:pPr>
            <a:r>
              <a:rPr lang="en-US" sz="840" b="1" dirty="0">
                <a:solidFill>
                  <a:srgbClr val="68788D"/>
                </a:solidFill>
                <a:latin typeface="Arial" pitchFamily="34" charset="0"/>
                <a:ea typeface="Arial" pitchFamily="34" charset="-122"/>
                <a:cs typeface="Arial" pitchFamily="34" charset="-120"/>
              </a:rPr>
              <a:t>Risk class</a:t>
            </a:r>
            <a:endParaRPr lang="en-US" sz="840" dirty="0"/>
          </a:p>
        </p:txBody>
      </p:sp>
      <p:sp>
        <p:nvSpPr>
          <p:cNvPr id="14" name="Text 12"/>
          <p:cNvSpPr/>
          <p:nvPr/>
        </p:nvSpPr>
        <p:spPr>
          <a:xfrm>
            <a:off x="1828800" y="4059936"/>
            <a:ext cx="1627632" cy="219456"/>
          </a:xfrm>
          <a:prstGeom prst="rect">
            <a:avLst/>
          </a:prstGeom>
          <a:noFill/>
          <a:ln/>
        </p:spPr>
        <p:txBody>
          <a:bodyPr wrap="square" lIns="0" tIns="0" rIns="0" bIns="0" rtlCol="0" anchor="t">
            <a:normAutofit/>
          </a:bodyPr>
          <a:lstStyle/>
          <a:p>
            <a:pPr algn="l" indent="0" marL="0">
              <a:buNone/>
            </a:pPr>
            <a:r>
              <a:rPr lang="en-US" sz="920" b="1" dirty="0">
                <a:solidFill>
                  <a:srgbClr val="14263C"/>
                </a:solidFill>
                <a:latin typeface="Arial" pitchFamily="34" charset="0"/>
                <a:ea typeface="Arial" pitchFamily="34" charset="-122"/>
                <a:cs typeface="Arial" pitchFamily="34" charset="-120"/>
              </a:rPr>
              <a:t>High-stakes, reversible</a:t>
            </a:r>
            <a:endParaRPr lang="en-US" sz="920" dirty="0"/>
          </a:p>
        </p:txBody>
      </p:sp>
      <p:sp>
        <p:nvSpPr>
          <p:cNvPr id="15" name="Text 13"/>
          <p:cNvSpPr/>
          <p:nvPr/>
        </p:nvSpPr>
        <p:spPr>
          <a:xfrm>
            <a:off x="822960" y="4535424"/>
            <a:ext cx="960120" cy="164592"/>
          </a:xfrm>
          <a:prstGeom prst="rect">
            <a:avLst/>
          </a:prstGeom>
          <a:noFill/>
          <a:ln/>
        </p:spPr>
        <p:txBody>
          <a:bodyPr wrap="square" lIns="0" tIns="0" rIns="0" bIns="0" rtlCol="0" anchor="t">
            <a:normAutofit/>
          </a:bodyPr>
          <a:lstStyle/>
          <a:p>
            <a:pPr algn="l" indent="0" marL="0">
              <a:buNone/>
            </a:pPr>
            <a:r>
              <a:rPr lang="en-US" sz="840" b="1" dirty="0">
                <a:solidFill>
                  <a:srgbClr val="68788D"/>
                </a:solidFill>
                <a:latin typeface="Arial" pitchFamily="34" charset="0"/>
                <a:ea typeface="Arial" pitchFamily="34" charset="-122"/>
                <a:cs typeface="Arial" pitchFamily="34" charset="-120"/>
              </a:rPr>
              <a:t>Validators</a:t>
            </a:r>
            <a:endParaRPr lang="en-US" sz="840" dirty="0"/>
          </a:p>
        </p:txBody>
      </p:sp>
      <p:sp>
        <p:nvSpPr>
          <p:cNvPr id="16" name="Text 14"/>
          <p:cNvSpPr/>
          <p:nvPr/>
        </p:nvSpPr>
        <p:spPr>
          <a:xfrm>
            <a:off x="1828800" y="4535424"/>
            <a:ext cx="1627632" cy="219456"/>
          </a:xfrm>
          <a:prstGeom prst="rect">
            <a:avLst/>
          </a:prstGeom>
          <a:noFill/>
          <a:ln/>
        </p:spPr>
        <p:txBody>
          <a:bodyPr wrap="square" lIns="0" tIns="0" rIns="0" bIns="0" rtlCol="0" anchor="t">
            <a:normAutofit/>
          </a:bodyPr>
          <a:lstStyle/>
          <a:p>
            <a:pPr algn="l" indent="0" marL="0">
              <a:buNone/>
            </a:pPr>
            <a:r>
              <a:rPr lang="en-US" sz="920" b="1" dirty="0">
                <a:solidFill>
                  <a:srgbClr val="14263C"/>
                </a:solidFill>
                <a:latin typeface="Arial" pitchFamily="34" charset="0"/>
                <a:ea typeface="Arial" pitchFamily="34" charset="-122"/>
                <a:cs typeface="Arial" pitchFamily="34" charset="-120"/>
              </a:rPr>
              <a:t>Technical, security, commercial, operational, boundary</a:t>
            </a:r>
            <a:endParaRPr lang="en-US" sz="920" dirty="0"/>
          </a:p>
        </p:txBody>
      </p:sp>
      <p:sp>
        <p:nvSpPr>
          <p:cNvPr id="17" name="Text 15"/>
          <p:cNvSpPr/>
          <p:nvPr/>
        </p:nvSpPr>
        <p:spPr>
          <a:xfrm>
            <a:off x="822960" y="5010912"/>
            <a:ext cx="960120" cy="164592"/>
          </a:xfrm>
          <a:prstGeom prst="rect">
            <a:avLst/>
          </a:prstGeom>
          <a:noFill/>
          <a:ln/>
        </p:spPr>
        <p:txBody>
          <a:bodyPr wrap="square" lIns="0" tIns="0" rIns="0" bIns="0" rtlCol="0" anchor="t">
            <a:normAutofit/>
          </a:bodyPr>
          <a:lstStyle/>
          <a:p>
            <a:pPr algn="l" indent="0" marL="0">
              <a:buNone/>
            </a:pPr>
            <a:r>
              <a:rPr lang="en-US" sz="840" b="1" dirty="0">
                <a:solidFill>
                  <a:srgbClr val="68788D"/>
                </a:solidFill>
                <a:latin typeface="Arial" pitchFamily="34" charset="0"/>
                <a:ea typeface="Arial" pitchFamily="34" charset="-122"/>
                <a:cs typeface="Arial" pitchFamily="34" charset="-120"/>
              </a:rPr>
              <a:t>Blocked claim</a:t>
            </a:r>
            <a:endParaRPr lang="en-US" sz="840" dirty="0"/>
          </a:p>
        </p:txBody>
      </p:sp>
      <p:sp>
        <p:nvSpPr>
          <p:cNvPr id="18" name="Text 16"/>
          <p:cNvSpPr/>
          <p:nvPr/>
        </p:nvSpPr>
        <p:spPr>
          <a:xfrm>
            <a:off x="1828800" y="5010912"/>
            <a:ext cx="1627632" cy="219456"/>
          </a:xfrm>
          <a:prstGeom prst="rect">
            <a:avLst/>
          </a:prstGeom>
          <a:noFill/>
          <a:ln/>
        </p:spPr>
        <p:txBody>
          <a:bodyPr wrap="square" lIns="0" tIns="0" rIns="0" bIns="0" rtlCol="0" anchor="t">
            <a:normAutofit/>
          </a:bodyPr>
          <a:lstStyle/>
          <a:p>
            <a:pPr algn="l" indent="0" marL="0">
              <a:buNone/>
            </a:pPr>
            <a:r>
              <a:rPr lang="en-US" sz="920" b="1" dirty="0">
                <a:solidFill>
                  <a:srgbClr val="14263C"/>
                </a:solidFill>
                <a:latin typeface="Arial" pitchFamily="34" charset="0"/>
                <a:ea typeface="Arial" pitchFamily="34" charset="-122"/>
                <a:cs typeface="Arial" pitchFamily="34" charset="-120"/>
              </a:rPr>
              <a:t>No production-readiness assertion</a:t>
            </a:r>
            <a:endParaRPr lang="en-US" sz="920" dirty="0"/>
          </a:p>
        </p:txBody>
      </p:sp>
      <p:sp>
        <p:nvSpPr>
          <p:cNvPr id="19" name="Shape 17"/>
          <p:cNvSpPr/>
          <p:nvPr/>
        </p:nvSpPr>
        <p:spPr>
          <a:xfrm>
            <a:off x="3977640" y="3337560"/>
            <a:ext cx="502920" cy="274320"/>
          </a:xfrm>
          <a:prstGeom prst="chevron">
            <a:avLst/>
          </a:prstGeom>
          <a:solidFill>
            <a:srgbClr val="B8872E"/>
          </a:solidFill>
          <a:ln w="12700">
            <a:solidFill>
              <a:srgbClr val="B8872E">
                <a:alpha val="0"/>
              </a:srgbClr>
            </a:solidFill>
            <a:prstDash val="solid"/>
          </a:ln>
        </p:spPr>
        <p:txBody>
          <a:bodyPr/>
          <a:p/>
        </p:txBody>
      </p:sp>
      <p:sp>
        <p:nvSpPr>
          <p:cNvPr id="20" name="Shape 18"/>
          <p:cNvSpPr/>
          <p:nvPr/>
        </p:nvSpPr>
        <p:spPr>
          <a:xfrm>
            <a:off x="4572000" y="1536192"/>
            <a:ext cx="3822192" cy="4480560"/>
          </a:xfrm>
          <a:prstGeom prst="roundRect">
            <a:avLst>
              <a:gd name="adj" fmla="val 1914"/>
            </a:avLst>
          </a:prstGeom>
          <a:solidFill>
            <a:srgbClr val="F1FAF5"/>
          </a:solidFill>
          <a:ln w="12700">
            <a:solidFill>
              <a:srgbClr val="9ECBB5"/>
            </a:solidFill>
            <a:prstDash val="solid"/>
          </a:ln>
          <a:effectLst>
            <a:outerShdw sx="100000" sy="100000" kx="0" ky="0" algn="bl" rotWithShape="0" blurRad="25400" dist="50800" dir="2700000">
              <a:srgbClr val="07182B">
                <a:alpha val="10000"/>
              </a:srgbClr>
            </a:outerShdw>
          </a:effectLst>
        </p:spPr>
        <p:txBody>
          <a:bodyPr/>
          <a:p/>
        </p:txBody>
      </p:sp>
      <p:sp>
        <p:nvSpPr>
          <p:cNvPr id="21" name="Shape 19"/>
          <p:cNvSpPr/>
          <p:nvPr/>
        </p:nvSpPr>
        <p:spPr>
          <a:xfrm>
            <a:off x="4864608" y="1810512"/>
            <a:ext cx="1600200" cy="256032"/>
          </a:xfrm>
          <a:prstGeom prst="roundRect">
            <a:avLst>
              <a:gd name="adj" fmla="val 21429"/>
            </a:avLst>
          </a:prstGeom>
          <a:solidFill>
            <a:srgbClr val="EAF7F0"/>
          </a:solidFill>
          <a:ln w="12700">
            <a:solidFill>
              <a:srgbClr val="21805A">
                <a:alpha val="85000"/>
              </a:srgbClr>
            </a:solidFill>
            <a:prstDash val="solid"/>
          </a:ln>
        </p:spPr>
        <p:txBody>
          <a:bodyPr/>
          <a:p/>
        </p:txBody>
      </p:sp>
      <p:sp>
        <p:nvSpPr>
          <p:cNvPr id="22" name="Text 20"/>
          <p:cNvSpPr/>
          <p:nvPr/>
        </p:nvSpPr>
        <p:spPr>
          <a:xfrm>
            <a:off x="4928616" y="1858061"/>
            <a:ext cx="14721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21805A"/>
                </a:solidFill>
                <a:latin typeface="Arial" pitchFamily="34" charset="0"/>
                <a:ea typeface="Arial" pitchFamily="34" charset="-122"/>
                <a:cs typeface="Arial" pitchFamily="34" charset="-120"/>
              </a:rPr>
              <a:t>GOVERNED DECISION</a:t>
            </a:r>
            <a:endParaRPr lang="en-US" sz="800" dirty="0"/>
          </a:p>
        </p:txBody>
      </p:sp>
      <p:sp>
        <p:nvSpPr>
          <p:cNvPr id="23" name="Text 21"/>
          <p:cNvSpPr/>
          <p:nvPr/>
        </p:nvSpPr>
        <p:spPr>
          <a:xfrm>
            <a:off x="4846320" y="2304288"/>
            <a:ext cx="3246120" cy="914400"/>
          </a:xfrm>
          <a:prstGeom prst="rect">
            <a:avLst/>
          </a:prstGeom>
          <a:noFill/>
          <a:ln/>
        </p:spPr>
        <p:txBody>
          <a:bodyPr wrap="square" lIns="0" tIns="0" rIns="0" bIns="0" rtlCol="0" anchor="t">
            <a:normAutofit/>
          </a:bodyPr>
          <a:lstStyle/>
          <a:p>
            <a:pPr algn="l" indent="0" marL="0">
              <a:buNone/>
            </a:pPr>
            <a:r>
              <a:rPr lang="en-US" sz="2200" b="1" dirty="0">
                <a:solidFill>
                  <a:srgbClr val="14263C"/>
                </a:solidFill>
                <a:latin typeface="Georgia" pitchFamily="34" charset="0"/>
                <a:ea typeface="Georgia" pitchFamily="34" charset="-122"/>
                <a:cs typeface="Georgia" pitchFamily="34" charset="-120"/>
              </a:rPr>
              <a:t>Proceed with a bounded pilot - subject to four closing conditions.</a:t>
            </a:r>
            <a:endParaRPr lang="en-US" sz="2200" dirty="0"/>
          </a:p>
        </p:txBody>
      </p:sp>
      <p:sp>
        <p:nvSpPr>
          <p:cNvPr id="24" name="Shape 22"/>
          <p:cNvSpPr/>
          <p:nvPr/>
        </p:nvSpPr>
        <p:spPr>
          <a:xfrm>
            <a:off x="4864608" y="3456432"/>
            <a:ext cx="256032" cy="256032"/>
          </a:xfrm>
          <a:prstGeom prst="roundRect">
            <a:avLst>
              <a:gd name="adj" fmla="val 17857"/>
            </a:avLst>
          </a:prstGeom>
          <a:solidFill>
            <a:srgbClr val="DFF2E8"/>
          </a:solidFill>
          <a:ln w="12700">
            <a:solidFill>
              <a:srgbClr val="DFF2E8"/>
            </a:solidFill>
            <a:prstDash val="solid"/>
          </a:ln>
        </p:spPr>
        <p:txBody>
          <a:bodyPr/>
          <a:p/>
        </p:txBody>
      </p:sp>
      <p:sp>
        <p:nvSpPr>
          <p:cNvPr id="25" name="Text 23"/>
          <p:cNvSpPr/>
          <p:nvPr/>
        </p:nvSpPr>
        <p:spPr>
          <a:xfrm>
            <a:off x="4910328" y="3483864"/>
            <a:ext cx="155448" cy="128016"/>
          </a:xfrm>
          <a:prstGeom prst="rect">
            <a:avLst/>
          </a:prstGeom>
          <a:noFill/>
          <a:ln/>
        </p:spPr>
        <p:txBody>
          <a:bodyPr wrap="square" lIns="0" tIns="0" rIns="0" bIns="0" rtlCol="0" anchor="t">
            <a:normAutofit/>
          </a:bodyPr>
          <a:lstStyle/>
          <a:p>
            <a:pPr algn="ctr" indent="0" marL="0">
              <a:buNone/>
            </a:pPr>
            <a:r>
              <a:rPr lang="en-US" sz="950" b="1" dirty="0">
                <a:solidFill>
                  <a:srgbClr val="21805A"/>
                </a:solidFill>
                <a:latin typeface="Arial" pitchFamily="34" charset="0"/>
                <a:ea typeface="Arial" pitchFamily="34" charset="-122"/>
                <a:cs typeface="Arial" pitchFamily="34" charset="-120"/>
              </a:rPr>
              <a:t>✓</a:t>
            </a:r>
            <a:endParaRPr lang="en-US" sz="950" dirty="0"/>
          </a:p>
        </p:txBody>
      </p:sp>
      <p:sp>
        <p:nvSpPr>
          <p:cNvPr id="26" name="Text 24"/>
          <p:cNvSpPr/>
          <p:nvPr/>
        </p:nvSpPr>
        <p:spPr>
          <a:xfrm>
            <a:off x="5230368" y="3447288"/>
            <a:ext cx="2834640" cy="292608"/>
          </a:xfrm>
          <a:prstGeom prst="rect">
            <a:avLst/>
          </a:prstGeom>
          <a:noFill/>
          <a:ln/>
        </p:spPr>
        <p:txBody>
          <a:bodyPr wrap="square" lIns="0" tIns="0" rIns="0" bIns="0" rtlCol="0" anchor="t">
            <a:normAutofit/>
          </a:bodyPr>
          <a:lstStyle/>
          <a:p>
            <a:pPr algn="l" indent="0" marL="0">
              <a:buNone/>
            </a:pPr>
            <a:r>
              <a:rPr lang="en-US" sz="960" b="1" dirty="0">
                <a:solidFill>
                  <a:srgbClr val="14263C"/>
                </a:solidFill>
                <a:latin typeface="Arial" pitchFamily="34" charset="0"/>
                <a:ea typeface="Arial" pitchFamily="34" charset="-122"/>
                <a:cs typeface="Arial" pitchFamily="34" charset="-120"/>
              </a:rPr>
              <a:t>Independent security control evidence</a:t>
            </a:r>
            <a:endParaRPr lang="en-US" sz="960" dirty="0"/>
          </a:p>
        </p:txBody>
      </p:sp>
      <p:sp>
        <p:nvSpPr>
          <p:cNvPr id="27" name="Shape 25"/>
          <p:cNvSpPr/>
          <p:nvPr/>
        </p:nvSpPr>
        <p:spPr>
          <a:xfrm>
            <a:off x="4864608" y="3931920"/>
            <a:ext cx="256032" cy="256032"/>
          </a:xfrm>
          <a:prstGeom prst="roundRect">
            <a:avLst>
              <a:gd name="adj" fmla="val 17857"/>
            </a:avLst>
          </a:prstGeom>
          <a:solidFill>
            <a:srgbClr val="DFF2E8"/>
          </a:solidFill>
          <a:ln w="12700">
            <a:solidFill>
              <a:srgbClr val="DFF2E8"/>
            </a:solidFill>
            <a:prstDash val="solid"/>
          </a:ln>
        </p:spPr>
        <p:txBody>
          <a:bodyPr/>
          <a:p/>
        </p:txBody>
      </p:sp>
      <p:sp>
        <p:nvSpPr>
          <p:cNvPr id="28" name="Text 26"/>
          <p:cNvSpPr/>
          <p:nvPr/>
        </p:nvSpPr>
        <p:spPr>
          <a:xfrm>
            <a:off x="4910328" y="3959352"/>
            <a:ext cx="155448" cy="128016"/>
          </a:xfrm>
          <a:prstGeom prst="rect">
            <a:avLst/>
          </a:prstGeom>
          <a:noFill/>
          <a:ln/>
        </p:spPr>
        <p:txBody>
          <a:bodyPr wrap="square" lIns="0" tIns="0" rIns="0" bIns="0" rtlCol="0" anchor="t">
            <a:normAutofit/>
          </a:bodyPr>
          <a:lstStyle/>
          <a:p>
            <a:pPr algn="ctr" indent="0" marL="0">
              <a:buNone/>
            </a:pPr>
            <a:r>
              <a:rPr lang="en-US" sz="950" b="1" dirty="0">
                <a:solidFill>
                  <a:srgbClr val="21805A"/>
                </a:solidFill>
                <a:latin typeface="Arial" pitchFamily="34" charset="0"/>
                <a:ea typeface="Arial" pitchFamily="34" charset="-122"/>
                <a:cs typeface="Arial" pitchFamily="34" charset="-120"/>
              </a:rPr>
              <a:t>✓</a:t>
            </a:r>
            <a:endParaRPr lang="en-US" sz="950" dirty="0"/>
          </a:p>
        </p:txBody>
      </p:sp>
      <p:sp>
        <p:nvSpPr>
          <p:cNvPr id="29" name="Text 27"/>
          <p:cNvSpPr/>
          <p:nvPr/>
        </p:nvSpPr>
        <p:spPr>
          <a:xfrm>
            <a:off x="5230368" y="3922776"/>
            <a:ext cx="2834640" cy="292608"/>
          </a:xfrm>
          <a:prstGeom prst="rect">
            <a:avLst/>
          </a:prstGeom>
          <a:noFill/>
          <a:ln/>
        </p:spPr>
        <p:txBody>
          <a:bodyPr wrap="square" lIns="0" tIns="0" rIns="0" bIns="0" rtlCol="0" anchor="t">
            <a:normAutofit/>
          </a:bodyPr>
          <a:lstStyle/>
          <a:p>
            <a:pPr algn="l" indent="0" marL="0">
              <a:buNone/>
            </a:pPr>
            <a:r>
              <a:rPr lang="en-US" sz="960" b="1" dirty="0">
                <a:solidFill>
                  <a:srgbClr val="14263C"/>
                </a:solidFill>
                <a:latin typeface="Arial" pitchFamily="34" charset="0"/>
                <a:ea typeface="Arial" pitchFamily="34" charset="-122"/>
                <a:cs typeface="Arial" pitchFamily="34" charset="-120"/>
              </a:rPr>
              <a:t>Complete data-flow and residency map</a:t>
            </a:r>
            <a:endParaRPr lang="en-US" sz="960" dirty="0"/>
          </a:p>
        </p:txBody>
      </p:sp>
      <p:sp>
        <p:nvSpPr>
          <p:cNvPr id="30" name="Shape 28"/>
          <p:cNvSpPr/>
          <p:nvPr/>
        </p:nvSpPr>
        <p:spPr>
          <a:xfrm>
            <a:off x="4864608" y="4407408"/>
            <a:ext cx="256032" cy="256032"/>
          </a:xfrm>
          <a:prstGeom prst="roundRect">
            <a:avLst>
              <a:gd name="adj" fmla="val 17857"/>
            </a:avLst>
          </a:prstGeom>
          <a:solidFill>
            <a:srgbClr val="DFF2E8"/>
          </a:solidFill>
          <a:ln w="12700">
            <a:solidFill>
              <a:srgbClr val="DFF2E8"/>
            </a:solidFill>
            <a:prstDash val="solid"/>
          </a:ln>
        </p:spPr>
        <p:txBody>
          <a:bodyPr/>
          <a:p/>
        </p:txBody>
      </p:sp>
      <p:sp>
        <p:nvSpPr>
          <p:cNvPr id="31" name="Text 29"/>
          <p:cNvSpPr/>
          <p:nvPr/>
        </p:nvSpPr>
        <p:spPr>
          <a:xfrm>
            <a:off x="4910328" y="4434840"/>
            <a:ext cx="155448" cy="128016"/>
          </a:xfrm>
          <a:prstGeom prst="rect">
            <a:avLst/>
          </a:prstGeom>
          <a:noFill/>
          <a:ln/>
        </p:spPr>
        <p:txBody>
          <a:bodyPr wrap="square" lIns="0" tIns="0" rIns="0" bIns="0" rtlCol="0" anchor="t">
            <a:normAutofit/>
          </a:bodyPr>
          <a:lstStyle/>
          <a:p>
            <a:pPr algn="ctr" indent="0" marL="0">
              <a:buNone/>
            </a:pPr>
            <a:r>
              <a:rPr lang="en-US" sz="950" b="1" dirty="0">
                <a:solidFill>
                  <a:srgbClr val="21805A"/>
                </a:solidFill>
                <a:latin typeface="Arial" pitchFamily="34" charset="0"/>
                <a:ea typeface="Arial" pitchFamily="34" charset="-122"/>
                <a:cs typeface="Arial" pitchFamily="34" charset="-120"/>
              </a:rPr>
              <a:t>✓</a:t>
            </a:r>
            <a:endParaRPr lang="en-US" sz="950" dirty="0"/>
          </a:p>
        </p:txBody>
      </p:sp>
      <p:sp>
        <p:nvSpPr>
          <p:cNvPr id="32" name="Text 30"/>
          <p:cNvSpPr/>
          <p:nvPr/>
        </p:nvSpPr>
        <p:spPr>
          <a:xfrm>
            <a:off x="5230368" y="4398264"/>
            <a:ext cx="2834640" cy="292608"/>
          </a:xfrm>
          <a:prstGeom prst="rect">
            <a:avLst/>
          </a:prstGeom>
          <a:noFill/>
          <a:ln/>
        </p:spPr>
        <p:txBody>
          <a:bodyPr wrap="square" lIns="0" tIns="0" rIns="0" bIns="0" rtlCol="0" anchor="t">
            <a:normAutofit/>
          </a:bodyPr>
          <a:lstStyle/>
          <a:p>
            <a:pPr algn="l" indent="0" marL="0">
              <a:buNone/>
            </a:pPr>
            <a:r>
              <a:rPr lang="en-US" sz="960" b="1" dirty="0">
                <a:solidFill>
                  <a:srgbClr val="14263C"/>
                </a:solidFill>
                <a:latin typeface="Arial" pitchFamily="34" charset="0"/>
                <a:ea typeface="Arial" pitchFamily="34" charset="-122"/>
                <a:cs typeface="Arial" pitchFamily="34" charset="-120"/>
              </a:rPr>
              <a:t>Two relevant enterprise references</a:t>
            </a:r>
            <a:endParaRPr lang="en-US" sz="960" dirty="0"/>
          </a:p>
        </p:txBody>
      </p:sp>
      <p:sp>
        <p:nvSpPr>
          <p:cNvPr id="33" name="Shape 31"/>
          <p:cNvSpPr/>
          <p:nvPr/>
        </p:nvSpPr>
        <p:spPr>
          <a:xfrm>
            <a:off x="4864608" y="4882896"/>
            <a:ext cx="256032" cy="256032"/>
          </a:xfrm>
          <a:prstGeom prst="roundRect">
            <a:avLst>
              <a:gd name="adj" fmla="val 17857"/>
            </a:avLst>
          </a:prstGeom>
          <a:solidFill>
            <a:srgbClr val="DFF2E8"/>
          </a:solidFill>
          <a:ln w="12700">
            <a:solidFill>
              <a:srgbClr val="DFF2E8"/>
            </a:solidFill>
            <a:prstDash val="solid"/>
          </a:ln>
        </p:spPr>
        <p:txBody>
          <a:bodyPr/>
          <a:p/>
        </p:txBody>
      </p:sp>
      <p:sp>
        <p:nvSpPr>
          <p:cNvPr id="34" name="Text 32"/>
          <p:cNvSpPr/>
          <p:nvPr/>
        </p:nvSpPr>
        <p:spPr>
          <a:xfrm>
            <a:off x="4910328" y="4910328"/>
            <a:ext cx="155448" cy="128016"/>
          </a:xfrm>
          <a:prstGeom prst="rect">
            <a:avLst/>
          </a:prstGeom>
          <a:noFill/>
          <a:ln/>
        </p:spPr>
        <p:txBody>
          <a:bodyPr wrap="square" lIns="0" tIns="0" rIns="0" bIns="0" rtlCol="0" anchor="t">
            <a:normAutofit/>
          </a:bodyPr>
          <a:lstStyle/>
          <a:p>
            <a:pPr algn="ctr" indent="0" marL="0">
              <a:buNone/>
            </a:pPr>
            <a:r>
              <a:rPr lang="en-US" sz="950" b="1" dirty="0">
                <a:solidFill>
                  <a:srgbClr val="21805A"/>
                </a:solidFill>
                <a:latin typeface="Arial" pitchFamily="34" charset="0"/>
                <a:ea typeface="Arial" pitchFamily="34" charset="-122"/>
                <a:cs typeface="Arial" pitchFamily="34" charset="-120"/>
              </a:rPr>
              <a:t>✓</a:t>
            </a:r>
            <a:endParaRPr lang="en-US" sz="950" dirty="0"/>
          </a:p>
        </p:txBody>
      </p:sp>
      <p:sp>
        <p:nvSpPr>
          <p:cNvPr id="35" name="Text 33"/>
          <p:cNvSpPr/>
          <p:nvPr/>
        </p:nvSpPr>
        <p:spPr>
          <a:xfrm>
            <a:off x="5230368" y="4873752"/>
            <a:ext cx="2834640" cy="292608"/>
          </a:xfrm>
          <a:prstGeom prst="rect">
            <a:avLst/>
          </a:prstGeom>
          <a:noFill/>
          <a:ln/>
        </p:spPr>
        <p:txBody>
          <a:bodyPr wrap="square" lIns="0" tIns="0" rIns="0" bIns="0" rtlCol="0" anchor="t">
            <a:normAutofit/>
          </a:bodyPr>
          <a:lstStyle/>
          <a:p>
            <a:pPr algn="l" indent="0" marL="0">
              <a:buNone/>
            </a:pPr>
            <a:r>
              <a:rPr lang="en-US" sz="960" b="1" dirty="0">
                <a:solidFill>
                  <a:srgbClr val="14263C"/>
                </a:solidFill>
                <a:latin typeface="Arial" pitchFamily="34" charset="0"/>
                <a:ea typeface="Arial" pitchFamily="34" charset="-122"/>
                <a:cs typeface="Arial" pitchFamily="34" charset="-120"/>
              </a:rPr>
              <a:t>Rollback rehearsal and explicit exit rights</a:t>
            </a:r>
            <a:endParaRPr lang="en-US" sz="960" dirty="0"/>
          </a:p>
        </p:txBody>
      </p:sp>
      <p:sp>
        <p:nvSpPr>
          <p:cNvPr id="36" name="Shape 34"/>
          <p:cNvSpPr/>
          <p:nvPr/>
        </p:nvSpPr>
        <p:spPr>
          <a:xfrm>
            <a:off x="8641080" y="1536192"/>
            <a:ext cx="3017520" cy="4480560"/>
          </a:xfrm>
          <a:prstGeom prst="roundRect">
            <a:avLst>
              <a:gd name="adj" fmla="val 2424"/>
            </a:avLst>
          </a:prstGeom>
          <a:solidFill>
            <a:srgbClr val="07182B"/>
          </a:solidFill>
          <a:ln w="12700">
            <a:solidFill>
              <a:srgbClr val="07182B"/>
            </a:solidFill>
            <a:prstDash val="solid"/>
          </a:ln>
          <a:effectLst>
            <a:outerShdw sx="100000" sy="100000" kx="0" ky="0" algn="bl" rotWithShape="0" blurRad="25400" dist="50800" dir="2700000">
              <a:srgbClr val="07182B">
                <a:alpha val="10000"/>
              </a:srgbClr>
            </a:outerShdw>
          </a:effectLst>
        </p:spPr>
        <p:txBody>
          <a:bodyPr/>
          <a:p/>
        </p:txBody>
      </p:sp>
      <p:sp>
        <p:nvSpPr>
          <p:cNvPr id="37" name="Shape 35"/>
          <p:cNvSpPr/>
          <p:nvPr/>
        </p:nvSpPr>
        <p:spPr>
          <a:xfrm>
            <a:off x="8915400" y="1810512"/>
            <a:ext cx="164592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38" name="Text 36"/>
          <p:cNvSpPr/>
          <p:nvPr/>
        </p:nvSpPr>
        <p:spPr>
          <a:xfrm>
            <a:off x="8979408" y="1858061"/>
            <a:ext cx="151790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ILLUSTRATIVE TELEMETRY</a:t>
            </a:r>
            <a:endParaRPr lang="en-US" sz="800" dirty="0"/>
          </a:p>
        </p:txBody>
      </p:sp>
      <p:sp>
        <p:nvSpPr>
          <p:cNvPr id="39" name="Shape 37"/>
          <p:cNvSpPr/>
          <p:nvPr/>
        </p:nvSpPr>
        <p:spPr>
          <a:xfrm>
            <a:off x="8924544" y="2286000"/>
            <a:ext cx="1143000" cy="1051560"/>
          </a:xfrm>
          <a:prstGeom prst="roundRect">
            <a:avLst>
              <a:gd name="adj" fmla="val 6957"/>
            </a:avLst>
          </a:prstGeom>
          <a:solidFill>
            <a:srgbClr val="153653"/>
          </a:solidFill>
          <a:ln w="12700">
            <a:solidFill>
              <a:srgbClr val="2F526E"/>
            </a:solidFill>
            <a:prstDash val="solid"/>
          </a:ln>
        </p:spPr>
        <p:txBody>
          <a:bodyPr/>
          <a:p/>
        </p:txBody>
      </p:sp>
      <p:sp>
        <p:nvSpPr>
          <p:cNvPr id="40" name="Text 38"/>
          <p:cNvSpPr/>
          <p:nvPr/>
        </p:nvSpPr>
        <p:spPr>
          <a:xfrm>
            <a:off x="9052560" y="2423160"/>
            <a:ext cx="886968" cy="347472"/>
          </a:xfrm>
          <a:prstGeom prst="rect">
            <a:avLst/>
          </a:prstGeom>
          <a:noFill/>
          <a:ln/>
        </p:spPr>
        <p:txBody>
          <a:bodyPr wrap="square" lIns="0" tIns="0" rIns="0" bIns="0" rtlCol="0" anchor="t">
            <a:normAutofit/>
          </a:bodyPr>
          <a:lstStyle/>
          <a:p>
            <a:pPr algn="l" indent="0" marL="0">
              <a:buNone/>
            </a:pPr>
            <a:r>
              <a:rPr lang="en-US" sz="2200" b="1" dirty="0">
                <a:solidFill>
                  <a:srgbClr val="FFFFFF"/>
                </a:solidFill>
                <a:latin typeface="Georgia" pitchFamily="34" charset="0"/>
                <a:ea typeface="Georgia" pitchFamily="34" charset="-122"/>
                <a:cs typeface="Georgia" pitchFamily="34" charset="-120"/>
              </a:rPr>
              <a:t>92%</a:t>
            </a:r>
            <a:endParaRPr lang="en-US" sz="2200" dirty="0"/>
          </a:p>
        </p:txBody>
      </p:sp>
      <p:sp>
        <p:nvSpPr>
          <p:cNvPr id="41" name="Text 39"/>
          <p:cNvSpPr/>
          <p:nvPr/>
        </p:nvSpPr>
        <p:spPr>
          <a:xfrm>
            <a:off x="9052560" y="2862072"/>
            <a:ext cx="886968" cy="411480"/>
          </a:xfrm>
          <a:prstGeom prst="rect">
            <a:avLst/>
          </a:prstGeom>
          <a:noFill/>
          <a:ln/>
        </p:spPr>
        <p:txBody>
          <a:bodyPr wrap="square" lIns="0" tIns="0" rIns="0" bIns="0" rtlCol="0" anchor="t">
            <a:normAutofit/>
          </a:bodyPr>
          <a:lstStyle/>
          <a:p>
            <a:pPr algn="l" indent="0" marL="0">
              <a:buNone/>
            </a:pPr>
            <a:r>
              <a:rPr lang="en-US" sz="900" dirty="0">
                <a:solidFill>
                  <a:srgbClr val="BCD0E2"/>
                </a:solidFill>
                <a:latin typeface="Arial" pitchFamily="34" charset="0"/>
                <a:ea typeface="Arial" pitchFamily="34" charset="-122"/>
                <a:cs typeface="Arial" pitchFamily="34" charset="-120"/>
              </a:rPr>
              <a:t>Evidence coverage</a:t>
            </a:r>
            <a:endParaRPr lang="en-US" sz="900" dirty="0"/>
          </a:p>
        </p:txBody>
      </p:sp>
      <p:sp>
        <p:nvSpPr>
          <p:cNvPr id="42" name="Shape 40"/>
          <p:cNvSpPr/>
          <p:nvPr/>
        </p:nvSpPr>
        <p:spPr>
          <a:xfrm>
            <a:off x="10204704" y="2286000"/>
            <a:ext cx="1143000" cy="1051560"/>
          </a:xfrm>
          <a:prstGeom prst="roundRect">
            <a:avLst>
              <a:gd name="adj" fmla="val 6957"/>
            </a:avLst>
          </a:prstGeom>
          <a:solidFill>
            <a:srgbClr val="153653"/>
          </a:solidFill>
          <a:ln w="12700">
            <a:solidFill>
              <a:srgbClr val="2F526E"/>
            </a:solidFill>
            <a:prstDash val="solid"/>
          </a:ln>
        </p:spPr>
        <p:txBody>
          <a:bodyPr/>
          <a:p/>
        </p:txBody>
      </p:sp>
      <p:sp>
        <p:nvSpPr>
          <p:cNvPr id="43" name="Text 41"/>
          <p:cNvSpPr/>
          <p:nvPr/>
        </p:nvSpPr>
        <p:spPr>
          <a:xfrm>
            <a:off x="10332720" y="2423160"/>
            <a:ext cx="886968" cy="347472"/>
          </a:xfrm>
          <a:prstGeom prst="rect">
            <a:avLst/>
          </a:prstGeom>
          <a:noFill/>
          <a:ln/>
        </p:spPr>
        <p:txBody>
          <a:bodyPr wrap="square" lIns="0" tIns="0" rIns="0" bIns="0" rtlCol="0" anchor="t">
            <a:normAutofit/>
          </a:bodyPr>
          <a:lstStyle/>
          <a:p>
            <a:pPr algn="l" indent="0" marL="0">
              <a:buNone/>
            </a:pPr>
            <a:r>
              <a:rPr lang="en-US" sz="2200" b="1" dirty="0">
                <a:solidFill>
                  <a:srgbClr val="FFFFFF"/>
                </a:solidFill>
                <a:latin typeface="Georgia" pitchFamily="34" charset="0"/>
                <a:ea typeface="Georgia" pitchFamily="34" charset="-122"/>
                <a:cs typeface="Georgia" pitchFamily="34" charset="-120"/>
              </a:rPr>
              <a:t>5 / 5</a:t>
            </a:r>
            <a:endParaRPr lang="en-US" sz="2200" dirty="0"/>
          </a:p>
        </p:txBody>
      </p:sp>
      <p:sp>
        <p:nvSpPr>
          <p:cNvPr id="44" name="Text 42"/>
          <p:cNvSpPr/>
          <p:nvPr/>
        </p:nvSpPr>
        <p:spPr>
          <a:xfrm>
            <a:off x="10332720" y="2862072"/>
            <a:ext cx="886968" cy="411480"/>
          </a:xfrm>
          <a:prstGeom prst="rect">
            <a:avLst/>
          </a:prstGeom>
          <a:noFill/>
          <a:ln/>
        </p:spPr>
        <p:txBody>
          <a:bodyPr wrap="square" lIns="0" tIns="0" rIns="0" bIns="0" rtlCol="0" anchor="t">
            <a:normAutofit/>
          </a:bodyPr>
          <a:lstStyle/>
          <a:p>
            <a:pPr algn="l" indent="0" marL="0">
              <a:buNone/>
            </a:pPr>
            <a:r>
              <a:rPr lang="en-US" sz="900" dirty="0">
                <a:solidFill>
                  <a:srgbClr val="BCD0E2"/>
                </a:solidFill>
                <a:latin typeface="Arial" pitchFamily="34" charset="0"/>
                <a:ea typeface="Arial" pitchFamily="34" charset="-122"/>
                <a:cs typeface="Arial" pitchFamily="34" charset="-120"/>
              </a:rPr>
              <a:t>Validator reveals</a:t>
            </a:r>
            <a:endParaRPr lang="en-US" sz="900" dirty="0"/>
          </a:p>
        </p:txBody>
      </p:sp>
      <p:sp>
        <p:nvSpPr>
          <p:cNvPr id="45" name="Shape 43"/>
          <p:cNvSpPr/>
          <p:nvPr/>
        </p:nvSpPr>
        <p:spPr>
          <a:xfrm>
            <a:off x="8924544" y="3520440"/>
            <a:ext cx="1143000" cy="1051560"/>
          </a:xfrm>
          <a:prstGeom prst="roundRect">
            <a:avLst>
              <a:gd name="adj" fmla="val 6957"/>
            </a:avLst>
          </a:prstGeom>
          <a:solidFill>
            <a:srgbClr val="153653"/>
          </a:solidFill>
          <a:ln w="12700">
            <a:solidFill>
              <a:srgbClr val="2F526E"/>
            </a:solidFill>
            <a:prstDash val="solid"/>
          </a:ln>
        </p:spPr>
        <p:txBody>
          <a:bodyPr/>
          <a:p/>
        </p:txBody>
      </p:sp>
      <p:sp>
        <p:nvSpPr>
          <p:cNvPr id="46" name="Text 44"/>
          <p:cNvSpPr/>
          <p:nvPr/>
        </p:nvSpPr>
        <p:spPr>
          <a:xfrm>
            <a:off x="9052560" y="3657600"/>
            <a:ext cx="886968" cy="347472"/>
          </a:xfrm>
          <a:prstGeom prst="rect">
            <a:avLst/>
          </a:prstGeom>
          <a:noFill/>
          <a:ln/>
        </p:spPr>
        <p:txBody>
          <a:bodyPr wrap="square" lIns="0" tIns="0" rIns="0" bIns="0" rtlCol="0" anchor="t">
            <a:normAutofit/>
          </a:bodyPr>
          <a:lstStyle/>
          <a:p>
            <a:pPr algn="l"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47" name="Text 45"/>
          <p:cNvSpPr/>
          <p:nvPr/>
        </p:nvSpPr>
        <p:spPr>
          <a:xfrm>
            <a:off x="9052560" y="4096512"/>
            <a:ext cx="886968" cy="411480"/>
          </a:xfrm>
          <a:prstGeom prst="rect">
            <a:avLst/>
          </a:prstGeom>
          <a:noFill/>
          <a:ln/>
        </p:spPr>
        <p:txBody>
          <a:bodyPr wrap="square" lIns="0" tIns="0" rIns="0" bIns="0" rtlCol="0" anchor="t">
            <a:normAutofit/>
          </a:bodyPr>
          <a:lstStyle/>
          <a:p>
            <a:pPr algn="l" indent="0" marL="0">
              <a:buNone/>
            </a:pPr>
            <a:r>
              <a:rPr lang="en-US" sz="900" dirty="0">
                <a:solidFill>
                  <a:srgbClr val="BCD0E2"/>
                </a:solidFill>
                <a:latin typeface="Arial" pitchFamily="34" charset="0"/>
                <a:ea typeface="Arial" pitchFamily="34" charset="-122"/>
                <a:cs typeface="Arial" pitchFamily="34" charset="-120"/>
              </a:rPr>
              <a:t>Open proof debt</a:t>
            </a:r>
            <a:endParaRPr lang="en-US" sz="900" dirty="0"/>
          </a:p>
        </p:txBody>
      </p:sp>
      <p:sp>
        <p:nvSpPr>
          <p:cNvPr id="48" name="Shape 46"/>
          <p:cNvSpPr/>
          <p:nvPr/>
        </p:nvSpPr>
        <p:spPr>
          <a:xfrm>
            <a:off x="10204704" y="3520440"/>
            <a:ext cx="1143000" cy="1051560"/>
          </a:xfrm>
          <a:prstGeom prst="roundRect">
            <a:avLst>
              <a:gd name="adj" fmla="val 6957"/>
            </a:avLst>
          </a:prstGeom>
          <a:solidFill>
            <a:srgbClr val="153653"/>
          </a:solidFill>
          <a:ln w="12700">
            <a:solidFill>
              <a:srgbClr val="2F526E"/>
            </a:solidFill>
            <a:prstDash val="solid"/>
          </a:ln>
        </p:spPr>
        <p:txBody>
          <a:bodyPr/>
          <a:p/>
        </p:txBody>
      </p:sp>
      <p:sp>
        <p:nvSpPr>
          <p:cNvPr id="49" name="Text 47"/>
          <p:cNvSpPr/>
          <p:nvPr/>
        </p:nvSpPr>
        <p:spPr>
          <a:xfrm>
            <a:off x="10332720" y="3657600"/>
            <a:ext cx="886968" cy="347472"/>
          </a:xfrm>
          <a:prstGeom prst="rect">
            <a:avLst/>
          </a:prstGeom>
          <a:noFill/>
          <a:ln/>
        </p:spPr>
        <p:txBody>
          <a:bodyPr wrap="square" lIns="0" tIns="0" rIns="0" bIns="0" rtlCol="0" anchor="t">
            <a:normAutofit/>
          </a:bodyPr>
          <a:lstStyle/>
          <a:p>
            <a:pPr algn="l" indent="0" marL="0">
              <a:buNone/>
            </a:pPr>
            <a:r>
              <a:rPr lang="en-US" sz="2200" b="1" dirty="0">
                <a:solidFill>
                  <a:srgbClr val="FFFFFF"/>
                </a:solidFill>
                <a:latin typeface="Georgia" pitchFamily="34" charset="0"/>
                <a:ea typeface="Georgia" pitchFamily="34" charset="-122"/>
                <a:cs typeface="Georgia" pitchFamily="34" charset="-120"/>
              </a:rPr>
              <a:t>96%</a:t>
            </a:r>
            <a:endParaRPr lang="en-US" sz="2200" dirty="0"/>
          </a:p>
        </p:txBody>
      </p:sp>
      <p:sp>
        <p:nvSpPr>
          <p:cNvPr id="50" name="Text 48"/>
          <p:cNvSpPr/>
          <p:nvPr/>
        </p:nvSpPr>
        <p:spPr>
          <a:xfrm>
            <a:off x="10332720" y="4096512"/>
            <a:ext cx="886968" cy="411480"/>
          </a:xfrm>
          <a:prstGeom prst="rect">
            <a:avLst/>
          </a:prstGeom>
          <a:noFill/>
          <a:ln/>
        </p:spPr>
        <p:txBody>
          <a:bodyPr wrap="square" lIns="0" tIns="0" rIns="0" bIns="0" rtlCol="0" anchor="t">
            <a:normAutofit/>
          </a:bodyPr>
          <a:lstStyle/>
          <a:p>
            <a:pPr algn="l" indent="0" marL="0">
              <a:buNone/>
            </a:pPr>
            <a:r>
              <a:rPr lang="en-US" sz="900" dirty="0">
                <a:solidFill>
                  <a:srgbClr val="BCD0E2"/>
                </a:solidFill>
                <a:latin typeface="Arial" pitchFamily="34" charset="0"/>
                <a:ea typeface="Arial" pitchFamily="34" charset="-122"/>
                <a:cs typeface="Arial" pitchFamily="34" charset="-120"/>
              </a:rPr>
              <a:t>Replay-ready artifacts</a:t>
            </a:r>
            <a:endParaRPr lang="en-US" sz="900" dirty="0"/>
          </a:p>
        </p:txBody>
      </p:sp>
      <p:sp>
        <p:nvSpPr>
          <p:cNvPr id="51" name="Text 49"/>
          <p:cNvSpPr/>
          <p:nvPr/>
        </p:nvSpPr>
        <p:spPr>
          <a:xfrm>
            <a:off x="8942832" y="4956048"/>
            <a:ext cx="2377440" cy="566928"/>
          </a:xfrm>
          <a:prstGeom prst="rect">
            <a:avLst/>
          </a:prstGeom>
          <a:noFill/>
          <a:ln/>
        </p:spPr>
        <p:txBody>
          <a:bodyPr wrap="square" lIns="0" tIns="0" rIns="0" bIns="0" rtlCol="0" anchor="t">
            <a:normAutofit/>
          </a:bodyPr>
          <a:lstStyle/>
          <a:p>
            <a:pPr algn="ctr" indent="0" marL="0">
              <a:buNone/>
            </a:pPr>
            <a:r>
              <a:rPr lang="en-US" sz="1030" b="1" dirty="0">
                <a:solidFill>
                  <a:srgbClr val="E9C87D"/>
                </a:solidFill>
                <a:latin typeface="Arial" pitchFamily="34" charset="0"/>
                <a:ea typeface="Arial" pitchFamily="34" charset="-122"/>
                <a:cs typeface="Arial" pitchFamily="34" charset="-120"/>
              </a:rPr>
              <a:t>Chronicle: ADMIT WITH SCOPE</a:t>
            </a:r>
            <a:endParaRPr lang="en-US" sz="1030" dirty="0"/>
          </a:p>
          <a:p>
            <a:pPr algn="ctr" indent="0" marL="0">
              <a:buNone/>
            </a:pPr>
            <a:r>
              <a:rPr lang="en-US" sz="1030" b="1" dirty="0">
                <a:solidFill>
                  <a:srgbClr val="E9C87D"/>
                </a:solidFill>
                <a:latin typeface="Arial" pitchFamily="34" charset="0"/>
                <a:ea typeface="Arial" pitchFamily="34" charset="-122"/>
                <a:cs typeface="Arial" pitchFamily="34" charset="-120"/>
              </a:rPr>
              <a:t>Production authority remains blocked.</a:t>
            </a:r>
            <a:endParaRPr lang="en-US" sz="103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30352" y="164592"/>
            <a:ext cx="1737360" cy="256032"/>
          </a:xfrm>
          <a:prstGeom prst="roundRect">
            <a:avLst>
              <a:gd name="adj" fmla="val 21429"/>
            </a:avLst>
          </a:prstGeom>
          <a:solidFill>
            <a:srgbClr val="17304A">
              <a:alpha val="28000"/>
            </a:srgbClr>
          </a:solidFill>
          <a:ln w="12700">
            <a:solidFill>
              <a:srgbClr val="FFFFFF">
                <a:alpha val="32000"/>
              </a:srgbClr>
            </a:solidFill>
            <a:prstDash val="solid"/>
          </a:ln>
        </p:spPr>
        <p:txBody>
          <a:bodyPr/>
          <a:p/>
        </p:txBody>
      </p:sp>
      <p:sp>
        <p:nvSpPr>
          <p:cNvPr id="3" name="Text 1"/>
          <p:cNvSpPr/>
          <p:nvPr/>
        </p:nvSpPr>
        <p:spPr>
          <a:xfrm>
            <a:off x="594360" y="212141"/>
            <a:ext cx="16093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EVIDENCE DOCKET</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Georgia" pitchFamily="34" charset="0"/>
                <a:ea typeface="Georgia" pitchFamily="34" charset="-122"/>
                <a:cs typeface="Georgia" pitchFamily="34" charset="-120"/>
              </a:rPr>
              <a:t>A proof room, not a marketing page.</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C6D6E5"/>
                </a:solidFill>
                <a:latin typeface="Arial" pitchFamily="34" charset="0"/>
                <a:ea typeface="Arial" pitchFamily="34" charset="-122"/>
                <a:cs typeface="Arial" pitchFamily="34" charset="-120"/>
              </a:rPr>
              <a:t>Claims, evidence, contradictions, validators, open debt and authority consequences remain visible.</a:t>
            </a:r>
            <a:endParaRPr lang="en-US" sz="1230" dirty="0"/>
          </a:p>
        </p:txBody>
      </p:sp>
      <p:sp>
        <p:nvSpPr>
          <p:cNvPr id="6" name="Shape 4"/>
          <p:cNvSpPr/>
          <p:nvPr/>
        </p:nvSpPr>
        <p:spPr>
          <a:xfrm>
            <a:off x="530352" y="1389888"/>
            <a:ext cx="7543800" cy="4919472"/>
          </a:xfrm>
          <a:prstGeom prst="roundRect">
            <a:avLst>
              <a:gd name="adj" fmla="val 1487"/>
            </a:avLst>
          </a:prstGeom>
          <a:solidFill>
            <a:srgbClr val="0D2A48"/>
          </a:solidFill>
          <a:ln w="12700">
            <a:solidFill>
              <a:srgbClr val="35536C"/>
            </a:solidFill>
            <a:prstDash val="solid"/>
          </a:ln>
        </p:spPr>
        <p:txBody>
          <a:bodyPr/>
          <a:p/>
        </p:txBody>
      </p:sp>
      <p:pic>
        <p:nvPicPr>
          <p:cNvPr id="7" name="Image 0" descr="/mnt/data/goalos_partner_showcase_v1/_qa_new/docket.png">    </p:cNvPr>
          <p:cNvPicPr>
            <a:picLocks noChangeAspect="1"/>
          </p:cNvPicPr>
          <p:nvPr/>
        </p:nvPicPr>
        <p:blipFill>
          <a:blip r:embed="rId1"/>
          <a:srcRect l="0" r="2228" t="0" b="0"/>
          <a:stretch/>
        </p:blipFill>
        <p:spPr>
          <a:xfrm>
            <a:off x="685800" y="1545336"/>
            <a:ext cx="7223760" cy="4617720"/>
          </a:xfrm>
          <a:prstGeom prst="rect">
            <a:avLst/>
          </a:prstGeom>
        </p:spPr>
      </p:pic>
      <p:sp>
        <p:nvSpPr>
          <p:cNvPr id="8" name="Shape 5"/>
          <p:cNvSpPr/>
          <p:nvPr/>
        </p:nvSpPr>
        <p:spPr>
          <a:xfrm>
            <a:off x="8302752" y="1389888"/>
            <a:ext cx="3364992" cy="4919472"/>
          </a:xfrm>
          <a:prstGeom prst="roundRect">
            <a:avLst>
              <a:gd name="adj" fmla="val 2174"/>
            </a:avLst>
          </a:prstGeom>
          <a:solidFill>
            <a:srgbClr val="102E4D"/>
          </a:solidFill>
          <a:ln w="12700">
            <a:solidFill>
              <a:srgbClr val="35536C"/>
            </a:solidFill>
            <a:prstDash val="solid"/>
          </a:ln>
        </p:spPr>
        <p:txBody>
          <a:bodyPr/>
          <a:p/>
        </p:txBody>
      </p:sp>
      <p:sp>
        <p:nvSpPr>
          <p:cNvPr id="9" name="Shape 6"/>
          <p:cNvSpPr/>
          <p:nvPr/>
        </p:nvSpPr>
        <p:spPr>
          <a:xfrm>
            <a:off x="8577072" y="1682496"/>
            <a:ext cx="192024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10" name="Text 7"/>
          <p:cNvSpPr/>
          <p:nvPr/>
        </p:nvSpPr>
        <p:spPr>
          <a:xfrm>
            <a:off x="8641080" y="1730045"/>
            <a:ext cx="179222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WHAT A REVIEWER CAN SEE</a:t>
            </a:r>
            <a:endParaRPr lang="en-US" sz="800" dirty="0"/>
          </a:p>
        </p:txBody>
      </p:sp>
      <p:sp>
        <p:nvSpPr>
          <p:cNvPr id="11" name="Shape 8"/>
          <p:cNvSpPr/>
          <p:nvPr/>
        </p:nvSpPr>
        <p:spPr>
          <a:xfrm>
            <a:off x="8613648" y="2304288"/>
            <a:ext cx="118872" cy="118872"/>
          </a:xfrm>
          <a:prstGeom prst="ellipse">
            <a:avLst/>
          </a:prstGeom>
          <a:solidFill>
            <a:srgbClr val="E9C87D"/>
          </a:solidFill>
          <a:ln w="12700">
            <a:solidFill>
              <a:srgbClr val="E9C87D"/>
            </a:solidFill>
            <a:prstDash val="solid"/>
          </a:ln>
        </p:spPr>
        <p:txBody>
          <a:bodyPr/>
          <a:p/>
        </p:txBody>
      </p:sp>
      <p:sp>
        <p:nvSpPr>
          <p:cNvPr id="12" name="Text 9"/>
          <p:cNvSpPr/>
          <p:nvPr/>
        </p:nvSpPr>
        <p:spPr>
          <a:xfrm>
            <a:off x="8887968" y="2267712"/>
            <a:ext cx="2395728" cy="201168"/>
          </a:xfrm>
          <a:prstGeom prst="rect">
            <a:avLst/>
          </a:prstGeom>
          <a:noFill/>
          <a:ln/>
        </p:spPr>
        <p:txBody>
          <a:bodyPr wrap="square" lIns="0" tIns="0" rIns="0" bIns="0" rtlCol="0" anchor="t">
            <a:normAutofit/>
          </a:bodyPr>
          <a:lstStyle/>
          <a:p>
            <a:pPr algn="l" indent="0" marL="0">
              <a:buNone/>
            </a:pPr>
            <a:r>
              <a:rPr lang="en-US" sz="1080" b="1" dirty="0">
                <a:solidFill>
                  <a:srgbClr val="FFFFFF"/>
                </a:solidFill>
                <a:latin typeface="Arial" pitchFamily="34" charset="0"/>
                <a:ea typeface="Arial" pitchFamily="34" charset="-122"/>
                <a:cs typeface="Arial" pitchFamily="34" charset="-120"/>
              </a:rPr>
              <a:t>Every major claim</a:t>
            </a:r>
            <a:endParaRPr lang="en-US" sz="1080" dirty="0"/>
          </a:p>
        </p:txBody>
      </p:sp>
      <p:sp>
        <p:nvSpPr>
          <p:cNvPr id="13" name="Text 10"/>
          <p:cNvSpPr/>
          <p:nvPr/>
        </p:nvSpPr>
        <p:spPr>
          <a:xfrm>
            <a:off x="8887968" y="2496312"/>
            <a:ext cx="2377440" cy="320040"/>
          </a:xfrm>
          <a:prstGeom prst="rect">
            <a:avLst/>
          </a:prstGeom>
          <a:noFill/>
          <a:ln/>
        </p:spPr>
        <p:txBody>
          <a:bodyPr wrap="square" lIns="0" tIns="0" rIns="0" bIns="0" rtlCol="0" anchor="t">
            <a:normAutofit/>
          </a:bodyPr>
          <a:lstStyle/>
          <a:p>
            <a:pPr algn="l" indent="0" marL="0">
              <a:buNone/>
            </a:pPr>
            <a:r>
              <a:rPr lang="en-US" sz="880" dirty="0">
                <a:solidFill>
                  <a:srgbClr val="BCD0E2"/>
                </a:solidFill>
                <a:latin typeface="Arial" pitchFamily="34" charset="0"/>
                <a:ea typeface="Arial" pitchFamily="34" charset="-122"/>
                <a:cs typeface="Arial" pitchFamily="34" charset="-120"/>
              </a:rPr>
              <a:t>PASS, CONDITIONAL, BLOCKED or REVIEW.</a:t>
            </a:r>
            <a:endParaRPr lang="en-US" sz="880" dirty="0"/>
          </a:p>
        </p:txBody>
      </p:sp>
      <p:sp>
        <p:nvSpPr>
          <p:cNvPr id="14" name="Shape 11"/>
          <p:cNvSpPr/>
          <p:nvPr/>
        </p:nvSpPr>
        <p:spPr>
          <a:xfrm>
            <a:off x="8613648" y="2962656"/>
            <a:ext cx="118872" cy="118872"/>
          </a:xfrm>
          <a:prstGeom prst="ellipse">
            <a:avLst/>
          </a:prstGeom>
          <a:solidFill>
            <a:srgbClr val="E9C87D"/>
          </a:solidFill>
          <a:ln w="12700">
            <a:solidFill>
              <a:srgbClr val="E9C87D"/>
            </a:solidFill>
            <a:prstDash val="solid"/>
          </a:ln>
        </p:spPr>
        <p:txBody>
          <a:bodyPr/>
          <a:p/>
        </p:txBody>
      </p:sp>
      <p:sp>
        <p:nvSpPr>
          <p:cNvPr id="15" name="Text 12"/>
          <p:cNvSpPr/>
          <p:nvPr/>
        </p:nvSpPr>
        <p:spPr>
          <a:xfrm>
            <a:off x="8887968" y="2926080"/>
            <a:ext cx="2395728" cy="201168"/>
          </a:xfrm>
          <a:prstGeom prst="rect">
            <a:avLst/>
          </a:prstGeom>
          <a:noFill/>
          <a:ln/>
        </p:spPr>
        <p:txBody>
          <a:bodyPr wrap="square" lIns="0" tIns="0" rIns="0" bIns="0" rtlCol="0" anchor="t">
            <a:normAutofit/>
          </a:bodyPr>
          <a:lstStyle/>
          <a:p>
            <a:pPr algn="l" indent="0" marL="0">
              <a:buNone/>
            </a:pPr>
            <a:r>
              <a:rPr lang="en-US" sz="1080" b="1" dirty="0">
                <a:solidFill>
                  <a:srgbClr val="FFFFFF"/>
                </a:solidFill>
                <a:latin typeface="Arial" pitchFamily="34" charset="0"/>
                <a:ea typeface="Arial" pitchFamily="34" charset="-122"/>
                <a:cs typeface="Arial" pitchFamily="34" charset="-120"/>
              </a:rPr>
              <a:t>Open Proof Debt</a:t>
            </a:r>
            <a:endParaRPr lang="en-US" sz="1080" dirty="0"/>
          </a:p>
        </p:txBody>
      </p:sp>
      <p:sp>
        <p:nvSpPr>
          <p:cNvPr id="16" name="Text 13"/>
          <p:cNvSpPr/>
          <p:nvPr/>
        </p:nvSpPr>
        <p:spPr>
          <a:xfrm>
            <a:off x="8887968" y="3154680"/>
            <a:ext cx="2377440" cy="320040"/>
          </a:xfrm>
          <a:prstGeom prst="rect">
            <a:avLst/>
          </a:prstGeom>
          <a:noFill/>
          <a:ln/>
        </p:spPr>
        <p:txBody>
          <a:bodyPr wrap="square" lIns="0" tIns="0" rIns="0" bIns="0" rtlCol="0" anchor="t">
            <a:normAutofit/>
          </a:bodyPr>
          <a:lstStyle/>
          <a:p>
            <a:pPr algn="l" indent="0" marL="0">
              <a:buNone/>
            </a:pPr>
            <a:r>
              <a:rPr lang="en-US" sz="880" dirty="0">
                <a:solidFill>
                  <a:srgbClr val="BCD0E2"/>
                </a:solidFill>
                <a:latin typeface="Arial" pitchFamily="34" charset="0"/>
                <a:ea typeface="Arial" pitchFamily="34" charset="-122"/>
                <a:cs typeface="Arial" pitchFamily="34" charset="-120"/>
              </a:rPr>
              <a:t>What evidence is required before stronger authority.</a:t>
            </a:r>
            <a:endParaRPr lang="en-US" sz="880" dirty="0"/>
          </a:p>
        </p:txBody>
      </p:sp>
      <p:sp>
        <p:nvSpPr>
          <p:cNvPr id="17" name="Shape 14"/>
          <p:cNvSpPr/>
          <p:nvPr/>
        </p:nvSpPr>
        <p:spPr>
          <a:xfrm>
            <a:off x="8613648" y="3621024"/>
            <a:ext cx="118872" cy="118872"/>
          </a:xfrm>
          <a:prstGeom prst="ellipse">
            <a:avLst/>
          </a:prstGeom>
          <a:solidFill>
            <a:srgbClr val="E9C87D"/>
          </a:solidFill>
          <a:ln w="12700">
            <a:solidFill>
              <a:srgbClr val="E9C87D"/>
            </a:solidFill>
            <a:prstDash val="solid"/>
          </a:ln>
        </p:spPr>
        <p:txBody>
          <a:bodyPr/>
          <a:p/>
        </p:txBody>
      </p:sp>
      <p:sp>
        <p:nvSpPr>
          <p:cNvPr id="18" name="Text 15"/>
          <p:cNvSpPr/>
          <p:nvPr/>
        </p:nvSpPr>
        <p:spPr>
          <a:xfrm>
            <a:off x="8887968" y="3584448"/>
            <a:ext cx="2395728" cy="201168"/>
          </a:xfrm>
          <a:prstGeom prst="rect">
            <a:avLst/>
          </a:prstGeom>
          <a:noFill/>
          <a:ln/>
        </p:spPr>
        <p:txBody>
          <a:bodyPr wrap="square" lIns="0" tIns="0" rIns="0" bIns="0" rtlCol="0" anchor="t">
            <a:normAutofit/>
          </a:bodyPr>
          <a:lstStyle/>
          <a:p>
            <a:pPr algn="l" indent="0" marL="0">
              <a:buNone/>
            </a:pPr>
            <a:r>
              <a:rPr lang="en-US" sz="1080" b="1" dirty="0">
                <a:solidFill>
                  <a:srgbClr val="FFFFFF"/>
                </a:solidFill>
                <a:latin typeface="Arial" pitchFamily="34" charset="0"/>
                <a:ea typeface="Arial" pitchFamily="34" charset="-122"/>
                <a:cs typeface="Arial" pitchFamily="34" charset="-120"/>
              </a:rPr>
              <a:t>Contradictions</a:t>
            </a:r>
            <a:endParaRPr lang="en-US" sz="1080" dirty="0"/>
          </a:p>
        </p:txBody>
      </p:sp>
      <p:sp>
        <p:nvSpPr>
          <p:cNvPr id="19" name="Text 16"/>
          <p:cNvSpPr/>
          <p:nvPr/>
        </p:nvSpPr>
        <p:spPr>
          <a:xfrm>
            <a:off x="8887968" y="3813048"/>
            <a:ext cx="2377440" cy="320040"/>
          </a:xfrm>
          <a:prstGeom prst="rect">
            <a:avLst/>
          </a:prstGeom>
          <a:noFill/>
          <a:ln/>
        </p:spPr>
        <p:txBody>
          <a:bodyPr wrap="square" lIns="0" tIns="0" rIns="0" bIns="0" rtlCol="0" anchor="t">
            <a:normAutofit/>
          </a:bodyPr>
          <a:lstStyle/>
          <a:p>
            <a:pPr algn="l" indent="0" marL="0">
              <a:buNone/>
            </a:pPr>
            <a:r>
              <a:rPr lang="en-US" sz="880" dirty="0">
                <a:solidFill>
                  <a:srgbClr val="BCD0E2"/>
                </a:solidFill>
                <a:latin typeface="Arial" pitchFamily="34" charset="0"/>
                <a:ea typeface="Arial" pitchFamily="34" charset="-122"/>
                <a:cs typeface="Arial" pitchFamily="34" charset="-120"/>
              </a:rPr>
              <a:t>Conflicting evidence is preserved, not hidden.</a:t>
            </a:r>
            <a:endParaRPr lang="en-US" sz="880" dirty="0"/>
          </a:p>
        </p:txBody>
      </p:sp>
      <p:sp>
        <p:nvSpPr>
          <p:cNvPr id="20" name="Shape 17"/>
          <p:cNvSpPr/>
          <p:nvPr/>
        </p:nvSpPr>
        <p:spPr>
          <a:xfrm>
            <a:off x="8613648" y="4279392"/>
            <a:ext cx="118872" cy="118872"/>
          </a:xfrm>
          <a:prstGeom prst="ellipse">
            <a:avLst/>
          </a:prstGeom>
          <a:solidFill>
            <a:srgbClr val="E9C87D"/>
          </a:solidFill>
          <a:ln w="12700">
            <a:solidFill>
              <a:srgbClr val="E9C87D"/>
            </a:solidFill>
            <a:prstDash val="solid"/>
          </a:ln>
        </p:spPr>
        <p:txBody>
          <a:bodyPr/>
          <a:p/>
        </p:txBody>
      </p:sp>
      <p:sp>
        <p:nvSpPr>
          <p:cNvPr id="21" name="Text 18"/>
          <p:cNvSpPr/>
          <p:nvPr/>
        </p:nvSpPr>
        <p:spPr>
          <a:xfrm>
            <a:off x="8887968" y="4242816"/>
            <a:ext cx="2395728" cy="201168"/>
          </a:xfrm>
          <a:prstGeom prst="rect">
            <a:avLst/>
          </a:prstGeom>
          <a:noFill/>
          <a:ln/>
        </p:spPr>
        <p:txBody>
          <a:bodyPr wrap="square" lIns="0" tIns="0" rIns="0" bIns="0" rtlCol="0" anchor="t">
            <a:normAutofit/>
          </a:bodyPr>
          <a:lstStyle/>
          <a:p>
            <a:pPr algn="l" indent="0" marL="0">
              <a:buNone/>
            </a:pPr>
            <a:r>
              <a:rPr lang="en-US" sz="1080" b="1" dirty="0">
                <a:solidFill>
                  <a:srgbClr val="FFFFFF"/>
                </a:solidFill>
                <a:latin typeface="Arial" pitchFamily="34" charset="0"/>
                <a:ea typeface="Arial" pitchFamily="34" charset="-122"/>
                <a:cs typeface="Arial" pitchFamily="34" charset="-120"/>
              </a:rPr>
              <a:t>Authority consequence</a:t>
            </a:r>
            <a:endParaRPr lang="en-US" sz="1080" dirty="0"/>
          </a:p>
        </p:txBody>
      </p:sp>
      <p:sp>
        <p:nvSpPr>
          <p:cNvPr id="22" name="Text 19"/>
          <p:cNvSpPr/>
          <p:nvPr/>
        </p:nvSpPr>
        <p:spPr>
          <a:xfrm>
            <a:off x="8887968" y="4471416"/>
            <a:ext cx="2377440" cy="320040"/>
          </a:xfrm>
          <a:prstGeom prst="rect">
            <a:avLst/>
          </a:prstGeom>
          <a:noFill/>
          <a:ln/>
        </p:spPr>
        <p:txBody>
          <a:bodyPr wrap="square" lIns="0" tIns="0" rIns="0" bIns="0" rtlCol="0" anchor="t">
            <a:normAutofit/>
          </a:bodyPr>
          <a:lstStyle/>
          <a:p>
            <a:pPr algn="l" indent="0" marL="0">
              <a:buNone/>
            </a:pPr>
            <a:r>
              <a:rPr lang="en-US" sz="880" dirty="0">
                <a:solidFill>
                  <a:srgbClr val="BCD0E2"/>
                </a:solidFill>
                <a:latin typeface="Arial" pitchFamily="34" charset="0"/>
                <a:ea typeface="Arial" pitchFamily="34" charset="-122"/>
                <a:cs typeface="Arial" pitchFamily="34" charset="-120"/>
              </a:rPr>
              <a:t>What may happen next - and what remains prohibited.</a:t>
            </a:r>
            <a:endParaRPr lang="en-US" sz="880" dirty="0"/>
          </a:p>
        </p:txBody>
      </p:sp>
      <p:sp>
        <p:nvSpPr>
          <p:cNvPr id="23" name="Shape 20"/>
          <p:cNvSpPr/>
          <p:nvPr/>
        </p:nvSpPr>
        <p:spPr>
          <a:xfrm>
            <a:off x="8613648" y="4937760"/>
            <a:ext cx="118872" cy="118872"/>
          </a:xfrm>
          <a:prstGeom prst="ellipse">
            <a:avLst/>
          </a:prstGeom>
          <a:solidFill>
            <a:srgbClr val="E9C87D"/>
          </a:solidFill>
          <a:ln w="12700">
            <a:solidFill>
              <a:srgbClr val="E9C87D"/>
            </a:solidFill>
            <a:prstDash val="solid"/>
          </a:ln>
        </p:spPr>
        <p:txBody>
          <a:bodyPr/>
          <a:p/>
        </p:txBody>
      </p:sp>
      <p:sp>
        <p:nvSpPr>
          <p:cNvPr id="24" name="Text 21"/>
          <p:cNvSpPr/>
          <p:nvPr/>
        </p:nvSpPr>
        <p:spPr>
          <a:xfrm>
            <a:off x="8887968" y="4901184"/>
            <a:ext cx="2395728" cy="201168"/>
          </a:xfrm>
          <a:prstGeom prst="rect">
            <a:avLst/>
          </a:prstGeom>
          <a:noFill/>
          <a:ln/>
        </p:spPr>
        <p:txBody>
          <a:bodyPr wrap="square" lIns="0" tIns="0" rIns="0" bIns="0" rtlCol="0" anchor="t">
            <a:normAutofit/>
          </a:bodyPr>
          <a:lstStyle/>
          <a:p>
            <a:pPr algn="l" indent="0" marL="0">
              <a:buNone/>
            </a:pPr>
            <a:r>
              <a:rPr lang="en-US" sz="1080" b="1" dirty="0">
                <a:solidFill>
                  <a:srgbClr val="FFFFFF"/>
                </a:solidFill>
                <a:latin typeface="Arial" pitchFamily="34" charset="0"/>
                <a:ea typeface="Arial" pitchFamily="34" charset="-122"/>
                <a:cs typeface="Arial" pitchFamily="34" charset="-120"/>
              </a:rPr>
              <a:t>Replay path</a:t>
            </a:r>
            <a:endParaRPr lang="en-US" sz="1080" dirty="0"/>
          </a:p>
        </p:txBody>
      </p:sp>
      <p:sp>
        <p:nvSpPr>
          <p:cNvPr id="25" name="Text 22"/>
          <p:cNvSpPr/>
          <p:nvPr/>
        </p:nvSpPr>
        <p:spPr>
          <a:xfrm>
            <a:off x="8887968" y="5129784"/>
            <a:ext cx="2377440" cy="320040"/>
          </a:xfrm>
          <a:prstGeom prst="rect">
            <a:avLst/>
          </a:prstGeom>
          <a:noFill/>
          <a:ln/>
        </p:spPr>
        <p:txBody>
          <a:bodyPr wrap="square" lIns="0" tIns="0" rIns="0" bIns="0" rtlCol="0" anchor="t">
            <a:normAutofit/>
          </a:bodyPr>
          <a:lstStyle/>
          <a:p>
            <a:pPr algn="l" indent="0" marL="0">
              <a:buNone/>
            </a:pPr>
            <a:r>
              <a:rPr lang="en-US" sz="880" dirty="0">
                <a:solidFill>
                  <a:srgbClr val="BCD0E2"/>
                </a:solidFill>
                <a:latin typeface="Arial" pitchFamily="34" charset="0"/>
                <a:ea typeface="Arial" pitchFamily="34" charset="-122"/>
                <a:cs typeface="Arial" pitchFamily="34" charset="-120"/>
              </a:rPr>
              <a:t>How another reviewer can reproduce the critical result.</a:t>
            </a:r>
            <a:endParaRPr lang="en-US" sz="88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FC0D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30352" y="164592"/>
            <a:ext cx="164592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51790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PARTNER VALUE</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Start where proof quality changes a real decision.</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The initial wedge is bounded, high-value work - not autonomous everything.</a:t>
            </a:r>
            <a:endParaRPr lang="en-US" sz="1230" dirty="0"/>
          </a:p>
        </p:txBody>
      </p:sp>
      <p:sp>
        <p:nvSpPr>
          <p:cNvPr id="6" name="Shape 4"/>
          <p:cNvSpPr/>
          <p:nvPr/>
        </p:nvSpPr>
        <p:spPr>
          <a:xfrm>
            <a:off x="530352" y="1572768"/>
            <a:ext cx="3520440" cy="1975104"/>
          </a:xfrm>
          <a:prstGeom prst="roundRect">
            <a:avLst>
              <a:gd name="adj" fmla="val 3704"/>
            </a:avLst>
          </a:prstGeom>
          <a:solidFill>
            <a:srgbClr val="EEF5FB"/>
          </a:solidFill>
          <a:ln w="12700">
            <a:solidFill>
              <a:srgbClr val="387FB7"/>
            </a:solidFill>
            <a:prstDash val="solid"/>
          </a:ln>
          <a:effectLst>
            <a:outerShdw sx="100000" sy="100000" kx="0" ky="0" algn="bl" rotWithShape="0" blurRad="25400" dist="50800" dir="2700000">
              <a:srgbClr val="07182B">
                <a:alpha val="10000"/>
              </a:srgbClr>
            </a:outerShdw>
          </a:effectLst>
        </p:spPr>
        <p:txBody>
          <a:bodyPr/>
          <a:p/>
        </p:txBody>
      </p:sp>
      <p:sp>
        <p:nvSpPr>
          <p:cNvPr id="7" name="Text 5"/>
          <p:cNvSpPr/>
          <p:nvPr/>
        </p:nvSpPr>
        <p:spPr>
          <a:xfrm>
            <a:off x="731520" y="1737360"/>
            <a:ext cx="548640" cy="310896"/>
          </a:xfrm>
          <a:prstGeom prst="rect">
            <a:avLst/>
          </a:prstGeom>
          <a:noFill/>
          <a:ln/>
        </p:spPr>
        <p:txBody>
          <a:bodyPr wrap="square" lIns="0" tIns="0" rIns="0" bIns="0" rtlCol="0" anchor="t">
            <a:normAutofit/>
          </a:bodyPr>
          <a:lstStyle/>
          <a:p>
            <a:pPr algn="l" indent="0" marL="0">
              <a:buNone/>
            </a:pPr>
            <a:r>
              <a:rPr lang="en-US" sz="2400" b="1" dirty="0">
                <a:solidFill>
                  <a:srgbClr val="387FB7"/>
                </a:solidFill>
                <a:latin typeface="Georgia" pitchFamily="34" charset="0"/>
                <a:ea typeface="Georgia" pitchFamily="34" charset="-122"/>
                <a:cs typeface="Georgia" pitchFamily="34" charset="-120"/>
              </a:rPr>
              <a:t>01</a:t>
            </a:r>
            <a:endParaRPr lang="en-US" sz="2400" dirty="0"/>
          </a:p>
        </p:txBody>
      </p:sp>
      <p:sp>
        <p:nvSpPr>
          <p:cNvPr id="8" name="Text 6"/>
          <p:cNvSpPr/>
          <p:nvPr/>
        </p:nvSpPr>
        <p:spPr>
          <a:xfrm>
            <a:off x="1371600" y="1737360"/>
            <a:ext cx="2331720" cy="438912"/>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Strategic partnership diligence</a:t>
            </a:r>
            <a:endParaRPr lang="en-US" sz="1350" dirty="0"/>
          </a:p>
        </p:txBody>
      </p:sp>
      <p:sp>
        <p:nvSpPr>
          <p:cNvPr id="9" name="Text 7"/>
          <p:cNvSpPr/>
          <p:nvPr/>
        </p:nvSpPr>
        <p:spPr>
          <a:xfrm>
            <a:off x="731520" y="2350008"/>
            <a:ext cx="3063240" cy="685800"/>
          </a:xfrm>
          <a:prstGeom prst="rect">
            <a:avLst/>
          </a:prstGeom>
          <a:noFill/>
          <a:ln/>
        </p:spPr>
        <p:txBody>
          <a:bodyPr wrap="square" lIns="0" tIns="0" rIns="0" bIns="0" rtlCol="0" anchor="t">
            <a:normAutofit/>
          </a:bodyPr>
          <a:lstStyle/>
          <a:p>
            <a:pPr algn="l" indent="0" marL="0">
              <a:buNone/>
            </a:pPr>
            <a:r>
              <a:rPr lang="en-US" sz="1000" dirty="0">
                <a:solidFill>
                  <a:srgbClr val="68788D"/>
                </a:solidFill>
                <a:latin typeface="Arial" pitchFamily="34" charset="0"/>
                <a:ea typeface="Arial" pitchFamily="34" charset="-122"/>
                <a:cs typeface="Arial" pitchFamily="34" charset="-120"/>
              </a:rPr>
              <a:t>Technical, commercial, security and operational fit - with reversible pilot conditions.</a:t>
            </a:r>
            <a:endParaRPr lang="en-US" sz="1000" dirty="0"/>
          </a:p>
        </p:txBody>
      </p:sp>
      <p:sp>
        <p:nvSpPr>
          <p:cNvPr id="10" name="Shape 8"/>
          <p:cNvSpPr/>
          <p:nvPr/>
        </p:nvSpPr>
        <p:spPr>
          <a:xfrm>
            <a:off x="731520" y="3108960"/>
            <a:ext cx="2286000" cy="256032"/>
          </a:xfrm>
          <a:prstGeom prst="roundRect">
            <a:avLst>
              <a:gd name="adj" fmla="val 21429"/>
            </a:avLst>
          </a:prstGeom>
          <a:solidFill>
            <a:srgbClr val="FFFDF8"/>
          </a:solidFill>
          <a:ln w="12700">
            <a:solidFill>
              <a:srgbClr val="387FB7">
                <a:alpha val="85000"/>
              </a:srgbClr>
            </a:solidFill>
            <a:prstDash val="solid"/>
          </a:ln>
        </p:spPr>
        <p:txBody>
          <a:bodyPr/>
          <a:p/>
        </p:txBody>
      </p:sp>
      <p:sp>
        <p:nvSpPr>
          <p:cNvPr id="11" name="Text 9"/>
          <p:cNvSpPr/>
          <p:nvPr/>
        </p:nvSpPr>
        <p:spPr>
          <a:xfrm>
            <a:off x="795528" y="3156509"/>
            <a:ext cx="21579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387FB7"/>
                </a:solidFill>
                <a:latin typeface="Arial" pitchFamily="34" charset="0"/>
                <a:ea typeface="Arial" pitchFamily="34" charset="-122"/>
                <a:cs typeface="Arial" pitchFamily="34" charset="-120"/>
              </a:rPr>
              <a:t>GOVERNED DECISION + ACTION GRAPH</a:t>
            </a:r>
            <a:endParaRPr lang="en-US" sz="800" dirty="0"/>
          </a:p>
        </p:txBody>
      </p:sp>
      <p:sp>
        <p:nvSpPr>
          <p:cNvPr id="12" name="Shape 10"/>
          <p:cNvSpPr/>
          <p:nvPr/>
        </p:nvSpPr>
        <p:spPr>
          <a:xfrm>
            <a:off x="4352544" y="1572768"/>
            <a:ext cx="3520440" cy="1975104"/>
          </a:xfrm>
          <a:prstGeom prst="roundRect">
            <a:avLst>
              <a:gd name="adj" fmla="val 3704"/>
            </a:avLst>
          </a:prstGeom>
          <a:solidFill>
            <a:srgbClr val="FFF7DF"/>
          </a:solidFill>
          <a:ln w="12700">
            <a:solidFill>
              <a:srgbClr val="B8872E"/>
            </a:solidFill>
            <a:prstDash val="solid"/>
          </a:ln>
          <a:effectLst>
            <a:outerShdw sx="100000" sy="100000" kx="0" ky="0" algn="bl" rotWithShape="0" blurRad="25400" dist="50800" dir="2700000">
              <a:srgbClr val="07182B">
                <a:alpha val="10000"/>
              </a:srgbClr>
            </a:outerShdw>
          </a:effectLst>
        </p:spPr>
        <p:txBody>
          <a:bodyPr/>
          <a:p/>
        </p:txBody>
      </p:sp>
      <p:sp>
        <p:nvSpPr>
          <p:cNvPr id="13" name="Text 11"/>
          <p:cNvSpPr/>
          <p:nvPr/>
        </p:nvSpPr>
        <p:spPr>
          <a:xfrm>
            <a:off x="4553712" y="1737360"/>
            <a:ext cx="548640" cy="310896"/>
          </a:xfrm>
          <a:prstGeom prst="rect">
            <a:avLst/>
          </a:prstGeom>
          <a:noFill/>
          <a:ln/>
        </p:spPr>
        <p:txBody>
          <a:bodyPr wrap="square" lIns="0" tIns="0" rIns="0" bIns="0" rtlCol="0" anchor="t">
            <a:normAutofit/>
          </a:bodyPr>
          <a:lstStyle/>
          <a:p>
            <a:pPr algn="l" indent="0" marL="0">
              <a:buNone/>
            </a:pPr>
            <a:r>
              <a:rPr lang="en-US" sz="2400" b="1" dirty="0">
                <a:solidFill>
                  <a:srgbClr val="B8872E"/>
                </a:solidFill>
                <a:latin typeface="Georgia" pitchFamily="34" charset="0"/>
                <a:ea typeface="Georgia" pitchFamily="34" charset="-122"/>
                <a:cs typeface="Georgia" pitchFamily="34" charset="-120"/>
              </a:rPr>
              <a:t>02</a:t>
            </a:r>
            <a:endParaRPr lang="en-US" sz="2400" dirty="0"/>
          </a:p>
        </p:txBody>
      </p:sp>
      <p:sp>
        <p:nvSpPr>
          <p:cNvPr id="14" name="Text 12"/>
          <p:cNvSpPr/>
          <p:nvPr/>
        </p:nvSpPr>
        <p:spPr>
          <a:xfrm>
            <a:off x="5193792" y="1737360"/>
            <a:ext cx="2331720" cy="438912"/>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Enterprise AI procurement</a:t>
            </a:r>
            <a:endParaRPr lang="en-US" sz="1350" dirty="0"/>
          </a:p>
        </p:txBody>
      </p:sp>
      <p:sp>
        <p:nvSpPr>
          <p:cNvPr id="15" name="Text 13"/>
          <p:cNvSpPr/>
          <p:nvPr/>
        </p:nvSpPr>
        <p:spPr>
          <a:xfrm>
            <a:off x="4553712" y="2350008"/>
            <a:ext cx="3063240" cy="685800"/>
          </a:xfrm>
          <a:prstGeom prst="rect">
            <a:avLst/>
          </a:prstGeom>
          <a:noFill/>
          <a:ln/>
        </p:spPr>
        <p:txBody>
          <a:bodyPr wrap="square" lIns="0" tIns="0" rIns="0" bIns="0" rtlCol="0" anchor="t">
            <a:normAutofit/>
          </a:bodyPr>
          <a:lstStyle/>
          <a:p>
            <a:pPr algn="l" indent="0" marL="0">
              <a:buNone/>
            </a:pPr>
            <a:r>
              <a:rPr lang="en-US" sz="1000" dirty="0">
                <a:solidFill>
                  <a:srgbClr val="68788D"/>
                </a:solidFill>
                <a:latin typeface="Arial" pitchFamily="34" charset="0"/>
                <a:ea typeface="Arial" pitchFamily="34" charset="-122"/>
                <a:cs typeface="Arial" pitchFamily="34" charset="-120"/>
              </a:rPr>
              <a:t>Common claims matrix, evaluation plan, data boundary, security rubric and cost ledger.</a:t>
            </a:r>
            <a:endParaRPr lang="en-US" sz="1000" dirty="0"/>
          </a:p>
        </p:txBody>
      </p:sp>
      <p:sp>
        <p:nvSpPr>
          <p:cNvPr id="16" name="Shape 14"/>
          <p:cNvSpPr/>
          <p:nvPr/>
        </p:nvSpPr>
        <p:spPr>
          <a:xfrm>
            <a:off x="4553712" y="3108960"/>
            <a:ext cx="2286000" cy="256032"/>
          </a:xfrm>
          <a:prstGeom prst="roundRect">
            <a:avLst>
              <a:gd name="adj" fmla="val 21429"/>
            </a:avLst>
          </a:prstGeom>
          <a:solidFill>
            <a:srgbClr val="FFFDF8"/>
          </a:solidFill>
          <a:ln w="12700">
            <a:solidFill>
              <a:srgbClr val="B8872E">
                <a:alpha val="85000"/>
              </a:srgbClr>
            </a:solidFill>
            <a:prstDash val="solid"/>
          </a:ln>
        </p:spPr>
        <p:txBody>
          <a:bodyPr/>
          <a:p/>
        </p:txBody>
      </p:sp>
      <p:sp>
        <p:nvSpPr>
          <p:cNvPr id="17" name="Text 15"/>
          <p:cNvSpPr/>
          <p:nvPr/>
        </p:nvSpPr>
        <p:spPr>
          <a:xfrm>
            <a:off x="4617720" y="3156509"/>
            <a:ext cx="21579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GOVERNED DECISION + ACTION GRAPH</a:t>
            </a:r>
            <a:endParaRPr lang="en-US" sz="800" dirty="0"/>
          </a:p>
        </p:txBody>
      </p:sp>
      <p:sp>
        <p:nvSpPr>
          <p:cNvPr id="18" name="Shape 16"/>
          <p:cNvSpPr/>
          <p:nvPr/>
        </p:nvSpPr>
        <p:spPr>
          <a:xfrm>
            <a:off x="8174736" y="1572768"/>
            <a:ext cx="3520440" cy="1975104"/>
          </a:xfrm>
          <a:prstGeom prst="roundRect">
            <a:avLst>
              <a:gd name="adj" fmla="val 3704"/>
            </a:avLst>
          </a:prstGeom>
          <a:solidFill>
            <a:srgbClr val="EFF9F4"/>
          </a:solidFill>
          <a:ln w="12700">
            <a:solidFill>
              <a:srgbClr val="21805A"/>
            </a:solidFill>
            <a:prstDash val="solid"/>
          </a:ln>
          <a:effectLst>
            <a:outerShdw sx="100000" sy="100000" kx="0" ky="0" algn="bl" rotWithShape="0" blurRad="25400" dist="50800" dir="2700000">
              <a:srgbClr val="07182B">
                <a:alpha val="10000"/>
              </a:srgbClr>
            </a:outerShdw>
          </a:effectLst>
        </p:spPr>
        <p:txBody>
          <a:bodyPr/>
          <a:p/>
        </p:txBody>
      </p:sp>
      <p:sp>
        <p:nvSpPr>
          <p:cNvPr id="19" name="Text 17"/>
          <p:cNvSpPr/>
          <p:nvPr/>
        </p:nvSpPr>
        <p:spPr>
          <a:xfrm>
            <a:off x="8375904" y="1737360"/>
            <a:ext cx="548640" cy="310896"/>
          </a:xfrm>
          <a:prstGeom prst="rect">
            <a:avLst/>
          </a:prstGeom>
          <a:noFill/>
          <a:ln/>
        </p:spPr>
        <p:txBody>
          <a:bodyPr wrap="square" lIns="0" tIns="0" rIns="0" bIns="0" rtlCol="0" anchor="t">
            <a:normAutofit/>
          </a:bodyPr>
          <a:lstStyle/>
          <a:p>
            <a:pPr algn="l" indent="0" marL="0">
              <a:buNone/>
            </a:pPr>
            <a:r>
              <a:rPr lang="en-US" sz="2400" b="1" dirty="0">
                <a:solidFill>
                  <a:srgbClr val="21805A"/>
                </a:solidFill>
                <a:latin typeface="Georgia" pitchFamily="34" charset="0"/>
                <a:ea typeface="Georgia" pitchFamily="34" charset="-122"/>
                <a:cs typeface="Georgia" pitchFamily="34" charset="-120"/>
              </a:rPr>
              <a:t>03</a:t>
            </a:r>
            <a:endParaRPr lang="en-US" sz="2400" dirty="0"/>
          </a:p>
        </p:txBody>
      </p:sp>
      <p:sp>
        <p:nvSpPr>
          <p:cNvPr id="20" name="Text 18"/>
          <p:cNvSpPr/>
          <p:nvPr/>
        </p:nvSpPr>
        <p:spPr>
          <a:xfrm>
            <a:off x="9015984" y="1737360"/>
            <a:ext cx="2331720" cy="438912"/>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AI product launch readiness</a:t>
            </a:r>
            <a:endParaRPr lang="en-US" sz="1350" dirty="0"/>
          </a:p>
        </p:txBody>
      </p:sp>
      <p:sp>
        <p:nvSpPr>
          <p:cNvPr id="21" name="Text 19"/>
          <p:cNvSpPr/>
          <p:nvPr/>
        </p:nvSpPr>
        <p:spPr>
          <a:xfrm>
            <a:off x="8375904" y="2350008"/>
            <a:ext cx="3063240" cy="685800"/>
          </a:xfrm>
          <a:prstGeom prst="rect">
            <a:avLst/>
          </a:prstGeom>
          <a:noFill/>
          <a:ln/>
        </p:spPr>
        <p:txBody>
          <a:bodyPr wrap="square" lIns="0" tIns="0" rIns="0" bIns="0" rtlCol="0" anchor="t">
            <a:normAutofit/>
          </a:bodyPr>
          <a:lstStyle/>
          <a:p>
            <a:pPr algn="l" indent="0" marL="0">
              <a:buNone/>
            </a:pPr>
            <a:r>
              <a:rPr lang="en-US" sz="1000" dirty="0">
                <a:solidFill>
                  <a:srgbClr val="68788D"/>
                </a:solidFill>
                <a:latin typeface="Arial" pitchFamily="34" charset="0"/>
                <a:ea typeface="Arial" pitchFamily="34" charset="-122"/>
                <a:cs typeface="Arial" pitchFamily="34" charset="-120"/>
              </a:rPr>
              <a:t>Release, canary, repair or block - with monitoring, rollback and claim discipline.</a:t>
            </a:r>
            <a:endParaRPr lang="en-US" sz="1000" dirty="0"/>
          </a:p>
        </p:txBody>
      </p:sp>
      <p:sp>
        <p:nvSpPr>
          <p:cNvPr id="22" name="Shape 20"/>
          <p:cNvSpPr/>
          <p:nvPr/>
        </p:nvSpPr>
        <p:spPr>
          <a:xfrm>
            <a:off x="8375904" y="3108960"/>
            <a:ext cx="2286000" cy="256032"/>
          </a:xfrm>
          <a:prstGeom prst="roundRect">
            <a:avLst>
              <a:gd name="adj" fmla="val 21429"/>
            </a:avLst>
          </a:prstGeom>
          <a:solidFill>
            <a:srgbClr val="FFFDF8"/>
          </a:solidFill>
          <a:ln w="12700">
            <a:solidFill>
              <a:srgbClr val="21805A">
                <a:alpha val="85000"/>
              </a:srgbClr>
            </a:solidFill>
            <a:prstDash val="solid"/>
          </a:ln>
        </p:spPr>
        <p:txBody>
          <a:bodyPr/>
          <a:p/>
        </p:txBody>
      </p:sp>
      <p:sp>
        <p:nvSpPr>
          <p:cNvPr id="23" name="Text 21"/>
          <p:cNvSpPr/>
          <p:nvPr/>
        </p:nvSpPr>
        <p:spPr>
          <a:xfrm>
            <a:off x="8439912" y="3156509"/>
            <a:ext cx="21579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21805A"/>
                </a:solidFill>
                <a:latin typeface="Arial" pitchFamily="34" charset="0"/>
                <a:ea typeface="Arial" pitchFamily="34" charset="-122"/>
                <a:cs typeface="Arial" pitchFamily="34" charset="-120"/>
              </a:rPr>
              <a:t>GOVERNED DECISION + ACTION GRAPH</a:t>
            </a:r>
            <a:endParaRPr lang="en-US" sz="800" dirty="0"/>
          </a:p>
        </p:txBody>
      </p:sp>
      <p:sp>
        <p:nvSpPr>
          <p:cNvPr id="24" name="Shape 22"/>
          <p:cNvSpPr/>
          <p:nvPr/>
        </p:nvSpPr>
        <p:spPr>
          <a:xfrm>
            <a:off x="530352" y="3803904"/>
            <a:ext cx="3520440" cy="1975104"/>
          </a:xfrm>
          <a:prstGeom prst="roundRect">
            <a:avLst>
              <a:gd name="adj" fmla="val 3704"/>
            </a:avLst>
          </a:prstGeom>
          <a:solidFill>
            <a:srgbClr val="F3EFFB"/>
          </a:solidFill>
          <a:ln w="12700">
            <a:solidFill>
              <a:srgbClr val="6753A6"/>
            </a:solidFill>
            <a:prstDash val="solid"/>
          </a:ln>
          <a:effectLst>
            <a:outerShdw sx="100000" sy="100000" kx="0" ky="0" algn="bl" rotWithShape="0" blurRad="25400" dist="50800" dir="2700000">
              <a:srgbClr val="07182B">
                <a:alpha val="10000"/>
              </a:srgbClr>
            </a:outerShdw>
          </a:effectLst>
        </p:spPr>
        <p:txBody>
          <a:bodyPr/>
          <a:p/>
        </p:txBody>
      </p:sp>
      <p:sp>
        <p:nvSpPr>
          <p:cNvPr id="25" name="Text 23"/>
          <p:cNvSpPr/>
          <p:nvPr/>
        </p:nvSpPr>
        <p:spPr>
          <a:xfrm>
            <a:off x="731520" y="3968496"/>
            <a:ext cx="548640" cy="310896"/>
          </a:xfrm>
          <a:prstGeom prst="rect">
            <a:avLst/>
          </a:prstGeom>
          <a:noFill/>
          <a:ln/>
        </p:spPr>
        <p:txBody>
          <a:bodyPr wrap="square" lIns="0" tIns="0" rIns="0" bIns="0" rtlCol="0" anchor="t">
            <a:normAutofit/>
          </a:bodyPr>
          <a:lstStyle/>
          <a:p>
            <a:pPr algn="l" indent="0" marL="0">
              <a:buNone/>
            </a:pPr>
            <a:r>
              <a:rPr lang="en-US" sz="2400" b="1" dirty="0">
                <a:solidFill>
                  <a:srgbClr val="6753A6"/>
                </a:solidFill>
                <a:latin typeface="Georgia" pitchFamily="34" charset="0"/>
                <a:ea typeface="Georgia" pitchFamily="34" charset="-122"/>
                <a:cs typeface="Georgia" pitchFamily="34" charset="-120"/>
              </a:rPr>
              <a:t>04</a:t>
            </a:r>
            <a:endParaRPr lang="en-US" sz="2400" dirty="0"/>
          </a:p>
        </p:txBody>
      </p:sp>
      <p:sp>
        <p:nvSpPr>
          <p:cNvPr id="26" name="Text 24"/>
          <p:cNvSpPr/>
          <p:nvPr/>
        </p:nvSpPr>
        <p:spPr>
          <a:xfrm>
            <a:off x="1371600" y="3968496"/>
            <a:ext cx="2331720" cy="438912"/>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M&amp;A and technology diligence</a:t>
            </a:r>
            <a:endParaRPr lang="en-US" sz="1350" dirty="0"/>
          </a:p>
        </p:txBody>
      </p:sp>
      <p:sp>
        <p:nvSpPr>
          <p:cNvPr id="27" name="Text 25"/>
          <p:cNvSpPr/>
          <p:nvPr/>
        </p:nvSpPr>
        <p:spPr>
          <a:xfrm>
            <a:off x="731520" y="4581144"/>
            <a:ext cx="3063240" cy="685800"/>
          </a:xfrm>
          <a:prstGeom prst="rect">
            <a:avLst/>
          </a:prstGeom>
          <a:noFill/>
          <a:ln/>
        </p:spPr>
        <p:txBody>
          <a:bodyPr wrap="square" lIns="0" tIns="0" rIns="0" bIns="0" rtlCol="0" anchor="t">
            <a:normAutofit/>
          </a:bodyPr>
          <a:lstStyle/>
          <a:p>
            <a:pPr algn="l" indent="0" marL="0">
              <a:buNone/>
            </a:pPr>
            <a:r>
              <a:rPr lang="en-US" sz="1000" dirty="0">
                <a:solidFill>
                  <a:srgbClr val="68788D"/>
                </a:solidFill>
                <a:latin typeface="Arial" pitchFamily="34" charset="0"/>
                <a:ea typeface="Arial" pitchFamily="34" charset="-122"/>
                <a:cs typeface="Arial" pitchFamily="34" charset="-120"/>
              </a:rPr>
              <a:t>Evidence-bearing workstreams across product, IP, data, security and operations.</a:t>
            </a:r>
            <a:endParaRPr lang="en-US" sz="1000" dirty="0"/>
          </a:p>
        </p:txBody>
      </p:sp>
      <p:sp>
        <p:nvSpPr>
          <p:cNvPr id="28" name="Shape 26"/>
          <p:cNvSpPr/>
          <p:nvPr/>
        </p:nvSpPr>
        <p:spPr>
          <a:xfrm>
            <a:off x="731520" y="5340096"/>
            <a:ext cx="2286000" cy="256032"/>
          </a:xfrm>
          <a:prstGeom prst="roundRect">
            <a:avLst>
              <a:gd name="adj" fmla="val 21429"/>
            </a:avLst>
          </a:prstGeom>
          <a:solidFill>
            <a:srgbClr val="FFFDF8"/>
          </a:solidFill>
          <a:ln w="12700">
            <a:solidFill>
              <a:srgbClr val="6753A6">
                <a:alpha val="85000"/>
              </a:srgbClr>
            </a:solidFill>
            <a:prstDash val="solid"/>
          </a:ln>
        </p:spPr>
        <p:txBody>
          <a:bodyPr/>
          <a:p/>
        </p:txBody>
      </p:sp>
      <p:sp>
        <p:nvSpPr>
          <p:cNvPr id="29" name="Text 27"/>
          <p:cNvSpPr/>
          <p:nvPr/>
        </p:nvSpPr>
        <p:spPr>
          <a:xfrm>
            <a:off x="795528" y="5387645"/>
            <a:ext cx="21579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6753A6"/>
                </a:solidFill>
                <a:latin typeface="Arial" pitchFamily="34" charset="0"/>
                <a:ea typeface="Arial" pitchFamily="34" charset="-122"/>
                <a:cs typeface="Arial" pitchFamily="34" charset="-120"/>
              </a:rPr>
              <a:t>GOVERNED DECISION + ACTION GRAPH</a:t>
            </a:r>
            <a:endParaRPr lang="en-US" sz="800" dirty="0"/>
          </a:p>
        </p:txBody>
      </p:sp>
      <p:sp>
        <p:nvSpPr>
          <p:cNvPr id="30" name="Shape 28"/>
          <p:cNvSpPr/>
          <p:nvPr/>
        </p:nvSpPr>
        <p:spPr>
          <a:xfrm>
            <a:off x="4352544" y="3803904"/>
            <a:ext cx="3520440" cy="1975104"/>
          </a:xfrm>
          <a:prstGeom prst="roundRect">
            <a:avLst>
              <a:gd name="adj" fmla="val 3704"/>
            </a:avLst>
          </a:prstGeom>
          <a:solidFill>
            <a:srgbClr val="FFF1F3"/>
          </a:solidFill>
          <a:ln w="12700">
            <a:solidFill>
              <a:srgbClr val="B74A5E"/>
            </a:solidFill>
            <a:prstDash val="solid"/>
          </a:ln>
          <a:effectLst>
            <a:outerShdw sx="100000" sy="100000" kx="0" ky="0" algn="bl" rotWithShape="0" blurRad="25400" dist="50800" dir="2700000">
              <a:srgbClr val="07182B">
                <a:alpha val="10000"/>
              </a:srgbClr>
            </a:outerShdw>
          </a:effectLst>
        </p:spPr>
        <p:txBody>
          <a:bodyPr/>
          <a:p/>
        </p:txBody>
      </p:sp>
      <p:sp>
        <p:nvSpPr>
          <p:cNvPr id="31" name="Text 29"/>
          <p:cNvSpPr/>
          <p:nvPr/>
        </p:nvSpPr>
        <p:spPr>
          <a:xfrm>
            <a:off x="4553712" y="3968496"/>
            <a:ext cx="548640" cy="310896"/>
          </a:xfrm>
          <a:prstGeom prst="rect">
            <a:avLst/>
          </a:prstGeom>
          <a:noFill/>
          <a:ln/>
        </p:spPr>
        <p:txBody>
          <a:bodyPr wrap="square" lIns="0" tIns="0" rIns="0" bIns="0" rtlCol="0" anchor="t">
            <a:normAutofit/>
          </a:bodyPr>
          <a:lstStyle/>
          <a:p>
            <a:pPr algn="l" indent="0" marL="0">
              <a:buNone/>
            </a:pPr>
            <a:r>
              <a:rPr lang="en-US" sz="2400" b="1" dirty="0">
                <a:solidFill>
                  <a:srgbClr val="B74A5E"/>
                </a:solidFill>
                <a:latin typeface="Georgia" pitchFamily="34" charset="0"/>
                <a:ea typeface="Georgia" pitchFamily="34" charset="-122"/>
                <a:cs typeface="Georgia" pitchFamily="34" charset="-120"/>
              </a:rPr>
              <a:t>05</a:t>
            </a:r>
            <a:endParaRPr lang="en-US" sz="2400" dirty="0"/>
          </a:p>
        </p:txBody>
      </p:sp>
      <p:sp>
        <p:nvSpPr>
          <p:cNvPr id="32" name="Text 30"/>
          <p:cNvSpPr/>
          <p:nvPr/>
        </p:nvSpPr>
        <p:spPr>
          <a:xfrm>
            <a:off x="5193792" y="3968496"/>
            <a:ext cx="2331720" cy="438912"/>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Defensive cybersecurity remediation</a:t>
            </a:r>
            <a:endParaRPr lang="en-US" sz="1350" dirty="0"/>
          </a:p>
        </p:txBody>
      </p:sp>
      <p:sp>
        <p:nvSpPr>
          <p:cNvPr id="33" name="Text 31"/>
          <p:cNvSpPr/>
          <p:nvPr/>
        </p:nvSpPr>
        <p:spPr>
          <a:xfrm>
            <a:off x="4553712" y="4581144"/>
            <a:ext cx="3063240" cy="685800"/>
          </a:xfrm>
          <a:prstGeom prst="rect">
            <a:avLst/>
          </a:prstGeom>
          <a:noFill/>
          <a:ln/>
        </p:spPr>
        <p:txBody>
          <a:bodyPr wrap="square" lIns="0" tIns="0" rIns="0" bIns="0" rtlCol="0" anchor="t">
            <a:normAutofit/>
          </a:bodyPr>
          <a:lstStyle/>
          <a:p>
            <a:pPr algn="l" indent="0" marL="0">
              <a:buNone/>
            </a:pPr>
            <a:r>
              <a:rPr lang="en-US" sz="1000" dirty="0">
                <a:solidFill>
                  <a:srgbClr val="68788D"/>
                </a:solidFill>
                <a:latin typeface="Arial" pitchFamily="34" charset="0"/>
                <a:ea typeface="Arial" pitchFamily="34" charset="-122"/>
                <a:cs typeface="Arial" pitchFamily="34" charset="-120"/>
              </a:rPr>
              <a:t>Repo-owned, human-reviewed remediation with replay and safety invariants.</a:t>
            </a:r>
            <a:endParaRPr lang="en-US" sz="1000" dirty="0"/>
          </a:p>
        </p:txBody>
      </p:sp>
      <p:sp>
        <p:nvSpPr>
          <p:cNvPr id="34" name="Shape 32"/>
          <p:cNvSpPr/>
          <p:nvPr/>
        </p:nvSpPr>
        <p:spPr>
          <a:xfrm>
            <a:off x="4553712" y="5340096"/>
            <a:ext cx="2286000" cy="256032"/>
          </a:xfrm>
          <a:prstGeom prst="roundRect">
            <a:avLst>
              <a:gd name="adj" fmla="val 21429"/>
            </a:avLst>
          </a:prstGeom>
          <a:solidFill>
            <a:srgbClr val="FFFDF8"/>
          </a:solidFill>
          <a:ln w="12700">
            <a:solidFill>
              <a:srgbClr val="B74A5E">
                <a:alpha val="85000"/>
              </a:srgbClr>
            </a:solidFill>
            <a:prstDash val="solid"/>
          </a:ln>
        </p:spPr>
        <p:txBody>
          <a:bodyPr/>
          <a:p/>
        </p:txBody>
      </p:sp>
      <p:sp>
        <p:nvSpPr>
          <p:cNvPr id="35" name="Text 33"/>
          <p:cNvSpPr/>
          <p:nvPr/>
        </p:nvSpPr>
        <p:spPr>
          <a:xfrm>
            <a:off x="4617720" y="5387645"/>
            <a:ext cx="21579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74A5E"/>
                </a:solidFill>
                <a:latin typeface="Arial" pitchFamily="34" charset="0"/>
                <a:ea typeface="Arial" pitchFamily="34" charset="-122"/>
                <a:cs typeface="Arial" pitchFamily="34" charset="-120"/>
              </a:rPr>
              <a:t>GOVERNED DECISION + ACTION GRAPH</a:t>
            </a:r>
            <a:endParaRPr lang="en-US" sz="800" dirty="0"/>
          </a:p>
        </p:txBody>
      </p:sp>
      <p:sp>
        <p:nvSpPr>
          <p:cNvPr id="36" name="Shape 34"/>
          <p:cNvSpPr/>
          <p:nvPr/>
        </p:nvSpPr>
        <p:spPr>
          <a:xfrm>
            <a:off x="8174736" y="3803904"/>
            <a:ext cx="3520440" cy="1975104"/>
          </a:xfrm>
          <a:prstGeom prst="roundRect">
            <a:avLst>
              <a:gd name="adj" fmla="val 3704"/>
            </a:avLst>
          </a:prstGeom>
          <a:solidFill>
            <a:srgbClr val="EFF8FB"/>
          </a:solidFill>
          <a:ln w="12700">
            <a:solidFill>
              <a:srgbClr val="78B8D5"/>
            </a:solidFill>
            <a:prstDash val="solid"/>
          </a:ln>
          <a:effectLst>
            <a:outerShdw sx="100000" sy="100000" kx="0" ky="0" algn="bl" rotWithShape="0" blurRad="25400" dist="50800" dir="2700000">
              <a:srgbClr val="07182B">
                <a:alpha val="10000"/>
              </a:srgbClr>
            </a:outerShdw>
          </a:effectLst>
        </p:spPr>
        <p:txBody>
          <a:bodyPr/>
          <a:p/>
        </p:txBody>
      </p:sp>
      <p:sp>
        <p:nvSpPr>
          <p:cNvPr id="37" name="Text 35"/>
          <p:cNvSpPr/>
          <p:nvPr/>
        </p:nvSpPr>
        <p:spPr>
          <a:xfrm>
            <a:off x="8375904" y="3968496"/>
            <a:ext cx="548640" cy="310896"/>
          </a:xfrm>
          <a:prstGeom prst="rect">
            <a:avLst/>
          </a:prstGeom>
          <a:noFill/>
          <a:ln/>
        </p:spPr>
        <p:txBody>
          <a:bodyPr wrap="square" lIns="0" tIns="0" rIns="0" bIns="0" rtlCol="0" anchor="t">
            <a:normAutofit/>
          </a:bodyPr>
          <a:lstStyle/>
          <a:p>
            <a:pPr algn="l" indent="0" marL="0">
              <a:buNone/>
            </a:pPr>
            <a:r>
              <a:rPr lang="en-US" sz="2400" b="1" dirty="0">
                <a:solidFill>
                  <a:srgbClr val="78B8D5"/>
                </a:solidFill>
                <a:latin typeface="Georgia" pitchFamily="34" charset="0"/>
                <a:ea typeface="Georgia" pitchFamily="34" charset="-122"/>
                <a:cs typeface="Georgia" pitchFamily="34" charset="-120"/>
              </a:rPr>
              <a:t>06</a:t>
            </a:r>
            <a:endParaRPr lang="en-US" sz="2400" dirty="0"/>
          </a:p>
        </p:txBody>
      </p:sp>
      <p:sp>
        <p:nvSpPr>
          <p:cNvPr id="38" name="Text 36"/>
          <p:cNvSpPr/>
          <p:nvPr/>
        </p:nvSpPr>
        <p:spPr>
          <a:xfrm>
            <a:off x="9015984" y="3968496"/>
            <a:ext cx="2331720" cy="438912"/>
          </a:xfrm>
          <a:prstGeom prst="rect">
            <a:avLst/>
          </a:prstGeom>
          <a:noFill/>
          <a:ln/>
        </p:spPr>
        <p:txBody>
          <a:bodyPr wrap="square" lIns="0" tIns="0" rIns="0" bIns="0" rtlCol="0" anchor="t">
            <a:normAutofit/>
          </a:bodyPr>
          <a:lstStyle/>
          <a:p>
            <a:pPr algn="l" indent="0" marL="0">
              <a:buNone/>
            </a:pPr>
            <a:r>
              <a:rPr lang="en-US" sz="1350" b="1" dirty="0">
                <a:solidFill>
                  <a:srgbClr val="14263C"/>
                </a:solidFill>
                <a:latin typeface="Arial" pitchFamily="34" charset="0"/>
                <a:ea typeface="Arial" pitchFamily="34" charset="-122"/>
                <a:cs typeface="Arial" pitchFamily="34" charset="-120"/>
              </a:rPr>
              <a:t>R&amp;D portfolio and capability reuse</a:t>
            </a:r>
            <a:endParaRPr lang="en-US" sz="1350" dirty="0"/>
          </a:p>
        </p:txBody>
      </p:sp>
      <p:sp>
        <p:nvSpPr>
          <p:cNvPr id="39" name="Text 37"/>
          <p:cNvSpPr/>
          <p:nvPr/>
        </p:nvSpPr>
        <p:spPr>
          <a:xfrm>
            <a:off x="8375904" y="4581144"/>
            <a:ext cx="3063240" cy="685800"/>
          </a:xfrm>
          <a:prstGeom prst="rect">
            <a:avLst/>
          </a:prstGeom>
          <a:noFill/>
          <a:ln/>
        </p:spPr>
        <p:txBody>
          <a:bodyPr wrap="square" lIns="0" tIns="0" rIns="0" bIns="0" rtlCol="0" anchor="t">
            <a:normAutofit/>
          </a:bodyPr>
          <a:lstStyle/>
          <a:p>
            <a:pPr algn="l" indent="0" marL="0">
              <a:buNone/>
            </a:pPr>
            <a:r>
              <a:rPr lang="en-US" sz="1000" dirty="0">
                <a:solidFill>
                  <a:srgbClr val="68788D"/>
                </a:solidFill>
                <a:latin typeface="Arial" pitchFamily="34" charset="0"/>
                <a:ea typeface="Arial" pitchFamily="34" charset="-122"/>
                <a:cs typeface="Arial" pitchFamily="34" charset="-120"/>
              </a:rPr>
              <a:t>Admit only scoped, fresh and replayable results into governed memory.</a:t>
            </a:r>
            <a:endParaRPr lang="en-US" sz="1000" dirty="0"/>
          </a:p>
        </p:txBody>
      </p:sp>
      <p:sp>
        <p:nvSpPr>
          <p:cNvPr id="40" name="Shape 38"/>
          <p:cNvSpPr/>
          <p:nvPr/>
        </p:nvSpPr>
        <p:spPr>
          <a:xfrm>
            <a:off x="8375904" y="5340096"/>
            <a:ext cx="2286000" cy="256032"/>
          </a:xfrm>
          <a:prstGeom prst="roundRect">
            <a:avLst>
              <a:gd name="adj" fmla="val 21429"/>
            </a:avLst>
          </a:prstGeom>
          <a:solidFill>
            <a:srgbClr val="FFFDF8"/>
          </a:solidFill>
          <a:ln w="12700">
            <a:solidFill>
              <a:srgbClr val="78B8D5">
                <a:alpha val="85000"/>
              </a:srgbClr>
            </a:solidFill>
            <a:prstDash val="solid"/>
          </a:ln>
        </p:spPr>
        <p:txBody>
          <a:bodyPr/>
          <a:p/>
        </p:txBody>
      </p:sp>
      <p:sp>
        <p:nvSpPr>
          <p:cNvPr id="41" name="Text 39"/>
          <p:cNvSpPr/>
          <p:nvPr/>
        </p:nvSpPr>
        <p:spPr>
          <a:xfrm>
            <a:off x="8439912" y="5387645"/>
            <a:ext cx="21579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78B8D5"/>
                </a:solidFill>
                <a:latin typeface="Arial" pitchFamily="34" charset="0"/>
                <a:ea typeface="Arial" pitchFamily="34" charset="-122"/>
                <a:cs typeface="Arial" pitchFamily="34" charset="-120"/>
              </a:rPr>
              <a:t>GOVERNED DECISION + ACTION GRAPH</a:t>
            </a:r>
            <a:endParaRPr lang="en-US" sz="80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30352" y="164592"/>
            <a:ext cx="196596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8379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OPERATING ADVANTAGE</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The moat is governed capability - not prompt text.</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Accepted work becomes a durable, scoped and replayable institutional asset.</a:t>
            </a:r>
            <a:endParaRPr lang="en-US" sz="1230" dirty="0"/>
          </a:p>
        </p:txBody>
      </p:sp>
      <p:sp>
        <p:nvSpPr>
          <p:cNvPr id="6" name="Shape 4"/>
          <p:cNvSpPr/>
          <p:nvPr/>
        </p:nvSpPr>
        <p:spPr>
          <a:xfrm>
            <a:off x="530352" y="1572768"/>
            <a:ext cx="5376672" cy="1207008"/>
          </a:xfrm>
          <a:prstGeom prst="roundRect">
            <a:avLst>
              <a:gd name="adj" fmla="val 6061"/>
            </a:avLst>
          </a:prstGeom>
          <a:solidFill>
            <a:srgbClr val="EEF5FB"/>
          </a:solidFill>
          <a:ln w="12700">
            <a:solidFill>
              <a:srgbClr val="387FB7"/>
            </a:solidFill>
            <a:prstDash val="solid"/>
          </a:ln>
          <a:effectLst>
            <a:outerShdw sx="100000" sy="100000" kx="0" ky="0" algn="bl" rotWithShape="0" blurRad="25400" dist="50800" dir="2700000">
              <a:srgbClr val="07182B">
                <a:alpha val="10000"/>
              </a:srgbClr>
            </a:outerShdw>
          </a:effectLst>
        </p:spPr>
        <p:txBody>
          <a:bodyPr/>
          <a:p/>
        </p:txBody>
      </p:sp>
      <p:sp>
        <p:nvSpPr>
          <p:cNvPr id="7" name="Shape 5"/>
          <p:cNvSpPr/>
          <p:nvPr/>
        </p:nvSpPr>
        <p:spPr>
          <a:xfrm>
            <a:off x="713232" y="1792224"/>
            <a:ext cx="530352" cy="530352"/>
          </a:xfrm>
          <a:prstGeom prst="roundRect">
            <a:avLst>
              <a:gd name="adj" fmla="val 13793"/>
            </a:avLst>
          </a:prstGeom>
          <a:solidFill>
            <a:srgbClr val="387FB7"/>
          </a:solidFill>
          <a:ln w="12700">
            <a:solidFill>
              <a:srgbClr val="387FB7"/>
            </a:solidFill>
            <a:prstDash val="solid"/>
          </a:ln>
        </p:spPr>
        <p:txBody>
          <a:bodyPr/>
          <a:p/>
        </p:txBody>
      </p:sp>
      <p:sp>
        <p:nvSpPr>
          <p:cNvPr id="8" name="Text 6"/>
          <p:cNvSpPr/>
          <p:nvPr/>
        </p:nvSpPr>
        <p:spPr>
          <a:xfrm>
            <a:off x="777240" y="1929384"/>
            <a:ext cx="402336" cy="164592"/>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01</a:t>
            </a:r>
            <a:endParaRPr lang="en-US" sz="1300" dirty="0"/>
          </a:p>
        </p:txBody>
      </p:sp>
      <p:sp>
        <p:nvSpPr>
          <p:cNvPr id="9" name="Text 7"/>
          <p:cNvSpPr/>
          <p:nvPr/>
        </p:nvSpPr>
        <p:spPr>
          <a:xfrm>
            <a:off x="1399032" y="1773936"/>
            <a:ext cx="2011680" cy="256032"/>
          </a:xfrm>
          <a:prstGeom prst="rect">
            <a:avLst/>
          </a:prstGeom>
          <a:noFill/>
          <a:ln/>
        </p:spPr>
        <p:txBody>
          <a:bodyPr wrap="square" lIns="0" tIns="0" rIns="0" bIns="0" rtlCol="0" anchor="t">
            <a:normAutofit/>
          </a:bodyPr>
          <a:lstStyle/>
          <a:p>
            <a:pPr algn="l" indent="0" marL="0">
              <a:buNone/>
            </a:pPr>
            <a:r>
              <a:rPr lang="en-US" sz="1300" b="1" dirty="0">
                <a:solidFill>
                  <a:srgbClr val="14263C"/>
                </a:solidFill>
                <a:latin typeface="Arial" pitchFamily="34" charset="0"/>
                <a:ea typeface="Arial" pitchFamily="34" charset="-122"/>
                <a:cs typeface="Arial" pitchFamily="34" charset="-120"/>
              </a:rPr>
              <a:t>Decision confidence</a:t>
            </a:r>
            <a:endParaRPr lang="en-US" sz="1300" dirty="0"/>
          </a:p>
        </p:txBody>
      </p:sp>
      <p:sp>
        <p:nvSpPr>
          <p:cNvPr id="10" name="Text 8"/>
          <p:cNvSpPr/>
          <p:nvPr/>
        </p:nvSpPr>
        <p:spPr>
          <a:xfrm>
            <a:off x="1399032" y="2093976"/>
            <a:ext cx="4160520" cy="438912"/>
          </a:xfrm>
          <a:prstGeom prst="rect">
            <a:avLst/>
          </a:prstGeom>
          <a:noFill/>
          <a:ln/>
        </p:spPr>
        <p:txBody>
          <a:bodyPr wrap="square" lIns="0" tIns="0" rIns="0" bIns="0" rtlCol="0" anchor="t">
            <a:normAutofit/>
          </a:bodyPr>
          <a:lstStyle/>
          <a:p>
            <a:pPr algn="l" indent="0" marL="0">
              <a:buNone/>
            </a:pPr>
            <a:r>
              <a:rPr lang="en-US" sz="940" dirty="0">
                <a:solidFill>
                  <a:srgbClr val="68788D"/>
                </a:solidFill>
                <a:latin typeface="Arial" pitchFamily="34" charset="0"/>
                <a:ea typeface="Arial" pitchFamily="34" charset="-122"/>
                <a:cs typeface="Arial" pitchFamily="34" charset="-120"/>
              </a:rPr>
              <a:t>Major claims have a declared proof state, not just persuasive wording.</a:t>
            </a:r>
            <a:endParaRPr lang="en-US" sz="940" dirty="0"/>
          </a:p>
        </p:txBody>
      </p:sp>
      <p:sp>
        <p:nvSpPr>
          <p:cNvPr id="11" name="Shape 9"/>
          <p:cNvSpPr/>
          <p:nvPr/>
        </p:nvSpPr>
        <p:spPr>
          <a:xfrm>
            <a:off x="6163056" y="1572768"/>
            <a:ext cx="5376672" cy="1207008"/>
          </a:xfrm>
          <a:prstGeom prst="roundRect">
            <a:avLst>
              <a:gd name="adj" fmla="val 6061"/>
            </a:avLst>
          </a:prstGeom>
          <a:solidFill>
            <a:srgbClr val="FFF7DF"/>
          </a:solidFill>
          <a:ln w="12700">
            <a:solidFill>
              <a:srgbClr val="B8872E"/>
            </a:solidFill>
            <a:prstDash val="solid"/>
          </a:ln>
          <a:effectLst>
            <a:outerShdw sx="100000" sy="100000" kx="0" ky="0" algn="bl" rotWithShape="0" blurRad="25400" dist="50800" dir="2700000">
              <a:srgbClr val="07182B">
                <a:alpha val="10000"/>
              </a:srgbClr>
            </a:outerShdw>
          </a:effectLst>
        </p:spPr>
        <p:txBody>
          <a:bodyPr/>
          <a:p/>
        </p:txBody>
      </p:sp>
      <p:sp>
        <p:nvSpPr>
          <p:cNvPr id="12" name="Shape 10"/>
          <p:cNvSpPr/>
          <p:nvPr/>
        </p:nvSpPr>
        <p:spPr>
          <a:xfrm>
            <a:off x="6345936" y="1792224"/>
            <a:ext cx="530352" cy="530352"/>
          </a:xfrm>
          <a:prstGeom prst="roundRect">
            <a:avLst>
              <a:gd name="adj" fmla="val 13793"/>
            </a:avLst>
          </a:prstGeom>
          <a:solidFill>
            <a:srgbClr val="B8872E"/>
          </a:solidFill>
          <a:ln w="12700">
            <a:solidFill>
              <a:srgbClr val="B8872E"/>
            </a:solidFill>
            <a:prstDash val="solid"/>
          </a:ln>
        </p:spPr>
        <p:txBody>
          <a:bodyPr/>
          <a:p/>
        </p:txBody>
      </p:sp>
      <p:sp>
        <p:nvSpPr>
          <p:cNvPr id="13" name="Text 11"/>
          <p:cNvSpPr/>
          <p:nvPr/>
        </p:nvSpPr>
        <p:spPr>
          <a:xfrm>
            <a:off x="6409944" y="1929384"/>
            <a:ext cx="402336" cy="164592"/>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02</a:t>
            </a:r>
            <a:endParaRPr lang="en-US" sz="1300" dirty="0"/>
          </a:p>
        </p:txBody>
      </p:sp>
      <p:sp>
        <p:nvSpPr>
          <p:cNvPr id="14" name="Text 12"/>
          <p:cNvSpPr/>
          <p:nvPr/>
        </p:nvSpPr>
        <p:spPr>
          <a:xfrm>
            <a:off x="7031736" y="1773936"/>
            <a:ext cx="2011680" cy="256032"/>
          </a:xfrm>
          <a:prstGeom prst="rect">
            <a:avLst/>
          </a:prstGeom>
          <a:noFill/>
          <a:ln/>
        </p:spPr>
        <p:txBody>
          <a:bodyPr wrap="square" lIns="0" tIns="0" rIns="0" bIns="0" rtlCol="0" anchor="t">
            <a:normAutofit/>
          </a:bodyPr>
          <a:lstStyle/>
          <a:p>
            <a:pPr algn="l" indent="0" marL="0">
              <a:buNone/>
            </a:pPr>
            <a:r>
              <a:rPr lang="en-US" sz="1300" b="1" dirty="0">
                <a:solidFill>
                  <a:srgbClr val="14263C"/>
                </a:solidFill>
                <a:latin typeface="Arial" pitchFamily="34" charset="0"/>
                <a:ea typeface="Arial" pitchFamily="34" charset="-122"/>
                <a:cs typeface="Arial" pitchFamily="34" charset="-120"/>
              </a:rPr>
              <a:t>Review velocity</a:t>
            </a:r>
            <a:endParaRPr lang="en-US" sz="1300" dirty="0"/>
          </a:p>
        </p:txBody>
      </p:sp>
      <p:sp>
        <p:nvSpPr>
          <p:cNvPr id="15" name="Text 13"/>
          <p:cNvSpPr/>
          <p:nvPr/>
        </p:nvSpPr>
        <p:spPr>
          <a:xfrm>
            <a:off x="7031736" y="2093976"/>
            <a:ext cx="4160520" cy="438912"/>
          </a:xfrm>
          <a:prstGeom prst="rect">
            <a:avLst/>
          </a:prstGeom>
          <a:noFill/>
          <a:ln/>
        </p:spPr>
        <p:txBody>
          <a:bodyPr wrap="square" lIns="0" tIns="0" rIns="0" bIns="0" rtlCol="0" anchor="t">
            <a:normAutofit/>
          </a:bodyPr>
          <a:lstStyle/>
          <a:p>
            <a:pPr algn="l" indent="0" marL="0">
              <a:buNone/>
            </a:pPr>
            <a:r>
              <a:rPr lang="en-US" sz="940" dirty="0">
                <a:solidFill>
                  <a:srgbClr val="68788D"/>
                </a:solidFill>
                <a:latin typeface="Arial" pitchFamily="34" charset="0"/>
                <a:ea typeface="Arial" pitchFamily="34" charset="-122"/>
                <a:cs typeface="Arial" pitchFamily="34" charset="-120"/>
              </a:rPr>
              <a:t>Evidence, contradictions, risk and authority consequence appear in one package.</a:t>
            </a:r>
            <a:endParaRPr lang="en-US" sz="940" dirty="0"/>
          </a:p>
        </p:txBody>
      </p:sp>
      <p:sp>
        <p:nvSpPr>
          <p:cNvPr id="16" name="Shape 14"/>
          <p:cNvSpPr/>
          <p:nvPr/>
        </p:nvSpPr>
        <p:spPr>
          <a:xfrm>
            <a:off x="530352" y="2999232"/>
            <a:ext cx="5376672" cy="1207008"/>
          </a:xfrm>
          <a:prstGeom prst="roundRect">
            <a:avLst>
              <a:gd name="adj" fmla="val 6061"/>
            </a:avLst>
          </a:prstGeom>
          <a:solidFill>
            <a:srgbClr val="FFF1F3"/>
          </a:solidFill>
          <a:ln w="12700">
            <a:solidFill>
              <a:srgbClr val="B74A5E"/>
            </a:solidFill>
            <a:prstDash val="solid"/>
          </a:ln>
          <a:effectLst>
            <a:outerShdw sx="100000" sy="100000" kx="0" ky="0" algn="bl" rotWithShape="0" blurRad="25400" dist="50800" dir="2700000">
              <a:srgbClr val="07182B">
                <a:alpha val="10000"/>
              </a:srgbClr>
            </a:outerShdw>
          </a:effectLst>
        </p:spPr>
        <p:txBody>
          <a:bodyPr/>
          <a:p/>
        </p:txBody>
      </p:sp>
      <p:sp>
        <p:nvSpPr>
          <p:cNvPr id="17" name="Shape 15"/>
          <p:cNvSpPr/>
          <p:nvPr/>
        </p:nvSpPr>
        <p:spPr>
          <a:xfrm>
            <a:off x="713232" y="3218688"/>
            <a:ext cx="530352" cy="530352"/>
          </a:xfrm>
          <a:prstGeom prst="roundRect">
            <a:avLst>
              <a:gd name="adj" fmla="val 13793"/>
            </a:avLst>
          </a:prstGeom>
          <a:solidFill>
            <a:srgbClr val="B74A5E"/>
          </a:solidFill>
          <a:ln w="12700">
            <a:solidFill>
              <a:srgbClr val="B74A5E"/>
            </a:solidFill>
            <a:prstDash val="solid"/>
          </a:ln>
        </p:spPr>
        <p:txBody>
          <a:bodyPr/>
          <a:p/>
        </p:txBody>
      </p:sp>
      <p:sp>
        <p:nvSpPr>
          <p:cNvPr id="18" name="Text 16"/>
          <p:cNvSpPr/>
          <p:nvPr/>
        </p:nvSpPr>
        <p:spPr>
          <a:xfrm>
            <a:off x="777240" y="3355848"/>
            <a:ext cx="402336" cy="164592"/>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03</a:t>
            </a:r>
            <a:endParaRPr lang="en-US" sz="1300" dirty="0"/>
          </a:p>
        </p:txBody>
      </p:sp>
      <p:sp>
        <p:nvSpPr>
          <p:cNvPr id="19" name="Text 17"/>
          <p:cNvSpPr/>
          <p:nvPr/>
        </p:nvSpPr>
        <p:spPr>
          <a:xfrm>
            <a:off x="1399032" y="3200400"/>
            <a:ext cx="2011680" cy="256032"/>
          </a:xfrm>
          <a:prstGeom prst="rect">
            <a:avLst/>
          </a:prstGeom>
          <a:noFill/>
          <a:ln/>
        </p:spPr>
        <p:txBody>
          <a:bodyPr wrap="square" lIns="0" tIns="0" rIns="0" bIns="0" rtlCol="0" anchor="t">
            <a:normAutofit/>
          </a:bodyPr>
          <a:lstStyle/>
          <a:p>
            <a:pPr algn="l" indent="0" marL="0">
              <a:buNone/>
            </a:pPr>
            <a:r>
              <a:rPr lang="en-US" sz="1300" b="1" dirty="0">
                <a:solidFill>
                  <a:srgbClr val="14263C"/>
                </a:solidFill>
                <a:latin typeface="Arial" pitchFamily="34" charset="0"/>
                <a:ea typeface="Arial" pitchFamily="34" charset="-122"/>
                <a:cs typeface="Arial" pitchFamily="34" charset="-120"/>
              </a:rPr>
              <a:t>Proof debt reduction</a:t>
            </a:r>
            <a:endParaRPr lang="en-US" sz="1300" dirty="0"/>
          </a:p>
        </p:txBody>
      </p:sp>
      <p:sp>
        <p:nvSpPr>
          <p:cNvPr id="20" name="Text 18"/>
          <p:cNvSpPr/>
          <p:nvPr/>
        </p:nvSpPr>
        <p:spPr>
          <a:xfrm>
            <a:off x="1399032" y="3520440"/>
            <a:ext cx="4160520" cy="438912"/>
          </a:xfrm>
          <a:prstGeom prst="rect">
            <a:avLst/>
          </a:prstGeom>
          <a:noFill/>
          <a:ln/>
        </p:spPr>
        <p:txBody>
          <a:bodyPr wrap="square" lIns="0" tIns="0" rIns="0" bIns="0" rtlCol="0" anchor="t">
            <a:normAutofit/>
          </a:bodyPr>
          <a:lstStyle/>
          <a:p>
            <a:pPr algn="l" indent="0" marL="0">
              <a:buNone/>
            </a:pPr>
            <a:r>
              <a:rPr lang="en-US" sz="940" dirty="0">
                <a:solidFill>
                  <a:srgbClr val="68788D"/>
                </a:solidFill>
                <a:latin typeface="Arial" pitchFamily="34" charset="0"/>
                <a:ea typeface="Arial" pitchFamily="34" charset="-122"/>
                <a:cs typeface="Arial" pitchFamily="34" charset="-120"/>
              </a:rPr>
              <a:t>Missing evidence is explicit and prioritized before action.</a:t>
            </a:r>
            <a:endParaRPr lang="en-US" sz="940" dirty="0"/>
          </a:p>
        </p:txBody>
      </p:sp>
      <p:sp>
        <p:nvSpPr>
          <p:cNvPr id="21" name="Shape 19"/>
          <p:cNvSpPr/>
          <p:nvPr/>
        </p:nvSpPr>
        <p:spPr>
          <a:xfrm>
            <a:off x="6163056" y="2999232"/>
            <a:ext cx="5376672" cy="1207008"/>
          </a:xfrm>
          <a:prstGeom prst="roundRect">
            <a:avLst>
              <a:gd name="adj" fmla="val 6061"/>
            </a:avLst>
          </a:prstGeom>
          <a:solidFill>
            <a:srgbClr val="EFF9F4"/>
          </a:solidFill>
          <a:ln w="12700">
            <a:solidFill>
              <a:srgbClr val="21805A"/>
            </a:solidFill>
            <a:prstDash val="solid"/>
          </a:ln>
          <a:effectLst>
            <a:outerShdw sx="100000" sy="100000" kx="0" ky="0" algn="bl" rotWithShape="0" blurRad="25400" dist="50800" dir="2700000">
              <a:srgbClr val="07182B">
                <a:alpha val="10000"/>
              </a:srgbClr>
            </a:outerShdw>
          </a:effectLst>
        </p:spPr>
        <p:txBody>
          <a:bodyPr/>
          <a:p/>
        </p:txBody>
      </p:sp>
      <p:sp>
        <p:nvSpPr>
          <p:cNvPr id="22" name="Shape 20"/>
          <p:cNvSpPr/>
          <p:nvPr/>
        </p:nvSpPr>
        <p:spPr>
          <a:xfrm>
            <a:off x="6345936" y="3218688"/>
            <a:ext cx="530352" cy="530352"/>
          </a:xfrm>
          <a:prstGeom prst="roundRect">
            <a:avLst>
              <a:gd name="adj" fmla="val 13793"/>
            </a:avLst>
          </a:prstGeom>
          <a:solidFill>
            <a:srgbClr val="21805A"/>
          </a:solidFill>
          <a:ln w="12700">
            <a:solidFill>
              <a:srgbClr val="21805A"/>
            </a:solidFill>
            <a:prstDash val="solid"/>
          </a:ln>
        </p:spPr>
        <p:txBody>
          <a:bodyPr/>
          <a:p/>
        </p:txBody>
      </p:sp>
      <p:sp>
        <p:nvSpPr>
          <p:cNvPr id="23" name="Text 21"/>
          <p:cNvSpPr/>
          <p:nvPr/>
        </p:nvSpPr>
        <p:spPr>
          <a:xfrm>
            <a:off x="6409944" y="3355848"/>
            <a:ext cx="402336" cy="164592"/>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04</a:t>
            </a:r>
            <a:endParaRPr lang="en-US" sz="1300" dirty="0"/>
          </a:p>
        </p:txBody>
      </p:sp>
      <p:sp>
        <p:nvSpPr>
          <p:cNvPr id="24" name="Text 22"/>
          <p:cNvSpPr/>
          <p:nvPr/>
        </p:nvSpPr>
        <p:spPr>
          <a:xfrm>
            <a:off x="7031736" y="3200400"/>
            <a:ext cx="2011680" cy="256032"/>
          </a:xfrm>
          <a:prstGeom prst="rect">
            <a:avLst/>
          </a:prstGeom>
          <a:noFill/>
          <a:ln/>
        </p:spPr>
        <p:txBody>
          <a:bodyPr wrap="square" lIns="0" tIns="0" rIns="0" bIns="0" rtlCol="0" anchor="t">
            <a:normAutofit/>
          </a:bodyPr>
          <a:lstStyle/>
          <a:p>
            <a:pPr algn="l" indent="0" marL="0">
              <a:buNone/>
            </a:pPr>
            <a:r>
              <a:rPr lang="en-US" sz="1300" b="1" dirty="0">
                <a:solidFill>
                  <a:srgbClr val="14263C"/>
                </a:solidFill>
                <a:latin typeface="Arial" pitchFamily="34" charset="0"/>
                <a:ea typeface="Arial" pitchFamily="34" charset="-122"/>
                <a:cs typeface="Arial" pitchFamily="34" charset="-120"/>
              </a:rPr>
              <a:t>Institutional memory</a:t>
            </a:r>
            <a:endParaRPr lang="en-US" sz="1300" dirty="0"/>
          </a:p>
        </p:txBody>
      </p:sp>
      <p:sp>
        <p:nvSpPr>
          <p:cNvPr id="25" name="Text 23"/>
          <p:cNvSpPr/>
          <p:nvPr/>
        </p:nvSpPr>
        <p:spPr>
          <a:xfrm>
            <a:off x="7031736" y="3520440"/>
            <a:ext cx="4160520" cy="438912"/>
          </a:xfrm>
          <a:prstGeom prst="rect">
            <a:avLst/>
          </a:prstGeom>
          <a:noFill/>
          <a:ln/>
        </p:spPr>
        <p:txBody>
          <a:bodyPr wrap="square" lIns="0" tIns="0" rIns="0" bIns="0" rtlCol="0" anchor="t">
            <a:normAutofit/>
          </a:bodyPr>
          <a:lstStyle/>
          <a:p>
            <a:pPr algn="l" indent="0" marL="0">
              <a:buNone/>
            </a:pPr>
            <a:r>
              <a:rPr lang="en-US" sz="940" dirty="0">
                <a:solidFill>
                  <a:srgbClr val="68788D"/>
                </a:solidFill>
                <a:latin typeface="Arial" pitchFamily="34" charset="0"/>
                <a:ea typeface="Arial" pitchFamily="34" charset="-122"/>
                <a:cs typeface="Arial" pitchFamily="34" charset="-120"/>
              </a:rPr>
              <a:t>Chronicle prevents unsupported output from contaminating future missions.</a:t>
            </a:r>
            <a:endParaRPr lang="en-US" sz="940" dirty="0"/>
          </a:p>
        </p:txBody>
      </p:sp>
      <p:sp>
        <p:nvSpPr>
          <p:cNvPr id="26" name="Shape 24"/>
          <p:cNvSpPr/>
          <p:nvPr/>
        </p:nvSpPr>
        <p:spPr>
          <a:xfrm>
            <a:off x="530352" y="4425696"/>
            <a:ext cx="5376672" cy="1207008"/>
          </a:xfrm>
          <a:prstGeom prst="roundRect">
            <a:avLst>
              <a:gd name="adj" fmla="val 6061"/>
            </a:avLst>
          </a:prstGeom>
          <a:solidFill>
            <a:srgbClr val="F3EFFB"/>
          </a:solidFill>
          <a:ln w="12700">
            <a:solidFill>
              <a:srgbClr val="6753A6"/>
            </a:solidFill>
            <a:prstDash val="solid"/>
          </a:ln>
          <a:effectLst>
            <a:outerShdw sx="100000" sy="100000" kx="0" ky="0" algn="bl" rotWithShape="0" blurRad="25400" dist="50800" dir="2700000">
              <a:srgbClr val="07182B">
                <a:alpha val="10000"/>
              </a:srgbClr>
            </a:outerShdw>
          </a:effectLst>
        </p:spPr>
        <p:txBody>
          <a:bodyPr/>
          <a:p/>
        </p:txBody>
      </p:sp>
      <p:sp>
        <p:nvSpPr>
          <p:cNvPr id="27" name="Shape 25"/>
          <p:cNvSpPr/>
          <p:nvPr/>
        </p:nvSpPr>
        <p:spPr>
          <a:xfrm>
            <a:off x="713232" y="4645152"/>
            <a:ext cx="530352" cy="530352"/>
          </a:xfrm>
          <a:prstGeom prst="roundRect">
            <a:avLst>
              <a:gd name="adj" fmla="val 13793"/>
            </a:avLst>
          </a:prstGeom>
          <a:solidFill>
            <a:srgbClr val="6753A6"/>
          </a:solidFill>
          <a:ln w="12700">
            <a:solidFill>
              <a:srgbClr val="6753A6"/>
            </a:solidFill>
            <a:prstDash val="solid"/>
          </a:ln>
        </p:spPr>
        <p:txBody>
          <a:bodyPr/>
          <a:p/>
        </p:txBody>
      </p:sp>
      <p:sp>
        <p:nvSpPr>
          <p:cNvPr id="28" name="Text 26"/>
          <p:cNvSpPr/>
          <p:nvPr/>
        </p:nvSpPr>
        <p:spPr>
          <a:xfrm>
            <a:off x="777240" y="4782312"/>
            <a:ext cx="402336" cy="164592"/>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05</a:t>
            </a:r>
            <a:endParaRPr lang="en-US" sz="1300" dirty="0"/>
          </a:p>
        </p:txBody>
      </p:sp>
      <p:sp>
        <p:nvSpPr>
          <p:cNvPr id="29" name="Text 27"/>
          <p:cNvSpPr/>
          <p:nvPr/>
        </p:nvSpPr>
        <p:spPr>
          <a:xfrm>
            <a:off x="1399032" y="4626864"/>
            <a:ext cx="2011680" cy="256032"/>
          </a:xfrm>
          <a:prstGeom prst="rect">
            <a:avLst/>
          </a:prstGeom>
          <a:noFill/>
          <a:ln/>
        </p:spPr>
        <p:txBody>
          <a:bodyPr wrap="square" lIns="0" tIns="0" rIns="0" bIns="0" rtlCol="0" anchor="t">
            <a:normAutofit/>
          </a:bodyPr>
          <a:lstStyle/>
          <a:p>
            <a:pPr algn="l" indent="0" marL="0">
              <a:buNone/>
            </a:pPr>
            <a:r>
              <a:rPr lang="en-US" sz="1300" b="1" dirty="0">
                <a:solidFill>
                  <a:srgbClr val="14263C"/>
                </a:solidFill>
                <a:latin typeface="Arial" pitchFamily="34" charset="0"/>
                <a:ea typeface="Arial" pitchFamily="34" charset="-122"/>
                <a:cs typeface="Arial" pitchFamily="34" charset="-120"/>
              </a:rPr>
              <a:t>Controlled reuse</a:t>
            </a:r>
            <a:endParaRPr lang="en-US" sz="1300" dirty="0"/>
          </a:p>
        </p:txBody>
      </p:sp>
      <p:sp>
        <p:nvSpPr>
          <p:cNvPr id="30" name="Text 28"/>
          <p:cNvSpPr/>
          <p:nvPr/>
        </p:nvSpPr>
        <p:spPr>
          <a:xfrm>
            <a:off x="1399032" y="4946904"/>
            <a:ext cx="4160520" cy="438912"/>
          </a:xfrm>
          <a:prstGeom prst="rect">
            <a:avLst/>
          </a:prstGeom>
          <a:noFill/>
          <a:ln/>
        </p:spPr>
        <p:txBody>
          <a:bodyPr wrap="square" lIns="0" tIns="0" rIns="0" bIns="0" rtlCol="0" anchor="t">
            <a:normAutofit/>
          </a:bodyPr>
          <a:lstStyle/>
          <a:p>
            <a:pPr algn="l" indent="0" marL="0">
              <a:buNone/>
            </a:pPr>
            <a:r>
              <a:rPr lang="en-US" sz="940" dirty="0">
                <a:solidFill>
                  <a:srgbClr val="68788D"/>
                </a:solidFill>
                <a:latin typeface="Arial" pitchFamily="34" charset="0"/>
                <a:ea typeface="Arial" pitchFamily="34" charset="-122"/>
                <a:cs typeface="Arial" pitchFamily="34" charset="-120"/>
              </a:rPr>
              <a:t>Validated Skills carry scope, freshness, replay, revocation and rollback.</a:t>
            </a:r>
            <a:endParaRPr lang="en-US" sz="940" dirty="0"/>
          </a:p>
        </p:txBody>
      </p:sp>
      <p:sp>
        <p:nvSpPr>
          <p:cNvPr id="31" name="Shape 29"/>
          <p:cNvSpPr/>
          <p:nvPr/>
        </p:nvSpPr>
        <p:spPr>
          <a:xfrm>
            <a:off x="6163056" y="4425696"/>
            <a:ext cx="5376672" cy="1207008"/>
          </a:xfrm>
          <a:prstGeom prst="roundRect">
            <a:avLst>
              <a:gd name="adj" fmla="val 6061"/>
            </a:avLst>
          </a:prstGeom>
          <a:solidFill>
            <a:srgbClr val="EFF8FB"/>
          </a:solidFill>
          <a:ln w="12700">
            <a:solidFill>
              <a:srgbClr val="78B8D5"/>
            </a:solidFill>
            <a:prstDash val="solid"/>
          </a:ln>
          <a:effectLst>
            <a:outerShdw sx="100000" sy="100000" kx="0" ky="0" algn="bl" rotWithShape="0" blurRad="25400" dist="50800" dir="2700000">
              <a:srgbClr val="07182B">
                <a:alpha val="10000"/>
              </a:srgbClr>
            </a:outerShdw>
          </a:effectLst>
        </p:spPr>
        <p:txBody>
          <a:bodyPr/>
          <a:p/>
        </p:txBody>
      </p:sp>
      <p:sp>
        <p:nvSpPr>
          <p:cNvPr id="32" name="Shape 30"/>
          <p:cNvSpPr/>
          <p:nvPr/>
        </p:nvSpPr>
        <p:spPr>
          <a:xfrm>
            <a:off x="6345936" y="4645152"/>
            <a:ext cx="530352" cy="530352"/>
          </a:xfrm>
          <a:prstGeom prst="roundRect">
            <a:avLst>
              <a:gd name="adj" fmla="val 13793"/>
            </a:avLst>
          </a:prstGeom>
          <a:solidFill>
            <a:srgbClr val="78B8D5"/>
          </a:solidFill>
          <a:ln w="12700">
            <a:solidFill>
              <a:srgbClr val="78B8D5"/>
            </a:solidFill>
            <a:prstDash val="solid"/>
          </a:ln>
        </p:spPr>
        <p:txBody>
          <a:bodyPr/>
          <a:p/>
        </p:txBody>
      </p:sp>
      <p:sp>
        <p:nvSpPr>
          <p:cNvPr id="33" name="Text 31"/>
          <p:cNvSpPr/>
          <p:nvPr/>
        </p:nvSpPr>
        <p:spPr>
          <a:xfrm>
            <a:off x="6409944" y="4782312"/>
            <a:ext cx="402336" cy="164592"/>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06</a:t>
            </a:r>
            <a:endParaRPr lang="en-US" sz="1300" dirty="0"/>
          </a:p>
        </p:txBody>
      </p:sp>
      <p:sp>
        <p:nvSpPr>
          <p:cNvPr id="34" name="Text 32"/>
          <p:cNvSpPr/>
          <p:nvPr/>
        </p:nvSpPr>
        <p:spPr>
          <a:xfrm>
            <a:off x="7031736" y="4626864"/>
            <a:ext cx="2011680" cy="256032"/>
          </a:xfrm>
          <a:prstGeom prst="rect">
            <a:avLst/>
          </a:prstGeom>
          <a:noFill/>
          <a:ln/>
        </p:spPr>
        <p:txBody>
          <a:bodyPr wrap="square" lIns="0" tIns="0" rIns="0" bIns="0" rtlCol="0" anchor="t">
            <a:normAutofit/>
          </a:bodyPr>
          <a:lstStyle/>
          <a:p>
            <a:pPr algn="l" indent="0" marL="0">
              <a:buNone/>
            </a:pPr>
            <a:r>
              <a:rPr lang="en-US" sz="1300" b="1" dirty="0">
                <a:solidFill>
                  <a:srgbClr val="14263C"/>
                </a:solidFill>
                <a:latin typeface="Arial" pitchFamily="34" charset="0"/>
                <a:ea typeface="Arial" pitchFamily="34" charset="-122"/>
                <a:cs typeface="Arial" pitchFamily="34" charset="-120"/>
              </a:rPr>
              <a:t>Partner trust</a:t>
            </a:r>
            <a:endParaRPr lang="en-US" sz="1300" dirty="0"/>
          </a:p>
        </p:txBody>
      </p:sp>
      <p:sp>
        <p:nvSpPr>
          <p:cNvPr id="35" name="Text 33"/>
          <p:cNvSpPr/>
          <p:nvPr/>
        </p:nvSpPr>
        <p:spPr>
          <a:xfrm>
            <a:off x="7031736" y="4946904"/>
            <a:ext cx="4160520" cy="438912"/>
          </a:xfrm>
          <a:prstGeom prst="rect">
            <a:avLst/>
          </a:prstGeom>
          <a:noFill/>
          <a:ln/>
        </p:spPr>
        <p:txBody>
          <a:bodyPr wrap="square" lIns="0" tIns="0" rIns="0" bIns="0" rtlCol="0" anchor="t">
            <a:normAutofit/>
          </a:bodyPr>
          <a:lstStyle/>
          <a:p>
            <a:pPr algn="l" indent="0" marL="0">
              <a:buNone/>
            </a:pPr>
            <a:r>
              <a:rPr lang="en-US" sz="940" dirty="0">
                <a:solidFill>
                  <a:srgbClr val="68788D"/>
                </a:solidFill>
                <a:latin typeface="Arial" pitchFamily="34" charset="0"/>
                <a:ea typeface="Arial" pitchFamily="34" charset="-122"/>
                <a:cs typeface="Arial" pitchFamily="34" charset="-120"/>
              </a:rPr>
              <a:t>Claim boundaries and evidence status are visible rather than buried.</a:t>
            </a:r>
            <a:endParaRPr lang="en-US" sz="940" dirty="0"/>
          </a:p>
        </p:txBody>
      </p:sp>
      <p:sp>
        <p:nvSpPr>
          <p:cNvPr id="36" name="Shape 34"/>
          <p:cNvSpPr/>
          <p:nvPr/>
        </p:nvSpPr>
        <p:spPr>
          <a:xfrm>
            <a:off x="530352" y="5943600"/>
            <a:ext cx="11119104" cy="384048"/>
          </a:xfrm>
          <a:prstGeom prst="roundRect">
            <a:avLst>
              <a:gd name="adj" fmla="val 19048"/>
            </a:avLst>
          </a:prstGeom>
          <a:solidFill>
            <a:srgbClr val="07182B"/>
          </a:solidFill>
          <a:ln w="12700">
            <a:solidFill>
              <a:srgbClr val="07182B"/>
            </a:solidFill>
            <a:prstDash val="solid"/>
          </a:ln>
        </p:spPr>
        <p:txBody>
          <a:bodyPr/>
          <a:p/>
        </p:txBody>
      </p:sp>
      <p:sp>
        <p:nvSpPr>
          <p:cNvPr id="37" name="Text 35"/>
          <p:cNvSpPr/>
          <p:nvPr/>
        </p:nvSpPr>
        <p:spPr>
          <a:xfrm>
            <a:off x="777240" y="6053328"/>
            <a:ext cx="10607040" cy="164592"/>
          </a:xfrm>
          <a:prstGeom prst="rect">
            <a:avLst/>
          </a:prstGeom>
          <a:noFill/>
          <a:ln/>
        </p:spPr>
        <p:txBody>
          <a:bodyPr wrap="square" lIns="0" tIns="0" rIns="0" bIns="0" rtlCol="0" anchor="t">
            <a:normAutofit/>
          </a:bodyPr>
          <a:lstStyle/>
          <a:p>
            <a:pPr algn="ctr" indent="0" marL="0">
              <a:buNone/>
            </a:pPr>
            <a:r>
              <a:rPr lang="en-US" sz="1130" b="1" dirty="0">
                <a:solidFill>
                  <a:srgbClr val="E9C87D"/>
                </a:solidFill>
                <a:latin typeface="Arial" pitchFamily="34" charset="0"/>
                <a:ea typeface="Arial" pitchFamily="34" charset="-122"/>
                <a:cs typeface="Arial" pitchFamily="34" charset="-120"/>
              </a:rPr>
              <a:t>The durable asset is accumulated method + evidence + scope + validator history + delayed outcomes + lineage.</a:t>
            </a:r>
            <a:endParaRPr lang="en-US" sz="113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30352" y="164592"/>
            <a:ext cx="173736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6093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COMMERCIAL PATH</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Land with proof. Expand with capability.</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Prove bilateral value before building network effects.</a:t>
            </a:r>
            <a:endParaRPr lang="en-US" sz="1230" dirty="0"/>
          </a:p>
        </p:txBody>
      </p:sp>
      <p:sp>
        <p:nvSpPr>
          <p:cNvPr id="6" name="Shape 4"/>
          <p:cNvSpPr/>
          <p:nvPr/>
        </p:nvSpPr>
        <p:spPr>
          <a:xfrm>
            <a:off x="429768" y="1627632"/>
            <a:ext cx="2167128" cy="4206240"/>
          </a:xfrm>
          <a:prstGeom prst="roundRect">
            <a:avLst>
              <a:gd name="adj" fmla="val 3376"/>
            </a:avLst>
          </a:prstGeom>
          <a:solidFill>
            <a:srgbClr val="EEF5FB"/>
          </a:solidFill>
          <a:ln w="12700">
            <a:solidFill>
              <a:srgbClr val="387FB7"/>
            </a:solidFill>
            <a:prstDash val="solid"/>
          </a:ln>
          <a:effectLst>
            <a:outerShdw sx="100000" sy="100000" kx="0" ky="0" algn="bl" rotWithShape="0" blurRad="25400" dist="50800" dir="2700000">
              <a:srgbClr val="07182B">
                <a:alpha val="10000"/>
              </a:srgbClr>
            </a:outerShdw>
          </a:effectLst>
        </p:spPr>
        <p:txBody>
          <a:bodyPr/>
          <a:p/>
        </p:txBody>
      </p:sp>
      <p:sp>
        <p:nvSpPr>
          <p:cNvPr id="7" name="Shape 5"/>
          <p:cNvSpPr/>
          <p:nvPr/>
        </p:nvSpPr>
        <p:spPr>
          <a:xfrm>
            <a:off x="429768" y="1627632"/>
            <a:ext cx="2167128" cy="64008"/>
          </a:xfrm>
          <a:prstGeom prst="rect">
            <a:avLst/>
          </a:prstGeom>
          <a:solidFill>
            <a:srgbClr val="387FB7"/>
          </a:solidFill>
          <a:ln w="12700">
            <a:solidFill>
              <a:srgbClr val="387FB7"/>
            </a:solidFill>
            <a:prstDash val="solid"/>
          </a:ln>
        </p:spPr>
        <p:txBody>
          <a:bodyPr/>
          <a:p/>
        </p:txBody>
      </p:sp>
      <p:sp>
        <p:nvSpPr>
          <p:cNvPr id="8" name="Text 6"/>
          <p:cNvSpPr/>
          <p:nvPr/>
        </p:nvSpPr>
        <p:spPr>
          <a:xfrm>
            <a:off x="594360" y="1874520"/>
            <a:ext cx="457200" cy="347472"/>
          </a:xfrm>
          <a:prstGeom prst="rect">
            <a:avLst/>
          </a:prstGeom>
          <a:noFill/>
          <a:ln/>
        </p:spPr>
        <p:txBody>
          <a:bodyPr wrap="square" lIns="0" tIns="0" rIns="0" bIns="0" rtlCol="0" anchor="t">
            <a:normAutofit/>
          </a:bodyPr>
          <a:lstStyle/>
          <a:p>
            <a:pPr algn="l" indent="0" marL="0">
              <a:buNone/>
            </a:pPr>
            <a:r>
              <a:rPr lang="en-US" sz="2400" b="1" dirty="0">
                <a:solidFill>
                  <a:srgbClr val="387FB7"/>
                </a:solidFill>
                <a:latin typeface="Georgia" pitchFamily="34" charset="0"/>
                <a:ea typeface="Georgia" pitchFamily="34" charset="-122"/>
                <a:cs typeface="Georgia" pitchFamily="34" charset="-120"/>
              </a:rPr>
              <a:t>1</a:t>
            </a:r>
            <a:endParaRPr lang="en-US" sz="2400" dirty="0"/>
          </a:p>
        </p:txBody>
      </p:sp>
      <p:sp>
        <p:nvSpPr>
          <p:cNvPr id="9" name="Text 7"/>
          <p:cNvSpPr/>
          <p:nvPr/>
        </p:nvSpPr>
        <p:spPr>
          <a:xfrm>
            <a:off x="594360" y="2395728"/>
            <a:ext cx="1828800" cy="640080"/>
          </a:xfrm>
          <a:prstGeom prst="rect">
            <a:avLst/>
          </a:prstGeom>
          <a:noFill/>
          <a:ln/>
        </p:spPr>
        <p:txBody>
          <a:bodyPr wrap="square" lIns="0" tIns="0" rIns="0" bIns="0" rtlCol="0" anchor="t">
            <a:normAutofit/>
          </a:bodyPr>
          <a:lstStyle/>
          <a:p>
            <a:pPr algn="l" indent="0" marL="0">
              <a:buNone/>
            </a:pPr>
            <a:r>
              <a:rPr lang="en-US" sz="1450" b="1" dirty="0">
                <a:solidFill>
                  <a:srgbClr val="14263C"/>
                </a:solidFill>
                <a:latin typeface="Arial" pitchFamily="34" charset="0"/>
                <a:ea typeface="Arial" pitchFamily="34" charset="-122"/>
                <a:cs typeface="Arial" pitchFamily="34" charset="-120"/>
              </a:rPr>
              <a:t>Proof Mission Sprint</a:t>
            </a:r>
            <a:endParaRPr lang="en-US" sz="1450" dirty="0"/>
          </a:p>
        </p:txBody>
      </p:sp>
      <p:sp>
        <p:nvSpPr>
          <p:cNvPr id="10" name="Text 8"/>
          <p:cNvSpPr/>
          <p:nvPr/>
        </p:nvSpPr>
        <p:spPr>
          <a:xfrm>
            <a:off x="594360" y="3246120"/>
            <a:ext cx="1828800" cy="1051560"/>
          </a:xfrm>
          <a:prstGeom prst="rect">
            <a:avLst/>
          </a:prstGeom>
          <a:noFill/>
          <a:ln/>
        </p:spPr>
        <p:txBody>
          <a:bodyPr wrap="square" lIns="0" tIns="0" rIns="0" bIns="0" rtlCol="0" anchor="t">
            <a:normAutofit/>
          </a:bodyPr>
          <a:lstStyle/>
          <a:p>
            <a:pPr algn="l" indent="0" marL="0">
              <a:buNone/>
            </a:pPr>
            <a:r>
              <a:rPr lang="en-US" sz="980" dirty="0">
                <a:solidFill>
                  <a:srgbClr val="68788D"/>
                </a:solidFill>
                <a:latin typeface="Arial" pitchFamily="34" charset="0"/>
                <a:ea typeface="Arial" pitchFamily="34" charset="-122"/>
                <a:cs typeface="Arial" pitchFamily="34" charset="-120"/>
              </a:rPr>
              <a:t>One bounded objective becomes a reviewer-ready decision state.</a:t>
            </a:r>
            <a:endParaRPr lang="en-US" sz="980" dirty="0"/>
          </a:p>
        </p:txBody>
      </p:sp>
      <p:sp>
        <p:nvSpPr>
          <p:cNvPr id="11" name="Shape 9"/>
          <p:cNvSpPr/>
          <p:nvPr/>
        </p:nvSpPr>
        <p:spPr>
          <a:xfrm>
            <a:off x="594360" y="4645152"/>
            <a:ext cx="1828800" cy="0"/>
          </a:xfrm>
          <a:prstGeom prst="line">
            <a:avLst/>
          </a:prstGeom>
          <a:noFill/>
          <a:ln w="12700">
            <a:solidFill>
              <a:srgbClr val="D9D0C1"/>
            </a:solidFill>
            <a:prstDash val="solid"/>
          </a:ln>
        </p:spPr>
        <p:txBody>
          <a:bodyPr/>
          <a:p/>
        </p:txBody>
      </p:sp>
      <p:sp>
        <p:nvSpPr>
          <p:cNvPr id="12" name="Text 10"/>
          <p:cNvSpPr/>
          <p:nvPr/>
        </p:nvSpPr>
        <p:spPr>
          <a:xfrm>
            <a:off x="594360" y="4828032"/>
            <a:ext cx="1828800" cy="585216"/>
          </a:xfrm>
          <a:prstGeom prst="rect">
            <a:avLst/>
          </a:prstGeom>
          <a:noFill/>
          <a:ln/>
        </p:spPr>
        <p:txBody>
          <a:bodyPr wrap="square" lIns="0" tIns="0" rIns="0" bIns="0" rtlCol="0" anchor="t">
            <a:normAutofit/>
          </a:bodyPr>
          <a:lstStyle/>
          <a:p>
            <a:pPr algn="l" indent="0" marL="0">
              <a:buNone/>
            </a:pPr>
            <a:r>
              <a:rPr lang="en-US" sz="940" b="1" dirty="0">
                <a:solidFill>
                  <a:srgbClr val="14263C"/>
                </a:solidFill>
                <a:latin typeface="Arial" pitchFamily="34" charset="0"/>
                <a:ea typeface="Arial" pitchFamily="34" charset="-122"/>
                <a:cs typeface="Arial" pitchFamily="34" charset="-120"/>
              </a:rPr>
              <a:t>Services wedge + evidence</a:t>
            </a:r>
            <a:endParaRPr lang="en-US" sz="940" dirty="0"/>
          </a:p>
        </p:txBody>
      </p:sp>
      <p:sp>
        <p:nvSpPr>
          <p:cNvPr id="13" name="Shape 11"/>
          <p:cNvSpPr/>
          <p:nvPr/>
        </p:nvSpPr>
        <p:spPr>
          <a:xfrm>
            <a:off x="2770632" y="1627632"/>
            <a:ext cx="2167128" cy="4206240"/>
          </a:xfrm>
          <a:prstGeom prst="roundRect">
            <a:avLst>
              <a:gd name="adj" fmla="val 3376"/>
            </a:avLst>
          </a:prstGeom>
          <a:solidFill>
            <a:srgbClr val="FFF7DF"/>
          </a:solidFill>
          <a:ln w="12700">
            <a:solidFill>
              <a:srgbClr val="B8872E"/>
            </a:solidFill>
            <a:prstDash val="solid"/>
          </a:ln>
          <a:effectLst>
            <a:outerShdw sx="100000" sy="100000" kx="0" ky="0" algn="bl" rotWithShape="0" blurRad="25400" dist="50800" dir="2700000">
              <a:srgbClr val="07182B">
                <a:alpha val="10000"/>
              </a:srgbClr>
            </a:outerShdw>
          </a:effectLst>
        </p:spPr>
        <p:txBody>
          <a:bodyPr/>
          <a:p/>
        </p:txBody>
      </p:sp>
      <p:sp>
        <p:nvSpPr>
          <p:cNvPr id="14" name="Shape 12"/>
          <p:cNvSpPr/>
          <p:nvPr/>
        </p:nvSpPr>
        <p:spPr>
          <a:xfrm>
            <a:off x="2770632" y="1627632"/>
            <a:ext cx="2167128" cy="64008"/>
          </a:xfrm>
          <a:prstGeom prst="rect">
            <a:avLst/>
          </a:prstGeom>
          <a:solidFill>
            <a:srgbClr val="B8872E"/>
          </a:solidFill>
          <a:ln w="12700">
            <a:solidFill>
              <a:srgbClr val="B8872E"/>
            </a:solidFill>
            <a:prstDash val="solid"/>
          </a:ln>
        </p:spPr>
        <p:txBody>
          <a:bodyPr/>
          <a:p/>
        </p:txBody>
      </p:sp>
      <p:sp>
        <p:nvSpPr>
          <p:cNvPr id="15" name="Text 13"/>
          <p:cNvSpPr/>
          <p:nvPr/>
        </p:nvSpPr>
        <p:spPr>
          <a:xfrm>
            <a:off x="2935224" y="1874520"/>
            <a:ext cx="457200" cy="347472"/>
          </a:xfrm>
          <a:prstGeom prst="rect">
            <a:avLst/>
          </a:prstGeom>
          <a:noFill/>
          <a:ln/>
        </p:spPr>
        <p:txBody>
          <a:bodyPr wrap="square" lIns="0" tIns="0" rIns="0" bIns="0" rtlCol="0" anchor="t">
            <a:normAutofit/>
          </a:bodyPr>
          <a:lstStyle/>
          <a:p>
            <a:pPr algn="l" indent="0" marL="0">
              <a:buNone/>
            </a:pPr>
            <a:r>
              <a:rPr lang="en-US" sz="2400" b="1" dirty="0">
                <a:solidFill>
                  <a:srgbClr val="B8872E"/>
                </a:solidFill>
                <a:latin typeface="Georgia" pitchFamily="34" charset="0"/>
                <a:ea typeface="Georgia" pitchFamily="34" charset="-122"/>
                <a:cs typeface="Georgia" pitchFamily="34" charset="-120"/>
              </a:rPr>
              <a:t>2</a:t>
            </a:r>
            <a:endParaRPr lang="en-US" sz="2400" dirty="0"/>
          </a:p>
        </p:txBody>
      </p:sp>
      <p:sp>
        <p:nvSpPr>
          <p:cNvPr id="16" name="Text 14"/>
          <p:cNvSpPr/>
          <p:nvPr/>
        </p:nvSpPr>
        <p:spPr>
          <a:xfrm>
            <a:off x="2935224" y="2395728"/>
            <a:ext cx="1828800" cy="640080"/>
          </a:xfrm>
          <a:prstGeom prst="rect">
            <a:avLst/>
          </a:prstGeom>
          <a:noFill/>
          <a:ln/>
        </p:spPr>
        <p:txBody>
          <a:bodyPr wrap="square" lIns="0" tIns="0" rIns="0" bIns="0" rtlCol="0" anchor="t">
            <a:normAutofit/>
          </a:bodyPr>
          <a:lstStyle/>
          <a:p>
            <a:pPr algn="l" indent="0" marL="0">
              <a:buNone/>
            </a:pPr>
            <a:r>
              <a:rPr lang="en-US" sz="1450" b="1" dirty="0">
                <a:solidFill>
                  <a:srgbClr val="14263C"/>
                </a:solidFill>
                <a:latin typeface="Arial" pitchFamily="34" charset="0"/>
                <a:ea typeface="Arial" pitchFamily="34" charset="-122"/>
                <a:cs typeface="Arial" pitchFamily="34" charset="-120"/>
              </a:rPr>
              <a:t>Enterprise Proof OS</a:t>
            </a:r>
            <a:endParaRPr lang="en-US" sz="1450" dirty="0"/>
          </a:p>
        </p:txBody>
      </p:sp>
      <p:sp>
        <p:nvSpPr>
          <p:cNvPr id="17" name="Text 15"/>
          <p:cNvSpPr/>
          <p:nvPr/>
        </p:nvSpPr>
        <p:spPr>
          <a:xfrm>
            <a:off x="2935224" y="3246120"/>
            <a:ext cx="1828800" cy="1051560"/>
          </a:xfrm>
          <a:prstGeom prst="rect">
            <a:avLst/>
          </a:prstGeom>
          <a:noFill/>
          <a:ln/>
        </p:spPr>
        <p:txBody>
          <a:bodyPr wrap="square" lIns="0" tIns="0" rIns="0" bIns="0" rtlCol="0" anchor="t">
            <a:normAutofit/>
          </a:bodyPr>
          <a:lstStyle/>
          <a:p>
            <a:pPr algn="l" indent="0" marL="0">
              <a:buNone/>
            </a:pPr>
            <a:r>
              <a:rPr lang="en-US" sz="980" dirty="0">
                <a:solidFill>
                  <a:srgbClr val="68788D"/>
                </a:solidFill>
                <a:latin typeface="Arial" pitchFamily="34" charset="0"/>
                <a:ea typeface="Arial" pitchFamily="34" charset="-122"/>
                <a:cs typeface="Arial" pitchFamily="34" charset="-120"/>
              </a:rPr>
              <a:t>Recurring Mission Contracts, Dockets, Chronicle and audit workflows.</a:t>
            </a:r>
            <a:endParaRPr lang="en-US" sz="980" dirty="0"/>
          </a:p>
        </p:txBody>
      </p:sp>
      <p:sp>
        <p:nvSpPr>
          <p:cNvPr id="18" name="Shape 16"/>
          <p:cNvSpPr/>
          <p:nvPr/>
        </p:nvSpPr>
        <p:spPr>
          <a:xfrm>
            <a:off x="2935224" y="4645152"/>
            <a:ext cx="1828800" cy="0"/>
          </a:xfrm>
          <a:prstGeom prst="line">
            <a:avLst/>
          </a:prstGeom>
          <a:noFill/>
          <a:ln w="12700">
            <a:solidFill>
              <a:srgbClr val="D9D0C1"/>
            </a:solidFill>
            <a:prstDash val="solid"/>
          </a:ln>
        </p:spPr>
        <p:txBody>
          <a:bodyPr/>
          <a:p/>
        </p:txBody>
      </p:sp>
      <p:sp>
        <p:nvSpPr>
          <p:cNvPr id="19" name="Text 17"/>
          <p:cNvSpPr/>
          <p:nvPr/>
        </p:nvSpPr>
        <p:spPr>
          <a:xfrm>
            <a:off x="2935224" y="4828032"/>
            <a:ext cx="1828800" cy="585216"/>
          </a:xfrm>
          <a:prstGeom prst="rect">
            <a:avLst/>
          </a:prstGeom>
          <a:noFill/>
          <a:ln/>
        </p:spPr>
        <p:txBody>
          <a:bodyPr wrap="square" lIns="0" tIns="0" rIns="0" bIns="0" rtlCol="0" anchor="t">
            <a:normAutofit/>
          </a:bodyPr>
          <a:lstStyle/>
          <a:p>
            <a:pPr algn="l" indent="0" marL="0">
              <a:buNone/>
            </a:pPr>
            <a:r>
              <a:rPr lang="en-US" sz="940" b="1" dirty="0">
                <a:solidFill>
                  <a:srgbClr val="14263C"/>
                </a:solidFill>
                <a:latin typeface="Arial" pitchFamily="34" charset="0"/>
                <a:ea typeface="Arial" pitchFamily="34" charset="-122"/>
                <a:cs typeface="Arial" pitchFamily="34" charset="-120"/>
              </a:rPr>
              <a:t>Annual recurring platform</a:t>
            </a:r>
            <a:endParaRPr lang="en-US" sz="940" dirty="0"/>
          </a:p>
        </p:txBody>
      </p:sp>
      <p:sp>
        <p:nvSpPr>
          <p:cNvPr id="20" name="Shape 18"/>
          <p:cNvSpPr/>
          <p:nvPr/>
        </p:nvSpPr>
        <p:spPr>
          <a:xfrm>
            <a:off x="5111496" y="1627632"/>
            <a:ext cx="2167128" cy="4206240"/>
          </a:xfrm>
          <a:prstGeom prst="roundRect">
            <a:avLst>
              <a:gd name="adj" fmla="val 3376"/>
            </a:avLst>
          </a:prstGeom>
          <a:solidFill>
            <a:srgbClr val="EFF9F4"/>
          </a:solidFill>
          <a:ln w="12700">
            <a:solidFill>
              <a:srgbClr val="21805A"/>
            </a:solidFill>
            <a:prstDash val="solid"/>
          </a:ln>
          <a:effectLst>
            <a:outerShdw sx="100000" sy="100000" kx="0" ky="0" algn="bl" rotWithShape="0" blurRad="25400" dist="50800" dir="2700000">
              <a:srgbClr val="07182B">
                <a:alpha val="10000"/>
              </a:srgbClr>
            </a:outerShdw>
          </a:effectLst>
        </p:spPr>
        <p:txBody>
          <a:bodyPr/>
          <a:p/>
        </p:txBody>
      </p:sp>
      <p:sp>
        <p:nvSpPr>
          <p:cNvPr id="21" name="Shape 19"/>
          <p:cNvSpPr/>
          <p:nvPr/>
        </p:nvSpPr>
        <p:spPr>
          <a:xfrm>
            <a:off x="5111496" y="1627632"/>
            <a:ext cx="2167128" cy="64008"/>
          </a:xfrm>
          <a:prstGeom prst="rect">
            <a:avLst/>
          </a:prstGeom>
          <a:solidFill>
            <a:srgbClr val="21805A"/>
          </a:solidFill>
          <a:ln w="12700">
            <a:solidFill>
              <a:srgbClr val="21805A"/>
            </a:solidFill>
            <a:prstDash val="solid"/>
          </a:ln>
        </p:spPr>
        <p:txBody>
          <a:bodyPr/>
          <a:p/>
        </p:txBody>
      </p:sp>
      <p:sp>
        <p:nvSpPr>
          <p:cNvPr id="22" name="Text 20"/>
          <p:cNvSpPr/>
          <p:nvPr/>
        </p:nvSpPr>
        <p:spPr>
          <a:xfrm>
            <a:off x="5276088" y="1874520"/>
            <a:ext cx="457200" cy="347472"/>
          </a:xfrm>
          <a:prstGeom prst="rect">
            <a:avLst/>
          </a:prstGeom>
          <a:noFill/>
          <a:ln/>
        </p:spPr>
        <p:txBody>
          <a:bodyPr wrap="square" lIns="0" tIns="0" rIns="0" bIns="0" rtlCol="0" anchor="t">
            <a:normAutofit/>
          </a:bodyPr>
          <a:lstStyle/>
          <a:p>
            <a:pPr algn="l" indent="0" marL="0">
              <a:buNone/>
            </a:pPr>
            <a:r>
              <a:rPr lang="en-US" sz="2400" b="1" dirty="0">
                <a:solidFill>
                  <a:srgbClr val="21805A"/>
                </a:solidFill>
                <a:latin typeface="Georgia" pitchFamily="34" charset="0"/>
                <a:ea typeface="Georgia" pitchFamily="34" charset="-122"/>
                <a:cs typeface="Georgia" pitchFamily="34" charset="-120"/>
              </a:rPr>
              <a:t>3</a:t>
            </a:r>
            <a:endParaRPr lang="en-US" sz="2400" dirty="0"/>
          </a:p>
        </p:txBody>
      </p:sp>
      <p:sp>
        <p:nvSpPr>
          <p:cNvPr id="23" name="Text 21"/>
          <p:cNvSpPr/>
          <p:nvPr/>
        </p:nvSpPr>
        <p:spPr>
          <a:xfrm>
            <a:off x="5276088" y="2395728"/>
            <a:ext cx="1828800" cy="640080"/>
          </a:xfrm>
          <a:prstGeom prst="rect">
            <a:avLst/>
          </a:prstGeom>
          <a:noFill/>
          <a:ln/>
        </p:spPr>
        <p:txBody>
          <a:bodyPr wrap="square" lIns="0" tIns="0" rIns="0" bIns="0" rtlCol="0" anchor="t">
            <a:normAutofit/>
          </a:bodyPr>
          <a:lstStyle/>
          <a:p>
            <a:pPr algn="l" indent="0" marL="0">
              <a:buNone/>
            </a:pPr>
            <a:r>
              <a:rPr lang="en-US" sz="1450" b="1" dirty="0">
                <a:solidFill>
                  <a:srgbClr val="14263C"/>
                </a:solidFill>
                <a:latin typeface="Arial" pitchFamily="34" charset="0"/>
                <a:ea typeface="Arial" pitchFamily="34" charset="-122"/>
                <a:cs typeface="Arial" pitchFamily="34" charset="-120"/>
              </a:rPr>
              <a:t>Private Validated Skill Graph</a:t>
            </a:r>
            <a:endParaRPr lang="en-US" sz="1450" dirty="0"/>
          </a:p>
        </p:txBody>
      </p:sp>
      <p:sp>
        <p:nvSpPr>
          <p:cNvPr id="24" name="Text 22"/>
          <p:cNvSpPr/>
          <p:nvPr/>
        </p:nvSpPr>
        <p:spPr>
          <a:xfrm>
            <a:off x="5276088" y="3246120"/>
            <a:ext cx="1828800" cy="1051560"/>
          </a:xfrm>
          <a:prstGeom prst="rect">
            <a:avLst/>
          </a:prstGeom>
          <a:noFill/>
          <a:ln/>
        </p:spPr>
        <p:txBody>
          <a:bodyPr wrap="square" lIns="0" tIns="0" rIns="0" bIns="0" rtlCol="0" anchor="t">
            <a:normAutofit/>
          </a:bodyPr>
          <a:lstStyle/>
          <a:p>
            <a:pPr algn="l" indent="0" marL="0">
              <a:buNone/>
            </a:pPr>
            <a:r>
              <a:rPr lang="en-US" sz="980" dirty="0">
                <a:solidFill>
                  <a:srgbClr val="68788D"/>
                </a:solidFill>
                <a:latin typeface="Arial" pitchFamily="34" charset="0"/>
                <a:ea typeface="Arial" pitchFamily="34" charset="-122"/>
                <a:cs typeface="Arial" pitchFamily="34" charset="-120"/>
              </a:rPr>
              <a:t>Customer-specific governed capability memory.</a:t>
            </a:r>
            <a:endParaRPr lang="en-US" sz="980" dirty="0"/>
          </a:p>
        </p:txBody>
      </p:sp>
      <p:sp>
        <p:nvSpPr>
          <p:cNvPr id="25" name="Shape 23"/>
          <p:cNvSpPr/>
          <p:nvPr/>
        </p:nvSpPr>
        <p:spPr>
          <a:xfrm>
            <a:off x="5276088" y="4645152"/>
            <a:ext cx="1828800" cy="0"/>
          </a:xfrm>
          <a:prstGeom prst="line">
            <a:avLst/>
          </a:prstGeom>
          <a:noFill/>
          <a:ln w="12700">
            <a:solidFill>
              <a:srgbClr val="D9D0C1"/>
            </a:solidFill>
            <a:prstDash val="solid"/>
          </a:ln>
        </p:spPr>
        <p:txBody>
          <a:bodyPr/>
          <a:p/>
        </p:txBody>
      </p:sp>
      <p:sp>
        <p:nvSpPr>
          <p:cNvPr id="26" name="Text 24"/>
          <p:cNvSpPr/>
          <p:nvPr/>
        </p:nvSpPr>
        <p:spPr>
          <a:xfrm>
            <a:off x="5276088" y="4828032"/>
            <a:ext cx="1828800" cy="585216"/>
          </a:xfrm>
          <a:prstGeom prst="rect">
            <a:avLst/>
          </a:prstGeom>
          <a:noFill/>
          <a:ln/>
        </p:spPr>
        <p:txBody>
          <a:bodyPr wrap="square" lIns="0" tIns="0" rIns="0" bIns="0" rtlCol="0" anchor="t">
            <a:normAutofit/>
          </a:bodyPr>
          <a:lstStyle/>
          <a:p>
            <a:pPr algn="l" indent="0" marL="0">
              <a:buNone/>
            </a:pPr>
            <a:r>
              <a:rPr lang="en-US" sz="940" b="1" dirty="0">
                <a:solidFill>
                  <a:srgbClr val="14263C"/>
                </a:solidFill>
                <a:latin typeface="Arial" pitchFamily="34" charset="0"/>
                <a:ea typeface="Arial" pitchFamily="34" charset="-122"/>
                <a:cs typeface="Arial" pitchFamily="34" charset="-120"/>
              </a:rPr>
              <a:t>Implementation + assurance</a:t>
            </a:r>
            <a:endParaRPr lang="en-US" sz="940" dirty="0"/>
          </a:p>
        </p:txBody>
      </p:sp>
      <p:sp>
        <p:nvSpPr>
          <p:cNvPr id="27" name="Shape 25"/>
          <p:cNvSpPr/>
          <p:nvPr/>
        </p:nvSpPr>
        <p:spPr>
          <a:xfrm>
            <a:off x="7452360" y="1627632"/>
            <a:ext cx="2167128" cy="4206240"/>
          </a:xfrm>
          <a:prstGeom prst="roundRect">
            <a:avLst>
              <a:gd name="adj" fmla="val 3376"/>
            </a:avLst>
          </a:prstGeom>
          <a:solidFill>
            <a:srgbClr val="F3EFFB"/>
          </a:solidFill>
          <a:ln w="12700">
            <a:solidFill>
              <a:srgbClr val="6753A6"/>
            </a:solidFill>
            <a:prstDash val="solid"/>
          </a:ln>
          <a:effectLst>
            <a:outerShdw sx="100000" sy="100000" kx="0" ky="0" algn="bl" rotWithShape="0" blurRad="25400" dist="50800" dir="2700000">
              <a:srgbClr val="07182B">
                <a:alpha val="10000"/>
              </a:srgbClr>
            </a:outerShdw>
          </a:effectLst>
        </p:spPr>
        <p:txBody>
          <a:bodyPr/>
          <a:p/>
        </p:txBody>
      </p:sp>
      <p:sp>
        <p:nvSpPr>
          <p:cNvPr id="28" name="Shape 26"/>
          <p:cNvSpPr/>
          <p:nvPr/>
        </p:nvSpPr>
        <p:spPr>
          <a:xfrm>
            <a:off x="7452360" y="1627632"/>
            <a:ext cx="2167128" cy="64008"/>
          </a:xfrm>
          <a:prstGeom prst="rect">
            <a:avLst/>
          </a:prstGeom>
          <a:solidFill>
            <a:srgbClr val="6753A6"/>
          </a:solidFill>
          <a:ln w="12700">
            <a:solidFill>
              <a:srgbClr val="6753A6"/>
            </a:solidFill>
            <a:prstDash val="solid"/>
          </a:ln>
        </p:spPr>
        <p:txBody>
          <a:bodyPr/>
          <a:p/>
        </p:txBody>
      </p:sp>
      <p:sp>
        <p:nvSpPr>
          <p:cNvPr id="29" name="Text 27"/>
          <p:cNvSpPr/>
          <p:nvPr/>
        </p:nvSpPr>
        <p:spPr>
          <a:xfrm>
            <a:off x="7616952" y="1874520"/>
            <a:ext cx="457200" cy="347472"/>
          </a:xfrm>
          <a:prstGeom prst="rect">
            <a:avLst/>
          </a:prstGeom>
          <a:noFill/>
          <a:ln/>
        </p:spPr>
        <p:txBody>
          <a:bodyPr wrap="square" lIns="0" tIns="0" rIns="0" bIns="0" rtlCol="0" anchor="t">
            <a:normAutofit/>
          </a:bodyPr>
          <a:lstStyle/>
          <a:p>
            <a:pPr algn="l" indent="0" marL="0">
              <a:buNone/>
            </a:pPr>
            <a:r>
              <a:rPr lang="en-US" sz="2400" b="1" dirty="0">
                <a:solidFill>
                  <a:srgbClr val="6753A6"/>
                </a:solidFill>
                <a:latin typeface="Georgia" pitchFamily="34" charset="0"/>
                <a:ea typeface="Georgia" pitchFamily="34" charset="-122"/>
                <a:cs typeface="Georgia" pitchFamily="34" charset="-120"/>
              </a:rPr>
              <a:t>4</a:t>
            </a:r>
            <a:endParaRPr lang="en-US" sz="2400" dirty="0"/>
          </a:p>
        </p:txBody>
      </p:sp>
      <p:sp>
        <p:nvSpPr>
          <p:cNvPr id="30" name="Text 28"/>
          <p:cNvSpPr/>
          <p:nvPr/>
        </p:nvSpPr>
        <p:spPr>
          <a:xfrm>
            <a:off x="7616952" y="2395728"/>
            <a:ext cx="1828800" cy="640080"/>
          </a:xfrm>
          <a:prstGeom prst="rect">
            <a:avLst/>
          </a:prstGeom>
          <a:noFill/>
          <a:ln/>
        </p:spPr>
        <p:txBody>
          <a:bodyPr wrap="square" lIns="0" tIns="0" rIns="0" bIns="0" rtlCol="0" anchor="t">
            <a:normAutofit/>
          </a:bodyPr>
          <a:lstStyle/>
          <a:p>
            <a:pPr algn="l" indent="0" marL="0">
              <a:buNone/>
            </a:pPr>
            <a:r>
              <a:rPr lang="en-US" sz="1450" b="1" dirty="0">
                <a:solidFill>
                  <a:srgbClr val="14263C"/>
                </a:solidFill>
                <a:latin typeface="Arial" pitchFamily="34" charset="0"/>
                <a:ea typeface="Arial" pitchFamily="34" charset="-122"/>
                <a:cs typeface="Arial" pitchFamily="34" charset="-120"/>
              </a:rPr>
              <a:t>Managed AGI Node Council</a:t>
            </a:r>
            <a:endParaRPr lang="en-US" sz="1450" dirty="0"/>
          </a:p>
        </p:txBody>
      </p:sp>
      <p:sp>
        <p:nvSpPr>
          <p:cNvPr id="31" name="Text 29"/>
          <p:cNvSpPr/>
          <p:nvPr/>
        </p:nvSpPr>
        <p:spPr>
          <a:xfrm>
            <a:off x="7616952" y="3246120"/>
            <a:ext cx="1828800" cy="1051560"/>
          </a:xfrm>
          <a:prstGeom prst="rect">
            <a:avLst/>
          </a:prstGeom>
          <a:noFill/>
          <a:ln/>
        </p:spPr>
        <p:txBody>
          <a:bodyPr wrap="square" lIns="0" tIns="0" rIns="0" bIns="0" rtlCol="0" anchor="t">
            <a:normAutofit/>
          </a:bodyPr>
          <a:lstStyle/>
          <a:p>
            <a:pPr algn="l" indent="0" marL="0">
              <a:buNone/>
            </a:pPr>
            <a:r>
              <a:rPr lang="en-US" sz="980" dirty="0">
                <a:solidFill>
                  <a:srgbClr val="68788D"/>
                </a:solidFill>
                <a:latin typeface="Arial" pitchFamily="34" charset="0"/>
                <a:ea typeface="Arial" pitchFamily="34" charset="-122"/>
                <a:cs typeface="Arial" pitchFamily="34" charset="-120"/>
              </a:rPr>
              <a:t>Independent validation without customer infrastructure burden.</a:t>
            </a:r>
            <a:endParaRPr lang="en-US" sz="980" dirty="0"/>
          </a:p>
        </p:txBody>
      </p:sp>
      <p:sp>
        <p:nvSpPr>
          <p:cNvPr id="32" name="Shape 30"/>
          <p:cNvSpPr/>
          <p:nvPr/>
        </p:nvSpPr>
        <p:spPr>
          <a:xfrm>
            <a:off x="7616952" y="4645152"/>
            <a:ext cx="1828800" cy="0"/>
          </a:xfrm>
          <a:prstGeom prst="line">
            <a:avLst/>
          </a:prstGeom>
          <a:noFill/>
          <a:ln w="12700">
            <a:solidFill>
              <a:srgbClr val="D9D0C1"/>
            </a:solidFill>
            <a:prstDash val="solid"/>
          </a:ln>
        </p:spPr>
        <p:txBody>
          <a:bodyPr/>
          <a:p/>
        </p:txBody>
      </p:sp>
      <p:sp>
        <p:nvSpPr>
          <p:cNvPr id="33" name="Text 31"/>
          <p:cNvSpPr/>
          <p:nvPr/>
        </p:nvSpPr>
        <p:spPr>
          <a:xfrm>
            <a:off x="7616952" y="4828032"/>
            <a:ext cx="1828800" cy="585216"/>
          </a:xfrm>
          <a:prstGeom prst="rect">
            <a:avLst/>
          </a:prstGeom>
          <a:noFill/>
          <a:ln/>
        </p:spPr>
        <p:txBody>
          <a:bodyPr wrap="square" lIns="0" tIns="0" rIns="0" bIns="0" rtlCol="0" anchor="t">
            <a:normAutofit/>
          </a:bodyPr>
          <a:lstStyle/>
          <a:p>
            <a:pPr algn="l" indent="0" marL="0">
              <a:buNone/>
            </a:pPr>
            <a:r>
              <a:rPr lang="en-US" sz="940" b="1" dirty="0">
                <a:solidFill>
                  <a:srgbClr val="14263C"/>
                </a:solidFill>
                <a:latin typeface="Arial" pitchFamily="34" charset="0"/>
                <a:ea typeface="Arial" pitchFamily="34" charset="-122"/>
                <a:cs typeface="Arial" pitchFamily="34" charset="-120"/>
              </a:rPr>
              <a:t>ARR + metered validation</a:t>
            </a:r>
            <a:endParaRPr lang="en-US" sz="940" dirty="0"/>
          </a:p>
        </p:txBody>
      </p:sp>
      <p:sp>
        <p:nvSpPr>
          <p:cNvPr id="34" name="Shape 32"/>
          <p:cNvSpPr/>
          <p:nvPr/>
        </p:nvSpPr>
        <p:spPr>
          <a:xfrm>
            <a:off x="9793224" y="1627632"/>
            <a:ext cx="2167128" cy="4206240"/>
          </a:xfrm>
          <a:prstGeom prst="roundRect">
            <a:avLst>
              <a:gd name="adj" fmla="val 3376"/>
            </a:avLst>
          </a:prstGeom>
          <a:solidFill>
            <a:srgbClr val="FFF1F3"/>
          </a:solidFill>
          <a:ln w="12700">
            <a:solidFill>
              <a:srgbClr val="B74A5E"/>
            </a:solidFill>
            <a:prstDash val="solid"/>
          </a:ln>
          <a:effectLst>
            <a:outerShdw sx="100000" sy="100000" kx="0" ky="0" algn="bl" rotWithShape="0" blurRad="25400" dist="50800" dir="2700000">
              <a:srgbClr val="07182B">
                <a:alpha val="10000"/>
              </a:srgbClr>
            </a:outerShdw>
          </a:effectLst>
        </p:spPr>
        <p:txBody>
          <a:bodyPr/>
          <a:p/>
        </p:txBody>
      </p:sp>
      <p:sp>
        <p:nvSpPr>
          <p:cNvPr id="35" name="Shape 33"/>
          <p:cNvSpPr/>
          <p:nvPr/>
        </p:nvSpPr>
        <p:spPr>
          <a:xfrm>
            <a:off x="9793224" y="1627632"/>
            <a:ext cx="2167128" cy="64008"/>
          </a:xfrm>
          <a:prstGeom prst="rect">
            <a:avLst/>
          </a:prstGeom>
          <a:solidFill>
            <a:srgbClr val="B74A5E"/>
          </a:solidFill>
          <a:ln w="12700">
            <a:solidFill>
              <a:srgbClr val="B74A5E"/>
            </a:solidFill>
            <a:prstDash val="solid"/>
          </a:ln>
        </p:spPr>
        <p:txBody>
          <a:bodyPr/>
          <a:p/>
        </p:txBody>
      </p:sp>
      <p:sp>
        <p:nvSpPr>
          <p:cNvPr id="36" name="Text 34"/>
          <p:cNvSpPr/>
          <p:nvPr/>
        </p:nvSpPr>
        <p:spPr>
          <a:xfrm>
            <a:off x="9957816" y="1874520"/>
            <a:ext cx="457200" cy="347472"/>
          </a:xfrm>
          <a:prstGeom prst="rect">
            <a:avLst/>
          </a:prstGeom>
          <a:noFill/>
          <a:ln/>
        </p:spPr>
        <p:txBody>
          <a:bodyPr wrap="square" lIns="0" tIns="0" rIns="0" bIns="0" rtlCol="0" anchor="t">
            <a:normAutofit/>
          </a:bodyPr>
          <a:lstStyle/>
          <a:p>
            <a:pPr algn="l" indent="0" marL="0">
              <a:buNone/>
            </a:pPr>
            <a:r>
              <a:rPr lang="en-US" sz="2400" b="1" dirty="0">
                <a:solidFill>
                  <a:srgbClr val="B74A5E"/>
                </a:solidFill>
                <a:latin typeface="Georgia" pitchFamily="34" charset="0"/>
                <a:ea typeface="Georgia" pitchFamily="34" charset="-122"/>
                <a:cs typeface="Georgia" pitchFamily="34" charset="-120"/>
              </a:rPr>
              <a:t>5</a:t>
            </a:r>
            <a:endParaRPr lang="en-US" sz="2400" dirty="0"/>
          </a:p>
        </p:txBody>
      </p:sp>
      <p:sp>
        <p:nvSpPr>
          <p:cNvPr id="37" name="Text 35"/>
          <p:cNvSpPr/>
          <p:nvPr/>
        </p:nvSpPr>
        <p:spPr>
          <a:xfrm>
            <a:off x="9957816" y="2395728"/>
            <a:ext cx="1828800" cy="640080"/>
          </a:xfrm>
          <a:prstGeom prst="rect">
            <a:avLst/>
          </a:prstGeom>
          <a:noFill/>
          <a:ln/>
        </p:spPr>
        <p:txBody>
          <a:bodyPr wrap="square" lIns="0" tIns="0" rIns="0" bIns="0" rtlCol="0" anchor="t">
            <a:normAutofit/>
          </a:bodyPr>
          <a:lstStyle/>
          <a:p>
            <a:pPr algn="l" indent="0" marL="0">
              <a:buNone/>
            </a:pPr>
            <a:r>
              <a:rPr lang="en-US" sz="1450" b="1" dirty="0">
                <a:solidFill>
                  <a:srgbClr val="14263C"/>
                </a:solidFill>
                <a:latin typeface="Arial" pitchFamily="34" charset="0"/>
                <a:ea typeface="Arial" pitchFamily="34" charset="-122"/>
                <a:cs typeface="Arial" pitchFamily="34" charset="-120"/>
              </a:rPr>
              <a:t>Cross-Institution Proof Network</a:t>
            </a:r>
            <a:endParaRPr lang="en-US" sz="1450" dirty="0"/>
          </a:p>
        </p:txBody>
      </p:sp>
      <p:sp>
        <p:nvSpPr>
          <p:cNvPr id="38" name="Text 36"/>
          <p:cNvSpPr/>
          <p:nvPr/>
        </p:nvSpPr>
        <p:spPr>
          <a:xfrm>
            <a:off x="9957816" y="3246120"/>
            <a:ext cx="1828800" cy="1051560"/>
          </a:xfrm>
          <a:prstGeom prst="rect">
            <a:avLst/>
          </a:prstGeom>
          <a:noFill/>
          <a:ln/>
        </p:spPr>
        <p:txBody>
          <a:bodyPr wrap="square" lIns="0" tIns="0" rIns="0" bIns="0" rtlCol="0" anchor="t">
            <a:normAutofit/>
          </a:bodyPr>
          <a:lstStyle/>
          <a:p>
            <a:pPr algn="l" indent="0" marL="0">
              <a:buNone/>
            </a:pPr>
            <a:r>
              <a:rPr lang="en-US" sz="980" dirty="0">
                <a:solidFill>
                  <a:srgbClr val="68788D"/>
                </a:solidFill>
                <a:latin typeface="Arial" pitchFamily="34" charset="0"/>
                <a:ea typeface="Arial" pitchFamily="34" charset="-122"/>
                <a:cs typeface="Arial" pitchFamily="34" charset="-120"/>
              </a:rPr>
              <a:t>Jobs, validators, challenges and capability passports.</a:t>
            </a:r>
            <a:endParaRPr lang="en-US" sz="980" dirty="0"/>
          </a:p>
        </p:txBody>
      </p:sp>
      <p:sp>
        <p:nvSpPr>
          <p:cNvPr id="39" name="Shape 37"/>
          <p:cNvSpPr/>
          <p:nvPr/>
        </p:nvSpPr>
        <p:spPr>
          <a:xfrm>
            <a:off x="9957816" y="4645152"/>
            <a:ext cx="1828800" cy="0"/>
          </a:xfrm>
          <a:prstGeom prst="line">
            <a:avLst/>
          </a:prstGeom>
          <a:noFill/>
          <a:ln w="12700">
            <a:solidFill>
              <a:srgbClr val="D9D0C1"/>
            </a:solidFill>
            <a:prstDash val="solid"/>
          </a:ln>
        </p:spPr>
        <p:txBody>
          <a:bodyPr/>
          <a:p/>
        </p:txBody>
      </p:sp>
      <p:sp>
        <p:nvSpPr>
          <p:cNvPr id="40" name="Text 38"/>
          <p:cNvSpPr/>
          <p:nvPr/>
        </p:nvSpPr>
        <p:spPr>
          <a:xfrm>
            <a:off x="9957816" y="4828032"/>
            <a:ext cx="1828800" cy="585216"/>
          </a:xfrm>
          <a:prstGeom prst="rect">
            <a:avLst/>
          </a:prstGeom>
          <a:noFill/>
          <a:ln/>
        </p:spPr>
        <p:txBody>
          <a:bodyPr wrap="square" lIns="0" tIns="0" rIns="0" bIns="0" rtlCol="0" anchor="t">
            <a:normAutofit/>
          </a:bodyPr>
          <a:lstStyle/>
          <a:p>
            <a:pPr algn="l" indent="0" marL="0">
              <a:buNone/>
            </a:pPr>
            <a:r>
              <a:rPr lang="en-US" sz="940" b="1" dirty="0">
                <a:solidFill>
                  <a:srgbClr val="14263C"/>
                </a:solidFill>
                <a:latin typeface="Arial" pitchFamily="34" charset="0"/>
                <a:ea typeface="Arial" pitchFamily="34" charset="-122"/>
                <a:cs typeface="Arial" pitchFamily="34" charset="-120"/>
              </a:rPr>
              <a:t>Network effects + throughput</a:t>
            </a:r>
            <a:endParaRPr lang="en-US" sz="940" dirty="0"/>
          </a:p>
        </p:txBody>
      </p:sp>
      <p:sp>
        <p:nvSpPr>
          <p:cNvPr id="41" name="Text 39"/>
          <p:cNvSpPr/>
          <p:nvPr/>
        </p:nvSpPr>
        <p:spPr>
          <a:xfrm>
            <a:off x="612648" y="6062472"/>
            <a:ext cx="10972800" cy="219456"/>
          </a:xfrm>
          <a:prstGeom prst="rect">
            <a:avLst/>
          </a:prstGeom>
          <a:noFill/>
          <a:ln/>
        </p:spPr>
        <p:txBody>
          <a:bodyPr wrap="square" lIns="0" tIns="0" rIns="0" bIns="0" rtlCol="0" anchor="t">
            <a:normAutofit/>
          </a:bodyPr>
          <a:lstStyle/>
          <a:p>
            <a:pPr algn="ctr" indent="0" marL="0">
              <a:buNone/>
            </a:pPr>
            <a:r>
              <a:rPr lang="en-US" sz="1030" b="1" dirty="0">
                <a:solidFill>
                  <a:srgbClr val="14263C"/>
                </a:solidFill>
                <a:latin typeface="Arial" pitchFamily="34" charset="0"/>
                <a:ea typeface="Arial" pitchFamily="34" charset="-122"/>
                <a:cs typeface="Arial" pitchFamily="34" charset="-120"/>
              </a:rPr>
              <a:t>Company value: services + subscriptions + implementation.  Protocol value: verified-work throughput + bonded security + reusable capability.</a:t>
            </a:r>
            <a:endParaRPr lang="en-US" sz="103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30352" y="164592"/>
            <a:ext cx="1600200" cy="256032"/>
          </a:xfrm>
          <a:prstGeom prst="roundRect">
            <a:avLst>
              <a:gd name="adj" fmla="val 21429"/>
            </a:avLst>
          </a:prstGeom>
          <a:solidFill>
            <a:srgbClr val="17304A">
              <a:alpha val="28000"/>
            </a:srgbClr>
          </a:solidFill>
          <a:ln w="12700">
            <a:solidFill>
              <a:srgbClr val="FFFFFF">
                <a:alpha val="32000"/>
              </a:srgbClr>
            </a:solidFill>
            <a:prstDash val="solid"/>
          </a:ln>
        </p:spPr>
        <p:txBody>
          <a:bodyPr/>
          <a:p/>
        </p:txBody>
      </p:sp>
      <p:sp>
        <p:nvSpPr>
          <p:cNvPr id="3" name="Text 1"/>
          <p:cNvSpPr/>
          <p:nvPr/>
        </p:nvSpPr>
        <p:spPr>
          <a:xfrm>
            <a:off x="594360" y="212141"/>
            <a:ext cx="14721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$AGIALPHA</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Georgia" pitchFamily="34" charset="0"/>
                <a:ea typeface="Georgia" pitchFamily="34" charset="-122"/>
                <a:cs typeface="Georgia" pitchFamily="34" charset="-120"/>
              </a:rPr>
              <a:t>Bonded accountability - not a speculative product pitch.</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C6D6E5"/>
                </a:solidFill>
                <a:latin typeface="Arial" pitchFamily="34" charset="0"/>
                <a:ea typeface="Arial" pitchFamily="34" charset="-122"/>
                <a:cs typeface="Arial" pitchFamily="34" charset="-120"/>
              </a:rPr>
              <a:t>GoalOS creates proof. $AGIALPHA is designed to make accepted proof economically consequential.</a:t>
            </a:r>
            <a:endParaRPr lang="en-US" sz="1230" dirty="0"/>
          </a:p>
        </p:txBody>
      </p:sp>
      <p:sp>
        <p:nvSpPr>
          <p:cNvPr id="6" name="Shape 4"/>
          <p:cNvSpPr/>
          <p:nvPr/>
        </p:nvSpPr>
        <p:spPr>
          <a:xfrm>
            <a:off x="621792" y="1572768"/>
            <a:ext cx="5193792" cy="841248"/>
          </a:xfrm>
          <a:prstGeom prst="roundRect">
            <a:avLst>
              <a:gd name="adj" fmla="val 8696"/>
            </a:avLst>
          </a:prstGeom>
          <a:solidFill>
            <a:srgbClr val="102E4D"/>
          </a:solidFill>
          <a:ln w="12700">
            <a:solidFill>
              <a:srgbClr val="31516B"/>
            </a:solidFill>
            <a:prstDash val="solid"/>
          </a:ln>
        </p:spPr>
        <p:txBody>
          <a:bodyPr/>
          <a:p/>
        </p:txBody>
      </p:sp>
      <p:sp>
        <p:nvSpPr>
          <p:cNvPr id="7" name="Text 5"/>
          <p:cNvSpPr/>
          <p:nvPr/>
        </p:nvSpPr>
        <p:spPr>
          <a:xfrm>
            <a:off x="786384" y="1719072"/>
            <a:ext cx="1874520" cy="219456"/>
          </a:xfrm>
          <a:prstGeom prst="rect">
            <a:avLst/>
          </a:prstGeom>
          <a:noFill/>
          <a:ln/>
        </p:spPr>
        <p:txBody>
          <a:bodyPr wrap="square" lIns="0" tIns="0" rIns="0" bIns="0" rtlCol="0" anchor="t">
            <a:normAutofit/>
          </a:bodyPr>
          <a:lstStyle/>
          <a:p>
            <a:pPr algn="l" indent="0" marL="0">
              <a:buNone/>
            </a:pPr>
            <a:r>
              <a:rPr lang="en-US" sz="1160" b="1" dirty="0">
                <a:solidFill>
                  <a:srgbClr val="FFFFFF"/>
                </a:solidFill>
                <a:latin typeface="Arial" pitchFamily="34" charset="0"/>
                <a:ea typeface="Arial" pitchFamily="34" charset="-122"/>
                <a:cs typeface="Arial" pitchFamily="34" charset="-120"/>
              </a:rPr>
              <a:t>Work begins</a:t>
            </a:r>
            <a:endParaRPr lang="en-US" sz="1160" dirty="0"/>
          </a:p>
        </p:txBody>
      </p:sp>
      <p:sp>
        <p:nvSpPr>
          <p:cNvPr id="8" name="Text 6"/>
          <p:cNvSpPr/>
          <p:nvPr/>
        </p:nvSpPr>
        <p:spPr>
          <a:xfrm>
            <a:off x="2862072" y="1719072"/>
            <a:ext cx="2651760" cy="384048"/>
          </a:xfrm>
          <a:prstGeom prst="rect">
            <a:avLst/>
          </a:prstGeom>
          <a:noFill/>
          <a:ln/>
        </p:spPr>
        <p:txBody>
          <a:bodyPr wrap="square" lIns="0" tIns="0" rIns="0" bIns="0" rtlCol="0" anchor="t">
            <a:normAutofit/>
          </a:bodyPr>
          <a:lstStyle/>
          <a:p>
            <a:pPr algn="l" indent="0" marL="0">
              <a:buNone/>
            </a:pPr>
            <a:r>
              <a:rPr lang="en-US" sz="980" dirty="0">
                <a:solidFill>
                  <a:srgbClr val="C3D3E0"/>
                </a:solidFill>
                <a:latin typeface="Arial" pitchFamily="34" charset="0"/>
                <a:ea typeface="Arial" pitchFamily="34" charset="-122"/>
                <a:cs typeface="Arial" pitchFamily="34" charset="-120"/>
              </a:rPr>
              <a:t>Worker proof bond</a:t>
            </a:r>
            <a:endParaRPr lang="en-US" sz="980" dirty="0"/>
          </a:p>
        </p:txBody>
      </p:sp>
      <p:sp>
        <p:nvSpPr>
          <p:cNvPr id="9" name="Shape 7"/>
          <p:cNvSpPr/>
          <p:nvPr/>
        </p:nvSpPr>
        <p:spPr>
          <a:xfrm>
            <a:off x="4937760" y="2084832"/>
            <a:ext cx="68580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10" name="Text 8"/>
          <p:cNvSpPr/>
          <p:nvPr/>
        </p:nvSpPr>
        <p:spPr>
          <a:xfrm>
            <a:off x="5001768" y="2132381"/>
            <a:ext cx="5577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SECURED</a:t>
            </a:r>
            <a:endParaRPr lang="en-US" sz="800" dirty="0"/>
          </a:p>
        </p:txBody>
      </p:sp>
      <p:sp>
        <p:nvSpPr>
          <p:cNvPr id="11" name="Shape 9"/>
          <p:cNvSpPr/>
          <p:nvPr/>
        </p:nvSpPr>
        <p:spPr>
          <a:xfrm>
            <a:off x="6108192" y="1572768"/>
            <a:ext cx="5193792" cy="841248"/>
          </a:xfrm>
          <a:prstGeom prst="roundRect">
            <a:avLst>
              <a:gd name="adj" fmla="val 8696"/>
            </a:avLst>
          </a:prstGeom>
          <a:solidFill>
            <a:srgbClr val="102E4D"/>
          </a:solidFill>
          <a:ln w="12700">
            <a:solidFill>
              <a:srgbClr val="31516B"/>
            </a:solidFill>
            <a:prstDash val="solid"/>
          </a:ln>
        </p:spPr>
        <p:txBody>
          <a:bodyPr/>
          <a:p/>
        </p:txBody>
      </p:sp>
      <p:sp>
        <p:nvSpPr>
          <p:cNvPr id="12" name="Text 10"/>
          <p:cNvSpPr/>
          <p:nvPr/>
        </p:nvSpPr>
        <p:spPr>
          <a:xfrm>
            <a:off x="6272784" y="1719072"/>
            <a:ext cx="1874520" cy="219456"/>
          </a:xfrm>
          <a:prstGeom prst="rect">
            <a:avLst/>
          </a:prstGeom>
          <a:noFill/>
          <a:ln/>
        </p:spPr>
        <p:txBody>
          <a:bodyPr wrap="square" lIns="0" tIns="0" rIns="0" bIns="0" rtlCol="0" anchor="t">
            <a:normAutofit/>
          </a:bodyPr>
          <a:lstStyle/>
          <a:p>
            <a:pPr algn="l" indent="0" marL="0">
              <a:buNone/>
            </a:pPr>
            <a:r>
              <a:rPr lang="en-US" sz="1160" b="1" dirty="0">
                <a:solidFill>
                  <a:srgbClr val="FFFFFF"/>
                </a:solidFill>
                <a:latin typeface="Arial" pitchFamily="34" charset="0"/>
                <a:ea typeface="Arial" pitchFamily="34" charset="-122"/>
                <a:cs typeface="Arial" pitchFamily="34" charset="-120"/>
              </a:rPr>
              <a:t>Work becomes paid</a:t>
            </a:r>
            <a:endParaRPr lang="en-US" sz="1160" dirty="0"/>
          </a:p>
        </p:txBody>
      </p:sp>
      <p:sp>
        <p:nvSpPr>
          <p:cNvPr id="13" name="Text 11"/>
          <p:cNvSpPr/>
          <p:nvPr/>
        </p:nvSpPr>
        <p:spPr>
          <a:xfrm>
            <a:off x="8348472" y="1719072"/>
            <a:ext cx="2651760" cy="384048"/>
          </a:xfrm>
          <a:prstGeom prst="rect">
            <a:avLst/>
          </a:prstGeom>
          <a:noFill/>
          <a:ln/>
        </p:spPr>
        <p:txBody>
          <a:bodyPr wrap="square" lIns="0" tIns="0" rIns="0" bIns="0" rtlCol="0" anchor="t">
            <a:normAutofit/>
          </a:bodyPr>
          <a:lstStyle/>
          <a:p>
            <a:pPr algn="l" indent="0" marL="0">
              <a:buNone/>
            </a:pPr>
            <a:r>
              <a:rPr lang="en-US" sz="980" dirty="0">
                <a:solidFill>
                  <a:srgbClr val="C3D3E0"/>
                </a:solidFill>
                <a:latin typeface="Arial" pitchFamily="34" charset="0"/>
                <a:ea typeface="Arial" pitchFamily="34" charset="-122"/>
                <a:cs typeface="Arial" pitchFamily="34" charset="-120"/>
              </a:rPr>
              <a:t>Accepted ProofBundle + validator bonds</a:t>
            </a:r>
            <a:endParaRPr lang="en-US" sz="980" dirty="0"/>
          </a:p>
        </p:txBody>
      </p:sp>
      <p:sp>
        <p:nvSpPr>
          <p:cNvPr id="14" name="Shape 12"/>
          <p:cNvSpPr/>
          <p:nvPr/>
        </p:nvSpPr>
        <p:spPr>
          <a:xfrm>
            <a:off x="10424160" y="2084832"/>
            <a:ext cx="68580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15" name="Text 13"/>
          <p:cNvSpPr/>
          <p:nvPr/>
        </p:nvSpPr>
        <p:spPr>
          <a:xfrm>
            <a:off x="10488168" y="2132381"/>
            <a:ext cx="5577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SECURED</a:t>
            </a:r>
            <a:endParaRPr lang="en-US" sz="800" dirty="0"/>
          </a:p>
        </p:txBody>
      </p:sp>
      <p:sp>
        <p:nvSpPr>
          <p:cNvPr id="16" name="Shape 14"/>
          <p:cNvSpPr/>
          <p:nvPr/>
        </p:nvSpPr>
        <p:spPr>
          <a:xfrm>
            <a:off x="621792" y="2642616"/>
            <a:ext cx="5193792" cy="841248"/>
          </a:xfrm>
          <a:prstGeom prst="roundRect">
            <a:avLst>
              <a:gd name="adj" fmla="val 8696"/>
            </a:avLst>
          </a:prstGeom>
          <a:solidFill>
            <a:srgbClr val="102E4D"/>
          </a:solidFill>
          <a:ln w="12700">
            <a:solidFill>
              <a:srgbClr val="31516B"/>
            </a:solidFill>
            <a:prstDash val="solid"/>
          </a:ln>
        </p:spPr>
        <p:txBody>
          <a:bodyPr/>
          <a:p/>
        </p:txBody>
      </p:sp>
      <p:sp>
        <p:nvSpPr>
          <p:cNvPr id="17" name="Text 15"/>
          <p:cNvSpPr/>
          <p:nvPr/>
        </p:nvSpPr>
        <p:spPr>
          <a:xfrm>
            <a:off x="786384" y="2788920"/>
            <a:ext cx="1874520" cy="219456"/>
          </a:xfrm>
          <a:prstGeom prst="rect">
            <a:avLst/>
          </a:prstGeom>
          <a:noFill/>
          <a:ln/>
        </p:spPr>
        <p:txBody>
          <a:bodyPr wrap="square" lIns="0" tIns="0" rIns="0" bIns="0" rtlCol="0" anchor="t">
            <a:normAutofit/>
          </a:bodyPr>
          <a:lstStyle/>
          <a:p>
            <a:pPr algn="l" indent="0" marL="0">
              <a:buNone/>
            </a:pPr>
            <a:r>
              <a:rPr lang="en-US" sz="1160" b="1" dirty="0">
                <a:solidFill>
                  <a:srgbClr val="FFFFFF"/>
                </a:solidFill>
                <a:latin typeface="Arial" pitchFamily="34" charset="0"/>
                <a:ea typeface="Arial" pitchFamily="34" charset="-122"/>
                <a:cs typeface="Arial" pitchFamily="34" charset="-120"/>
              </a:rPr>
              <a:t>Claim becomes trusted</a:t>
            </a:r>
            <a:endParaRPr lang="en-US" sz="1160" dirty="0"/>
          </a:p>
        </p:txBody>
      </p:sp>
      <p:sp>
        <p:nvSpPr>
          <p:cNvPr id="18" name="Text 16"/>
          <p:cNvSpPr/>
          <p:nvPr/>
        </p:nvSpPr>
        <p:spPr>
          <a:xfrm>
            <a:off x="2862072" y="2788920"/>
            <a:ext cx="2651760" cy="384048"/>
          </a:xfrm>
          <a:prstGeom prst="rect">
            <a:avLst/>
          </a:prstGeom>
          <a:noFill/>
          <a:ln/>
        </p:spPr>
        <p:txBody>
          <a:bodyPr wrap="square" lIns="0" tIns="0" rIns="0" bIns="0" rtlCol="0" anchor="t">
            <a:normAutofit/>
          </a:bodyPr>
          <a:lstStyle/>
          <a:p>
            <a:pPr algn="l" indent="0" marL="0">
              <a:buNone/>
            </a:pPr>
            <a:r>
              <a:rPr lang="en-US" sz="980" dirty="0">
                <a:solidFill>
                  <a:srgbClr val="C3D3E0"/>
                </a:solidFill>
                <a:latin typeface="Arial" pitchFamily="34" charset="0"/>
                <a:ea typeface="Arial" pitchFamily="34" charset="-122"/>
                <a:cs typeface="Arial" pitchFamily="34" charset="-120"/>
              </a:rPr>
              <a:t>Chronicle + challenge finality</a:t>
            </a:r>
            <a:endParaRPr lang="en-US" sz="980" dirty="0"/>
          </a:p>
        </p:txBody>
      </p:sp>
      <p:sp>
        <p:nvSpPr>
          <p:cNvPr id="19" name="Shape 17"/>
          <p:cNvSpPr/>
          <p:nvPr/>
        </p:nvSpPr>
        <p:spPr>
          <a:xfrm>
            <a:off x="4937760" y="3154680"/>
            <a:ext cx="68580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20" name="Text 18"/>
          <p:cNvSpPr/>
          <p:nvPr/>
        </p:nvSpPr>
        <p:spPr>
          <a:xfrm>
            <a:off x="5001768" y="3202229"/>
            <a:ext cx="5577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SECURED</a:t>
            </a:r>
            <a:endParaRPr lang="en-US" sz="800" dirty="0"/>
          </a:p>
        </p:txBody>
      </p:sp>
      <p:sp>
        <p:nvSpPr>
          <p:cNvPr id="21" name="Shape 19"/>
          <p:cNvSpPr/>
          <p:nvPr/>
        </p:nvSpPr>
        <p:spPr>
          <a:xfrm>
            <a:off x="6108192" y="2642616"/>
            <a:ext cx="5193792" cy="841248"/>
          </a:xfrm>
          <a:prstGeom prst="roundRect">
            <a:avLst>
              <a:gd name="adj" fmla="val 8696"/>
            </a:avLst>
          </a:prstGeom>
          <a:solidFill>
            <a:srgbClr val="102E4D"/>
          </a:solidFill>
          <a:ln w="12700">
            <a:solidFill>
              <a:srgbClr val="31516B"/>
            </a:solidFill>
            <a:prstDash val="solid"/>
          </a:ln>
        </p:spPr>
        <p:txBody>
          <a:bodyPr/>
          <a:p/>
        </p:txBody>
      </p:sp>
      <p:sp>
        <p:nvSpPr>
          <p:cNvPr id="22" name="Text 20"/>
          <p:cNvSpPr/>
          <p:nvPr/>
        </p:nvSpPr>
        <p:spPr>
          <a:xfrm>
            <a:off x="6272784" y="2788920"/>
            <a:ext cx="1874520" cy="219456"/>
          </a:xfrm>
          <a:prstGeom prst="rect">
            <a:avLst/>
          </a:prstGeom>
          <a:noFill/>
          <a:ln/>
        </p:spPr>
        <p:txBody>
          <a:bodyPr wrap="square" lIns="0" tIns="0" rIns="0" bIns="0" rtlCol="0" anchor="t">
            <a:normAutofit/>
          </a:bodyPr>
          <a:lstStyle/>
          <a:p>
            <a:pPr algn="l" indent="0" marL="0">
              <a:buNone/>
            </a:pPr>
            <a:r>
              <a:rPr lang="en-US" sz="1160" b="1" dirty="0">
                <a:solidFill>
                  <a:srgbClr val="FFFFFF"/>
                </a:solidFill>
                <a:latin typeface="Arial" pitchFamily="34" charset="0"/>
                <a:ea typeface="Arial" pitchFamily="34" charset="-122"/>
                <a:cs typeface="Arial" pitchFamily="34" charset="-120"/>
              </a:rPr>
              <a:t>Claim is challenged</a:t>
            </a:r>
            <a:endParaRPr lang="en-US" sz="1160" dirty="0"/>
          </a:p>
        </p:txBody>
      </p:sp>
      <p:sp>
        <p:nvSpPr>
          <p:cNvPr id="23" name="Text 21"/>
          <p:cNvSpPr/>
          <p:nvPr/>
        </p:nvSpPr>
        <p:spPr>
          <a:xfrm>
            <a:off x="8348472" y="2788920"/>
            <a:ext cx="2651760" cy="384048"/>
          </a:xfrm>
          <a:prstGeom prst="rect">
            <a:avLst/>
          </a:prstGeom>
          <a:noFill/>
          <a:ln/>
        </p:spPr>
        <p:txBody>
          <a:bodyPr wrap="square" lIns="0" tIns="0" rIns="0" bIns="0" rtlCol="0" anchor="t">
            <a:normAutofit/>
          </a:bodyPr>
          <a:lstStyle/>
          <a:p>
            <a:pPr algn="l" indent="0" marL="0">
              <a:buNone/>
            </a:pPr>
            <a:r>
              <a:rPr lang="en-US" sz="980" dirty="0">
                <a:solidFill>
                  <a:srgbClr val="C3D3E0"/>
                </a:solidFill>
                <a:latin typeface="Arial" pitchFamily="34" charset="0"/>
                <a:ea typeface="Arial" pitchFamily="34" charset="-122"/>
                <a:cs typeface="Arial" pitchFamily="34" charset="-120"/>
              </a:rPr>
              <a:t>Evidence-bearing challenger bond</a:t>
            </a:r>
            <a:endParaRPr lang="en-US" sz="980" dirty="0"/>
          </a:p>
        </p:txBody>
      </p:sp>
      <p:sp>
        <p:nvSpPr>
          <p:cNvPr id="24" name="Shape 22"/>
          <p:cNvSpPr/>
          <p:nvPr/>
        </p:nvSpPr>
        <p:spPr>
          <a:xfrm>
            <a:off x="10424160" y="3154680"/>
            <a:ext cx="68580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25" name="Text 23"/>
          <p:cNvSpPr/>
          <p:nvPr/>
        </p:nvSpPr>
        <p:spPr>
          <a:xfrm>
            <a:off x="10488168" y="3202229"/>
            <a:ext cx="5577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SECURED</a:t>
            </a:r>
            <a:endParaRPr lang="en-US" sz="800" dirty="0"/>
          </a:p>
        </p:txBody>
      </p:sp>
      <p:sp>
        <p:nvSpPr>
          <p:cNvPr id="26" name="Shape 24"/>
          <p:cNvSpPr/>
          <p:nvPr/>
        </p:nvSpPr>
        <p:spPr>
          <a:xfrm>
            <a:off x="621792" y="3712464"/>
            <a:ext cx="5193792" cy="841248"/>
          </a:xfrm>
          <a:prstGeom prst="roundRect">
            <a:avLst>
              <a:gd name="adj" fmla="val 8696"/>
            </a:avLst>
          </a:prstGeom>
          <a:solidFill>
            <a:srgbClr val="102E4D"/>
          </a:solidFill>
          <a:ln w="12700">
            <a:solidFill>
              <a:srgbClr val="31516B"/>
            </a:solidFill>
            <a:prstDash val="solid"/>
          </a:ln>
        </p:spPr>
        <p:txBody>
          <a:bodyPr/>
          <a:p/>
        </p:txBody>
      </p:sp>
      <p:sp>
        <p:nvSpPr>
          <p:cNvPr id="27" name="Text 25"/>
          <p:cNvSpPr/>
          <p:nvPr/>
        </p:nvSpPr>
        <p:spPr>
          <a:xfrm>
            <a:off x="786384" y="3858768"/>
            <a:ext cx="1874520" cy="219456"/>
          </a:xfrm>
          <a:prstGeom prst="rect">
            <a:avLst/>
          </a:prstGeom>
          <a:noFill/>
          <a:ln/>
        </p:spPr>
        <p:txBody>
          <a:bodyPr wrap="square" lIns="0" tIns="0" rIns="0" bIns="0" rtlCol="0" anchor="t">
            <a:normAutofit/>
          </a:bodyPr>
          <a:lstStyle/>
          <a:p>
            <a:pPr algn="l" indent="0" marL="0">
              <a:buNone/>
            </a:pPr>
            <a:r>
              <a:rPr lang="en-US" sz="1160" b="1" dirty="0">
                <a:solidFill>
                  <a:srgbClr val="FFFFFF"/>
                </a:solidFill>
                <a:latin typeface="Arial" pitchFamily="34" charset="0"/>
                <a:ea typeface="Arial" pitchFamily="34" charset="-122"/>
                <a:cs typeface="Arial" pitchFamily="34" charset="-120"/>
              </a:rPr>
              <a:t>Skill becomes reusable</a:t>
            </a:r>
            <a:endParaRPr lang="en-US" sz="1160" dirty="0"/>
          </a:p>
        </p:txBody>
      </p:sp>
      <p:sp>
        <p:nvSpPr>
          <p:cNvPr id="28" name="Text 26"/>
          <p:cNvSpPr/>
          <p:nvPr/>
        </p:nvSpPr>
        <p:spPr>
          <a:xfrm>
            <a:off x="2862072" y="3858768"/>
            <a:ext cx="2651760" cy="384048"/>
          </a:xfrm>
          <a:prstGeom prst="rect">
            <a:avLst/>
          </a:prstGeom>
          <a:noFill/>
          <a:ln/>
        </p:spPr>
        <p:txBody>
          <a:bodyPr wrap="square" lIns="0" tIns="0" rIns="0" bIns="0" rtlCol="0" anchor="t">
            <a:normAutofit/>
          </a:bodyPr>
          <a:lstStyle/>
          <a:p>
            <a:pPr algn="l" indent="0" marL="0">
              <a:buNone/>
            </a:pPr>
            <a:r>
              <a:rPr lang="en-US" sz="980" dirty="0">
                <a:solidFill>
                  <a:srgbClr val="C3D3E0"/>
                </a:solidFill>
                <a:latin typeface="Arial" pitchFamily="34" charset="0"/>
                <a:ea typeface="Arial" pitchFamily="34" charset="-122"/>
                <a:cs typeface="Arial" pitchFamily="34" charset="-120"/>
              </a:rPr>
              <a:t>Reuse bond + delayed outcome</a:t>
            </a:r>
            <a:endParaRPr lang="en-US" sz="980" dirty="0"/>
          </a:p>
        </p:txBody>
      </p:sp>
      <p:sp>
        <p:nvSpPr>
          <p:cNvPr id="29" name="Shape 27"/>
          <p:cNvSpPr/>
          <p:nvPr/>
        </p:nvSpPr>
        <p:spPr>
          <a:xfrm>
            <a:off x="4937760" y="4224528"/>
            <a:ext cx="68580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30" name="Text 28"/>
          <p:cNvSpPr/>
          <p:nvPr/>
        </p:nvSpPr>
        <p:spPr>
          <a:xfrm>
            <a:off x="5001768" y="4272077"/>
            <a:ext cx="5577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SECURED</a:t>
            </a:r>
            <a:endParaRPr lang="en-US" sz="800" dirty="0"/>
          </a:p>
        </p:txBody>
      </p:sp>
      <p:sp>
        <p:nvSpPr>
          <p:cNvPr id="31" name="Shape 29"/>
          <p:cNvSpPr/>
          <p:nvPr/>
        </p:nvSpPr>
        <p:spPr>
          <a:xfrm>
            <a:off x="6108192" y="3712464"/>
            <a:ext cx="5193792" cy="841248"/>
          </a:xfrm>
          <a:prstGeom prst="roundRect">
            <a:avLst>
              <a:gd name="adj" fmla="val 8696"/>
            </a:avLst>
          </a:prstGeom>
          <a:solidFill>
            <a:srgbClr val="102E4D"/>
          </a:solidFill>
          <a:ln w="12700">
            <a:solidFill>
              <a:srgbClr val="31516B"/>
            </a:solidFill>
            <a:prstDash val="solid"/>
          </a:ln>
        </p:spPr>
        <p:txBody>
          <a:bodyPr/>
          <a:p/>
        </p:txBody>
      </p:sp>
      <p:sp>
        <p:nvSpPr>
          <p:cNvPr id="32" name="Text 30"/>
          <p:cNvSpPr/>
          <p:nvPr/>
        </p:nvSpPr>
        <p:spPr>
          <a:xfrm>
            <a:off x="6272784" y="3858768"/>
            <a:ext cx="1874520" cy="219456"/>
          </a:xfrm>
          <a:prstGeom prst="rect">
            <a:avLst/>
          </a:prstGeom>
          <a:noFill/>
          <a:ln/>
        </p:spPr>
        <p:txBody>
          <a:bodyPr wrap="square" lIns="0" tIns="0" rIns="0" bIns="0" rtlCol="0" anchor="t">
            <a:normAutofit/>
          </a:bodyPr>
          <a:lstStyle/>
          <a:p>
            <a:pPr algn="l" indent="0" marL="0">
              <a:buNone/>
            </a:pPr>
            <a:r>
              <a:rPr lang="en-US" sz="1160" b="1" dirty="0">
                <a:solidFill>
                  <a:srgbClr val="FFFFFF"/>
                </a:solidFill>
                <a:latin typeface="Arial" pitchFamily="34" charset="0"/>
                <a:ea typeface="Arial" pitchFamily="34" charset="-122"/>
                <a:cs typeface="Arial" pitchFamily="34" charset="-120"/>
              </a:rPr>
              <a:t>Node validates</a:t>
            </a:r>
            <a:endParaRPr lang="en-US" sz="1160" dirty="0"/>
          </a:p>
        </p:txBody>
      </p:sp>
      <p:sp>
        <p:nvSpPr>
          <p:cNvPr id="33" name="Text 31"/>
          <p:cNvSpPr/>
          <p:nvPr/>
        </p:nvSpPr>
        <p:spPr>
          <a:xfrm>
            <a:off x="8348472" y="3858768"/>
            <a:ext cx="2651760" cy="384048"/>
          </a:xfrm>
          <a:prstGeom prst="rect">
            <a:avLst/>
          </a:prstGeom>
          <a:noFill/>
          <a:ln/>
        </p:spPr>
        <p:txBody>
          <a:bodyPr wrap="square" lIns="0" tIns="0" rIns="0" bIns="0" rtlCol="0" anchor="t">
            <a:normAutofit/>
          </a:bodyPr>
          <a:lstStyle/>
          <a:p>
            <a:pPr algn="l" indent="0" marL="0">
              <a:buNone/>
            </a:pPr>
            <a:r>
              <a:rPr lang="en-US" sz="980" dirty="0">
                <a:solidFill>
                  <a:srgbClr val="C3D3E0"/>
                </a:solidFill>
                <a:latin typeface="Arial" pitchFamily="34" charset="0"/>
                <a:ea typeface="Arial" pitchFamily="34" charset="-122"/>
                <a:cs typeface="Arial" pitchFamily="34" charset="-120"/>
              </a:rPr>
              <a:t>Operational reserve + reputation</a:t>
            </a:r>
            <a:endParaRPr lang="en-US" sz="980" dirty="0"/>
          </a:p>
        </p:txBody>
      </p:sp>
      <p:sp>
        <p:nvSpPr>
          <p:cNvPr id="34" name="Shape 32"/>
          <p:cNvSpPr/>
          <p:nvPr/>
        </p:nvSpPr>
        <p:spPr>
          <a:xfrm>
            <a:off x="10424160" y="4224528"/>
            <a:ext cx="68580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35" name="Text 33"/>
          <p:cNvSpPr/>
          <p:nvPr/>
        </p:nvSpPr>
        <p:spPr>
          <a:xfrm>
            <a:off x="10488168" y="4272077"/>
            <a:ext cx="5577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SECURED</a:t>
            </a:r>
            <a:endParaRPr lang="en-US" sz="800" dirty="0"/>
          </a:p>
        </p:txBody>
      </p:sp>
      <p:sp>
        <p:nvSpPr>
          <p:cNvPr id="36" name="Shape 34"/>
          <p:cNvSpPr/>
          <p:nvPr/>
        </p:nvSpPr>
        <p:spPr>
          <a:xfrm>
            <a:off x="621792" y="4782312"/>
            <a:ext cx="5193792" cy="841248"/>
          </a:xfrm>
          <a:prstGeom prst="roundRect">
            <a:avLst>
              <a:gd name="adj" fmla="val 8696"/>
            </a:avLst>
          </a:prstGeom>
          <a:solidFill>
            <a:srgbClr val="102E4D"/>
          </a:solidFill>
          <a:ln w="12700">
            <a:solidFill>
              <a:srgbClr val="31516B"/>
            </a:solidFill>
            <a:prstDash val="solid"/>
          </a:ln>
        </p:spPr>
        <p:txBody>
          <a:bodyPr/>
          <a:p/>
        </p:txBody>
      </p:sp>
      <p:sp>
        <p:nvSpPr>
          <p:cNvPr id="37" name="Text 35"/>
          <p:cNvSpPr/>
          <p:nvPr/>
        </p:nvSpPr>
        <p:spPr>
          <a:xfrm>
            <a:off x="786384" y="4928616"/>
            <a:ext cx="1874520" cy="219456"/>
          </a:xfrm>
          <a:prstGeom prst="rect">
            <a:avLst/>
          </a:prstGeom>
          <a:noFill/>
          <a:ln/>
        </p:spPr>
        <p:txBody>
          <a:bodyPr wrap="square" lIns="0" tIns="0" rIns="0" bIns="0" rtlCol="0" anchor="t">
            <a:normAutofit/>
          </a:bodyPr>
          <a:lstStyle/>
          <a:p>
            <a:pPr algn="l" indent="0" marL="0">
              <a:buNone/>
            </a:pPr>
            <a:r>
              <a:rPr lang="en-US" sz="1160" b="1" dirty="0">
                <a:solidFill>
                  <a:srgbClr val="FFFFFF"/>
                </a:solidFill>
                <a:latin typeface="Arial" pitchFamily="34" charset="0"/>
                <a:ea typeface="Arial" pitchFamily="34" charset="-122"/>
                <a:cs typeface="Arial" pitchFamily="34" charset="-120"/>
              </a:rPr>
              <a:t>Protocol upgrades</a:t>
            </a:r>
            <a:endParaRPr lang="en-US" sz="1160" dirty="0"/>
          </a:p>
        </p:txBody>
      </p:sp>
      <p:sp>
        <p:nvSpPr>
          <p:cNvPr id="38" name="Text 36"/>
          <p:cNvSpPr/>
          <p:nvPr/>
        </p:nvSpPr>
        <p:spPr>
          <a:xfrm>
            <a:off x="2862072" y="4928616"/>
            <a:ext cx="2651760" cy="384048"/>
          </a:xfrm>
          <a:prstGeom prst="rect">
            <a:avLst/>
          </a:prstGeom>
          <a:noFill/>
          <a:ln/>
        </p:spPr>
        <p:txBody>
          <a:bodyPr wrap="square" lIns="0" tIns="0" rIns="0" bIns="0" rtlCol="0" anchor="t">
            <a:normAutofit/>
          </a:bodyPr>
          <a:lstStyle/>
          <a:p>
            <a:pPr algn="l" indent="0" marL="0">
              <a:buNone/>
            </a:pPr>
            <a:r>
              <a:rPr lang="en-US" sz="980" dirty="0">
                <a:solidFill>
                  <a:srgbClr val="C3D3E0"/>
                </a:solidFill>
                <a:latin typeface="Arial" pitchFamily="34" charset="0"/>
                <a:ea typeface="Arial" pitchFamily="34" charset="-122"/>
                <a:cs typeface="Arial" pitchFamily="34" charset="-120"/>
              </a:rPr>
              <a:t>Proposal + canary + rollback reserves</a:t>
            </a:r>
            <a:endParaRPr lang="en-US" sz="980" dirty="0"/>
          </a:p>
        </p:txBody>
      </p:sp>
      <p:sp>
        <p:nvSpPr>
          <p:cNvPr id="39" name="Shape 37"/>
          <p:cNvSpPr/>
          <p:nvPr/>
        </p:nvSpPr>
        <p:spPr>
          <a:xfrm>
            <a:off x="4937760" y="5294376"/>
            <a:ext cx="68580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40" name="Text 38"/>
          <p:cNvSpPr/>
          <p:nvPr/>
        </p:nvSpPr>
        <p:spPr>
          <a:xfrm>
            <a:off x="5001768" y="5341925"/>
            <a:ext cx="5577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SECURED</a:t>
            </a:r>
            <a:endParaRPr lang="en-US" sz="800" dirty="0"/>
          </a:p>
        </p:txBody>
      </p:sp>
      <p:sp>
        <p:nvSpPr>
          <p:cNvPr id="41" name="Shape 39"/>
          <p:cNvSpPr/>
          <p:nvPr/>
        </p:nvSpPr>
        <p:spPr>
          <a:xfrm>
            <a:off x="6108192" y="4800600"/>
            <a:ext cx="5193792" cy="960120"/>
          </a:xfrm>
          <a:prstGeom prst="roundRect">
            <a:avLst>
              <a:gd name="adj" fmla="val 7619"/>
            </a:avLst>
          </a:prstGeom>
          <a:solidFill>
            <a:srgbClr val="173B5B"/>
          </a:solidFill>
          <a:ln w="12700">
            <a:solidFill>
              <a:srgbClr val="496681"/>
            </a:solidFill>
            <a:prstDash val="solid"/>
          </a:ln>
        </p:spPr>
        <p:txBody>
          <a:bodyPr/>
          <a:p/>
        </p:txBody>
      </p:sp>
      <p:sp>
        <p:nvSpPr>
          <p:cNvPr id="42" name="Text 40"/>
          <p:cNvSpPr/>
          <p:nvPr/>
        </p:nvSpPr>
        <p:spPr>
          <a:xfrm>
            <a:off x="6327648" y="5001768"/>
            <a:ext cx="2011680" cy="228600"/>
          </a:xfrm>
          <a:prstGeom prst="rect">
            <a:avLst/>
          </a:prstGeom>
          <a:noFill/>
          <a:ln/>
        </p:spPr>
        <p:txBody>
          <a:bodyPr wrap="square" lIns="0" tIns="0" rIns="0" bIns="0" rtlCol="0" anchor="t">
            <a:normAutofit/>
          </a:bodyPr>
          <a:lstStyle/>
          <a:p>
            <a:pPr algn="l" indent="0" marL="0">
              <a:buNone/>
            </a:pPr>
            <a:r>
              <a:rPr lang="en-US" sz="1130" b="1" dirty="0">
                <a:solidFill>
                  <a:srgbClr val="E9C87D"/>
                </a:solidFill>
                <a:latin typeface="Arial" pitchFamily="34" charset="0"/>
                <a:ea typeface="Arial" pitchFamily="34" charset="-122"/>
                <a:cs typeface="Arial" pitchFamily="34" charset="-120"/>
              </a:rPr>
              <a:t>Ordinary customer experience</a:t>
            </a:r>
            <a:endParaRPr lang="en-US" sz="1130" dirty="0"/>
          </a:p>
        </p:txBody>
      </p:sp>
      <p:sp>
        <p:nvSpPr>
          <p:cNvPr id="43" name="Text 41"/>
          <p:cNvSpPr/>
          <p:nvPr/>
        </p:nvSpPr>
        <p:spPr>
          <a:xfrm>
            <a:off x="8275320" y="4956048"/>
            <a:ext cx="2724912" cy="502920"/>
          </a:xfrm>
          <a:prstGeom prst="rect">
            <a:avLst/>
          </a:prstGeom>
          <a:noFill/>
          <a:ln/>
        </p:spPr>
        <p:txBody>
          <a:bodyPr wrap="square" lIns="0" tIns="0" rIns="0" bIns="0" rtlCol="0" anchor="t">
            <a:normAutofit/>
          </a:bodyPr>
          <a:lstStyle/>
          <a:p>
            <a:pPr algn="l" indent="0" marL="0">
              <a:buNone/>
            </a:pPr>
            <a:r>
              <a:rPr lang="en-US" sz="930" dirty="0">
                <a:solidFill>
                  <a:srgbClr val="D0DFEA"/>
                </a:solidFill>
                <a:latin typeface="Arial" pitchFamily="34" charset="0"/>
                <a:ea typeface="Arial" pitchFamily="34" charset="-122"/>
                <a:cs typeface="Arial" pitchFamily="34" charset="-120"/>
              </a:rPr>
              <a:t>Fiat-denominated proof services can keep token complexity behind the scenes while professional operators and validators supply bonded security.</a:t>
            </a:r>
            <a:endParaRPr lang="en-US" sz="930" dirty="0"/>
          </a:p>
        </p:txBody>
      </p:sp>
      <p:sp>
        <p:nvSpPr>
          <p:cNvPr id="44" name="Shape 42"/>
          <p:cNvSpPr/>
          <p:nvPr/>
        </p:nvSpPr>
        <p:spPr>
          <a:xfrm>
            <a:off x="621792" y="5916168"/>
            <a:ext cx="10680192" cy="347472"/>
          </a:xfrm>
          <a:prstGeom prst="roundRect">
            <a:avLst>
              <a:gd name="adj" fmla="val 21053"/>
            </a:avLst>
          </a:prstGeom>
          <a:solidFill>
            <a:srgbClr val="081E34"/>
          </a:solidFill>
          <a:ln w="12700">
            <a:solidFill>
              <a:srgbClr val="29445B"/>
            </a:solidFill>
            <a:prstDash val="solid"/>
          </a:ln>
        </p:spPr>
        <p:txBody>
          <a:bodyPr/>
          <a:p/>
        </p:txBody>
      </p:sp>
      <p:sp>
        <p:nvSpPr>
          <p:cNvPr id="45" name="Text 43"/>
          <p:cNvSpPr/>
          <p:nvPr/>
        </p:nvSpPr>
        <p:spPr>
          <a:xfrm>
            <a:off x="822960" y="6016752"/>
            <a:ext cx="10241280" cy="164592"/>
          </a:xfrm>
          <a:prstGeom prst="rect">
            <a:avLst/>
          </a:prstGeom>
          <a:noFill/>
          <a:ln/>
        </p:spPr>
        <p:txBody>
          <a:bodyPr wrap="square" lIns="0" tIns="0" rIns="0" bIns="0" rtlCol="0" anchor="t">
            <a:normAutofit/>
          </a:bodyPr>
          <a:lstStyle/>
          <a:p>
            <a:pPr algn="ctr" indent="0" marL="0">
              <a:buNone/>
            </a:pPr>
            <a:r>
              <a:rPr lang="en-US" sz="1030" b="1" dirty="0">
                <a:solidFill>
                  <a:srgbClr val="E9C87D"/>
                </a:solidFill>
                <a:latin typeface="Arial" pitchFamily="34" charset="0"/>
                <a:ea typeface="Arial" pitchFamily="34" charset="-122"/>
                <a:cs typeface="Arial" pitchFamily="34" charset="-120"/>
              </a:rPr>
              <a:t>No equity · no dividends · no revenue share · no passive yield · no guaranteed value · no price-support promise</a:t>
            </a:r>
            <a:endParaRPr lang="en-US" sz="103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FC0D0"/>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30352" y="164592"/>
            <a:ext cx="224028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211226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ENTERPRISE PARTICIPATION</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Every participant acts for its own account.</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GoalOS conditions mission execution, validation, settlement, reuse and export on affirmative acceptance of the user-responsibility and risk-allocation framework.</a:t>
            </a:r>
            <a:endParaRPr lang="en-US" sz="1230" dirty="0"/>
          </a:p>
        </p:txBody>
      </p:sp>
      <p:sp>
        <p:nvSpPr>
          <p:cNvPr id="6" name="Shape 4"/>
          <p:cNvSpPr/>
          <p:nvPr/>
        </p:nvSpPr>
        <p:spPr>
          <a:xfrm>
            <a:off x="566928" y="1554480"/>
            <a:ext cx="7360920" cy="786384"/>
          </a:xfrm>
          <a:prstGeom prst="roundRect">
            <a:avLst>
              <a:gd name="adj" fmla="val 9302"/>
            </a:avLst>
          </a:prstGeom>
          <a:solidFill>
            <a:srgbClr val="EEF5FB"/>
          </a:solidFill>
          <a:ln w="12700">
            <a:solidFill>
              <a:srgbClr val="387FB7"/>
            </a:solidFill>
            <a:prstDash val="solid"/>
          </a:ln>
          <a:effectLst>
            <a:outerShdw sx="100000" sy="100000" kx="0" ky="0" algn="bl" rotWithShape="0" blurRad="25400" dist="50800" dir="2700000">
              <a:srgbClr val="07182B">
                <a:alpha val="10000"/>
              </a:srgbClr>
            </a:outerShdw>
          </a:effectLst>
        </p:spPr>
        <p:txBody>
          <a:bodyPr/>
          <a:p/>
        </p:txBody>
      </p:sp>
      <p:sp>
        <p:nvSpPr>
          <p:cNvPr id="7" name="Shape 5"/>
          <p:cNvSpPr/>
          <p:nvPr/>
        </p:nvSpPr>
        <p:spPr>
          <a:xfrm>
            <a:off x="566928" y="1554480"/>
            <a:ext cx="73152" cy="786384"/>
          </a:xfrm>
          <a:prstGeom prst="rect">
            <a:avLst/>
          </a:prstGeom>
          <a:solidFill>
            <a:srgbClr val="387FB7"/>
          </a:solidFill>
          <a:ln w="12700">
            <a:solidFill>
              <a:srgbClr val="387FB7"/>
            </a:solidFill>
            <a:prstDash val="solid"/>
          </a:ln>
        </p:spPr>
        <p:txBody>
          <a:bodyPr/>
          <a:p/>
        </p:txBody>
      </p:sp>
      <p:sp>
        <p:nvSpPr>
          <p:cNvPr id="8" name="Text 6"/>
          <p:cNvSpPr/>
          <p:nvPr/>
        </p:nvSpPr>
        <p:spPr>
          <a:xfrm>
            <a:off x="804672" y="1709928"/>
            <a:ext cx="1737360" cy="256032"/>
          </a:xfrm>
          <a:prstGeom prst="rect">
            <a:avLst/>
          </a:prstGeom>
          <a:noFill/>
          <a:ln/>
        </p:spPr>
        <p:txBody>
          <a:bodyPr wrap="square" lIns="0" tIns="0" rIns="0" bIns="0" rtlCol="0" anchor="t">
            <a:normAutofit/>
          </a:bodyPr>
          <a:lstStyle/>
          <a:p>
            <a:pPr algn="l" indent="0" marL="0">
              <a:buNone/>
            </a:pPr>
            <a:r>
              <a:rPr lang="en-US" sz="1270" b="1" dirty="0">
                <a:solidFill>
                  <a:srgbClr val="14263C"/>
                </a:solidFill>
                <a:latin typeface="Arial" pitchFamily="34" charset="0"/>
                <a:ea typeface="Arial" pitchFamily="34" charset="-122"/>
                <a:cs typeface="Arial" pitchFamily="34" charset="-120"/>
              </a:rPr>
              <a:t>Participant authority</a:t>
            </a:r>
            <a:endParaRPr lang="en-US" sz="1270" dirty="0"/>
          </a:p>
        </p:txBody>
      </p:sp>
      <p:sp>
        <p:nvSpPr>
          <p:cNvPr id="9" name="Text 7"/>
          <p:cNvSpPr/>
          <p:nvPr/>
        </p:nvSpPr>
        <p:spPr>
          <a:xfrm>
            <a:off x="2606040" y="1691640"/>
            <a:ext cx="4983480" cy="438912"/>
          </a:xfrm>
          <a:prstGeom prst="rect">
            <a:avLst/>
          </a:prstGeom>
          <a:noFill/>
          <a:ln/>
        </p:spPr>
        <p:txBody>
          <a:bodyPr wrap="square" lIns="0" tIns="0" rIns="0" bIns="0" rtlCol="0" anchor="t">
            <a:normAutofit/>
          </a:bodyPr>
          <a:lstStyle/>
          <a:p>
            <a:pPr algn="l" indent="0" marL="0">
              <a:buNone/>
            </a:pPr>
            <a:r>
              <a:rPr lang="en-US" sz="880" dirty="0">
                <a:solidFill>
                  <a:srgbClr val="68788D"/>
                </a:solidFill>
                <a:latin typeface="Arial" pitchFamily="34" charset="0"/>
                <a:ea typeface="Arial" pitchFamily="34" charset="-122"/>
                <a:cs typeface="Arial" pitchFamily="34" charset="-120"/>
              </a:rPr>
              <a:t>The accepting person warrants authority to bind the represented organization and direct the mission.</a:t>
            </a:r>
            <a:endParaRPr lang="en-US" sz="940" dirty="0"/>
          </a:p>
        </p:txBody>
      </p:sp>
      <p:sp>
        <p:nvSpPr>
          <p:cNvPr id="10" name="Shape 8"/>
          <p:cNvSpPr/>
          <p:nvPr/>
        </p:nvSpPr>
        <p:spPr>
          <a:xfrm>
            <a:off x="566928" y="2542032"/>
            <a:ext cx="7360920" cy="786384"/>
          </a:xfrm>
          <a:prstGeom prst="roundRect">
            <a:avLst>
              <a:gd name="adj" fmla="val 9302"/>
            </a:avLst>
          </a:prstGeom>
          <a:solidFill>
            <a:srgbClr val="FFF7DF"/>
          </a:solidFill>
          <a:ln w="12700">
            <a:solidFill>
              <a:srgbClr val="B8872E"/>
            </a:solidFill>
            <a:prstDash val="solid"/>
          </a:ln>
          <a:effectLst>
            <a:outerShdw sx="100000" sy="100000" kx="0" ky="0" algn="bl" rotWithShape="0" blurRad="25400" dist="50800" dir="2700000">
              <a:srgbClr val="07182B">
                <a:alpha val="10000"/>
              </a:srgbClr>
            </a:outerShdw>
          </a:effectLst>
        </p:spPr>
        <p:txBody>
          <a:bodyPr/>
          <a:p/>
        </p:txBody>
      </p:sp>
      <p:sp>
        <p:nvSpPr>
          <p:cNvPr id="11" name="Shape 9"/>
          <p:cNvSpPr/>
          <p:nvPr/>
        </p:nvSpPr>
        <p:spPr>
          <a:xfrm>
            <a:off x="566928" y="2542032"/>
            <a:ext cx="73152" cy="786384"/>
          </a:xfrm>
          <a:prstGeom prst="rect">
            <a:avLst/>
          </a:prstGeom>
          <a:solidFill>
            <a:srgbClr val="B8872E"/>
          </a:solidFill>
          <a:ln w="12700">
            <a:solidFill>
              <a:srgbClr val="B8872E"/>
            </a:solidFill>
            <a:prstDash val="solid"/>
          </a:ln>
        </p:spPr>
        <p:txBody>
          <a:bodyPr/>
          <a:p/>
        </p:txBody>
      </p:sp>
      <p:sp>
        <p:nvSpPr>
          <p:cNvPr id="12" name="Text 10"/>
          <p:cNvSpPr/>
          <p:nvPr/>
        </p:nvSpPr>
        <p:spPr>
          <a:xfrm>
            <a:off x="804672" y="2697480"/>
            <a:ext cx="1737360" cy="256032"/>
          </a:xfrm>
          <a:prstGeom prst="rect">
            <a:avLst/>
          </a:prstGeom>
          <a:noFill/>
          <a:ln/>
        </p:spPr>
        <p:txBody>
          <a:bodyPr wrap="square" lIns="0" tIns="0" rIns="0" bIns="0" rtlCol="0" anchor="t">
            <a:normAutofit/>
          </a:bodyPr>
          <a:lstStyle/>
          <a:p>
            <a:pPr algn="l" indent="0" marL="0">
              <a:buNone/>
            </a:pPr>
            <a:r>
              <a:rPr lang="en-US" sz="1270" b="1" dirty="0">
                <a:solidFill>
                  <a:srgbClr val="14263C"/>
                </a:solidFill>
                <a:latin typeface="Arial" pitchFamily="34" charset="0"/>
                <a:ea typeface="Arial" pitchFamily="34" charset="-122"/>
                <a:cs typeface="Arial" pitchFamily="34" charset="-120"/>
              </a:rPr>
              <a:t>Exclusive responsibility</a:t>
            </a:r>
            <a:endParaRPr lang="en-US" sz="1270" dirty="0"/>
          </a:p>
        </p:txBody>
      </p:sp>
      <p:sp>
        <p:nvSpPr>
          <p:cNvPr id="13" name="Text 11"/>
          <p:cNvSpPr/>
          <p:nvPr/>
        </p:nvSpPr>
        <p:spPr>
          <a:xfrm>
            <a:off x="2606040" y="2679192"/>
            <a:ext cx="4983480" cy="438912"/>
          </a:xfrm>
          <a:prstGeom prst="rect">
            <a:avLst/>
          </a:prstGeom>
          <a:noFill/>
          <a:ln/>
        </p:spPr>
        <p:txBody>
          <a:bodyPr wrap="square" lIns="0" tIns="0" rIns="0" bIns="0" rtlCol="0" anchor="t">
            <a:normAutofit/>
          </a:bodyPr>
          <a:lstStyle/>
          <a:p>
            <a:pPr algn="l" indent="0" marL="0">
              <a:buNone/>
            </a:pPr>
            <a:r>
              <a:rPr lang="en-US" sz="880" dirty="0">
                <a:solidFill>
                  <a:srgbClr val="68788D"/>
                </a:solidFill>
                <a:latin typeface="Arial" pitchFamily="34" charset="0"/>
                <a:ea typeface="Arial" pitchFamily="34" charset="-122"/>
                <a:cs typeface="Arial" pitchFamily="34" charset="-120"/>
              </a:rPr>
              <a:t>Objectives, instructions, content, data, systems, personnel, wallets, taxes, licences, compliance, decisions and deployment remain the Participant’s responsibility.</a:t>
            </a:r>
            <a:endParaRPr lang="en-US" sz="940" dirty="0"/>
          </a:p>
        </p:txBody>
      </p:sp>
      <p:sp>
        <p:nvSpPr>
          <p:cNvPr id="14" name="Shape 12"/>
          <p:cNvSpPr/>
          <p:nvPr/>
        </p:nvSpPr>
        <p:spPr>
          <a:xfrm>
            <a:off x="566928" y="3529584"/>
            <a:ext cx="7360920" cy="786384"/>
          </a:xfrm>
          <a:prstGeom prst="roundRect">
            <a:avLst>
              <a:gd name="adj" fmla="val 9302"/>
            </a:avLst>
          </a:prstGeom>
          <a:solidFill>
            <a:srgbClr val="F3EFFB"/>
          </a:solidFill>
          <a:ln w="12700">
            <a:solidFill>
              <a:srgbClr val="6753A6"/>
            </a:solidFill>
            <a:prstDash val="solid"/>
          </a:ln>
          <a:effectLst>
            <a:outerShdw sx="100000" sy="100000" kx="0" ky="0" algn="bl" rotWithShape="0" blurRad="25400" dist="50800" dir="2700000">
              <a:srgbClr val="07182B">
                <a:alpha val="10000"/>
              </a:srgbClr>
            </a:outerShdw>
          </a:effectLst>
        </p:spPr>
        <p:txBody>
          <a:bodyPr/>
          <a:p/>
        </p:txBody>
      </p:sp>
      <p:sp>
        <p:nvSpPr>
          <p:cNvPr id="15" name="Shape 13"/>
          <p:cNvSpPr/>
          <p:nvPr/>
        </p:nvSpPr>
        <p:spPr>
          <a:xfrm>
            <a:off x="566928" y="3529584"/>
            <a:ext cx="73152" cy="786384"/>
          </a:xfrm>
          <a:prstGeom prst="rect">
            <a:avLst/>
          </a:prstGeom>
          <a:solidFill>
            <a:srgbClr val="6753A6"/>
          </a:solidFill>
          <a:ln w="12700">
            <a:solidFill>
              <a:srgbClr val="6753A6"/>
            </a:solidFill>
            <a:prstDash val="solid"/>
          </a:ln>
        </p:spPr>
        <p:txBody>
          <a:bodyPr/>
          <a:p/>
        </p:txBody>
      </p:sp>
      <p:sp>
        <p:nvSpPr>
          <p:cNvPr id="16" name="Text 14"/>
          <p:cNvSpPr/>
          <p:nvPr/>
        </p:nvSpPr>
        <p:spPr>
          <a:xfrm>
            <a:off x="804672" y="3685032"/>
            <a:ext cx="1737360" cy="256032"/>
          </a:xfrm>
          <a:prstGeom prst="rect">
            <a:avLst/>
          </a:prstGeom>
          <a:noFill/>
          <a:ln/>
        </p:spPr>
        <p:txBody>
          <a:bodyPr wrap="square" lIns="0" tIns="0" rIns="0" bIns="0" rtlCol="0" anchor="t">
            <a:normAutofit/>
          </a:bodyPr>
          <a:lstStyle/>
          <a:p>
            <a:pPr algn="l" indent="0" marL="0">
              <a:buNone/>
            </a:pPr>
            <a:r>
              <a:rPr lang="en-US" sz="1270" b="1" dirty="0">
                <a:solidFill>
                  <a:srgbClr val="14263C"/>
                </a:solidFill>
                <a:latin typeface="Arial" pitchFamily="34" charset="0"/>
                <a:ea typeface="Arial" pitchFamily="34" charset="-122"/>
                <a:cs typeface="Arial" pitchFamily="34" charset="-120"/>
              </a:rPr>
              <a:t>Risk assumption &amp; release</a:t>
            </a:r>
            <a:endParaRPr lang="en-US" sz="1270" dirty="0"/>
          </a:p>
        </p:txBody>
      </p:sp>
      <p:sp>
        <p:nvSpPr>
          <p:cNvPr id="17" name="Text 15"/>
          <p:cNvSpPr/>
          <p:nvPr/>
        </p:nvSpPr>
        <p:spPr>
          <a:xfrm>
            <a:off x="2606040" y="3666744"/>
            <a:ext cx="4983480" cy="438912"/>
          </a:xfrm>
          <a:prstGeom prst="rect">
            <a:avLst/>
          </a:prstGeom>
          <a:noFill/>
          <a:ln/>
        </p:spPr>
        <p:txBody>
          <a:bodyPr wrap="square" lIns="0" tIns="0" rIns="0" bIns="0" rtlCol="0" anchor="t">
            <a:normAutofit/>
          </a:bodyPr>
          <a:lstStyle/>
          <a:p>
            <a:pPr algn="l" indent="0" marL="0">
              <a:buNone/>
            </a:pPr>
            <a:r>
              <a:rPr lang="en-US" sz="880" dirty="0">
                <a:solidFill>
                  <a:srgbClr val="68788D"/>
                </a:solidFill>
                <a:latin typeface="Arial" pitchFamily="34" charset="0"/>
                <a:ea typeface="Arial" pitchFamily="34" charset="-122"/>
                <a:cs typeface="Arial" pitchFamily="34" charset="-120"/>
              </a:rPr>
              <a:t>The Participant accepts AI, smart-contract, network, token, cybersecurity, privacy, market, validator and irreversibility risks and grants the applicable release and non-recourse.</a:t>
            </a:r>
            <a:endParaRPr lang="en-US" sz="940" dirty="0"/>
          </a:p>
        </p:txBody>
      </p:sp>
      <p:sp>
        <p:nvSpPr>
          <p:cNvPr id="18" name="Shape 16"/>
          <p:cNvSpPr/>
          <p:nvPr/>
        </p:nvSpPr>
        <p:spPr>
          <a:xfrm>
            <a:off x="566928" y="4517136"/>
            <a:ext cx="7360920" cy="786384"/>
          </a:xfrm>
          <a:prstGeom prst="roundRect">
            <a:avLst>
              <a:gd name="adj" fmla="val 9302"/>
            </a:avLst>
          </a:prstGeom>
          <a:solidFill>
            <a:srgbClr val="EFF9F4"/>
          </a:solidFill>
          <a:ln w="12700">
            <a:solidFill>
              <a:srgbClr val="21805A"/>
            </a:solidFill>
            <a:prstDash val="solid"/>
          </a:ln>
          <a:effectLst>
            <a:outerShdw sx="100000" sy="100000" kx="0" ky="0" algn="bl" rotWithShape="0" blurRad="25400" dist="50800" dir="2700000">
              <a:srgbClr val="07182B">
                <a:alpha val="10000"/>
              </a:srgbClr>
            </a:outerShdw>
          </a:effectLst>
        </p:spPr>
        <p:txBody>
          <a:bodyPr/>
          <a:p/>
        </p:txBody>
      </p:sp>
      <p:sp>
        <p:nvSpPr>
          <p:cNvPr id="19" name="Shape 17"/>
          <p:cNvSpPr/>
          <p:nvPr/>
        </p:nvSpPr>
        <p:spPr>
          <a:xfrm>
            <a:off x="566928" y="4517136"/>
            <a:ext cx="73152" cy="786384"/>
          </a:xfrm>
          <a:prstGeom prst="rect">
            <a:avLst/>
          </a:prstGeom>
          <a:solidFill>
            <a:srgbClr val="21805A"/>
          </a:solidFill>
          <a:ln w="12700">
            <a:solidFill>
              <a:srgbClr val="21805A"/>
            </a:solidFill>
            <a:prstDash val="solid"/>
          </a:ln>
        </p:spPr>
        <p:txBody>
          <a:bodyPr/>
          <a:p/>
        </p:txBody>
      </p:sp>
      <p:sp>
        <p:nvSpPr>
          <p:cNvPr id="20" name="Text 18"/>
          <p:cNvSpPr/>
          <p:nvPr/>
        </p:nvSpPr>
        <p:spPr>
          <a:xfrm>
            <a:off x="804672" y="4672584"/>
            <a:ext cx="1737360" cy="256032"/>
          </a:xfrm>
          <a:prstGeom prst="rect">
            <a:avLst/>
          </a:prstGeom>
          <a:noFill/>
          <a:ln/>
        </p:spPr>
        <p:txBody>
          <a:bodyPr wrap="square" lIns="0" tIns="0" rIns="0" bIns="0" rtlCol="0" anchor="t">
            <a:normAutofit/>
          </a:bodyPr>
          <a:lstStyle/>
          <a:p>
            <a:pPr algn="l" indent="0" marL="0">
              <a:buNone/>
            </a:pPr>
            <a:r>
              <a:rPr lang="en-US" sz="1270" b="1" dirty="0">
                <a:solidFill>
                  <a:srgbClr val="14263C"/>
                </a:solidFill>
                <a:latin typeface="Arial" pitchFamily="34" charset="0"/>
                <a:ea typeface="Arial" pitchFamily="34" charset="-122"/>
                <a:cs typeface="Arial" pitchFamily="34" charset="-120"/>
              </a:rPr>
              <a:t>Hold harmless &amp; non-joinder</a:t>
            </a:r>
            <a:endParaRPr lang="en-US" sz="1270" dirty="0"/>
          </a:p>
        </p:txBody>
      </p:sp>
      <p:sp>
        <p:nvSpPr>
          <p:cNvPr id="21" name="Text 19"/>
          <p:cNvSpPr/>
          <p:nvPr/>
        </p:nvSpPr>
        <p:spPr>
          <a:xfrm>
            <a:off x="2606040" y="4654296"/>
            <a:ext cx="4983480" cy="438912"/>
          </a:xfrm>
          <a:prstGeom prst="rect">
            <a:avLst/>
          </a:prstGeom>
          <a:noFill/>
          <a:ln/>
        </p:spPr>
        <p:txBody>
          <a:bodyPr wrap="square" lIns="0" tIns="0" rIns="0" bIns="0" rtlCol="0" anchor="t">
            <a:normAutofit/>
          </a:bodyPr>
          <a:lstStyle/>
          <a:p>
            <a:pPr algn="l" indent="0" marL="0">
              <a:buNone/>
            </a:pPr>
            <a:r>
              <a:rPr lang="en-US" sz="880" dirty="0">
                <a:solidFill>
                  <a:srgbClr val="68788D"/>
                </a:solidFill>
                <a:latin typeface="Arial" pitchFamily="34" charset="0"/>
                <a:ea typeface="Arial" pitchFamily="34" charset="-122"/>
                <a:cs typeface="Arial" pitchFamily="34" charset="-120"/>
              </a:rPr>
              <a:t>The Participant agrees to hold harmless the Protected Parties for Participant-caused matters and keeps user-to-user matters between the relevant Participants.</a:t>
            </a:r>
            <a:endParaRPr lang="en-US" sz="940" dirty="0"/>
          </a:p>
        </p:txBody>
      </p:sp>
      <p:sp>
        <p:nvSpPr>
          <p:cNvPr id="22" name="Shape 20"/>
          <p:cNvSpPr/>
          <p:nvPr/>
        </p:nvSpPr>
        <p:spPr>
          <a:xfrm>
            <a:off x="8183880" y="1554480"/>
            <a:ext cx="3447288" cy="3822192"/>
          </a:xfrm>
          <a:prstGeom prst="roundRect">
            <a:avLst>
              <a:gd name="adj" fmla="val 2122"/>
            </a:avLst>
          </a:prstGeom>
          <a:solidFill>
            <a:srgbClr val="07182B"/>
          </a:solidFill>
          <a:ln w="12700">
            <a:solidFill>
              <a:srgbClr val="07182B"/>
            </a:solidFill>
            <a:prstDash val="solid"/>
          </a:ln>
          <a:effectLst>
            <a:outerShdw sx="100000" sy="100000" kx="0" ky="0" algn="bl" rotWithShape="0" blurRad="25400" dist="50800" dir="2700000">
              <a:srgbClr val="07182B">
                <a:alpha val="10000"/>
              </a:srgbClr>
            </a:outerShdw>
          </a:effectLst>
        </p:spPr>
        <p:txBody>
          <a:bodyPr/>
          <a:p/>
        </p:txBody>
      </p:sp>
      <p:sp>
        <p:nvSpPr>
          <p:cNvPr id="23" name="Shape 21"/>
          <p:cNvSpPr/>
          <p:nvPr/>
        </p:nvSpPr>
        <p:spPr>
          <a:xfrm>
            <a:off x="8476488" y="1847088"/>
            <a:ext cx="196596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24" name="Text 22"/>
          <p:cNvSpPr/>
          <p:nvPr/>
        </p:nvSpPr>
        <p:spPr>
          <a:xfrm>
            <a:off x="8540496" y="1894637"/>
            <a:ext cx="18379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CONTRACTUAL ENFORCEMENT</a:t>
            </a:r>
            <a:endParaRPr lang="en-US" sz="800" dirty="0"/>
          </a:p>
        </p:txBody>
      </p:sp>
      <p:sp>
        <p:nvSpPr>
          <p:cNvPr id="25" name="Shape 23"/>
          <p:cNvSpPr/>
          <p:nvPr/>
        </p:nvSpPr>
        <p:spPr>
          <a:xfrm>
            <a:off x="8485632" y="2359152"/>
            <a:ext cx="100584" cy="100584"/>
          </a:xfrm>
          <a:prstGeom prst="ellipse">
            <a:avLst/>
          </a:prstGeom>
          <a:solidFill>
            <a:srgbClr val="E9C87D"/>
          </a:solidFill>
          <a:ln w="12700">
            <a:solidFill>
              <a:srgbClr val="E9C87D"/>
            </a:solidFill>
            <a:prstDash val="solid"/>
          </a:ln>
        </p:spPr>
        <p:txBody>
          <a:bodyPr/>
          <a:p/>
        </p:txBody>
      </p:sp>
      <p:sp>
        <p:nvSpPr>
          <p:cNvPr id="26" name="Text 24"/>
          <p:cNvSpPr/>
          <p:nvPr/>
        </p:nvSpPr>
        <p:spPr>
          <a:xfrm>
            <a:off x="8732520" y="2331720"/>
            <a:ext cx="2560320" cy="201168"/>
          </a:xfrm>
          <a:prstGeom prst="rect">
            <a:avLst/>
          </a:prstGeom>
          <a:noFill/>
          <a:ln/>
        </p:spPr>
        <p:txBody>
          <a:bodyPr wrap="square" lIns="0" tIns="0" rIns="0" bIns="0" rtlCol="0" anchor="t">
            <a:normAutofit/>
          </a:bodyPr>
          <a:lstStyle/>
          <a:p>
            <a:pPr algn="l" indent="0" marL="0">
              <a:buNone/>
            </a:pPr>
            <a:r>
              <a:rPr lang="en-US" sz="940" b="1" dirty="0">
                <a:solidFill>
                  <a:srgbClr val="FFFFFF"/>
                </a:solidFill>
                <a:latin typeface="Arial" pitchFamily="34" charset="0"/>
                <a:ea typeface="Arial" pitchFamily="34" charset="-122"/>
                <a:cs typeface="Arial" pitchFamily="34" charset="-120"/>
              </a:rPr>
              <a:t>Versioned acceptance receipt</a:t>
            </a:r>
            <a:endParaRPr lang="en-US" sz="940" dirty="0"/>
          </a:p>
        </p:txBody>
      </p:sp>
      <p:sp>
        <p:nvSpPr>
          <p:cNvPr id="27" name="Shape 25"/>
          <p:cNvSpPr/>
          <p:nvPr/>
        </p:nvSpPr>
        <p:spPr>
          <a:xfrm>
            <a:off x="8485632" y="2743200"/>
            <a:ext cx="100584" cy="100584"/>
          </a:xfrm>
          <a:prstGeom prst="ellipse">
            <a:avLst/>
          </a:prstGeom>
          <a:solidFill>
            <a:srgbClr val="E9C87D"/>
          </a:solidFill>
          <a:ln w="12700">
            <a:solidFill>
              <a:srgbClr val="E9C87D"/>
            </a:solidFill>
            <a:prstDash val="solid"/>
          </a:ln>
        </p:spPr>
        <p:txBody>
          <a:bodyPr/>
          <a:p/>
        </p:txBody>
      </p:sp>
      <p:sp>
        <p:nvSpPr>
          <p:cNvPr id="28" name="Text 26"/>
          <p:cNvSpPr/>
          <p:nvPr/>
        </p:nvSpPr>
        <p:spPr>
          <a:xfrm>
            <a:off x="8732520" y="2715768"/>
            <a:ext cx="2560320" cy="201168"/>
          </a:xfrm>
          <a:prstGeom prst="rect">
            <a:avLst/>
          </a:prstGeom>
          <a:noFill/>
          <a:ln/>
        </p:spPr>
        <p:txBody>
          <a:bodyPr wrap="square" lIns="0" tIns="0" rIns="0" bIns="0" rtlCol="0" anchor="t">
            <a:normAutofit/>
          </a:bodyPr>
          <a:lstStyle/>
          <a:p>
            <a:pPr algn="l" indent="0" marL="0">
              <a:buNone/>
            </a:pPr>
            <a:r>
              <a:rPr lang="en-US" sz="940" dirty="0">
                <a:solidFill>
                  <a:srgbClr val="FFFFFF"/>
                </a:solidFill>
                <a:latin typeface="Arial" pitchFamily="34" charset="0"/>
                <a:ea typeface="Arial" pitchFamily="34" charset="-122"/>
                <a:cs typeface="Arial" pitchFamily="34" charset="-120"/>
              </a:rPr>
              <a:t>Role-specific representations</a:t>
            </a:r>
            <a:endParaRPr lang="en-US" sz="940" dirty="0"/>
          </a:p>
        </p:txBody>
      </p:sp>
      <p:sp>
        <p:nvSpPr>
          <p:cNvPr id="29" name="Shape 27"/>
          <p:cNvSpPr/>
          <p:nvPr/>
        </p:nvSpPr>
        <p:spPr>
          <a:xfrm>
            <a:off x="8485632" y="3127248"/>
            <a:ext cx="100584" cy="100584"/>
          </a:xfrm>
          <a:prstGeom prst="ellipse">
            <a:avLst/>
          </a:prstGeom>
          <a:solidFill>
            <a:srgbClr val="E9C87D"/>
          </a:solidFill>
          <a:ln w="12700">
            <a:solidFill>
              <a:srgbClr val="E9C87D"/>
            </a:solidFill>
            <a:prstDash val="solid"/>
          </a:ln>
        </p:spPr>
        <p:txBody>
          <a:bodyPr/>
          <a:p/>
        </p:txBody>
      </p:sp>
      <p:sp>
        <p:nvSpPr>
          <p:cNvPr id="30" name="Text 28"/>
          <p:cNvSpPr/>
          <p:nvPr/>
        </p:nvSpPr>
        <p:spPr>
          <a:xfrm>
            <a:off x="8732520" y="3099816"/>
            <a:ext cx="2560320" cy="201168"/>
          </a:xfrm>
          <a:prstGeom prst="rect">
            <a:avLst/>
          </a:prstGeom>
          <a:noFill/>
          <a:ln/>
        </p:spPr>
        <p:txBody>
          <a:bodyPr wrap="square" lIns="0" tIns="0" rIns="0" bIns="0" rtlCol="0" anchor="t">
            <a:normAutofit/>
          </a:bodyPr>
          <a:lstStyle/>
          <a:p>
            <a:pPr algn="l" indent="0" marL="0">
              <a:buNone/>
            </a:pPr>
            <a:r>
              <a:rPr lang="en-US" sz="940" dirty="0">
                <a:solidFill>
                  <a:srgbClr val="FFFFFF"/>
                </a:solidFill>
                <a:latin typeface="Arial" pitchFamily="34" charset="0"/>
                <a:ea typeface="Arial" pitchFamily="34" charset="-122"/>
                <a:cs typeface="Arial" pitchFamily="34" charset="-120"/>
              </a:rPr>
              <a:t>Evidence preservation / legal hold</a:t>
            </a:r>
            <a:endParaRPr lang="en-US" sz="940" dirty="0"/>
          </a:p>
        </p:txBody>
      </p:sp>
      <p:sp>
        <p:nvSpPr>
          <p:cNvPr id="31" name="Shape 29"/>
          <p:cNvSpPr/>
          <p:nvPr/>
        </p:nvSpPr>
        <p:spPr>
          <a:xfrm>
            <a:off x="8485632" y="3511296"/>
            <a:ext cx="100584" cy="100584"/>
          </a:xfrm>
          <a:prstGeom prst="ellipse">
            <a:avLst/>
          </a:prstGeom>
          <a:solidFill>
            <a:srgbClr val="E9C87D"/>
          </a:solidFill>
          <a:ln w="12700">
            <a:solidFill>
              <a:srgbClr val="E9C87D"/>
            </a:solidFill>
            <a:prstDash val="solid"/>
          </a:ln>
        </p:spPr>
        <p:txBody>
          <a:bodyPr/>
          <a:p/>
        </p:txBody>
      </p:sp>
      <p:sp>
        <p:nvSpPr>
          <p:cNvPr id="32" name="Text 30"/>
          <p:cNvSpPr/>
          <p:nvPr/>
        </p:nvSpPr>
        <p:spPr>
          <a:xfrm>
            <a:off x="8732520" y="3483864"/>
            <a:ext cx="2560320" cy="201168"/>
          </a:xfrm>
          <a:prstGeom prst="rect">
            <a:avLst/>
          </a:prstGeom>
          <a:noFill/>
          <a:ln/>
        </p:spPr>
        <p:txBody>
          <a:bodyPr wrap="square" lIns="0" tIns="0" rIns="0" bIns="0" rtlCol="0" anchor="t">
            <a:normAutofit/>
          </a:bodyPr>
          <a:lstStyle/>
          <a:p>
            <a:pPr algn="l" indent="0" marL="0">
              <a:buNone/>
            </a:pPr>
            <a:r>
              <a:rPr lang="en-US" sz="940" dirty="0">
                <a:solidFill>
                  <a:srgbClr val="FFFFFF"/>
                </a:solidFill>
                <a:latin typeface="Arial" pitchFamily="34" charset="0"/>
                <a:ea typeface="Arial" pitchFamily="34" charset="-122"/>
                <a:cs typeface="Arial" pitchFamily="34" charset="-120"/>
              </a:rPr>
              <a:t>Private executive conference</a:t>
            </a:r>
            <a:endParaRPr lang="en-US" sz="940" dirty="0"/>
          </a:p>
        </p:txBody>
      </p:sp>
      <p:sp>
        <p:nvSpPr>
          <p:cNvPr id="33" name="Shape 31"/>
          <p:cNvSpPr/>
          <p:nvPr/>
        </p:nvSpPr>
        <p:spPr>
          <a:xfrm>
            <a:off x="8485632" y="3895344"/>
            <a:ext cx="100584" cy="100584"/>
          </a:xfrm>
          <a:prstGeom prst="ellipse">
            <a:avLst/>
          </a:prstGeom>
          <a:solidFill>
            <a:srgbClr val="E9C87D"/>
          </a:solidFill>
          <a:ln w="12700">
            <a:solidFill>
              <a:srgbClr val="E9C87D"/>
            </a:solidFill>
            <a:prstDash val="solid"/>
          </a:ln>
        </p:spPr>
        <p:txBody>
          <a:bodyPr/>
          <a:p/>
        </p:txBody>
      </p:sp>
      <p:sp>
        <p:nvSpPr>
          <p:cNvPr id="34" name="Text 32"/>
          <p:cNvSpPr/>
          <p:nvPr/>
        </p:nvSpPr>
        <p:spPr>
          <a:xfrm>
            <a:off x="8732520" y="3867912"/>
            <a:ext cx="2560320" cy="201168"/>
          </a:xfrm>
          <a:prstGeom prst="rect">
            <a:avLst/>
          </a:prstGeom>
          <a:noFill/>
          <a:ln/>
        </p:spPr>
        <p:txBody>
          <a:bodyPr wrap="square" lIns="0" tIns="0" rIns="0" bIns="0" rtlCol="0" anchor="t">
            <a:normAutofit/>
          </a:bodyPr>
          <a:lstStyle/>
          <a:p>
            <a:pPr algn="l" indent="0" marL="0">
              <a:buNone/>
            </a:pPr>
            <a:r>
              <a:rPr lang="en-US" sz="940" dirty="0">
                <a:solidFill>
                  <a:srgbClr val="FFFFFF"/>
                </a:solidFill>
                <a:latin typeface="Arial" pitchFamily="34" charset="0"/>
                <a:ea typeface="Arial" pitchFamily="34" charset="-122"/>
                <a:cs typeface="Arial" pitchFamily="34" charset="-120"/>
              </a:rPr>
              <a:t>Confidential mediation in Montréal</a:t>
            </a:r>
            <a:endParaRPr lang="en-US" sz="940" dirty="0"/>
          </a:p>
        </p:txBody>
      </p:sp>
      <p:sp>
        <p:nvSpPr>
          <p:cNvPr id="35" name="Shape 33"/>
          <p:cNvSpPr/>
          <p:nvPr/>
        </p:nvSpPr>
        <p:spPr>
          <a:xfrm>
            <a:off x="8485632" y="4279392"/>
            <a:ext cx="100584" cy="100584"/>
          </a:xfrm>
          <a:prstGeom prst="ellipse">
            <a:avLst/>
          </a:prstGeom>
          <a:solidFill>
            <a:srgbClr val="E9C87D"/>
          </a:solidFill>
          <a:ln w="12700">
            <a:solidFill>
              <a:srgbClr val="E9C87D"/>
            </a:solidFill>
            <a:prstDash val="solid"/>
          </a:ln>
        </p:spPr>
        <p:txBody>
          <a:bodyPr/>
          <a:p/>
        </p:txBody>
      </p:sp>
      <p:sp>
        <p:nvSpPr>
          <p:cNvPr id="36" name="Text 34"/>
          <p:cNvSpPr/>
          <p:nvPr/>
        </p:nvSpPr>
        <p:spPr>
          <a:xfrm>
            <a:off x="8732520" y="4251960"/>
            <a:ext cx="2560320" cy="201168"/>
          </a:xfrm>
          <a:prstGeom prst="rect">
            <a:avLst/>
          </a:prstGeom>
          <a:noFill/>
          <a:ln/>
        </p:spPr>
        <p:txBody>
          <a:bodyPr wrap="square" lIns="0" tIns="0" rIns="0" bIns="0" rtlCol="0" anchor="t">
            <a:normAutofit/>
          </a:bodyPr>
          <a:lstStyle/>
          <a:p>
            <a:pPr algn="l" indent="0" marL="0">
              <a:buNone/>
            </a:pPr>
            <a:r>
              <a:rPr lang="en-US" sz="940" dirty="0">
                <a:solidFill>
                  <a:srgbClr val="FFFFFF"/>
                </a:solidFill>
                <a:latin typeface="Arial" pitchFamily="34" charset="0"/>
                <a:ea typeface="Arial" pitchFamily="34" charset="-122"/>
                <a:cs typeface="Arial" pitchFamily="34" charset="-120"/>
              </a:rPr>
              <a:t>Montréal-seated arbitration</a:t>
            </a:r>
            <a:endParaRPr lang="en-US" sz="940" dirty="0"/>
          </a:p>
        </p:txBody>
      </p:sp>
      <p:sp>
        <p:nvSpPr>
          <p:cNvPr id="37" name="Shape 35"/>
          <p:cNvSpPr/>
          <p:nvPr/>
        </p:nvSpPr>
        <p:spPr>
          <a:xfrm>
            <a:off x="8485632" y="4663440"/>
            <a:ext cx="100584" cy="100584"/>
          </a:xfrm>
          <a:prstGeom prst="ellipse">
            <a:avLst/>
          </a:prstGeom>
          <a:solidFill>
            <a:srgbClr val="E9C87D"/>
          </a:solidFill>
          <a:ln w="12700">
            <a:solidFill>
              <a:srgbClr val="E9C87D"/>
            </a:solidFill>
            <a:prstDash val="solid"/>
          </a:ln>
        </p:spPr>
        <p:txBody>
          <a:bodyPr/>
          <a:p/>
        </p:txBody>
      </p:sp>
      <p:sp>
        <p:nvSpPr>
          <p:cNvPr id="38" name="Text 36"/>
          <p:cNvSpPr/>
          <p:nvPr/>
        </p:nvSpPr>
        <p:spPr>
          <a:xfrm>
            <a:off x="8732520" y="4636008"/>
            <a:ext cx="2560320" cy="201168"/>
          </a:xfrm>
          <a:prstGeom prst="rect">
            <a:avLst/>
          </a:prstGeom>
          <a:noFill/>
          <a:ln/>
        </p:spPr>
        <p:txBody>
          <a:bodyPr wrap="square" lIns="0" tIns="0" rIns="0" bIns="0" rtlCol="0" anchor="t">
            <a:normAutofit/>
          </a:bodyPr>
          <a:lstStyle/>
          <a:p>
            <a:pPr algn="l" indent="0" marL="0">
              <a:buNone/>
            </a:pPr>
            <a:r>
              <a:rPr lang="en-US" sz="940" dirty="0">
                <a:solidFill>
                  <a:srgbClr val="FFFFFF"/>
                </a:solidFill>
                <a:latin typeface="Arial" pitchFamily="34" charset="0"/>
                <a:ea typeface="Arial" pitchFamily="34" charset="-122"/>
                <a:cs typeface="Arial" pitchFamily="34" charset="-120"/>
              </a:rPr>
              <a:t>Montréal courts for enforcement</a:t>
            </a:r>
            <a:endParaRPr lang="en-US" sz="940" dirty="0"/>
          </a:p>
        </p:txBody>
      </p:sp>
      <p:sp>
        <p:nvSpPr>
          <p:cNvPr id="39" name="Text 37"/>
          <p:cNvSpPr/>
          <p:nvPr/>
        </p:nvSpPr>
        <p:spPr>
          <a:xfrm>
            <a:off x="8476488" y="5084064"/>
            <a:ext cx="2779776" cy="329184"/>
          </a:xfrm>
          <a:prstGeom prst="rect">
            <a:avLst/>
          </a:prstGeom>
          <a:noFill/>
          <a:ln/>
        </p:spPr>
        <p:txBody>
          <a:bodyPr wrap="square" lIns="0" tIns="0" rIns="0" bIns="0" rtlCol="0" anchor="t">
            <a:normAutofit/>
          </a:bodyPr>
          <a:lstStyle/>
          <a:p>
            <a:pPr algn="ctr" indent="0" marL="0">
              <a:buNone/>
            </a:pPr>
            <a:r>
              <a:rPr lang="en-US" sz="840" i="1" dirty="0">
                <a:solidFill>
                  <a:srgbClr val="BFD0DE"/>
                </a:solidFill>
                <a:latin typeface="Arial" pitchFamily="34" charset="0"/>
                <a:ea typeface="Arial" pitchFamily="34" charset="-122"/>
                <a:cs typeface="Arial" pitchFamily="34" charset="-120"/>
              </a:rPr>
              <a:t>The versioned receipt and mission manifest travel together through every protected function.</a:t>
            </a:r>
            <a:endParaRPr lang="en-US" sz="840" dirty="0"/>
          </a:p>
        </p:txBody>
      </p:sp>
      <p:sp>
        <p:nvSpPr>
          <p:cNvPr id="40" name="Shape 38"/>
          <p:cNvSpPr/>
          <p:nvPr/>
        </p:nvSpPr>
        <p:spPr>
          <a:xfrm>
            <a:off x="566928" y="5669280"/>
            <a:ext cx="11064240" cy="502920"/>
          </a:xfrm>
          <a:prstGeom prst="roundRect">
            <a:avLst>
              <a:gd name="adj" fmla="val 14545"/>
            </a:avLst>
          </a:prstGeom>
          <a:solidFill>
            <a:srgbClr val="FFF7DF"/>
          </a:solidFill>
          <a:ln w="12700">
            <a:solidFill>
              <a:srgbClr val="D9C07C"/>
            </a:solidFill>
            <a:prstDash val="solid"/>
          </a:ln>
        </p:spPr>
        <p:txBody>
          <a:bodyPr/>
          <a:p/>
        </p:txBody>
      </p:sp>
      <p:sp>
        <p:nvSpPr>
          <p:cNvPr id="41" name="Text 39"/>
          <p:cNvSpPr/>
          <p:nvPr/>
        </p:nvSpPr>
        <p:spPr>
          <a:xfrm>
            <a:off x="804672" y="5843016"/>
            <a:ext cx="10607040" cy="173736"/>
          </a:xfrm>
          <a:prstGeom prst="rect">
            <a:avLst/>
          </a:prstGeom>
          <a:noFill/>
          <a:ln/>
        </p:spPr>
        <p:txBody>
          <a:bodyPr wrap="square" lIns="0" tIns="0" rIns="0" bIns="0" rtlCol="0" anchor="t">
            <a:normAutofit/>
          </a:bodyPr>
          <a:lstStyle/>
          <a:p>
            <a:pPr algn="ctr" indent="0" marL="0">
              <a:buNone/>
            </a:pPr>
            <a:r>
              <a:rPr lang="en-US" sz="1330" b="1" dirty="0">
                <a:solidFill>
                  <a:srgbClr val="6A4D18"/>
                </a:solidFill>
                <a:latin typeface="Georgia" pitchFamily="34" charset="0"/>
                <a:ea typeface="Georgia" pitchFamily="34" charset="-122"/>
                <a:cs typeface="Georgia" pitchFamily="34" charset="-120"/>
              </a:rPr>
              <a:t>No mission, validation, settlement, reuse or export without an effective participation receipt.</a:t>
            </a:r>
            <a:endParaRPr lang="en-US" sz="133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30352" y="164592"/>
            <a:ext cx="169164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56362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EVIDENCE STATUS</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Substantial architecture. External authority remains gated.</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Credibility comes from distinguishing what is specified, implemented, reference-ready, planning-ready and pending.</a:t>
            </a:r>
            <a:endParaRPr lang="en-US" sz="1230" dirty="0"/>
          </a:p>
        </p:txBody>
      </p:sp>
      <p:sp>
        <p:nvSpPr>
          <p:cNvPr id="6" name="Text 4"/>
          <p:cNvSpPr/>
          <p:nvPr/>
        </p:nvSpPr>
        <p:spPr>
          <a:xfrm>
            <a:off x="658368" y="1517904"/>
            <a:ext cx="2971800" cy="201168"/>
          </a:xfrm>
          <a:prstGeom prst="rect">
            <a:avLst/>
          </a:prstGeom>
          <a:noFill/>
          <a:ln/>
        </p:spPr>
        <p:txBody>
          <a:bodyPr wrap="square" lIns="0" tIns="0" rIns="0" bIns="0" rtlCol="0" anchor="t">
            <a:normAutofit/>
          </a:bodyPr>
          <a:lstStyle/>
          <a:p>
            <a:pPr algn="l" indent="0" marL="0">
              <a:buNone/>
            </a:pPr>
            <a:r>
              <a:rPr lang="en-US" sz="1060" b="1" dirty="0">
                <a:solidFill>
                  <a:srgbClr val="14263C"/>
                </a:solidFill>
                <a:latin typeface="Arial" pitchFamily="34" charset="0"/>
                <a:ea typeface="Arial" pitchFamily="34" charset="-122"/>
                <a:cs typeface="Arial" pitchFamily="34" charset="-120"/>
              </a:rPr>
              <a:t>Doctrine and object model</a:t>
            </a:r>
            <a:endParaRPr lang="en-US" sz="1060" dirty="0"/>
          </a:p>
        </p:txBody>
      </p:sp>
      <p:sp>
        <p:nvSpPr>
          <p:cNvPr id="7" name="Shape 5"/>
          <p:cNvSpPr/>
          <p:nvPr/>
        </p:nvSpPr>
        <p:spPr>
          <a:xfrm>
            <a:off x="3749040" y="1499616"/>
            <a:ext cx="1481328" cy="256032"/>
          </a:xfrm>
          <a:prstGeom prst="roundRect">
            <a:avLst>
              <a:gd name="adj" fmla="val 21429"/>
            </a:avLst>
          </a:prstGeom>
          <a:solidFill>
            <a:srgbClr val="EFF9F4"/>
          </a:solidFill>
          <a:ln w="12700">
            <a:solidFill>
              <a:srgbClr val="21805A">
                <a:alpha val="85000"/>
              </a:srgbClr>
            </a:solidFill>
            <a:prstDash val="solid"/>
          </a:ln>
        </p:spPr>
        <p:txBody>
          <a:bodyPr/>
          <a:p/>
        </p:txBody>
      </p:sp>
      <p:sp>
        <p:nvSpPr>
          <p:cNvPr id="8" name="Text 6"/>
          <p:cNvSpPr/>
          <p:nvPr/>
        </p:nvSpPr>
        <p:spPr>
          <a:xfrm>
            <a:off x="3813048" y="1547165"/>
            <a:ext cx="1353312" cy="137160"/>
          </a:xfrm>
          <a:prstGeom prst="rect">
            <a:avLst/>
          </a:prstGeom>
          <a:noFill/>
          <a:ln/>
        </p:spPr>
        <p:txBody>
          <a:bodyPr wrap="square" lIns="0" tIns="0" rIns="0" bIns="0" rtlCol="0" anchor="t">
            <a:normAutofit/>
          </a:bodyPr>
          <a:lstStyle/>
          <a:p>
            <a:pPr algn="ctr" indent="0" marL="0">
              <a:buNone/>
            </a:pPr>
            <a:r>
              <a:rPr lang="en-US" sz="800" b="1" spc="50" kern="0" dirty="0">
                <a:solidFill>
                  <a:srgbClr val="21805A"/>
                </a:solidFill>
                <a:latin typeface="Arial" pitchFamily="34" charset="0"/>
                <a:ea typeface="Arial" pitchFamily="34" charset="-122"/>
                <a:cs typeface="Arial" pitchFamily="34" charset="-120"/>
              </a:rPr>
              <a:t>SPECIFIED</a:t>
            </a:r>
            <a:endParaRPr lang="en-US" sz="800" dirty="0"/>
          </a:p>
        </p:txBody>
      </p:sp>
      <p:sp>
        <p:nvSpPr>
          <p:cNvPr id="9" name="Text 7"/>
          <p:cNvSpPr/>
          <p:nvPr/>
        </p:nvSpPr>
        <p:spPr>
          <a:xfrm>
            <a:off x="5422392" y="1517904"/>
            <a:ext cx="4224528" cy="228600"/>
          </a:xfrm>
          <a:prstGeom prst="rect">
            <a:avLst/>
          </a:prstGeom>
          <a:noFill/>
          <a:ln/>
        </p:spPr>
        <p:txBody>
          <a:bodyPr wrap="square" lIns="0" tIns="0" rIns="0" bIns="0" rtlCol="0" anchor="t">
            <a:normAutofit/>
          </a:bodyPr>
          <a:lstStyle/>
          <a:p>
            <a:pPr algn="l" indent="0" marL="0">
              <a:buNone/>
            </a:pPr>
            <a:r>
              <a:rPr lang="en-US" sz="900" dirty="0">
                <a:solidFill>
                  <a:srgbClr val="68788D"/>
                </a:solidFill>
                <a:latin typeface="Arial" pitchFamily="34" charset="0"/>
                <a:ea typeface="Arial" pitchFamily="34" charset="-122"/>
                <a:cs typeface="Arial" pitchFamily="34" charset="-120"/>
              </a:rPr>
              <a:t>Mission OS, PROOF_LOOPS, AEP-001, Chronicle, Dockets and VSG.</a:t>
            </a:r>
            <a:endParaRPr lang="en-US" sz="900" dirty="0"/>
          </a:p>
        </p:txBody>
      </p:sp>
      <p:sp>
        <p:nvSpPr>
          <p:cNvPr id="10" name="Shape 8"/>
          <p:cNvSpPr/>
          <p:nvPr/>
        </p:nvSpPr>
        <p:spPr>
          <a:xfrm>
            <a:off x="9765792" y="1536192"/>
            <a:ext cx="1572768" cy="164592"/>
          </a:xfrm>
          <a:prstGeom prst="roundRect">
            <a:avLst>
              <a:gd name="adj" fmla="val 27778"/>
            </a:avLst>
          </a:prstGeom>
          <a:solidFill>
            <a:srgbClr val="E6DED2"/>
          </a:solidFill>
          <a:ln w="12700">
            <a:solidFill>
              <a:srgbClr val="E6DED2"/>
            </a:solidFill>
            <a:prstDash val="solid"/>
          </a:ln>
        </p:spPr>
        <p:txBody>
          <a:bodyPr/>
          <a:p/>
        </p:txBody>
      </p:sp>
      <p:sp>
        <p:nvSpPr>
          <p:cNvPr id="11" name="Shape 9"/>
          <p:cNvSpPr/>
          <p:nvPr/>
        </p:nvSpPr>
        <p:spPr>
          <a:xfrm>
            <a:off x="9765792" y="1536192"/>
            <a:ext cx="1572768" cy="164592"/>
          </a:xfrm>
          <a:prstGeom prst="roundRect">
            <a:avLst>
              <a:gd name="adj" fmla="val 27778"/>
            </a:avLst>
          </a:prstGeom>
          <a:solidFill>
            <a:srgbClr val="21805A"/>
          </a:solidFill>
          <a:ln w="12700">
            <a:solidFill>
              <a:srgbClr val="21805A"/>
            </a:solidFill>
            <a:prstDash val="solid"/>
          </a:ln>
        </p:spPr>
        <p:txBody>
          <a:bodyPr/>
          <a:p/>
        </p:txBody>
      </p:sp>
      <p:sp>
        <p:nvSpPr>
          <p:cNvPr id="12" name="Text 10"/>
          <p:cNvSpPr/>
          <p:nvPr/>
        </p:nvSpPr>
        <p:spPr>
          <a:xfrm>
            <a:off x="658368" y="2130552"/>
            <a:ext cx="2971800" cy="201168"/>
          </a:xfrm>
          <a:prstGeom prst="rect">
            <a:avLst/>
          </a:prstGeom>
          <a:noFill/>
          <a:ln/>
        </p:spPr>
        <p:txBody>
          <a:bodyPr wrap="square" lIns="0" tIns="0" rIns="0" bIns="0" rtlCol="0" anchor="t">
            <a:normAutofit/>
          </a:bodyPr>
          <a:lstStyle/>
          <a:p>
            <a:pPr algn="l" indent="0" marL="0">
              <a:buNone/>
            </a:pPr>
            <a:r>
              <a:rPr lang="en-US" sz="1060" b="1" dirty="0">
                <a:solidFill>
                  <a:srgbClr val="14263C"/>
                </a:solidFill>
                <a:latin typeface="Arial" pitchFamily="34" charset="0"/>
                <a:ea typeface="Arial" pitchFamily="34" charset="-122"/>
                <a:cs typeface="Arial" pitchFamily="34" charset="-120"/>
              </a:rPr>
              <a:t>Browser institution</a:t>
            </a:r>
            <a:endParaRPr lang="en-US" sz="1060" dirty="0"/>
          </a:p>
        </p:txBody>
      </p:sp>
      <p:sp>
        <p:nvSpPr>
          <p:cNvPr id="13" name="Shape 11"/>
          <p:cNvSpPr/>
          <p:nvPr/>
        </p:nvSpPr>
        <p:spPr>
          <a:xfrm>
            <a:off x="3749040" y="2112264"/>
            <a:ext cx="1481328" cy="256032"/>
          </a:xfrm>
          <a:prstGeom prst="roundRect">
            <a:avLst>
              <a:gd name="adj" fmla="val 21429"/>
            </a:avLst>
          </a:prstGeom>
          <a:solidFill>
            <a:srgbClr val="EFF9F4"/>
          </a:solidFill>
          <a:ln w="12700">
            <a:solidFill>
              <a:srgbClr val="21805A">
                <a:alpha val="85000"/>
              </a:srgbClr>
            </a:solidFill>
            <a:prstDash val="solid"/>
          </a:ln>
        </p:spPr>
        <p:txBody>
          <a:bodyPr/>
          <a:p/>
        </p:txBody>
      </p:sp>
      <p:sp>
        <p:nvSpPr>
          <p:cNvPr id="14" name="Text 12"/>
          <p:cNvSpPr/>
          <p:nvPr/>
        </p:nvSpPr>
        <p:spPr>
          <a:xfrm>
            <a:off x="3813048" y="2159813"/>
            <a:ext cx="1353312" cy="137160"/>
          </a:xfrm>
          <a:prstGeom prst="rect">
            <a:avLst/>
          </a:prstGeom>
          <a:noFill/>
          <a:ln/>
        </p:spPr>
        <p:txBody>
          <a:bodyPr wrap="square" lIns="0" tIns="0" rIns="0" bIns="0" rtlCol="0" anchor="t">
            <a:normAutofit/>
          </a:bodyPr>
          <a:lstStyle/>
          <a:p>
            <a:pPr algn="ctr" indent="0" marL="0">
              <a:buNone/>
            </a:pPr>
            <a:r>
              <a:rPr lang="en-US" sz="800" b="1" spc="50" kern="0" dirty="0">
                <a:solidFill>
                  <a:srgbClr val="21805A"/>
                </a:solidFill>
                <a:latin typeface="Arial" pitchFamily="34" charset="0"/>
                <a:ea typeface="Arial" pitchFamily="34" charset="-122"/>
                <a:cs typeface="Arial" pitchFamily="34" charset="-120"/>
              </a:rPr>
              <a:t>IMPLEMENTED</a:t>
            </a:r>
            <a:endParaRPr lang="en-US" sz="800" dirty="0"/>
          </a:p>
        </p:txBody>
      </p:sp>
      <p:sp>
        <p:nvSpPr>
          <p:cNvPr id="15" name="Text 13"/>
          <p:cNvSpPr/>
          <p:nvPr/>
        </p:nvSpPr>
        <p:spPr>
          <a:xfrm>
            <a:off x="5422392" y="2130552"/>
            <a:ext cx="4224528" cy="228600"/>
          </a:xfrm>
          <a:prstGeom prst="rect">
            <a:avLst/>
          </a:prstGeom>
          <a:noFill/>
          <a:ln/>
        </p:spPr>
        <p:txBody>
          <a:bodyPr wrap="square" lIns="0" tIns="0" rIns="0" bIns="0" rtlCol="0" anchor="t">
            <a:normAutofit/>
          </a:bodyPr>
          <a:lstStyle/>
          <a:p>
            <a:pPr algn="l" indent="0" marL="0">
              <a:buNone/>
            </a:pPr>
            <a:r>
              <a:rPr lang="en-US" sz="900" dirty="0">
                <a:solidFill>
                  <a:srgbClr val="68788D"/>
                </a:solidFill>
                <a:latin typeface="Arial" pitchFamily="34" charset="0"/>
                <a:ea typeface="Arial" pitchFamily="34" charset="-122"/>
                <a:cs typeface="Arial" pitchFamily="34" charset="-120"/>
              </a:rPr>
              <a:t>Standalone and runnable ATLAS operating surfaces.</a:t>
            </a:r>
            <a:endParaRPr lang="en-US" sz="900" dirty="0"/>
          </a:p>
        </p:txBody>
      </p:sp>
      <p:sp>
        <p:nvSpPr>
          <p:cNvPr id="16" name="Shape 14"/>
          <p:cNvSpPr/>
          <p:nvPr/>
        </p:nvSpPr>
        <p:spPr>
          <a:xfrm>
            <a:off x="9765792" y="2148840"/>
            <a:ext cx="1572768" cy="164592"/>
          </a:xfrm>
          <a:prstGeom prst="roundRect">
            <a:avLst>
              <a:gd name="adj" fmla="val 27778"/>
            </a:avLst>
          </a:prstGeom>
          <a:solidFill>
            <a:srgbClr val="E6DED2"/>
          </a:solidFill>
          <a:ln w="12700">
            <a:solidFill>
              <a:srgbClr val="E6DED2"/>
            </a:solidFill>
            <a:prstDash val="solid"/>
          </a:ln>
        </p:spPr>
        <p:txBody>
          <a:bodyPr/>
          <a:p/>
        </p:txBody>
      </p:sp>
      <p:sp>
        <p:nvSpPr>
          <p:cNvPr id="17" name="Shape 15"/>
          <p:cNvSpPr/>
          <p:nvPr/>
        </p:nvSpPr>
        <p:spPr>
          <a:xfrm>
            <a:off x="9765792" y="2148840"/>
            <a:ext cx="1446947" cy="164592"/>
          </a:xfrm>
          <a:prstGeom prst="roundRect">
            <a:avLst>
              <a:gd name="adj" fmla="val 27778"/>
            </a:avLst>
          </a:prstGeom>
          <a:solidFill>
            <a:srgbClr val="21805A"/>
          </a:solidFill>
          <a:ln w="12700">
            <a:solidFill>
              <a:srgbClr val="21805A"/>
            </a:solidFill>
            <a:prstDash val="solid"/>
          </a:ln>
        </p:spPr>
        <p:txBody>
          <a:bodyPr/>
          <a:p/>
        </p:txBody>
      </p:sp>
      <p:sp>
        <p:nvSpPr>
          <p:cNvPr id="18" name="Text 16"/>
          <p:cNvSpPr/>
          <p:nvPr/>
        </p:nvSpPr>
        <p:spPr>
          <a:xfrm>
            <a:off x="658368" y="2743200"/>
            <a:ext cx="2971800" cy="201168"/>
          </a:xfrm>
          <a:prstGeom prst="rect">
            <a:avLst/>
          </a:prstGeom>
          <a:noFill/>
          <a:ln/>
        </p:spPr>
        <p:txBody>
          <a:bodyPr wrap="square" lIns="0" tIns="0" rIns="0" bIns="0" rtlCol="0" anchor="t">
            <a:normAutofit/>
          </a:bodyPr>
          <a:lstStyle/>
          <a:p>
            <a:pPr algn="l" indent="0" marL="0">
              <a:buNone/>
            </a:pPr>
            <a:r>
              <a:rPr lang="en-US" sz="1060" b="1" dirty="0">
                <a:solidFill>
                  <a:srgbClr val="14263C"/>
                </a:solidFill>
                <a:latin typeface="Arial" pitchFamily="34" charset="0"/>
                <a:ea typeface="Arial" pitchFamily="34" charset="-122"/>
                <a:cs typeface="Arial" pitchFamily="34" charset="-120"/>
              </a:rPr>
              <a:t>AGI Node / contract packages</a:t>
            </a:r>
            <a:endParaRPr lang="en-US" sz="1060" dirty="0"/>
          </a:p>
        </p:txBody>
      </p:sp>
      <p:sp>
        <p:nvSpPr>
          <p:cNvPr id="19" name="Shape 17"/>
          <p:cNvSpPr/>
          <p:nvPr/>
        </p:nvSpPr>
        <p:spPr>
          <a:xfrm>
            <a:off x="3749040" y="2724912"/>
            <a:ext cx="1481328" cy="256032"/>
          </a:xfrm>
          <a:prstGeom prst="roundRect">
            <a:avLst>
              <a:gd name="adj" fmla="val 21429"/>
            </a:avLst>
          </a:prstGeom>
          <a:solidFill>
            <a:srgbClr val="EEF5FB"/>
          </a:solidFill>
          <a:ln w="12700">
            <a:solidFill>
              <a:srgbClr val="387FB7">
                <a:alpha val="85000"/>
              </a:srgbClr>
            </a:solidFill>
            <a:prstDash val="solid"/>
          </a:ln>
        </p:spPr>
        <p:txBody>
          <a:bodyPr/>
          <a:p/>
        </p:txBody>
      </p:sp>
      <p:sp>
        <p:nvSpPr>
          <p:cNvPr id="20" name="Text 18"/>
          <p:cNvSpPr/>
          <p:nvPr/>
        </p:nvSpPr>
        <p:spPr>
          <a:xfrm>
            <a:off x="3813048" y="2772461"/>
            <a:ext cx="1353312" cy="137160"/>
          </a:xfrm>
          <a:prstGeom prst="rect">
            <a:avLst/>
          </a:prstGeom>
          <a:noFill/>
          <a:ln/>
        </p:spPr>
        <p:txBody>
          <a:bodyPr wrap="square" lIns="0" tIns="0" rIns="0" bIns="0" rtlCol="0" anchor="t">
            <a:normAutofit/>
          </a:bodyPr>
          <a:lstStyle/>
          <a:p>
            <a:pPr algn="ctr" indent="0" marL="0">
              <a:buNone/>
            </a:pPr>
            <a:r>
              <a:rPr lang="en-US" sz="800" b="1" spc="50" kern="0" dirty="0">
                <a:solidFill>
                  <a:srgbClr val="387FB7"/>
                </a:solidFill>
                <a:latin typeface="Arial" pitchFamily="34" charset="0"/>
                <a:ea typeface="Arial" pitchFamily="34" charset="-122"/>
                <a:cs typeface="Arial" pitchFamily="34" charset="-120"/>
              </a:rPr>
              <a:t>REFERENCE-READY</a:t>
            </a:r>
            <a:endParaRPr lang="en-US" sz="800" dirty="0"/>
          </a:p>
        </p:txBody>
      </p:sp>
      <p:sp>
        <p:nvSpPr>
          <p:cNvPr id="21" name="Text 19"/>
          <p:cNvSpPr/>
          <p:nvPr/>
        </p:nvSpPr>
        <p:spPr>
          <a:xfrm>
            <a:off x="5422392" y="2743200"/>
            <a:ext cx="4224528" cy="228600"/>
          </a:xfrm>
          <a:prstGeom prst="rect">
            <a:avLst/>
          </a:prstGeom>
          <a:noFill/>
          <a:ln/>
        </p:spPr>
        <p:txBody>
          <a:bodyPr wrap="square" lIns="0" tIns="0" rIns="0" bIns="0" rtlCol="0" anchor="t">
            <a:normAutofit/>
          </a:bodyPr>
          <a:lstStyle/>
          <a:p>
            <a:pPr algn="l" indent="0" marL="0">
              <a:buNone/>
            </a:pPr>
            <a:r>
              <a:rPr lang="en-US" sz="900" dirty="0">
                <a:solidFill>
                  <a:srgbClr val="68788D"/>
                </a:solidFill>
                <a:latin typeface="Arial" pitchFamily="34" charset="0"/>
                <a:ea typeface="Arial" pitchFamily="34" charset="-122"/>
                <a:cs typeface="Arial" pitchFamily="34" charset="-120"/>
              </a:rPr>
              <a:t>Runtime, registries, schemas, tests and deployment packs.</a:t>
            </a:r>
            <a:endParaRPr lang="en-US" sz="900" dirty="0"/>
          </a:p>
        </p:txBody>
      </p:sp>
      <p:sp>
        <p:nvSpPr>
          <p:cNvPr id="22" name="Shape 20"/>
          <p:cNvSpPr/>
          <p:nvPr/>
        </p:nvSpPr>
        <p:spPr>
          <a:xfrm>
            <a:off x="9765792" y="2761488"/>
            <a:ext cx="1572768" cy="164592"/>
          </a:xfrm>
          <a:prstGeom prst="roundRect">
            <a:avLst>
              <a:gd name="adj" fmla="val 27778"/>
            </a:avLst>
          </a:prstGeom>
          <a:solidFill>
            <a:srgbClr val="E6DED2"/>
          </a:solidFill>
          <a:ln w="12700">
            <a:solidFill>
              <a:srgbClr val="E6DED2"/>
            </a:solidFill>
            <a:prstDash val="solid"/>
          </a:ln>
        </p:spPr>
        <p:txBody>
          <a:bodyPr/>
          <a:p/>
        </p:txBody>
      </p:sp>
      <p:sp>
        <p:nvSpPr>
          <p:cNvPr id="23" name="Shape 21"/>
          <p:cNvSpPr/>
          <p:nvPr/>
        </p:nvSpPr>
        <p:spPr>
          <a:xfrm>
            <a:off x="9765792" y="2761488"/>
            <a:ext cx="1226759" cy="164592"/>
          </a:xfrm>
          <a:prstGeom prst="roundRect">
            <a:avLst>
              <a:gd name="adj" fmla="val 27778"/>
            </a:avLst>
          </a:prstGeom>
          <a:solidFill>
            <a:srgbClr val="387FB7"/>
          </a:solidFill>
          <a:ln w="12700">
            <a:solidFill>
              <a:srgbClr val="387FB7"/>
            </a:solidFill>
            <a:prstDash val="solid"/>
          </a:ln>
        </p:spPr>
        <p:txBody>
          <a:bodyPr/>
          <a:p/>
        </p:txBody>
      </p:sp>
      <p:sp>
        <p:nvSpPr>
          <p:cNvPr id="24" name="Text 22"/>
          <p:cNvSpPr/>
          <p:nvPr/>
        </p:nvSpPr>
        <p:spPr>
          <a:xfrm>
            <a:off x="658368" y="3355848"/>
            <a:ext cx="2971800" cy="201168"/>
          </a:xfrm>
          <a:prstGeom prst="rect">
            <a:avLst/>
          </a:prstGeom>
          <a:noFill/>
          <a:ln/>
        </p:spPr>
        <p:txBody>
          <a:bodyPr wrap="square" lIns="0" tIns="0" rIns="0" bIns="0" rtlCol="0" anchor="t">
            <a:normAutofit/>
          </a:bodyPr>
          <a:lstStyle/>
          <a:p>
            <a:pPr algn="l" indent="0" marL="0">
              <a:buNone/>
            </a:pPr>
            <a:r>
              <a:rPr lang="en-US" sz="1060" b="1" dirty="0">
                <a:solidFill>
                  <a:srgbClr val="14263C"/>
                </a:solidFill>
                <a:latin typeface="Arial" pitchFamily="34" charset="0"/>
                <a:ea typeface="Arial" pitchFamily="34" charset="-122"/>
                <a:cs typeface="Arial" pitchFamily="34" charset="-120"/>
              </a:rPr>
              <a:t>Private proof / Merkle / ZK</a:t>
            </a:r>
            <a:endParaRPr lang="en-US" sz="1060" dirty="0"/>
          </a:p>
        </p:txBody>
      </p:sp>
      <p:sp>
        <p:nvSpPr>
          <p:cNvPr id="25" name="Shape 23"/>
          <p:cNvSpPr/>
          <p:nvPr/>
        </p:nvSpPr>
        <p:spPr>
          <a:xfrm>
            <a:off x="3749040" y="3337560"/>
            <a:ext cx="1481328" cy="256032"/>
          </a:xfrm>
          <a:prstGeom prst="roundRect">
            <a:avLst>
              <a:gd name="adj" fmla="val 21429"/>
            </a:avLst>
          </a:prstGeom>
          <a:solidFill>
            <a:srgbClr val="F3EFFB"/>
          </a:solidFill>
          <a:ln w="12700">
            <a:solidFill>
              <a:srgbClr val="6753A6">
                <a:alpha val="85000"/>
              </a:srgbClr>
            </a:solidFill>
            <a:prstDash val="solid"/>
          </a:ln>
        </p:spPr>
        <p:txBody>
          <a:bodyPr/>
          <a:p/>
        </p:txBody>
      </p:sp>
      <p:sp>
        <p:nvSpPr>
          <p:cNvPr id="26" name="Text 24"/>
          <p:cNvSpPr/>
          <p:nvPr/>
        </p:nvSpPr>
        <p:spPr>
          <a:xfrm>
            <a:off x="3813048" y="3385109"/>
            <a:ext cx="1353312" cy="137160"/>
          </a:xfrm>
          <a:prstGeom prst="rect">
            <a:avLst/>
          </a:prstGeom>
          <a:noFill/>
          <a:ln/>
        </p:spPr>
        <p:txBody>
          <a:bodyPr wrap="square" lIns="0" tIns="0" rIns="0" bIns="0" rtlCol="0" anchor="t">
            <a:normAutofit/>
          </a:bodyPr>
          <a:lstStyle/>
          <a:p>
            <a:pPr algn="ctr" indent="0" marL="0">
              <a:buNone/>
            </a:pPr>
            <a:r>
              <a:rPr lang="en-US" sz="800" b="1" spc="50" kern="0" dirty="0">
                <a:solidFill>
                  <a:srgbClr val="6753A6"/>
                </a:solidFill>
                <a:latin typeface="Arial" pitchFamily="34" charset="0"/>
                <a:ea typeface="Arial" pitchFamily="34" charset="-122"/>
                <a:cs typeface="Arial" pitchFamily="34" charset="-120"/>
              </a:rPr>
              <a:t>SPECIFIED / REFERENCE</a:t>
            </a:r>
            <a:endParaRPr lang="en-US" sz="800" dirty="0"/>
          </a:p>
        </p:txBody>
      </p:sp>
      <p:sp>
        <p:nvSpPr>
          <p:cNvPr id="27" name="Text 25"/>
          <p:cNvSpPr/>
          <p:nvPr/>
        </p:nvSpPr>
        <p:spPr>
          <a:xfrm>
            <a:off x="5422392" y="3355848"/>
            <a:ext cx="4224528" cy="228600"/>
          </a:xfrm>
          <a:prstGeom prst="rect">
            <a:avLst/>
          </a:prstGeom>
          <a:noFill/>
          <a:ln/>
        </p:spPr>
        <p:txBody>
          <a:bodyPr wrap="square" lIns="0" tIns="0" rIns="0" bIns="0" rtlCol="0" anchor="t">
            <a:normAutofit/>
          </a:bodyPr>
          <a:lstStyle/>
          <a:p>
            <a:pPr algn="l" indent="0" marL="0">
              <a:buNone/>
            </a:pPr>
            <a:r>
              <a:rPr lang="en-US" sz="900" dirty="0">
                <a:solidFill>
                  <a:srgbClr val="68788D"/>
                </a:solidFill>
                <a:latin typeface="Arial" pitchFamily="34" charset="0"/>
                <a:ea typeface="Arial" pitchFamily="34" charset="-122"/>
                <a:cs typeface="Arial" pitchFamily="34" charset="-120"/>
              </a:rPr>
              <a:t>Commitment, selective-disclosure and identity architecture.</a:t>
            </a:r>
            <a:endParaRPr lang="en-US" sz="900" dirty="0"/>
          </a:p>
        </p:txBody>
      </p:sp>
      <p:sp>
        <p:nvSpPr>
          <p:cNvPr id="28" name="Shape 26"/>
          <p:cNvSpPr/>
          <p:nvPr/>
        </p:nvSpPr>
        <p:spPr>
          <a:xfrm>
            <a:off x="9765792" y="3374136"/>
            <a:ext cx="1572768" cy="164592"/>
          </a:xfrm>
          <a:prstGeom prst="roundRect">
            <a:avLst>
              <a:gd name="adj" fmla="val 27778"/>
            </a:avLst>
          </a:prstGeom>
          <a:solidFill>
            <a:srgbClr val="E6DED2"/>
          </a:solidFill>
          <a:ln w="12700">
            <a:solidFill>
              <a:srgbClr val="E6DED2"/>
            </a:solidFill>
            <a:prstDash val="solid"/>
          </a:ln>
        </p:spPr>
        <p:txBody>
          <a:bodyPr/>
          <a:p/>
        </p:txBody>
      </p:sp>
      <p:sp>
        <p:nvSpPr>
          <p:cNvPr id="29" name="Shape 27"/>
          <p:cNvSpPr/>
          <p:nvPr/>
        </p:nvSpPr>
        <p:spPr>
          <a:xfrm>
            <a:off x="9765792" y="3374136"/>
            <a:ext cx="1069482" cy="164592"/>
          </a:xfrm>
          <a:prstGeom prst="roundRect">
            <a:avLst>
              <a:gd name="adj" fmla="val 27778"/>
            </a:avLst>
          </a:prstGeom>
          <a:solidFill>
            <a:srgbClr val="6753A6"/>
          </a:solidFill>
          <a:ln w="12700">
            <a:solidFill>
              <a:srgbClr val="6753A6"/>
            </a:solidFill>
            <a:prstDash val="solid"/>
          </a:ln>
        </p:spPr>
        <p:txBody>
          <a:bodyPr/>
          <a:p/>
        </p:txBody>
      </p:sp>
      <p:sp>
        <p:nvSpPr>
          <p:cNvPr id="30" name="Text 28"/>
          <p:cNvSpPr/>
          <p:nvPr/>
        </p:nvSpPr>
        <p:spPr>
          <a:xfrm>
            <a:off x="658368" y="3968496"/>
            <a:ext cx="2971800" cy="201168"/>
          </a:xfrm>
          <a:prstGeom prst="rect">
            <a:avLst/>
          </a:prstGeom>
          <a:noFill/>
          <a:ln/>
        </p:spPr>
        <p:txBody>
          <a:bodyPr wrap="square" lIns="0" tIns="0" rIns="0" bIns="0" rtlCol="0" anchor="t">
            <a:normAutofit/>
          </a:bodyPr>
          <a:lstStyle/>
          <a:p>
            <a:pPr algn="l" indent="0" marL="0">
              <a:buNone/>
            </a:pPr>
            <a:r>
              <a:rPr lang="en-US" sz="1060" b="1" dirty="0">
                <a:solidFill>
                  <a:srgbClr val="14263C"/>
                </a:solidFill>
                <a:latin typeface="Arial" pitchFamily="34" charset="0"/>
                <a:ea typeface="Arial" pitchFamily="34" charset="-122"/>
                <a:cs typeface="Arial" pitchFamily="34" charset="-120"/>
              </a:rPr>
              <a:t>Business and economics</a:t>
            </a:r>
            <a:endParaRPr lang="en-US" sz="1060" dirty="0"/>
          </a:p>
        </p:txBody>
      </p:sp>
      <p:sp>
        <p:nvSpPr>
          <p:cNvPr id="31" name="Shape 29"/>
          <p:cNvSpPr/>
          <p:nvPr/>
        </p:nvSpPr>
        <p:spPr>
          <a:xfrm>
            <a:off x="3749040" y="3950208"/>
            <a:ext cx="1481328"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2" name="Text 30"/>
          <p:cNvSpPr/>
          <p:nvPr/>
        </p:nvSpPr>
        <p:spPr>
          <a:xfrm>
            <a:off x="3813048" y="3997757"/>
            <a:ext cx="1353312"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PLANNING-READY</a:t>
            </a:r>
            <a:endParaRPr lang="en-US" sz="800" dirty="0"/>
          </a:p>
        </p:txBody>
      </p:sp>
      <p:sp>
        <p:nvSpPr>
          <p:cNvPr id="33" name="Text 31"/>
          <p:cNvSpPr/>
          <p:nvPr/>
        </p:nvSpPr>
        <p:spPr>
          <a:xfrm>
            <a:off x="5422392" y="3968496"/>
            <a:ext cx="4224528" cy="228600"/>
          </a:xfrm>
          <a:prstGeom prst="rect">
            <a:avLst/>
          </a:prstGeom>
          <a:noFill/>
          <a:ln/>
        </p:spPr>
        <p:txBody>
          <a:bodyPr wrap="square" lIns="0" tIns="0" rIns="0" bIns="0" rtlCol="0" anchor="t">
            <a:normAutofit/>
          </a:bodyPr>
          <a:lstStyle/>
          <a:p>
            <a:pPr algn="l" indent="0" marL="0">
              <a:buNone/>
            </a:pPr>
            <a:r>
              <a:rPr lang="en-US" sz="900" dirty="0">
                <a:solidFill>
                  <a:srgbClr val="68788D"/>
                </a:solidFill>
                <a:latin typeface="Arial" pitchFamily="34" charset="0"/>
                <a:ea typeface="Arial" pitchFamily="34" charset="-122"/>
                <a:cs typeface="Arial" pitchFamily="34" charset="-120"/>
              </a:rPr>
              <a:t>Proof Mission, Proof OS, private VSG and managed validation.</a:t>
            </a:r>
            <a:endParaRPr lang="en-US" sz="900" dirty="0"/>
          </a:p>
        </p:txBody>
      </p:sp>
      <p:sp>
        <p:nvSpPr>
          <p:cNvPr id="34" name="Shape 32"/>
          <p:cNvSpPr/>
          <p:nvPr/>
        </p:nvSpPr>
        <p:spPr>
          <a:xfrm>
            <a:off x="9765792" y="3986784"/>
            <a:ext cx="1572768" cy="164592"/>
          </a:xfrm>
          <a:prstGeom prst="roundRect">
            <a:avLst>
              <a:gd name="adj" fmla="val 27778"/>
            </a:avLst>
          </a:prstGeom>
          <a:solidFill>
            <a:srgbClr val="E6DED2"/>
          </a:solidFill>
          <a:ln w="12700">
            <a:solidFill>
              <a:srgbClr val="E6DED2"/>
            </a:solidFill>
            <a:prstDash val="solid"/>
          </a:ln>
        </p:spPr>
        <p:txBody>
          <a:bodyPr/>
          <a:p/>
        </p:txBody>
      </p:sp>
      <p:sp>
        <p:nvSpPr>
          <p:cNvPr id="35" name="Shape 33"/>
          <p:cNvSpPr/>
          <p:nvPr/>
        </p:nvSpPr>
        <p:spPr>
          <a:xfrm>
            <a:off x="9765792" y="3986784"/>
            <a:ext cx="943661" cy="164592"/>
          </a:xfrm>
          <a:prstGeom prst="roundRect">
            <a:avLst>
              <a:gd name="adj" fmla="val 27778"/>
            </a:avLst>
          </a:prstGeom>
          <a:solidFill>
            <a:srgbClr val="B8872E"/>
          </a:solidFill>
          <a:ln w="12700">
            <a:solidFill>
              <a:srgbClr val="B8872E"/>
            </a:solidFill>
            <a:prstDash val="solid"/>
          </a:ln>
        </p:spPr>
        <p:txBody>
          <a:bodyPr/>
          <a:p/>
        </p:txBody>
      </p:sp>
      <p:sp>
        <p:nvSpPr>
          <p:cNvPr id="36" name="Text 34"/>
          <p:cNvSpPr/>
          <p:nvPr/>
        </p:nvSpPr>
        <p:spPr>
          <a:xfrm>
            <a:off x="658368" y="4581144"/>
            <a:ext cx="2971800" cy="201168"/>
          </a:xfrm>
          <a:prstGeom prst="rect">
            <a:avLst/>
          </a:prstGeom>
          <a:noFill/>
          <a:ln/>
        </p:spPr>
        <p:txBody>
          <a:bodyPr wrap="square" lIns="0" tIns="0" rIns="0" bIns="0" rtlCol="0" anchor="t">
            <a:normAutofit/>
          </a:bodyPr>
          <a:lstStyle/>
          <a:p>
            <a:pPr algn="l" indent="0" marL="0">
              <a:buNone/>
            </a:pPr>
            <a:r>
              <a:rPr lang="en-US" sz="1060" b="1" dirty="0">
                <a:solidFill>
                  <a:srgbClr val="14263C"/>
                </a:solidFill>
                <a:latin typeface="Arial" pitchFamily="34" charset="0"/>
                <a:ea typeface="Arial" pitchFamily="34" charset="-122"/>
                <a:cs typeface="Arial" pitchFamily="34" charset="-120"/>
              </a:rPr>
              <a:t>Reviewed live deployment</a:t>
            </a:r>
            <a:endParaRPr lang="en-US" sz="1060" dirty="0"/>
          </a:p>
        </p:txBody>
      </p:sp>
      <p:sp>
        <p:nvSpPr>
          <p:cNvPr id="37" name="Shape 35"/>
          <p:cNvSpPr/>
          <p:nvPr/>
        </p:nvSpPr>
        <p:spPr>
          <a:xfrm>
            <a:off x="3749040" y="4562856"/>
            <a:ext cx="1481328" cy="256032"/>
          </a:xfrm>
          <a:prstGeom prst="roundRect">
            <a:avLst>
              <a:gd name="adj" fmla="val 21429"/>
            </a:avLst>
          </a:prstGeom>
          <a:solidFill>
            <a:srgbClr val="FFF1F3"/>
          </a:solidFill>
          <a:ln w="12700">
            <a:solidFill>
              <a:srgbClr val="B74A5E">
                <a:alpha val="85000"/>
              </a:srgbClr>
            </a:solidFill>
            <a:prstDash val="solid"/>
          </a:ln>
        </p:spPr>
        <p:txBody>
          <a:bodyPr/>
          <a:p/>
        </p:txBody>
      </p:sp>
      <p:sp>
        <p:nvSpPr>
          <p:cNvPr id="38" name="Text 36"/>
          <p:cNvSpPr/>
          <p:nvPr/>
        </p:nvSpPr>
        <p:spPr>
          <a:xfrm>
            <a:off x="3813048" y="4610405"/>
            <a:ext cx="1353312"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74A5E"/>
                </a:solidFill>
                <a:latin typeface="Arial" pitchFamily="34" charset="0"/>
                <a:ea typeface="Arial" pitchFamily="34" charset="-122"/>
                <a:cs typeface="Arial" pitchFamily="34" charset="-120"/>
              </a:rPr>
              <a:t>PENDING</a:t>
            </a:r>
            <a:endParaRPr lang="en-US" sz="800" dirty="0"/>
          </a:p>
        </p:txBody>
      </p:sp>
      <p:sp>
        <p:nvSpPr>
          <p:cNvPr id="39" name="Text 37"/>
          <p:cNvSpPr/>
          <p:nvPr/>
        </p:nvSpPr>
        <p:spPr>
          <a:xfrm>
            <a:off x="5422392" y="4581144"/>
            <a:ext cx="4224528" cy="228600"/>
          </a:xfrm>
          <a:prstGeom prst="rect">
            <a:avLst/>
          </a:prstGeom>
          <a:noFill/>
          <a:ln/>
        </p:spPr>
        <p:txBody>
          <a:bodyPr wrap="square" lIns="0" tIns="0" rIns="0" bIns="0" rtlCol="0" anchor="t">
            <a:normAutofit/>
          </a:bodyPr>
          <a:lstStyle/>
          <a:p>
            <a:pPr algn="l" indent="0" marL="0">
              <a:buNone/>
            </a:pPr>
            <a:r>
              <a:rPr lang="en-US" sz="900" dirty="0">
                <a:solidFill>
                  <a:srgbClr val="68788D"/>
                </a:solidFill>
                <a:latin typeface="Arial" pitchFamily="34" charset="0"/>
                <a:ea typeface="Arial" pitchFamily="34" charset="-122"/>
                <a:cs typeface="Arial" pitchFamily="34" charset="-120"/>
              </a:rPr>
              <a:t>Audited contracts, governed keys, independent controls, incident response, insurance and production observability.</a:t>
            </a:r>
            <a:endParaRPr lang="en-US" sz="900" dirty="0"/>
          </a:p>
        </p:txBody>
      </p:sp>
      <p:sp>
        <p:nvSpPr>
          <p:cNvPr id="40" name="Shape 38"/>
          <p:cNvSpPr/>
          <p:nvPr/>
        </p:nvSpPr>
        <p:spPr>
          <a:xfrm>
            <a:off x="9765792" y="4599432"/>
            <a:ext cx="1572768" cy="164592"/>
          </a:xfrm>
          <a:prstGeom prst="roundRect">
            <a:avLst>
              <a:gd name="adj" fmla="val 27778"/>
            </a:avLst>
          </a:prstGeom>
          <a:solidFill>
            <a:srgbClr val="E6DED2"/>
          </a:solidFill>
          <a:ln w="12700">
            <a:solidFill>
              <a:srgbClr val="E6DED2"/>
            </a:solidFill>
            <a:prstDash val="solid"/>
          </a:ln>
        </p:spPr>
        <p:txBody>
          <a:bodyPr/>
          <a:p/>
        </p:txBody>
      </p:sp>
      <p:sp>
        <p:nvSpPr>
          <p:cNvPr id="41" name="Shape 39"/>
          <p:cNvSpPr/>
          <p:nvPr/>
        </p:nvSpPr>
        <p:spPr>
          <a:xfrm>
            <a:off x="9765792" y="4599432"/>
            <a:ext cx="534741" cy="164592"/>
          </a:xfrm>
          <a:prstGeom prst="roundRect">
            <a:avLst>
              <a:gd name="adj" fmla="val 27778"/>
            </a:avLst>
          </a:prstGeom>
          <a:solidFill>
            <a:srgbClr val="B74A5E"/>
          </a:solidFill>
          <a:ln w="12700">
            <a:solidFill>
              <a:srgbClr val="B74A5E"/>
            </a:solidFill>
            <a:prstDash val="solid"/>
          </a:ln>
        </p:spPr>
        <p:txBody>
          <a:bodyPr/>
          <a:p/>
        </p:txBody>
      </p:sp>
      <p:sp>
        <p:nvSpPr>
          <p:cNvPr id="42" name="Text 40"/>
          <p:cNvSpPr/>
          <p:nvPr/>
        </p:nvSpPr>
        <p:spPr>
          <a:xfrm>
            <a:off x="658368" y="5193792"/>
            <a:ext cx="2971800" cy="201168"/>
          </a:xfrm>
          <a:prstGeom prst="rect">
            <a:avLst/>
          </a:prstGeom>
          <a:noFill/>
          <a:ln/>
        </p:spPr>
        <p:txBody>
          <a:bodyPr wrap="square" lIns="0" tIns="0" rIns="0" bIns="0" rtlCol="0" anchor="t">
            <a:normAutofit/>
          </a:bodyPr>
          <a:lstStyle/>
          <a:p>
            <a:pPr algn="l" indent="0" marL="0">
              <a:buNone/>
            </a:pPr>
            <a:r>
              <a:rPr lang="en-US" sz="1060" b="1" dirty="0">
                <a:solidFill>
                  <a:srgbClr val="14263C"/>
                </a:solidFill>
                <a:latin typeface="Arial" pitchFamily="34" charset="0"/>
                <a:ea typeface="Arial" pitchFamily="34" charset="-122"/>
                <a:cs typeface="Arial" pitchFamily="34" charset="-120"/>
              </a:rPr>
              <a:t>Independent replay / empirical compounding</a:t>
            </a:r>
            <a:endParaRPr lang="en-US" sz="1060" dirty="0"/>
          </a:p>
        </p:txBody>
      </p:sp>
      <p:sp>
        <p:nvSpPr>
          <p:cNvPr id="43" name="Shape 41"/>
          <p:cNvSpPr/>
          <p:nvPr/>
        </p:nvSpPr>
        <p:spPr>
          <a:xfrm>
            <a:off x="3749040" y="5175504"/>
            <a:ext cx="1481328" cy="256032"/>
          </a:xfrm>
          <a:prstGeom prst="roundRect">
            <a:avLst>
              <a:gd name="adj" fmla="val 21429"/>
            </a:avLst>
          </a:prstGeom>
          <a:solidFill>
            <a:srgbClr val="FFF1F3"/>
          </a:solidFill>
          <a:ln w="12700">
            <a:solidFill>
              <a:srgbClr val="B74A5E">
                <a:alpha val="85000"/>
              </a:srgbClr>
            </a:solidFill>
            <a:prstDash val="solid"/>
          </a:ln>
        </p:spPr>
        <p:txBody>
          <a:bodyPr/>
          <a:p/>
        </p:txBody>
      </p:sp>
      <p:sp>
        <p:nvSpPr>
          <p:cNvPr id="44" name="Text 42"/>
          <p:cNvSpPr/>
          <p:nvPr/>
        </p:nvSpPr>
        <p:spPr>
          <a:xfrm>
            <a:off x="3813048" y="5223053"/>
            <a:ext cx="1353312"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74A5E"/>
                </a:solidFill>
                <a:latin typeface="Arial" pitchFamily="34" charset="0"/>
                <a:ea typeface="Arial" pitchFamily="34" charset="-122"/>
                <a:cs typeface="Arial" pitchFamily="34" charset="-120"/>
              </a:rPr>
              <a:t>PENDING</a:t>
            </a:r>
            <a:endParaRPr lang="en-US" sz="800" dirty="0"/>
          </a:p>
        </p:txBody>
      </p:sp>
      <p:sp>
        <p:nvSpPr>
          <p:cNvPr id="45" name="Text 43"/>
          <p:cNvSpPr/>
          <p:nvPr/>
        </p:nvSpPr>
        <p:spPr>
          <a:xfrm>
            <a:off x="5422392" y="5193792"/>
            <a:ext cx="4224528" cy="228600"/>
          </a:xfrm>
          <a:prstGeom prst="rect">
            <a:avLst/>
          </a:prstGeom>
          <a:noFill/>
          <a:ln/>
        </p:spPr>
        <p:txBody>
          <a:bodyPr wrap="square" lIns="0" tIns="0" rIns="0" bIns="0" rtlCol="0" anchor="t">
            <a:normAutofit/>
          </a:bodyPr>
          <a:lstStyle/>
          <a:p>
            <a:pPr algn="l" indent="0" marL="0">
              <a:buNone/>
            </a:pPr>
            <a:r>
              <a:rPr lang="en-US" sz="900" dirty="0">
                <a:solidFill>
                  <a:srgbClr val="68788D"/>
                </a:solidFill>
                <a:latin typeface="Arial" pitchFamily="34" charset="0"/>
                <a:ea typeface="Arial" pitchFamily="34" charset="-122"/>
                <a:cs typeface="Arial" pitchFamily="34" charset="-120"/>
              </a:rPr>
              <a:t>Real missions, external reviewers, delayed outcomes and harder transfer.</a:t>
            </a:r>
            <a:endParaRPr lang="en-US" sz="900" dirty="0"/>
          </a:p>
        </p:txBody>
      </p:sp>
      <p:sp>
        <p:nvSpPr>
          <p:cNvPr id="46" name="Shape 44"/>
          <p:cNvSpPr/>
          <p:nvPr/>
        </p:nvSpPr>
        <p:spPr>
          <a:xfrm>
            <a:off x="9765792" y="5212080"/>
            <a:ext cx="1572768" cy="164592"/>
          </a:xfrm>
          <a:prstGeom prst="roundRect">
            <a:avLst>
              <a:gd name="adj" fmla="val 27778"/>
            </a:avLst>
          </a:prstGeom>
          <a:solidFill>
            <a:srgbClr val="E6DED2"/>
          </a:solidFill>
          <a:ln w="12700">
            <a:solidFill>
              <a:srgbClr val="E6DED2"/>
            </a:solidFill>
            <a:prstDash val="solid"/>
          </a:ln>
        </p:spPr>
        <p:txBody>
          <a:bodyPr/>
          <a:p/>
        </p:txBody>
      </p:sp>
      <p:sp>
        <p:nvSpPr>
          <p:cNvPr id="47" name="Shape 45"/>
          <p:cNvSpPr/>
          <p:nvPr/>
        </p:nvSpPr>
        <p:spPr>
          <a:xfrm>
            <a:off x="9765792" y="5212080"/>
            <a:ext cx="377464" cy="164592"/>
          </a:xfrm>
          <a:prstGeom prst="roundRect">
            <a:avLst>
              <a:gd name="adj" fmla="val 27778"/>
            </a:avLst>
          </a:prstGeom>
          <a:solidFill>
            <a:srgbClr val="B74A5E"/>
          </a:solidFill>
          <a:ln w="12700">
            <a:solidFill>
              <a:srgbClr val="B74A5E"/>
            </a:solidFill>
            <a:prstDash val="solid"/>
          </a:ln>
        </p:spPr>
        <p:txBody>
          <a:bodyPr/>
          <a:p/>
        </p:txBody>
      </p:sp>
      <p:sp>
        <p:nvSpPr>
          <p:cNvPr id="48" name="Shape 46"/>
          <p:cNvSpPr/>
          <p:nvPr/>
        </p:nvSpPr>
        <p:spPr>
          <a:xfrm>
            <a:off x="594360" y="5907024"/>
            <a:ext cx="11018520" cy="384048"/>
          </a:xfrm>
          <a:prstGeom prst="roundRect">
            <a:avLst>
              <a:gd name="adj" fmla="val 19048"/>
            </a:avLst>
          </a:prstGeom>
          <a:solidFill>
            <a:srgbClr val="07182B"/>
          </a:solidFill>
          <a:ln w="12700">
            <a:solidFill>
              <a:srgbClr val="07182B"/>
            </a:solidFill>
            <a:prstDash val="solid"/>
          </a:ln>
        </p:spPr>
        <p:txBody>
          <a:bodyPr/>
          <a:p/>
        </p:txBody>
      </p:sp>
      <p:sp>
        <p:nvSpPr>
          <p:cNvPr id="49" name="Text 47"/>
          <p:cNvSpPr/>
          <p:nvPr/>
        </p:nvSpPr>
        <p:spPr>
          <a:xfrm>
            <a:off x="822960" y="6016752"/>
            <a:ext cx="10561320" cy="182880"/>
          </a:xfrm>
          <a:prstGeom prst="rect">
            <a:avLst/>
          </a:prstGeom>
          <a:noFill/>
          <a:ln/>
        </p:spPr>
        <p:txBody>
          <a:bodyPr wrap="square" lIns="0" tIns="0" rIns="0" bIns="0" rtlCol="0" anchor="t">
            <a:normAutofit/>
          </a:bodyPr>
          <a:lstStyle/>
          <a:p>
            <a:pPr algn="ctr" indent="0" marL="0">
              <a:buNone/>
            </a:pPr>
            <a:r>
              <a:rPr lang="en-US" sz="1030" b="1" dirty="0">
                <a:solidFill>
                  <a:srgbClr val="E9C87D"/>
                </a:solidFill>
                <a:latin typeface="Arial" pitchFamily="34" charset="0"/>
                <a:ea typeface="Arial" pitchFamily="34" charset="-122"/>
                <a:cs typeface="Arial" pitchFamily="34" charset="-120"/>
              </a:rPr>
              <a:t>The next decisive milestone is one real partner mission with primary evidence, independent replay and measured delayed outcomes.</a:t>
            </a:r>
            <a:endParaRPr lang="en-US" sz="103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30352" y="164592"/>
            <a:ext cx="1645920" cy="256032"/>
          </a:xfrm>
          <a:prstGeom prst="roundRect">
            <a:avLst>
              <a:gd name="adj" fmla="val 21429"/>
            </a:avLst>
          </a:prstGeom>
          <a:solidFill>
            <a:srgbClr val="FFF7DF"/>
          </a:solidFill>
          <a:ln w="12700">
            <a:solidFill>
              <a:srgbClr val="B8872E">
                <a:alpha val="85000"/>
              </a:srgbClr>
            </a:solidFill>
            <a:prstDash val="solid"/>
          </a:ln>
        </p:spPr>
        <p:txBody>
          <a:bodyPr/>
          <a:p/>
        </p:txBody>
      </p:sp>
      <p:sp>
        <p:nvSpPr>
          <p:cNvPr id="3" name="Text 1"/>
          <p:cNvSpPr/>
          <p:nvPr/>
        </p:nvSpPr>
        <p:spPr>
          <a:xfrm>
            <a:off x="594360" y="212141"/>
            <a:ext cx="151790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PROPOSED PILOT</a:t>
            </a:r>
            <a:endParaRPr lang="en-US" sz="800" dirty="0"/>
          </a:p>
        </p:txBody>
      </p:sp>
      <p:sp>
        <p:nvSpPr>
          <p:cNvPr id="4" name="Text 2"/>
          <p:cNvSpPr/>
          <p:nvPr/>
        </p:nvSpPr>
        <p:spPr>
          <a:xfrm>
            <a:off x="502920" y="347472"/>
            <a:ext cx="11155680" cy="603504"/>
          </a:xfrm>
          <a:prstGeom prst="rect">
            <a:avLst/>
          </a:prstGeom>
          <a:noFill/>
          <a:ln/>
        </p:spPr>
        <p:txBody>
          <a:bodyPr wrap="square" lIns="0" tIns="0" rIns="0" bIns="0" rtlCol="0" anchor="t">
            <a:normAutofit/>
          </a:bodyPr>
          <a:lstStyle/>
          <a:p>
            <a:pPr algn="l" indent="0" marL="0">
              <a:buNone/>
            </a:pPr>
            <a:r>
              <a:rPr lang="en-US" sz="2800" b="1" dirty="0">
                <a:solidFill>
                  <a:srgbClr val="07182B"/>
                </a:solidFill>
                <a:latin typeface="Georgia" pitchFamily="34" charset="0"/>
                <a:ea typeface="Georgia" pitchFamily="34" charset="-122"/>
                <a:cs typeface="Georgia" pitchFamily="34" charset="-120"/>
              </a:rPr>
              <a:t>Fifteen business days to one inspectable decision.</a:t>
            </a:r>
            <a:endParaRPr lang="en-US" sz="2800" dirty="0"/>
          </a:p>
        </p:txBody>
      </p:sp>
      <p:sp>
        <p:nvSpPr>
          <p:cNvPr id="5" name="Text 3"/>
          <p:cNvSpPr/>
          <p:nvPr/>
        </p:nvSpPr>
        <p:spPr>
          <a:xfrm>
            <a:off x="530352" y="987552"/>
            <a:ext cx="10927080" cy="384048"/>
          </a:xfrm>
          <a:prstGeom prst="rect">
            <a:avLst/>
          </a:prstGeom>
          <a:noFill/>
          <a:ln/>
        </p:spPr>
        <p:txBody>
          <a:bodyPr wrap="square" lIns="0" tIns="0" rIns="0" bIns="0" rtlCol="0" anchor="t">
            <a:normAutofit/>
          </a:bodyPr>
          <a:lstStyle/>
          <a:p>
            <a:pPr algn="l" indent="0" marL="0">
              <a:buNone/>
            </a:pPr>
            <a:r>
              <a:rPr lang="en-US" sz="1230" dirty="0">
                <a:solidFill>
                  <a:srgbClr val="68788D"/>
                </a:solidFill>
                <a:latin typeface="Arial" pitchFamily="34" charset="0"/>
                <a:ea typeface="Arial" pitchFamily="34" charset="-122"/>
                <a:cs typeface="Arial" pitchFamily="34" charset="-120"/>
              </a:rPr>
              <a:t>Choose a high-stakes but reversible objective with a named sponsor, accessible evidence, an independent reviewer and a valid participation receipt.</a:t>
            </a:r>
            <a:endParaRPr lang="en-US" sz="1230" dirty="0"/>
          </a:p>
        </p:txBody>
      </p:sp>
      <p:sp>
        <p:nvSpPr>
          <p:cNvPr id="6" name="Shape 4"/>
          <p:cNvSpPr/>
          <p:nvPr/>
        </p:nvSpPr>
        <p:spPr>
          <a:xfrm>
            <a:off x="566928" y="1691640"/>
            <a:ext cx="2578608" cy="2331720"/>
          </a:xfrm>
          <a:prstGeom prst="roundRect">
            <a:avLst>
              <a:gd name="adj" fmla="val 3137"/>
            </a:avLst>
          </a:prstGeom>
          <a:solidFill>
            <a:srgbClr val="EEF5FB"/>
          </a:solidFill>
          <a:ln w="12700">
            <a:solidFill>
              <a:srgbClr val="387FB7"/>
            </a:solidFill>
            <a:prstDash val="solid"/>
          </a:ln>
          <a:effectLst>
            <a:outerShdw sx="100000" sy="100000" kx="0" ky="0" algn="bl" rotWithShape="0" blurRad="25400" dist="50800" dir="2700000">
              <a:srgbClr val="07182B">
                <a:alpha val="10000"/>
              </a:srgbClr>
            </a:outerShdw>
          </a:effectLst>
        </p:spPr>
        <p:txBody>
          <a:bodyPr/>
          <a:p/>
        </p:txBody>
      </p:sp>
      <p:sp>
        <p:nvSpPr>
          <p:cNvPr id="7" name="Shape 5"/>
          <p:cNvSpPr/>
          <p:nvPr/>
        </p:nvSpPr>
        <p:spPr>
          <a:xfrm>
            <a:off x="749808" y="1901952"/>
            <a:ext cx="914400" cy="256032"/>
          </a:xfrm>
          <a:prstGeom prst="roundRect">
            <a:avLst>
              <a:gd name="adj" fmla="val 21429"/>
            </a:avLst>
          </a:prstGeom>
          <a:solidFill>
            <a:srgbClr val="FFFDF8"/>
          </a:solidFill>
          <a:ln w="12700">
            <a:solidFill>
              <a:srgbClr val="387FB7">
                <a:alpha val="85000"/>
              </a:srgbClr>
            </a:solidFill>
            <a:prstDash val="solid"/>
          </a:ln>
        </p:spPr>
        <p:txBody>
          <a:bodyPr/>
          <a:p/>
        </p:txBody>
      </p:sp>
      <p:sp>
        <p:nvSpPr>
          <p:cNvPr id="8" name="Text 6"/>
          <p:cNvSpPr/>
          <p:nvPr/>
        </p:nvSpPr>
        <p:spPr>
          <a:xfrm>
            <a:off x="813816" y="1949501"/>
            <a:ext cx="7863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387FB7"/>
                </a:solidFill>
                <a:latin typeface="Arial" pitchFamily="34" charset="0"/>
                <a:ea typeface="Arial" pitchFamily="34" charset="-122"/>
                <a:cs typeface="Arial" pitchFamily="34" charset="-120"/>
              </a:rPr>
              <a:t>DAYS 1-2</a:t>
            </a:r>
            <a:endParaRPr lang="en-US" sz="800" dirty="0"/>
          </a:p>
        </p:txBody>
      </p:sp>
      <p:sp>
        <p:nvSpPr>
          <p:cNvPr id="9" name="Text 7"/>
          <p:cNvSpPr/>
          <p:nvPr/>
        </p:nvSpPr>
        <p:spPr>
          <a:xfrm>
            <a:off x="749808" y="2423160"/>
            <a:ext cx="2176272" cy="384048"/>
          </a:xfrm>
          <a:prstGeom prst="rect">
            <a:avLst/>
          </a:prstGeom>
          <a:noFill/>
          <a:ln/>
        </p:spPr>
        <p:txBody>
          <a:bodyPr wrap="square" lIns="0" tIns="0" rIns="0" bIns="0" rtlCol="0" anchor="t">
            <a:normAutofit/>
          </a:bodyPr>
          <a:lstStyle/>
          <a:p>
            <a:pPr algn="l" indent="0" marL="0">
              <a:buNone/>
            </a:pPr>
            <a:r>
              <a:rPr lang="en-US" sz="1480" b="1" dirty="0">
                <a:solidFill>
                  <a:srgbClr val="14263C"/>
                </a:solidFill>
                <a:latin typeface="Arial" pitchFamily="34" charset="0"/>
                <a:ea typeface="Arial" pitchFamily="34" charset="-122"/>
                <a:cs typeface="Arial" pitchFamily="34" charset="-120"/>
              </a:rPr>
              <a:t>Freeze the mission</a:t>
            </a:r>
            <a:endParaRPr lang="en-US" sz="1480" dirty="0"/>
          </a:p>
        </p:txBody>
      </p:sp>
      <p:sp>
        <p:nvSpPr>
          <p:cNvPr id="10" name="Text 8"/>
          <p:cNvSpPr/>
          <p:nvPr/>
        </p:nvSpPr>
        <p:spPr>
          <a:xfrm>
            <a:off x="749808" y="2971800"/>
            <a:ext cx="2148840" cy="713232"/>
          </a:xfrm>
          <a:prstGeom prst="rect">
            <a:avLst/>
          </a:prstGeom>
          <a:noFill/>
          <a:ln/>
        </p:spPr>
        <p:txBody>
          <a:bodyPr wrap="square" lIns="0" tIns="0" rIns="0" bIns="0" rtlCol="0" anchor="t">
            <a:normAutofit/>
          </a:bodyPr>
          <a:lstStyle/>
          <a:p>
            <a:pPr algn="l" indent="0" marL="0">
              <a:buNone/>
            </a:pPr>
            <a:r>
              <a:rPr lang="en-US" sz="950" dirty="0">
                <a:solidFill>
                  <a:srgbClr val="68788D"/>
                </a:solidFill>
                <a:latin typeface="Arial" pitchFamily="34" charset="0"/>
                <a:ea typeface="Arial" pitchFamily="34" charset="-122"/>
                <a:cs typeface="Arial" pitchFamily="34" charset="-120"/>
              </a:rPr>
              <a:t>Decision, scope, proof level, validators, blocked claims and rollback.</a:t>
            </a:r>
            <a:endParaRPr lang="en-US" sz="950" dirty="0"/>
          </a:p>
        </p:txBody>
      </p:sp>
      <p:sp>
        <p:nvSpPr>
          <p:cNvPr id="11" name="Shape 9"/>
          <p:cNvSpPr/>
          <p:nvPr/>
        </p:nvSpPr>
        <p:spPr>
          <a:xfrm>
            <a:off x="3145536" y="2633472"/>
            <a:ext cx="228600" cy="274320"/>
          </a:xfrm>
          <a:prstGeom prst="chevron">
            <a:avLst/>
          </a:prstGeom>
          <a:solidFill>
            <a:srgbClr val="B8872E"/>
          </a:solidFill>
          <a:ln w="12700">
            <a:solidFill>
              <a:srgbClr val="B8872E">
                <a:alpha val="0"/>
              </a:srgbClr>
            </a:solidFill>
            <a:prstDash val="solid"/>
          </a:ln>
        </p:spPr>
        <p:txBody>
          <a:bodyPr/>
          <a:p/>
        </p:txBody>
      </p:sp>
      <p:sp>
        <p:nvSpPr>
          <p:cNvPr id="12" name="Shape 10"/>
          <p:cNvSpPr/>
          <p:nvPr/>
        </p:nvSpPr>
        <p:spPr>
          <a:xfrm>
            <a:off x="3383280" y="1691640"/>
            <a:ext cx="2578608" cy="2331720"/>
          </a:xfrm>
          <a:prstGeom prst="roundRect">
            <a:avLst>
              <a:gd name="adj" fmla="val 3137"/>
            </a:avLst>
          </a:prstGeom>
          <a:solidFill>
            <a:srgbClr val="FFF7DF"/>
          </a:solidFill>
          <a:ln w="12700">
            <a:solidFill>
              <a:srgbClr val="B8872E"/>
            </a:solidFill>
            <a:prstDash val="solid"/>
          </a:ln>
          <a:effectLst>
            <a:outerShdw sx="100000" sy="100000" kx="0" ky="0" algn="bl" rotWithShape="0" blurRad="25400" dist="50800" dir="2700000">
              <a:srgbClr val="07182B">
                <a:alpha val="10000"/>
              </a:srgbClr>
            </a:outerShdw>
          </a:effectLst>
        </p:spPr>
        <p:txBody>
          <a:bodyPr/>
          <a:p/>
        </p:txBody>
      </p:sp>
      <p:sp>
        <p:nvSpPr>
          <p:cNvPr id="13" name="Shape 11"/>
          <p:cNvSpPr/>
          <p:nvPr/>
        </p:nvSpPr>
        <p:spPr>
          <a:xfrm>
            <a:off x="3566160" y="1901952"/>
            <a:ext cx="914400" cy="256032"/>
          </a:xfrm>
          <a:prstGeom prst="roundRect">
            <a:avLst>
              <a:gd name="adj" fmla="val 21429"/>
            </a:avLst>
          </a:prstGeom>
          <a:solidFill>
            <a:srgbClr val="FFFDF8"/>
          </a:solidFill>
          <a:ln w="12700">
            <a:solidFill>
              <a:srgbClr val="B8872E">
                <a:alpha val="85000"/>
              </a:srgbClr>
            </a:solidFill>
            <a:prstDash val="solid"/>
          </a:ln>
        </p:spPr>
        <p:txBody>
          <a:bodyPr/>
          <a:p/>
        </p:txBody>
      </p:sp>
      <p:sp>
        <p:nvSpPr>
          <p:cNvPr id="14" name="Text 12"/>
          <p:cNvSpPr/>
          <p:nvPr/>
        </p:nvSpPr>
        <p:spPr>
          <a:xfrm>
            <a:off x="3630168" y="1949501"/>
            <a:ext cx="7863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B8872E"/>
                </a:solidFill>
                <a:latin typeface="Arial" pitchFamily="34" charset="0"/>
                <a:ea typeface="Arial" pitchFamily="34" charset="-122"/>
                <a:cs typeface="Arial" pitchFamily="34" charset="-120"/>
              </a:rPr>
              <a:t>DAYS 3-8</a:t>
            </a:r>
            <a:endParaRPr lang="en-US" sz="800" dirty="0"/>
          </a:p>
        </p:txBody>
      </p:sp>
      <p:sp>
        <p:nvSpPr>
          <p:cNvPr id="15" name="Text 13"/>
          <p:cNvSpPr/>
          <p:nvPr/>
        </p:nvSpPr>
        <p:spPr>
          <a:xfrm>
            <a:off x="3566160" y="2423160"/>
            <a:ext cx="2176272" cy="384048"/>
          </a:xfrm>
          <a:prstGeom prst="rect">
            <a:avLst/>
          </a:prstGeom>
          <a:noFill/>
          <a:ln/>
        </p:spPr>
        <p:txBody>
          <a:bodyPr wrap="square" lIns="0" tIns="0" rIns="0" bIns="0" rtlCol="0" anchor="t">
            <a:normAutofit/>
          </a:bodyPr>
          <a:lstStyle/>
          <a:p>
            <a:pPr algn="l" indent="0" marL="0">
              <a:buNone/>
            </a:pPr>
            <a:r>
              <a:rPr lang="en-US" sz="1480" b="1" dirty="0">
                <a:solidFill>
                  <a:srgbClr val="14263C"/>
                </a:solidFill>
                <a:latin typeface="Arial" pitchFamily="34" charset="0"/>
                <a:ea typeface="Arial" pitchFamily="34" charset="-122"/>
                <a:cs typeface="Arial" pitchFamily="34" charset="-120"/>
              </a:rPr>
              <a:t>Produce proof</a:t>
            </a:r>
            <a:endParaRPr lang="en-US" sz="1480" dirty="0"/>
          </a:p>
        </p:txBody>
      </p:sp>
      <p:sp>
        <p:nvSpPr>
          <p:cNvPr id="16" name="Text 14"/>
          <p:cNvSpPr/>
          <p:nvPr/>
        </p:nvSpPr>
        <p:spPr>
          <a:xfrm>
            <a:off x="3566160" y="2971800"/>
            <a:ext cx="2148840" cy="713232"/>
          </a:xfrm>
          <a:prstGeom prst="rect">
            <a:avLst/>
          </a:prstGeom>
          <a:noFill/>
          <a:ln/>
        </p:spPr>
        <p:txBody>
          <a:bodyPr wrap="square" lIns="0" tIns="0" rIns="0" bIns="0" rtlCol="0" anchor="t">
            <a:normAutofit/>
          </a:bodyPr>
          <a:lstStyle/>
          <a:p>
            <a:pPr algn="l" indent="0" marL="0">
              <a:buNone/>
            </a:pPr>
            <a:r>
              <a:rPr lang="en-US" sz="950" dirty="0">
                <a:solidFill>
                  <a:srgbClr val="68788D"/>
                </a:solidFill>
                <a:latin typeface="Arial" pitchFamily="34" charset="0"/>
                <a:ea typeface="Arial" pitchFamily="34" charset="-122"/>
                <a:cs typeface="Arial" pitchFamily="34" charset="-120"/>
              </a:rPr>
              <a:t>AGI Jobs, source map, ProofBundles, contradictions, cost and risk.</a:t>
            </a:r>
            <a:endParaRPr lang="en-US" sz="950" dirty="0"/>
          </a:p>
        </p:txBody>
      </p:sp>
      <p:sp>
        <p:nvSpPr>
          <p:cNvPr id="17" name="Shape 15"/>
          <p:cNvSpPr/>
          <p:nvPr/>
        </p:nvSpPr>
        <p:spPr>
          <a:xfrm>
            <a:off x="5961888" y="2633472"/>
            <a:ext cx="228600" cy="274320"/>
          </a:xfrm>
          <a:prstGeom prst="chevron">
            <a:avLst/>
          </a:prstGeom>
          <a:solidFill>
            <a:srgbClr val="B8872E"/>
          </a:solidFill>
          <a:ln w="12700">
            <a:solidFill>
              <a:srgbClr val="B8872E">
                <a:alpha val="0"/>
              </a:srgbClr>
            </a:solidFill>
            <a:prstDash val="solid"/>
          </a:ln>
        </p:spPr>
        <p:txBody>
          <a:bodyPr/>
          <a:p/>
        </p:txBody>
      </p:sp>
      <p:sp>
        <p:nvSpPr>
          <p:cNvPr id="18" name="Shape 16"/>
          <p:cNvSpPr/>
          <p:nvPr/>
        </p:nvSpPr>
        <p:spPr>
          <a:xfrm>
            <a:off x="6199632" y="1691640"/>
            <a:ext cx="2578608" cy="2331720"/>
          </a:xfrm>
          <a:prstGeom prst="roundRect">
            <a:avLst>
              <a:gd name="adj" fmla="val 3137"/>
            </a:avLst>
          </a:prstGeom>
          <a:solidFill>
            <a:srgbClr val="EFF9F4"/>
          </a:solidFill>
          <a:ln w="12700">
            <a:solidFill>
              <a:srgbClr val="21805A"/>
            </a:solidFill>
            <a:prstDash val="solid"/>
          </a:ln>
          <a:effectLst>
            <a:outerShdw sx="100000" sy="100000" kx="0" ky="0" algn="bl" rotWithShape="0" blurRad="25400" dist="50800" dir="2700000">
              <a:srgbClr val="07182B">
                <a:alpha val="10000"/>
              </a:srgbClr>
            </a:outerShdw>
          </a:effectLst>
        </p:spPr>
        <p:txBody>
          <a:bodyPr/>
          <a:p/>
        </p:txBody>
      </p:sp>
      <p:sp>
        <p:nvSpPr>
          <p:cNvPr id="19" name="Shape 17"/>
          <p:cNvSpPr/>
          <p:nvPr/>
        </p:nvSpPr>
        <p:spPr>
          <a:xfrm>
            <a:off x="6382512" y="1901952"/>
            <a:ext cx="914400" cy="256032"/>
          </a:xfrm>
          <a:prstGeom prst="roundRect">
            <a:avLst>
              <a:gd name="adj" fmla="val 21429"/>
            </a:avLst>
          </a:prstGeom>
          <a:solidFill>
            <a:srgbClr val="FFFDF8"/>
          </a:solidFill>
          <a:ln w="12700">
            <a:solidFill>
              <a:srgbClr val="21805A">
                <a:alpha val="85000"/>
              </a:srgbClr>
            </a:solidFill>
            <a:prstDash val="solid"/>
          </a:ln>
        </p:spPr>
        <p:txBody>
          <a:bodyPr/>
          <a:p/>
        </p:txBody>
      </p:sp>
      <p:sp>
        <p:nvSpPr>
          <p:cNvPr id="20" name="Text 18"/>
          <p:cNvSpPr/>
          <p:nvPr/>
        </p:nvSpPr>
        <p:spPr>
          <a:xfrm>
            <a:off x="6446520" y="1949501"/>
            <a:ext cx="7863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21805A"/>
                </a:solidFill>
                <a:latin typeface="Arial" pitchFamily="34" charset="0"/>
                <a:ea typeface="Arial" pitchFamily="34" charset="-122"/>
                <a:cs typeface="Arial" pitchFamily="34" charset="-120"/>
              </a:rPr>
              <a:t>DAYS 9-12</a:t>
            </a:r>
            <a:endParaRPr lang="en-US" sz="800" dirty="0"/>
          </a:p>
        </p:txBody>
      </p:sp>
      <p:sp>
        <p:nvSpPr>
          <p:cNvPr id="21" name="Text 19"/>
          <p:cNvSpPr/>
          <p:nvPr/>
        </p:nvSpPr>
        <p:spPr>
          <a:xfrm>
            <a:off x="6382512" y="2423160"/>
            <a:ext cx="2176272" cy="384048"/>
          </a:xfrm>
          <a:prstGeom prst="rect">
            <a:avLst/>
          </a:prstGeom>
          <a:noFill/>
          <a:ln/>
        </p:spPr>
        <p:txBody>
          <a:bodyPr wrap="square" lIns="0" tIns="0" rIns="0" bIns="0" rtlCol="0" anchor="t">
            <a:normAutofit/>
          </a:bodyPr>
          <a:lstStyle/>
          <a:p>
            <a:pPr algn="l" indent="0" marL="0">
              <a:buNone/>
            </a:pPr>
            <a:r>
              <a:rPr lang="en-US" sz="1480" b="1" dirty="0">
                <a:solidFill>
                  <a:srgbClr val="14263C"/>
                </a:solidFill>
                <a:latin typeface="Arial" pitchFamily="34" charset="0"/>
                <a:ea typeface="Arial" pitchFamily="34" charset="-122"/>
                <a:cs typeface="Arial" pitchFamily="34" charset="-120"/>
              </a:rPr>
              <a:t>Validate and replay</a:t>
            </a:r>
            <a:endParaRPr lang="en-US" sz="1480" dirty="0"/>
          </a:p>
        </p:txBody>
      </p:sp>
      <p:sp>
        <p:nvSpPr>
          <p:cNvPr id="22" name="Text 20"/>
          <p:cNvSpPr/>
          <p:nvPr/>
        </p:nvSpPr>
        <p:spPr>
          <a:xfrm>
            <a:off x="6382512" y="2971800"/>
            <a:ext cx="2148840" cy="713232"/>
          </a:xfrm>
          <a:prstGeom prst="rect">
            <a:avLst/>
          </a:prstGeom>
          <a:noFill/>
          <a:ln/>
        </p:spPr>
        <p:txBody>
          <a:bodyPr wrap="square" lIns="0" tIns="0" rIns="0" bIns="0" rtlCol="0" anchor="t">
            <a:normAutofit/>
          </a:bodyPr>
          <a:lstStyle/>
          <a:p>
            <a:pPr algn="l" indent="0" marL="0">
              <a:buNone/>
            </a:pPr>
            <a:r>
              <a:rPr lang="en-US" sz="950" dirty="0">
                <a:solidFill>
                  <a:srgbClr val="68788D"/>
                </a:solidFill>
                <a:latin typeface="Arial" pitchFamily="34" charset="0"/>
                <a:ea typeface="Arial" pitchFamily="34" charset="-122"/>
                <a:cs typeface="Arial" pitchFamily="34" charset="-120"/>
              </a:rPr>
              <a:t>Independent review, repair loop, challenge handling and packaging.</a:t>
            </a:r>
            <a:endParaRPr lang="en-US" sz="950" dirty="0"/>
          </a:p>
        </p:txBody>
      </p:sp>
      <p:sp>
        <p:nvSpPr>
          <p:cNvPr id="23" name="Shape 21"/>
          <p:cNvSpPr/>
          <p:nvPr/>
        </p:nvSpPr>
        <p:spPr>
          <a:xfrm>
            <a:off x="8778240" y="2633472"/>
            <a:ext cx="228600" cy="274320"/>
          </a:xfrm>
          <a:prstGeom prst="chevron">
            <a:avLst/>
          </a:prstGeom>
          <a:solidFill>
            <a:srgbClr val="B8872E"/>
          </a:solidFill>
          <a:ln w="12700">
            <a:solidFill>
              <a:srgbClr val="B8872E">
                <a:alpha val="0"/>
              </a:srgbClr>
            </a:solidFill>
            <a:prstDash val="solid"/>
          </a:ln>
        </p:spPr>
        <p:txBody>
          <a:bodyPr/>
          <a:p/>
        </p:txBody>
      </p:sp>
      <p:sp>
        <p:nvSpPr>
          <p:cNvPr id="24" name="Shape 22"/>
          <p:cNvSpPr/>
          <p:nvPr/>
        </p:nvSpPr>
        <p:spPr>
          <a:xfrm>
            <a:off x="9015984" y="1691640"/>
            <a:ext cx="2578608" cy="2331720"/>
          </a:xfrm>
          <a:prstGeom prst="roundRect">
            <a:avLst>
              <a:gd name="adj" fmla="val 3137"/>
            </a:avLst>
          </a:prstGeom>
          <a:solidFill>
            <a:srgbClr val="F3EFFB"/>
          </a:solidFill>
          <a:ln w="12700">
            <a:solidFill>
              <a:srgbClr val="6753A6"/>
            </a:solidFill>
            <a:prstDash val="solid"/>
          </a:ln>
          <a:effectLst>
            <a:outerShdw sx="100000" sy="100000" kx="0" ky="0" algn="bl" rotWithShape="0" blurRad="25400" dist="50800" dir="2700000">
              <a:srgbClr val="07182B">
                <a:alpha val="10000"/>
              </a:srgbClr>
            </a:outerShdw>
          </a:effectLst>
        </p:spPr>
        <p:txBody>
          <a:bodyPr/>
          <a:p/>
        </p:txBody>
      </p:sp>
      <p:sp>
        <p:nvSpPr>
          <p:cNvPr id="25" name="Shape 23"/>
          <p:cNvSpPr/>
          <p:nvPr/>
        </p:nvSpPr>
        <p:spPr>
          <a:xfrm>
            <a:off x="9198864" y="1901952"/>
            <a:ext cx="914400" cy="256032"/>
          </a:xfrm>
          <a:prstGeom prst="roundRect">
            <a:avLst>
              <a:gd name="adj" fmla="val 21429"/>
            </a:avLst>
          </a:prstGeom>
          <a:solidFill>
            <a:srgbClr val="FFFDF8"/>
          </a:solidFill>
          <a:ln w="12700">
            <a:solidFill>
              <a:srgbClr val="6753A6">
                <a:alpha val="85000"/>
              </a:srgbClr>
            </a:solidFill>
            <a:prstDash val="solid"/>
          </a:ln>
        </p:spPr>
        <p:txBody>
          <a:bodyPr/>
          <a:p/>
        </p:txBody>
      </p:sp>
      <p:sp>
        <p:nvSpPr>
          <p:cNvPr id="26" name="Text 24"/>
          <p:cNvSpPr/>
          <p:nvPr/>
        </p:nvSpPr>
        <p:spPr>
          <a:xfrm>
            <a:off x="9262872" y="1949501"/>
            <a:ext cx="78638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6753A6"/>
                </a:solidFill>
                <a:latin typeface="Arial" pitchFamily="34" charset="0"/>
                <a:ea typeface="Arial" pitchFamily="34" charset="-122"/>
                <a:cs typeface="Arial" pitchFamily="34" charset="-120"/>
              </a:rPr>
              <a:t>DAYS 13-15</a:t>
            </a:r>
            <a:endParaRPr lang="en-US" sz="800" dirty="0"/>
          </a:p>
        </p:txBody>
      </p:sp>
      <p:sp>
        <p:nvSpPr>
          <p:cNvPr id="27" name="Text 25"/>
          <p:cNvSpPr/>
          <p:nvPr/>
        </p:nvSpPr>
        <p:spPr>
          <a:xfrm>
            <a:off x="9198864" y="2423160"/>
            <a:ext cx="2176272" cy="384048"/>
          </a:xfrm>
          <a:prstGeom prst="rect">
            <a:avLst/>
          </a:prstGeom>
          <a:noFill/>
          <a:ln/>
        </p:spPr>
        <p:txBody>
          <a:bodyPr wrap="square" lIns="0" tIns="0" rIns="0" bIns="0" rtlCol="0" anchor="t">
            <a:normAutofit/>
          </a:bodyPr>
          <a:lstStyle/>
          <a:p>
            <a:pPr algn="l" indent="0" marL="0">
              <a:buNone/>
            </a:pPr>
            <a:r>
              <a:rPr lang="en-US" sz="1480" b="1" dirty="0">
                <a:solidFill>
                  <a:srgbClr val="14263C"/>
                </a:solidFill>
                <a:latin typeface="Arial" pitchFamily="34" charset="0"/>
                <a:ea typeface="Arial" pitchFamily="34" charset="-122"/>
                <a:cs typeface="Arial" pitchFamily="34" charset="-120"/>
              </a:rPr>
              <a:t>Decide and package</a:t>
            </a:r>
            <a:endParaRPr lang="en-US" sz="1480" dirty="0"/>
          </a:p>
        </p:txBody>
      </p:sp>
      <p:sp>
        <p:nvSpPr>
          <p:cNvPr id="28" name="Text 26"/>
          <p:cNvSpPr/>
          <p:nvPr/>
        </p:nvSpPr>
        <p:spPr>
          <a:xfrm>
            <a:off x="9198864" y="2971800"/>
            <a:ext cx="2148840" cy="713232"/>
          </a:xfrm>
          <a:prstGeom prst="rect">
            <a:avLst/>
          </a:prstGeom>
          <a:noFill/>
          <a:ln/>
        </p:spPr>
        <p:txBody>
          <a:bodyPr wrap="square" lIns="0" tIns="0" rIns="0" bIns="0" rtlCol="0" anchor="t">
            <a:normAutofit/>
          </a:bodyPr>
          <a:lstStyle/>
          <a:p>
            <a:pPr algn="l" indent="0" marL="0">
              <a:buNone/>
            </a:pPr>
            <a:r>
              <a:rPr lang="en-US" sz="950" dirty="0">
                <a:solidFill>
                  <a:srgbClr val="68788D"/>
                </a:solidFill>
                <a:latin typeface="Arial" pitchFamily="34" charset="0"/>
                <a:ea typeface="Arial" pitchFamily="34" charset="-122"/>
                <a:cs typeface="Arial" pitchFamily="34" charset="-120"/>
              </a:rPr>
              <a:t>Decision State, Action Graph, Chronicle and capability passport.</a:t>
            </a:r>
            <a:endParaRPr lang="en-US" sz="950" dirty="0"/>
          </a:p>
        </p:txBody>
      </p:sp>
      <p:sp>
        <p:nvSpPr>
          <p:cNvPr id="29" name="Shape 27"/>
          <p:cNvSpPr/>
          <p:nvPr/>
        </p:nvSpPr>
        <p:spPr>
          <a:xfrm>
            <a:off x="566928" y="4343400"/>
            <a:ext cx="6949440" cy="1353312"/>
          </a:xfrm>
          <a:prstGeom prst="roundRect">
            <a:avLst>
              <a:gd name="adj" fmla="val 5405"/>
            </a:avLst>
          </a:prstGeom>
          <a:solidFill>
            <a:srgbClr val="FFFDF8"/>
          </a:solidFill>
          <a:ln w="12700">
            <a:solidFill>
              <a:srgbClr val="D9D0C1"/>
            </a:solidFill>
            <a:prstDash val="solid"/>
          </a:ln>
          <a:effectLst>
            <a:outerShdw sx="100000" sy="100000" kx="0" ky="0" algn="bl" rotWithShape="0" blurRad="25400" dist="50800" dir="2700000">
              <a:srgbClr val="07182B">
                <a:alpha val="10000"/>
              </a:srgbClr>
            </a:outerShdw>
          </a:effectLst>
        </p:spPr>
        <p:txBody>
          <a:bodyPr/>
          <a:p/>
        </p:txBody>
      </p:sp>
      <p:sp>
        <p:nvSpPr>
          <p:cNvPr id="30" name="Text 28"/>
          <p:cNvSpPr/>
          <p:nvPr/>
        </p:nvSpPr>
        <p:spPr>
          <a:xfrm>
            <a:off x="804672" y="4590288"/>
            <a:ext cx="1371600" cy="237744"/>
          </a:xfrm>
          <a:prstGeom prst="rect">
            <a:avLst/>
          </a:prstGeom>
          <a:noFill/>
          <a:ln/>
        </p:spPr>
        <p:txBody>
          <a:bodyPr wrap="square" lIns="0" tIns="0" rIns="0" bIns="0" rtlCol="0" anchor="t">
            <a:normAutofit/>
          </a:bodyPr>
          <a:lstStyle/>
          <a:p>
            <a:pPr algn="l" indent="0" marL="0">
              <a:buNone/>
            </a:pPr>
            <a:r>
              <a:rPr lang="en-US" sz="1280" b="1" dirty="0">
                <a:solidFill>
                  <a:srgbClr val="14263C"/>
                </a:solidFill>
                <a:latin typeface="Arial" pitchFamily="34" charset="0"/>
                <a:ea typeface="Arial" pitchFamily="34" charset="-122"/>
                <a:cs typeface="Arial" pitchFamily="34" charset="-120"/>
              </a:rPr>
              <a:t>Partner inputs</a:t>
            </a:r>
            <a:endParaRPr lang="en-US" sz="1280" dirty="0"/>
          </a:p>
        </p:txBody>
      </p:sp>
      <p:sp>
        <p:nvSpPr>
          <p:cNvPr id="31" name="Shape 29"/>
          <p:cNvSpPr/>
          <p:nvPr/>
        </p:nvSpPr>
        <p:spPr>
          <a:xfrm>
            <a:off x="841248" y="5010912"/>
            <a:ext cx="100584" cy="100584"/>
          </a:xfrm>
          <a:prstGeom prst="ellipse">
            <a:avLst/>
          </a:prstGeom>
          <a:solidFill>
            <a:srgbClr val="21805A"/>
          </a:solidFill>
          <a:ln w="12700">
            <a:solidFill>
              <a:srgbClr val="21805A"/>
            </a:solidFill>
            <a:prstDash val="solid"/>
          </a:ln>
        </p:spPr>
        <p:txBody>
          <a:bodyPr/>
          <a:p/>
        </p:txBody>
      </p:sp>
      <p:sp>
        <p:nvSpPr>
          <p:cNvPr id="32" name="Text 30"/>
          <p:cNvSpPr/>
          <p:nvPr/>
        </p:nvSpPr>
        <p:spPr>
          <a:xfrm>
            <a:off x="1042416" y="4983480"/>
            <a:ext cx="1783080" cy="228600"/>
          </a:xfrm>
          <a:prstGeom prst="rect">
            <a:avLst/>
          </a:prstGeom>
          <a:noFill/>
          <a:ln/>
        </p:spPr>
        <p:txBody>
          <a:bodyPr wrap="square" lIns="0" tIns="0" rIns="0" bIns="0" rtlCol="0" anchor="t">
            <a:normAutofit/>
          </a:bodyPr>
          <a:lstStyle/>
          <a:p>
            <a:pPr algn="l" indent="0" marL="0">
              <a:buNone/>
            </a:pPr>
            <a:r>
              <a:rPr lang="en-US" sz="910" b="1" dirty="0">
                <a:solidFill>
                  <a:srgbClr val="14263C"/>
                </a:solidFill>
                <a:latin typeface="Arial" pitchFamily="34" charset="0"/>
                <a:ea typeface="Arial" pitchFamily="34" charset="-122"/>
                <a:cs typeface="Arial" pitchFamily="34" charset="-120"/>
              </a:rPr>
              <a:t>One consequential objective</a:t>
            </a:r>
            <a:endParaRPr lang="en-US" sz="910" dirty="0"/>
          </a:p>
        </p:txBody>
      </p:sp>
      <p:sp>
        <p:nvSpPr>
          <p:cNvPr id="33" name="Shape 31"/>
          <p:cNvSpPr/>
          <p:nvPr/>
        </p:nvSpPr>
        <p:spPr>
          <a:xfrm>
            <a:off x="2926080" y="5010912"/>
            <a:ext cx="100584" cy="100584"/>
          </a:xfrm>
          <a:prstGeom prst="ellipse">
            <a:avLst/>
          </a:prstGeom>
          <a:solidFill>
            <a:srgbClr val="21805A"/>
          </a:solidFill>
          <a:ln w="12700">
            <a:solidFill>
              <a:srgbClr val="21805A"/>
            </a:solidFill>
            <a:prstDash val="solid"/>
          </a:ln>
        </p:spPr>
        <p:txBody>
          <a:bodyPr/>
          <a:p/>
        </p:txBody>
      </p:sp>
      <p:sp>
        <p:nvSpPr>
          <p:cNvPr id="34" name="Text 32"/>
          <p:cNvSpPr/>
          <p:nvPr/>
        </p:nvSpPr>
        <p:spPr>
          <a:xfrm>
            <a:off x="3127248" y="4983480"/>
            <a:ext cx="1783080" cy="228600"/>
          </a:xfrm>
          <a:prstGeom prst="rect">
            <a:avLst/>
          </a:prstGeom>
          <a:noFill/>
          <a:ln/>
        </p:spPr>
        <p:txBody>
          <a:bodyPr wrap="square" lIns="0" tIns="0" rIns="0" bIns="0" rtlCol="0" anchor="t">
            <a:normAutofit/>
          </a:bodyPr>
          <a:lstStyle/>
          <a:p>
            <a:pPr algn="l" indent="0" marL="0">
              <a:buNone/>
            </a:pPr>
            <a:r>
              <a:rPr lang="en-US" sz="910" b="1" dirty="0">
                <a:solidFill>
                  <a:srgbClr val="14263C"/>
                </a:solidFill>
                <a:latin typeface="Arial" pitchFamily="34" charset="0"/>
                <a:ea typeface="Arial" pitchFamily="34" charset="-122"/>
                <a:cs typeface="Arial" pitchFamily="34" charset="-120"/>
              </a:rPr>
              <a:t>One executive sponsor</a:t>
            </a:r>
            <a:endParaRPr lang="en-US" sz="910" dirty="0"/>
          </a:p>
        </p:txBody>
      </p:sp>
      <p:sp>
        <p:nvSpPr>
          <p:cNvPr id="35" name="Shape 33"/>
          <p:cNvSpPr/>
          <p:nvPr/>
        </p:nvSpPr>
        <p:spPr>
          <a:xfrm>
            <a:off x="5010912" y="5010912"/>
            <a:ext cx="100584" cy="100584"/>
          </a:xfrm>
          <a:prstGeom prst="ellipse">
            <a:avLst/>
          </a:prstGeom>
          <a:solidFill>
            <a:srgbClr val="21805A"/>
          </a:solidFill>
          <a:ln w="12700">
            <a:solidFill>
              <a:srgbClr val="21805A"/>
            </a:solidFill>
            <a:prstDash val="solid"/>
          </a:ln>
        </p:spPr>
        <p:txBody>
          <a:bodyPr/>
          <a:p/>
        </p:txBody>
      </p:sp>
      <p:sp>
        <p:nvSpPr>
          <p:cNvPr id="36" name="Text 34"/>
          <p:cNvSpPr/>
          <p:nvPr/>
        </p:nvSpPr>
        <p:spPr>
          <a:xfrm>
            <a:off x="5212080" y="4983480"/>
            <a:ext cx="1783080" cy="228600"/>
          </a:xfrm>
          <a:prstGeom prst="rect">
            <a:avLst/>
          </a:prstGeom>
          <a:noFill/>
          <a:ln/>
        </p:spPr>
        <p:txBody>
          <a:bodyPr wrap="square" lIns="0" tIns="0" rIns="0" bIns="0" rtlCol="0" anchor="t">
            <a:normAutofit/>
          </a:bodyPr>
          <a:lstStyle/>
          <a:p>
            <a:pPr algn="l" indent="0" marL="0">
              <a:buNone/>
            </a:pPr>
            <a:r>
              <a:rPr lang="en-US" sz="910" b="1" dirty="0">
                <a:solidFill>
                  <a:srgbClr val="14263C"/>
                </a:solidFill>
                <a:latin typeface="Arial" pitchFamily="34" charset="0"/>
                <a:ea typeface="Arial" pitchFamily="34" charset="-122"/>
                <a:cs typeface="Arial" pitchFamily="34" charset="-120"/>
              </a:rPr>
              <a:t>Evidence and subject-matter contacts</a:t>
            </a:r>
            <a:endParaRPr lang="en-US" sz="910" dirty="0"/>
          </a:p>
        </p:txBody>
      </p:sp>
      <p:sp>
        <p:nvSpPr>
          <p:cNvPr id="37" name="Shape 35"/>
          <p:cNvSpPr/>
          <p:nvPr/>
        </p:nvSpPr>
        <p:spPr>
          <a:xfrm>
            <a:off x="841248" y="5358384"/>
            <a:ext cx="100584" cy="100584"/>
          </a:xfrm>
          <a:prstGeom prst="ellipse">
            <a:avLst/>
          </a:prstGeom>
          <a:solidFill>
            <a:srgbClr val="21805A"/>
          </a:solidFill>
          <a:ln w="12700">
            <a:solidFill>
              <a:srgbClr val="21805A"/>
            </a:solidFill>
            <a:prstDash val="solid"/>
          </a:ln>
        </p:spPr>
        <p:txBody>
          <a:bodyPr/>
          <a:p/>
        </p:txBody>
      </p:sp>
      <p:sp>
        <p:nvSpPr>
          <p:cNvPr id="38" name="Text 36"/>
          <p:cNvSpPr/>
          <p:nvPr/>
        </p:nvSpPr>
        <p:spPr>
          <a:xfrm>
            <a:off x="1042416" y="5330952"/>
            <a:ext cx="1783080" cy="228600"/>
          </a:xfrm>
          <a:prstGeom prst="rect">
            <a:avLst/>
          </a:prstGeom>
          <a:noFill/>
          <a:ln/>
        </p:spPr>
        <p:txBody>
          <a:bodyPr wrap="square" lIns="0" tIns="0" rIns="0" bIns="0" rtlCol="0" anchor="t">
            <a:normAutofit/>
          </a:bodyPr>
          <a:lstStyle/>
          <a:p>
            <a:pPr algn="l" indent="0" marL="0">
              <a:buNone/>
            </a:pPr>
            <a:r>
              <a:rPr lang="en-US" sz="910" b="1" dirty="0">
                <a:solidFill>
                  <a:srgbClr val="14263C"/>
                </a:solidFill>
                <a:latin typeface="Arial" pitchFamily="34" charset="0"/>
                <a:ea typeface="Arial" pitchFamily="34" charset="-122"/>
                <a:cs typeface="Arial" pitchFamily="34" charset="-120"/>
              </a:rPr>
              <a:t>One independent reviewer</a:t>
            </a:r>
            <a:endParaRPr lang="en-US" sz="910" dirty="0"/>
          </a:p>
        </p:txBody>
      </p:sp>
      <p:sp>
        <p:nvSpPr>
          <p:cNvPr id="39" name="Shape 37"/>
          <p:cNvSpPr/>
          <p:nvPr/>
        </p:nvSpPr>
        <p:spPr>
          <a:xfrm>
            <a:off x="2926080" y="5358384"/>
            <a:ext cx="100584" cy="100584"/>
          </a:xfrm>
          <a:prstGeom prst="ellipse">
            <a:avLst/>
          </a:prstGeom>
          <a:solidFill>
            <a:srgbClr val="21805A"/>
          </a:solidFill>
          <a:ln w="12700">
            <a:solidFill>
              <a:srgbClr val="21805A"/>
            </a:solidFill>
            <a:prstDash val="solid"/>
          </a:ln>
        </p:spPr>
        <p:txBody>
          <a:bodyPr/>
          <a:p/>
        </p:txBody>
      </p:sp>
      <p:sp>
        <p:nvSpPr>
          <p:cNvPr id="40" name="Text 38"/>
          <p:cNvSpPr/>
          <p:nvPr/>
        </p:nvSpPr>
        <p:spPr>
          <a:xfrm>
            <a:off x="3127248" y="5330952"/>
            <a:ext cx="1783080" cy="228600"/>
          </a:xfrm>
          <a:prstGeom prst="rect">
            <a:avLst/>
          </a:prstGeom>
          <a:noFill/>
          <a:ln/>
        </p:spPr>
        <p:txBody>
          <a:bodyPr wrap="square" lIns="0" tIns="0" rIns="0" bIns="0" rtlCol="0" anchor="t">
            <a:normAutofit/>
          </a:bodyPr>
          <a:lstStyle/>
          <a:p>
            <a:pPr algn="l" indent="0" marL="0">
              <a:buNone/>
            </a:pPr>
            <a:r>
              <a:rPr lang="en-US" sz="910" b="1" dirty="0">
                <a:solidFill>
                  <a:srgbClr val="14263C"/>
                </a:solidFill>
                <a:latin typeface="Arial" pitchFamily="34" charset="0"/>
                <a:ea typeface="Arial" pitchFamily="34" charset="-122"/>
                <a:cs typeface="Arial" pitchFamily="34" charset="-120"/>
              </a:rPr>
              <a:t>A clear public/private boundary</a:t>
            </a:r>
            <a:endParaRPr lang="en-US" sz="910" dirty="0"/>
          </a:p>
        </p:txBody>
      </p:sp>
      <p:sp>
        <p:nvSpPr>
          <p:cNvPr id="41" name="Shape 39"/>
          <p:cNvSpPr/>
          <p:nvPr/>
        </p:nvSpPr>
        <p:spPr>
          <a:xfrm>
            <a:off x="7790688" y="4343400"/>
            <a:ext cx="3840480" cy="1353312"/>
          </a:xfrm>
          <a:prstGeom prst="roundRect">
            <a:avLst>
              <a:gd name="adj" fmla="val 5405"/>
            </a:avLst>
          </a:prstGeom>
          <a:solidFill>
            <a:srgbClr val="07182B"/>
          </a:solidFill>
          <a:ln w="12700">
            <a:solidFill>
              <a:srgbClr val="07182B"/>
            </a:solidFill>
            <a:prstDash val="solid"/>
          </a:ln>
          <a:effectLst>
            <a:outerShdw sx="100000" sy="100000" kx="0" ky="0" algn="bl" rotWithShape="0" blurRad="25400" dist="50800" dir="2700000">
              <a:srgbClr val="07182B">
                <a:alpha val="10000"/>
              </a:srgbClr>
            </a:outerShdw>
          </a:effectLst>
        </p:spPr>
        <p:txBody>
          <a:bodyPr/>
          <a:p/>
        </p:txBody>
      </p:sp>
      <p:sp>
        <p:nvSpPr>
          <p:cNvPr id="42" name="Text 40"/>
          <p:cNvSpPr/>
          <p:nvPr/>
        </p:nvSpPr>
        <p:spPr>
          <a:xfrm>
            <a:off x="8065008" y="4572000"/>
            <a:ext cx="822960" cy="228600"/>
          </a:xfrm>
          <a:prstGeom prst="rect">
            <a:avLst/>
          </a:prstGeom>
          <a:noFill/>
          <a:ln/>
        </p:spPr>
        <p:txBody>
          <a:bodyPr wrap="square" lIns="0" tIns="0" rIns="0" bIns="0" rtlCol="0" anchor="t">
            <a:normAutofit/>
          </a:bodyPr>
          <a:lstStyle/>
          <a:p>
            <a:pPr algn="l" indent="0" marL="0">
              <a:buNone/>
            </a:pPr>
            <a:r>
              <a:rPr lang="en-US" sz="1280" b="1" dirty="0">
                <a:solidFill>
                  <a:srgbClr val="E9C87D"/>
                </a:solidFill>
                <a:latin typeface="Arial" pitchFamily="34" charset="0"/>
                <a:ea typeface="Arial" pitchFamily="34" charset="-122"/>
                <a:cs typeface="Arial" pitchFamily="34" charset="-120"/>
              </a:rPr>
              <a:t>The ask</a:t>
            </a:r>
            <a:endParaRPr lang="en-US" sz="1280" dirty="0"/>
          </a:p>
        </p:txBody>
      </p:sp>
      <p:sp>
        <p:nvSpPr>
          <p:cNvPr id="43" name="Text 41"/>
          <p:cNvSpPr/>
          <p:nvPr/>
        </p:nvSpPr>
        <p:spPr>
          <a:xfrm>
            <a:off x="8065008" y="4956048"/>
            <a:ext cx="3063240" cy="438912"/>
          </a:xfrm>
          <a:prstGeom prst="rect">
            <a:avLst/>
          </a:prstGeom>
          <a:noFill/>
          <a:ln/>
        </p:spPr>
        <p:txBody>
          <a:bodyPr wrap="square" lIns="0" tIns="0" rIns="0" bIns="0" rtlCol="0" anchor="t">
            <a:normAutofit/>
          </a:bodyPr>
          <a:lstStyle/>
          <a:p>
            <a:pPr algn="l" indent="0" marL="0">
              <a:buNone/>
            </a:pPr>
            <a:r>
              <a:rPr lang="en-US" sz="2400" b="1" dirty="0">
                <a:solidFill>
                  <a:srgbClr val="FFFFFF"/>
                </a:solidFill>
                <a:latin typeface="Georgia" pitchFamily="34" charset="0"/>
                <a:ea typeface="Georgia" pitchFamily="34" charset="-122"/>
                <a:cs typeface="Georgia" pitchFamily="34" charset="-120"/>
              </a:rPr>
              <a:t>Select one mission.</a:t>
            </a:r>
            <a:endParaRPr lang="en-US" sz="2400" dirty="0"/>
          </a:p>
        </p:txBody>
      </p:sp>
      <p:sp>
        <p:nvSpPr>
          <p:cNvPr id="44" name="Text 42"/>
          <p:cNvSpPr/>
          <p:nvPr/>
        </p:nvSpPr>
        <p:spPr>
          <a:xfrm>
            <a:off x="8065008" y="5422392"/>
            <a:ext cx="3063240" cy="274320"/>
          </a:xfrm>
          <a:prstGeom prst="rect">
            <a:avLst/>
          </a:prstGeom>
          <a:noFill/>
          <a:ln/>
        </p:spPr>
        <p:txBody>
          <a:bodyPr wrap="square" lIns="0" tIns="0" rIns="0" bIns="0" rtlCol="0" anchor="t">
            <a:normAutofit/>
          </a:bodyPr>
          <a:lstStyle/>
          <a:p>
            <a:pPr algn="l" indent="0" marL="0">
              <a:buNone/>
            </a:pPr>
            <a:r>
              <a:rPr lang="en-US" sz="940" dirty="0">
                <a:solidFill>
                  <a:srgbClr val="C7D7E5"/>
                </a:solidFill>
                <a:latin typeface="Arial" pitchFamily="34" charset="0"/>
                <a:ea typeface="Arial" pitchFamily="34" charset="-122"/>
                <a:cs typeface="Arial" pitchFamily="34" charset="-120"/>
              </a:rPr>
              <a:t>Prove the operating loop before broader adoption.</a:t>
            </a:r>
            <a:endParaRPr lang="en-US" sz="94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6758A"/>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4000000"/>
            <a:ext cx="2468880" cy="2468880"/>
          </a:xfrm>
          <a:prstGeom prst="ellipse">
            <a:avLst/>
          </a:prstGeom>
          <a:solidFill>
            <a:srgbClr val="0B2948"/>
          </a:solidFill>
          <a:ln w="12700">
            <a:solidFill>
              <a:srgbClr val="E9C87D">
                <a:alpha val="22000"/>
              </a:srgbClr>
            </a:solidFill>
            <a:prstDash val="solid"/>
          </a:ln>
        </p:spPr>
        <p:txBody>
          <a:bodyPr/>
          <a:p/>
        </p:txBody>
      </p:sp>
      <p:sp>
        <p:nvSpPr>
          <p:cNvPr id="3" name="Shape 1"/>
          <p:cNvSpPr/>
          <p:nvPr/>
        </p:nvSpPr>
        <p:spPr>
          <a:xfrm>
            <a:off x="8823960" y="0"/>
            <a:ext cx="3364992" cy="3364992"/>
          </a:xfrm>
          <a:prstGeom prst="ellipse">
            <a:avLst/>
          </a:prstGeom>
          <a:solidFill>
            <a:srgbClr val="0B2948"/>
          </a:solidFill>
          <a:ln w="12700">
            <a:solidFill>
              <a:srgbClr val="E9C87D">
                <a:alpha val="22000"/>
              </a:srgbClr>
            </a:solidFill>
            <a:prstDash val="solid"/>
          </a:ln>
        </p:spPr>
        <p:txBody>
          <a:bodyPr/>
          <a:p/>
        </p:txBody>
      </p:sp>
      <p:sp>
        <p:nvSpPr>
          <p:cNvPr id="4" name="Shape 2"/>
          <p:cNvSpPr/>
          <p:nvPr/>
        </p:nvSpPr>
        <p:spPr>
          <a:xfrm>
            <a:off x="658368" y="594360"/>
            <a:ext cx="105156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5" name="Text 3"/>
          <p:cNvSpPr/>
          <p:nvPr/>
        </p:nvSpPr>
        <p:spPr>
          <a:xfrm>
            <a:off x="722376" y="641909"/>
            <a:ext cx="92354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NEXT STEP</a:t>
            </a:r>
            <a:endParaRPr lang="en-US" sz="800" dirty="0"/>
          </a:p>
        </p:txBody>
      </p:sp>
      <p:sp>
        <p:nvSpPr>
          <p:cNvPr id="6" name="Text 4"/>
          <p:cNvSpPr/>
          <p:nvPr/>
        </p:nvSpPr>
        <p:spPr>
          <a:xfrm>
            <a:off x="658368" y="1261872"/>
            <a:ext cx="7498080" cy="2011680"/>
          </a:xfrm>
          <a:prstGeom prst="rect">
            <a:avLst/>
          </a:prstGeom>
          <a:noFill/>
          <a:ln/>
        </p:spPr>
        <p:txBody>
          <a:bodyPr wrap="square" lIns="0" tIns="0" rIns="0" bIns="0" rtlCol="0" anchor="t">
            <a:normAutofit/>
          </a:bodyPr>
          <a:lstStyle/>
          <a:p>
            <a:pPr algn="l" indent="0" marL="0">
              <a:buNone/>
            </a:pPr>
            <a:r>
              <a:rPr lang="en-US" sz="3500" b="1" dirty="0">
                <a:solidFill>
                  <a:srgbClr val="FFFFFF"/>
                </a:solidFill>
                <a:latin typeface="Georgia" pitchFamily="34" charset="0"/>
                <a:ea typeface="Georgia" pitchFamily="34" charset="-122"/>
                <a:cs typeface="Georgia" pitchFamily="34" charset="-120"/>
              </a:rPr>
              <a:t>One consequential objective.</a:t>
            </a:r>
            <a:endParaRPr lang="en-US" sz="3500" dirty="0"/>
          </a:p>
          <a:p>
            <a:pPr algn="l" indent="0" marL="0">
              <a:buNone/>
            </a:pPr>
            <a:r>
              <a:rPr lang="en-US" sz="3500" b="1" dirty="0">
                <a:solidFill>
                  <a:srgbClr val="FFFFFF"/>
                </a:solidFill>
                <a:latin typeface="Georgia" pitchFamily="34" charset="0"/>
                <a:ea typeface="Georgia" pitchFamily="34" charset="-122"/>
                <a:cs typeface="Georgia" pitchFamily="34" charset="-120"/>
              </a:rPr>
              <a:t>One inspectable decision.</a:t>
            </a:r>
            <a:endParaRPr lang="en-US" sz="3500" dirty="0"/>
          </a:p>
          <a:p>
            <a:pPr algn="l" indent="0" marL="0">
              <a:buNone/>
            </a:pPr>
            <a:r>
              <a:rPr lang="en-US" sz="3500" b="1" dirty="0">
                <a:solidFill>
                  <a:srgbClr val="FFFFFF"/>
                </a:solidFill>
                <a:latin typeface="Georgia" pitchFamily="34" charset="0"/>
                <a:ea typeface="Georgia" pitchFamily="34" charset="-122"/>
                <a:cs typeface="Georgia" pitchFamily="34" charset="-120"/>
              </a:rPr>
              <a:t>One reusable capability.</a:t>
            </a:r>
            <a:endParaRPr lang="en-US" sz="3500" dirty="0"/>
          </a:p>
        </p:txBody>
      </p:sp>
      <p:sp>
        <p:nvSpPr>
          <p:cNvPr id="7" name="Text 5"/>
          <p:cNvSpPr/>
          <p:nvPr/>
        </p:nvSpPr>
        <p:spPr>
          <a:xfrm>
            <a:off x="694944" y="3703320"/>
            <a:ext cx="6949440" cy="877824"/>
          </a:xfrm>
          <a:prstGeom prst="rect">
            <a:avLst/>
          </a:prstGeom>
          <a:noFill/>
          <a:ln/>
        </p:spPr>
        <p:txBody>
          <a:bodyPr wrap="square" lIns="0" tIns="0" rIns="0" bIns="0" rtlCol="0" anchor="t">
            <a:normAutofit/>
          </a:bodyPr>
          <a:lstStyle/>
          <a:p>
            <a:pPr algn="l" indent="0" marL="0">
              <a:buNone/>
            </a:pPr>
            <a:r>
              <a:rPr lang="en-US" sz="1400" dirty="0">
                <a:solidFill>
                  <a:srgbClr val="D0DFEA"/>
                </a:solidFill>
                <a:latin typeface="Arial" pitchFamily="34" charset="0"/>
                <a:ea typeface="Arial" pitchFamily="34" charset="-122"/>
                <a:cs typeface="Arial" pitchFamily="34" charset="-120"/>
              </a:rPr>
              <a:t>GoalOS is architecturally pointed at proof-gated, economically coordinated, open-ended autonomous work. The partner proposition is narrower and practical: prove one mission, then expand only if the evidence earns it.</a:t>
            </a:r>
            <a:endParaRPr lang="en-US" sz="1400" dirty="0"/>
          </a:p>
        </p:txBody>
      </p:sp>
      <p:sp>
        <p:nvSpPr>
          <p:cNvPr id="8" name="Shape 6"/>
          <p:cNvSpPr/>
          <p:nvPr/>
        </p:nvSpPr>
        <p:spPr>
          <a:xfrm>
            <a:off x="8275320" y="1847088"/>
            <a:ext cx="3246120" cy="2514600"/>
          </a:xfrm>
          <a:prstGeom prst="roundRect">
            <a:avLst>
              <a:gd name="adj" fmla="val 2909"/>
            </a:avLst>
          </a:prstGeom>
          <a:solidFill>
            <a:srgbClr val="102E4D"/>
          </a:solidFill>
          <a:ln w="12700">
            <a:solidFill>
              <a:srgbClr val="35536C"/>
            </a:solidFill>
            <a:prstDash val="solid"/>
          </a:ln>
        </p:spPr>
        <p:txBody>
          <a:bodyPr/>
          <a:p/>
        </p:txBody>
      </p:sp>
      <p:sp>
        <p:nvSpPr>
          <p:cNvPr id="9" name="Shape 7"/>
          <p:cNvSpPr/>
          <p:nvPr/>
        </p:nvSpPr>
        <p:spPr>
          <a:xfrm>
            <a:off x="9171432" y="2157984"/>
            <a:ext cx="1417320" cy="256032"/>
          </a:xfrm>
          <a:prstGeom prst="roundRect">
            <a:avLst>
              <a:gd name="adj" fmla="val 21429"/>
            </a:avLst>
          </a:prstGeom>
          <a:solidFill>
            <a:srgbClr val="173B5B">
              <a:alpha val="30000"/>
            </a:srgbClr>
          </a:solidFill>
          <a:ln w="12700">
            <a:solidFill>
              <a:srgbClr val="FFFFFF">
                <a:alpha val="30000"/>
              </a:srgbClr>
            </a:solidFill>
            <a:prstDash val="solid"/>
          </a:ln>
        </p:spPr>
        <p:txBody>
          <a:bodyPr/>
          <a:p/>
        </p:txBody>
      </p:sp>
      <p:sp>
        <p:nvSpPr>
          <p:cNvPr id="10" name="Text 8"/>
          <p:cNvSpPr/>
          <p:nvPr/>
        </p:nvSpPr>
        <p:spPr>
          <a:xfrm>
            <a:off x="9235440" y="2205533"/>
            <a:ext cx="1289304" cy="137160"/>
          </a:xfrm>
          <a:prstGeom prst="rect">
            <a:avLst/>
          </a:prstGeom>
          <a:noFill/>
          <a:ln/>
        </p:spPr>
        <p:txBody>
          <a:bodyPr wrap="square" lIns="0" tIns="0" rIns="0" bIns="0" rtlCol="0" anchor="t">
            <a:normAutofit/>
          </a:bodyPr>
          <a:lstStyle/>
          <a:p>
            <a:pPr algn="ctr" indent="0" marL="0">
              <a:buNone/>
            </a:pPr>
            <a:r>
              <a:rPr lang="en-US" sz="800" b="1" spc="50" kern="0" dirty="0">
                <a:solidFill>
                  <a:srgbClr val="FFFFFF"/>
                </a:solidFill>
                <a:latin typeface="Arial" pitchFamily="34" charset="0"/>
                <a:ea typeface="Arial" pitchFamily="34" charset="-122"/>
                <a:cs typeface="Arial" pitchFamily="34" charset="-120"/>
              </a:rPr>
              <a:t>OPEN THE DEMO</a:t>
            </a:r>
            <a:endParaRPr lang="en-US" sz="800" dirty="0"/>
          </a:p>
        </p:txBody>
      </p:sp>
      <p:sp>
        <p:nvSpPr>
          <p:cNvPr id="11" name="Text 9"/>
          <p:cNvSpPr/>
          <p:nvPr/>
        </p:nvSpPr>
        <p:spPr>
          <a:xfrm>
            <a:off x="8613648" y="2788920"/>
            <a:ext cx="2560320" cy="640080"/>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GoalOS_Partner_</a:t>
            </a:r>
            <a:endParaRPr lang="en-US" sz="1500" dirty="0"/>
          </a:p>
          <a:p>
            <a:pPr algn="ctr" indent="0" marL="0">
              <a:buNone/>
            </a:pPr>
            <a:r>
              <a:rPr lang="en-US" sz="1500" b="1" dirty="0">
                <a:solidFill>
                  <a:srgbClr val="FFFFFF"/>
                </a:solidFill>
                <a:latin typeface="Courier New" pitchFamily="34" charset="0"/>
                <a:ea typeface="Courier New" pitchFamily="34" charset="-122"/>
                <a:cs typeface="Courier New" pitchFamily="34" charset="-120"/>
              </a:rPr>
              <a:t>Demonstrator.html</a:t>
            </a:r>
            <a:endParaRPr lang="en-US" sz="1500" dirty="0"/>
          </a:p>
        </p:txBody>
      </p:sp>
      <p:sp>
        <p:nvSpPr>
          <p:cNvPr id="12" name="Text 10"/>
          <p:cNvSpPr/>
          <p:nvPr/>
        </p:nvSpPr>
        <p:spPr>
          <a:xfrm>
            <a:off x="8668512" y="3657600"/>
            <a:ext cx="2468880" cy="475488"/>
          </a:xfrm>
          <a:prstGeom prst="rect">
            <a:avLst/>
          </a:prstGeom>
          <a:noFill/>
          <a:ln/>
        </p:spPr>
        <p:txBody>
          <a:bodyPr wrap="square" lIns="0" tIns="0" rIns="0" bIns="0" rtlCol="0" anchor="t">
            <a:normAutofit/>
          </a:bodyPr>
          <a:lstStyle/>
          <a:p>
            <a:pPr algn="ctr" indent="0" marL="0">
              <a:buNone/>
            </a:pPr>
            <a:r>
              <a:rPr lang="en-US" sz="960" dirty="0">
                <a:solidFill>
                  <a:srgbClr val="BFD0DE"/>
                </a:solidFill>
                <a:latin typeface="Arial" pitchFamily="34" charset="0"/>
                <a:ea typeface="Arial" pitchFamily="34" charset="-122"/>
                <a:cs typeface="Arial" pitchFamily="34" charset="-120"/>
              </a:rPr>
              <a:t>Run the strategic partnership mission. Inspect the Docket. Export the proof pack.</a:t>
            </a:r>
            <a:endParaRPr lang="en-US" sz="960" dirty="0"/>
          </a:p>
        </p:txBody>
      </p:sp>
      <p:sp>
        <p:nvSpPr>
          <p:cNvPr id="13" name="Text 11"/>
          <p:cNvSpPr/>
          <p:nvPr/>
        </p:nvSpPr>
        <p:spPr>
          <a:xfrm>
            <a:off x="694944" y="5193792"/>
            <a:ext cx="4846320" cy="502920"/>
          </a:xfrm>
          <a:prstGeom prst="rect">
            <a:avLst/>
          </a:prstGeom>
          <a:noFill/>
          <a:ln/>
        </p:spPr>
        <p:txBody>
          <a:bodyPr wrap="square" lIns="0" tIns="0" rIns="0" bIns="0" rtlCol="0" anchor="t">
            <a:normAutofit/>
          </a:bodyPr>
          <a:lstStyle/>
          <a:p>
            <a:pPr algn="l" indent="0" marL="0">
              <a:buNone/>
            </a:pPr>
            <a:r>
              <a:rPr lang="en-US" sz="2800" b="1" dirty="0">
                <a:solidFill>
                  <a:srgbClr val="E9C87D"/>
                </a:solidFill>
                <a:latin typeface="Georgia" pitchFamily="34" charset="0"/>
                <a:ea typeface="Georgia" pitchFamily="34" charset="-122"/>
                <a:cs typeface="Georgia" pitchFamily="34" charset="-120"/>
              </a:rPr>
              <a:t>Now we prove it.</a:t>
            </a:r>
            <a:endParaRPr lang="en-US" sz="2800" dirty="0"/>
          </a:p>
        </p:txBody>
      </p:sp>
      <p:sp>
        <p:nvSpPr>
          <p:cNvPr id="14" name="Text 12"/>
          <p:cNvSpPr/>
          <p:nvPr/>
        </p:nvSpPr>
        <p:spPr>
          <a:xfrm>
            <a:off x="694944" y="5870448"/>
            <a:ext cx="6583680" cy="201168"/>
          </a:xfrm>
          <a:prstGeom prst="rect">
            <a:avLst/>
          </a:prstGeom>
          <a:noFill/>
          <a:ln/>
        </p:spPr>
        <p:txBody>
          <a:bodyPr wrap="square" lIns="0" tIns="0" rIns="0" bIns="0" rtlCol="0" anchor="t">
            <a:normAutofit/>
          </a:bodyPr>
          <a:lstStyle/>
          <a:p>
            <a:pPr algn="l" indent="0" marL="0">
              <a:buNone/>
            </a:pPr>
            <a:r>
              <a:rPr lang="en-US" sz="1000" dirty="0">
                <a:solidFill>
                  <a:srgbClr val="AFC0D0"/>
                </a:solidFill>
                <a:latin typeface="Arial" pitchFamily="34" charset="0"/>
                <a:ea typeface="Arial" pitchFamily="34" charset="-122"/>
                <a:cs typeface="Arial" pitchFamily="34" charset="-120"/>
              </a:rPr>
              <a:t>Vincent Boucher  |  GoalOS / AGI ALPHA Research Architecture</a:t>
            </a:r>
            <a:endParaRPr lang="en-US" sz="1000" dirty="0"/>
          </a:p>
        </p:txBody>
      </p:sp>
      <p:sp>
        <p:nvSpPr>
          <p:cNvPr id="25" name="Slide Number Placeholder 0"/>
          <p:cNvSpPr>
            <a:spLocks noGrp="1"/>
          </p:cNvSpPr>
          <p:nvPr>
            <p:ph type="sldNum" sz="quarter" idx="4294967295"/>
          </p:nvPr>
        </p:nvSpPr>
        <p:spPr>
          <a:xfrm>
            <a:off x="11475720" y="6592824"/>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AFC0D0"/>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GoalOS / AGI ALPHA Research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GoalOS Partner Briefing - The Proof OS for Autonomous AI Work</dc:title>
  <dc:subject>Partner briefing</dc:subject>
  <dc:creator>Vincent Boucher</dc:creator>
  <cp:lastModifiedBy>Vincent Boucher</cp:lastModifiedBy>
  <cp:revision>1</cp:revision>
  <dcterms:created xsi:type="dcterms:W3CDTF">2026-07-12T03:14:10Z</dcterms:created>
  <dcterms:modified xsi:type="dcterms:W3CDTF">2026-07-12T03:14:10Z</dcterms:modified>
</cp:coreProperties>
</file>